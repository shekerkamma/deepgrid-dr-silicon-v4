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6B6D4"/>
                </a:solidFill>
              </a:defRPr>
            </a:pPr>
            <a:r>
              <a:t>DEEPGRID SEMI · AUTOMOTIVE &amp; DEFENCE SILICON REFERENCE ARCHITECTURE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DG Software-Defined Vehicle (SDV)</a:t>
            </a:r>
            <a:br/>
            <a:r>
              <a:t>Zonal Compute Platform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Triple-Lockstep ASIL-D Safety, EVITA-Full HSM, 64-bit Coherent AXI4 Matrix, and 16x Smart Electronic Fuses.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2450592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4892040"/>
            <a:ext cx="2176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SAFETY INTEGRITY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ISO 26262 ASIL-D</a:t>
            </a:r>
            <a:br/>
            <a:r>
              <a:t>Triple-Core Lockstep (TMR)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4754880"/>
            <a:ext cx="2450592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5032" y="4892040"/>
            <a:ext cx="2176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SECURITY ENCLAVE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EVITA-Full / EAL5+</a:t>
            </a:r>
            <a:br/>
            <a:r>
              <a:t>Isolated Hardware Crypto HSM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754880"/>
            <a:ext cx="2450592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4892040"/>
            <a:ext cx="2176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SYSTEM INTERCONNECT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64-bit AXI4 Crossbar</a:t>
            </a:r>
            <a:br/>
            <a:r>
              <a:t>AXI-REALM QoS Bandwidth Shaper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14816" y="4754880"/>
            <a:ext cx="2450592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92040"/>
            <a:ext cx="2176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ZONAL SMART POWER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16x Smart e-Fuses</a:t>
            </a:r>
            <a:br/>
            <a:r>
              <a:t>4x CAN-XL (20 Mbps) + Gigabit TSN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AUTOMOTIVE PARADIGM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Consolidating 80+ Legacy ECUs Into High-Density Sovereign Zonal Controllers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Modern vehicles replace kilometers of heavy copper wiring harnesses with 4 zonal nodes and a central SDV compute spine.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1. The Legacy ECU Crisis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Traditional vehicles carry 70–100 discrete ECUs from different vendors.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Harness weight exceeds 50 kg; massive assembly labor and point-to-point wiring.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Incompatible proprietary software stacks prevent over-the-air (OTA) feature upgrades.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Chassis reliability suffers from electromechanical relay and physical fuse failures.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2. The Zonal Compute Vision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Vehicle partitioned into 4 physical zones (Front-Left, Front-Right, Rear-Left, Rear-Right).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Each zone aggregates local sensors, smart power switching, and motor control.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Backbone connected via deterministic Gigabit Time-Sensitive Networking (TSN).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Harness weight reduced by &gt;40%, cutting vehicle manufacturing cost significantly.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3. The DeepGrid Sovereign Solution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Unified RISC-V compute platform replacing imported NXP S32G and Infineon Aurix TC4x.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Integrates ASIL-D safety, Linux host, hardware HSM, and zonal I/O on one platform.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100% auditable open-source RTL eliminates foreign intellectual property royalties.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Compliant with Indian MoRTH AIS-140 and military DAP-2020 IDDM procurement.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UNIFIED MULTI-DOMAIN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Hardware-Isolated Enclaves Guarantee Safe Coexistence Of Linux And Real-Time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Physical firewalls and memory protection units prevent non-critical software panics from impacting chassis safety.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5146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211226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DG Secure Domain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STANDARD: EVITA-FULL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Dual-lockstep DGI-RV32 security cores.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EVITA-Full &amp; Common Criteria EAL5+.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Hardware Crypto: AES-256, SHA-3, SM4.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Secure OTP eFuse array for key vault.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Always-On power island with anti-tamper.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514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737360"/>
            <a:ext cx="251460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883664"/>
            <a:ext cx="211226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DG Safe Domain</a:t>
            </a:r>
          </a:p>
          <a:p>
            <a:pPr>
              <a:spcAft>
                <a:spcPts val="600"/>
              </a:spcAft>
              <a:defRPr sz="900" b="1">
                <a:solidFill>
                  <a:srgbClr val="DC2626"/>
                </a:solidFill>
              </a:defRPr>
            </a:pPr>
            <a:r>
              <a:t>STANDARD: ASIL-D / SIL-3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Triple-Core Lockstep (TMR) DGCV32-RT.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ISO 26262 ASIL-D &amp; IEC 61508 SIL-3.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Hardware majority voting in &lt;=2 cycles.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Private ISPM &amp; DSPM with SECDED ECC.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Controls steering, braking, and chassis.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2514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25146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883664"/>
            <a:ext cx="211226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DG Host Domain</a:t>
            </a:r>
          </a:p>
          <a:p>
            <a:pPr>
              <a:spcAft>
                <a:spcPts val="600"/>
              </a:spcAft>
              <a:defRPr sz="900" b="1">
                <a:solidFill>
                  <a:srgbClr val="06B6D4"/>
                </a:solidFill>
              </a:defRPr>
            </a:pPr>
            <a:r>
              <a:t>STANDARD: POSIX / LINUX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Multi-Core 64-bit RV64GCH Linux host.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POSIX-compliant OS execution environment.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Coherent 1 MB shared L2 cache.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Hardware MMU, FPU, and virtualization.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Manages cloud telemetry, OTA, and fleet UX.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737360"/>
            <a:ext cx="26060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737360"/>
            <a:ext cx="260604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5128" y="1883664"/>
            <a:ext cx="220370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DG Accelerators</a:t>
            </a:r>
          </a:p>
          <a:p>
            <a:pPr>
              <a:spcAft>
                <a:spcPts val="600"/>
              </a:spcAft>
              <a:defRPr sz="900" b="1">
                <a:solidFill>
                  <a:srgbClr val="16A34A"/>
                </a:solidFill>
              </a:defRPr>
            </a:pPr>
            <a:r>
              <a:t>STANDARD: HARDWARE ACCEL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Vector Multi-Core (DG RVV 1.0, 512-bit).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Integer Cluster: 4x DGCV32 tiny cores.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Interleaved TCDM scratchpad SRAM banks.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2D DMA engine for zero-copy streaming.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Real-time sensor fusion &amp; radar perception.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CHASSIS SAFETY CORE: ASIL-D TMR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Triple-Core Lockstep With 2-Cycle Skew Eliminates Single-Event Upset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Hardware majority voter masks transient bit-flips instantly without stopping vehicle braking or steer-by-wire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1. Temporal 2-Cycle Skew Execution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Three identical DGCV32-RT cores execute with temporal stagger: Core 0 (T), Core 1 (T+1), Core 2 (T+2).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Prevents common-mode substrate voltage dips or EMI bursts from corrupting all cores simultaneously.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Zero performance penalty: deterministic execution clocked at 300 MHz.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Each core has private instruction/data scratchpad SRAM with ECC.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2. Hardware Majority Voter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Combinational majority voting circuit samples output buses on every clock cycle.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If 1 core deviates due to an alpha particle or voltage dip, voter outputs 2-out-of-3 majority value.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Zero execution stall: critical steer-by-wire and braking commands proceed without delay.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Voting logic latches disagreement state in under 2 clock cycles.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3. Fault Collection &amp; Control Unit (FCCU)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Captures core discrepancy telemetry and logs precise cycle and instruction counter.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Autonomous hardware reset of corrupted core without interrupting vehicle operation.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Directly drives external hardware safety pin (FAULTn) to trigger secondary safe-state if needed.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Full compliance with ISO 26262 ASIL-D and IEC 61508 SIL-3 automotive standards.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CENTRAL FABRIC &amp; AXI-REALM QOS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64-Bit Coherent AXI4 Crossbar Delivers Bounded Latency For Chassis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AXI-REALM bandwidth regulator guarantees that high-volume Linux data streams never starve critical ASIL-D safety packets.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1. 64-bit Non-Blocking Crossbar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Clocked at 400 MHz providing aggregate interconnect bandwidth exceeding 50 GB/s.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Full multi-master / multi-slave non-blocking crossbar topology.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Hardware-enforced memory protection units (MPUs) isolate security and safety address spaces.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Zero-wait-state access to tightly coupled scratchpad memories.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2. AXI-REALM QoS Shaper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Monitors bus credit allocation across all bus masters in real time.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Throttles Linux host memory thrashing during heavy cloud logging or video streaming.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Grants preemptive, zero-arbitration priority to ASIL-D chassis safety frames (&lt;2.5 ns latency).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Mathematical Worst-Case Response Time (WCRT) bounded to &lt;=12.5 ns across the crossbar.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3. Hardware Domain Firewall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Enforces ARM TrustZone-equivalent isolation across open RISC-V bus transactions.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Malicious or compromised Linux driver cannot read or overwrite safety SRAM registers.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Direct hardware fault trap asserted if non-secure master attempts secure enclave access.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Enables mixed-criticality workload consolidation on a single physical SoC.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ZONAL ACTUATION &amp; SMART SOLID-STATE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16 Integrated Electronic Fuses Eliminate Mechanical Relays And Copper Bulk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DeepGrid's 180nm BCD power switches deliver sub-microsecond short-circuit protection and intelligent current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1. 16x Smart e-Fuses (48V / 12V)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Integrated 180nm BCD power switches handling up to 25A continuous per channel.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Sub-microsecond (&lt;1 µs) short-circuit trip eliminates wiring harness thermal damage.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Programmable digital I²t thermal profiling replaces physical sacrificial melting fuses.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Real-time digital current sensing enables predictive failure diagnostics on motors/heaters.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2. Gigabit TSN Automotive Ethernet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4-port Ethernet switch complying with IEEE 802.1Qbv Time-Aware Traffic Shapers.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Deterministic time slots guaranteed for raw radar/camera perception streams.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Ultra-low latency audio/video bridging (AVB) for zonal infotainment and speakers.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Immune to Ethernet network congestion under intense vehicle sensor traffic.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3. CAN-XL &amp; Legacy Bus Support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4 dedicated CAN-XL controllers delivering up to 20 Mbps with 2048-byte payloads.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Backward compatible with CAN-FD and classic CAN on all vehicle body networks.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Integrated LIN transceivers for smart mirrors, window lifters, and ambient lighting.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Thick-oxide LDMOS I/O buffers rated for ±15 kV HBM electrostatic discharge.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VECTOR DSP &amp; HETEROGENEOUS ACCELERATORS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Hardware Vector Extensions Accelerate Real-Time 4D Radar &amp; Vision Sensor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RISC-V Vector 1.0 architecture with 512-bit ALUs processes point-clouds with zero cache-miss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1. DG RVV Vector Compute Core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RISC-V Vector Extension 1.0 compliant microarchitecture with 512-bit vector registers.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Optimized for FFT and matrix transforms used in 77 GHz 4D imaging radar signal processing.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Achieves 8x throughput advantage over scalar DSPs at equivalent clock frequency.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Dedicated hardware pipeline for point-cloud clustering and Doppler velocity extraction.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2. TCDM Scratchpad Memory (SPM)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512 KB multi-bank interleaved tightly coupled data memory (TCDM).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Logarithmic interconnect allows simultaneous zero-contention access across cores.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Eliminates cache invalidation and flushing overhead during multi-sensor data fusion.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2D DMA engine automatically stages sensor tensors from host DRAM into SPM.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3. Real-Time Perception Pipeline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Fuses front 77 GHz radar (SKU-7) with surround ultrasonic and camera streams in &lt;10 ms.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Executes automated emergency braking (AEB) and blind-spot detection with zero false triggers.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Operates within a strict 6W thermal power envelope suitable for passive zonal enclosures.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Proven resilience against dirty sensor lenses and harsh monsoon weather conditions.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SYSTEM-IN-PACKAGE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Multi-Die Organic Substrate Packaging Eliminates Advanced Packaging NRE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Heterogeneous integration of 28nm high-speed compute with 130nm/180nm BCD mature dies in a 25x25 mm BGA.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PACKAGE FORMAT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25 x 25 mm BGA Substrate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4-layer high-reliability organic laminate with 1.0 mm ball pitch for robust automotive soldering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47088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COMPUTE DIE (FLIP-CHIP)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28nm CMOS @ 1.2 GHz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Houses RV64 Linux host, coherent L2 cache, and AXI4 crossbar attached via copper pillars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461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55848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SAFETY &amp; POWER DIES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130nm / 180nm BCD Wire-Bonded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ASIL-D TMR safety island and 16x smart e-Fuses fabricated on proven, cost-effective mature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461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355848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INTER-DIE INTERCONNECT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Substrate Trace Routing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Standardized on-substrate SPI, differential UART, and parallel buses — Deliberately avoiding expensive UCIe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79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64607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AUTOMOTIVE RATING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AEC-Q100 Grade 0 (-40°C to +150°C)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Engineered for harsh under-hood and chassis environments with high thermal tolerance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754879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864607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NRE &amp; YIELD ADVANTAGE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90% Cost Reduction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Packaging tooling cost under $45,000 vs &gt;$1.5M for TSMC CoWoS / Intel EMIB silicon interposers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SOVEREIGN SUPPLY CHAIN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Three-Factory Manufacturing Topology Insulates Indian Automotive Tier-1s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Initial commercial foundry runs on open-PDK shuttles transition directly to SCL Mohali domestic defence 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Phase 1: Open-Source EDA &amp; MPWs</a:t>
            </a:r>
          </a:p>
          <a:p>
            <a:pPr>
              <a:spcAft>
                <a:spcPts val="600"/>
              </a:spcAft>
              <a:defRPr sz="900" b="1">
                <a:solidFill>
                  <a:srgbClr val="06B6D4"/>
                </a:solidFill>
              </a:defRPr>
            </a:pPr>
            <a:r>
              <a:t>STANDARD: PROVEN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Digital implementation executed entirely on OpenLane, Yosys, and OpenROAD toolchains.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Eliminates multi-million-dollar Synopsys/Cadence EDA license taxes.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Rapid MPW prototyping on SkyWater 130nm ($14.3K shuttle runs).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77 GHz radar AFE verified on IHP SG13G2 SiGe BiCMOS (Germany).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Phase 2: SCL Mohali Domestic Fab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STANDARD: TRANSFER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Retargets BCD power switches, supervisor ICs, and ASIL-D safe cores to SCL Mohali 180nm.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Establishes 100% domestic silicon manufacturing immune to international export controls.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Fully satisfies Indian Ministry of Defence DAP-2020 Make-II indigenization rules.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In-house automated test equipment (ATE) screening line established in Hyderabad.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83664"/>
            <a:ext cx="298094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Phase 3: Automotive Tier-1 Rollout</a:t>
            </a:r>
          </a:p>
          <a:p>
            <a:pPr>
              <a:spcAft>
                <a:spcPts val="600"/>
              </a:spcAft>
              <a:defRPr sz="900" b="1">
                <a:solidFill>
                  <a:srgbClr val="16A34A"/>
                </a:solidFill>
              </a:defRPr>
            </a:pPr>
            <a:r>
              <a:t>STANDARD: QUALIFIED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Integration testing with Indian commercial vehicle leaders (Tata Motors, Ashok Leyland).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Drop-in zonal controller kits for electric buses and heavy-duty commercial haulage.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Full ISO 26262 functional safety and ARAI automotive homologation.</a:t>
            </a:r>
          </a:p>
          <a:p>
            <a:pPr>
              <a:spcAft>
                <a:spcPts val="400"/>
              </a:spcAft>
              <a:defRPr sz="950">
                <a:solidFill>
                  <a:srgbClr val="475569"/>
                </a:solidFill>
              </a:defRPr>
            </a:pPr>
            <a:r>
              <a:t>• Long-term 15-year automotive lifecycle availability guarantee.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FINANCIAL MODEL &amp; COMMERCIAL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Capturing The Indian Automotive Zonal Revolution At 1/10th The Silicon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Open-source EDA, mature foundry nodes, and organic packaging compound into 68%+ gross margins.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5146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21854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6B6D4"/>
                </a:solidFill>
              </a:defRPr>
            </a:pPr>
            <a:r>
              <a:t>TARGET MARKET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₹4,200 Cr / Year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Indian commercial and passenger vehicle market migrating to zonal architectures by 2028.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MoRTH regulatory mandates for ADAS and electronic safety on commercial vehicles.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Average silicon BOM content expanding from $180 to $650 per vehicle chassis.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514600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737360"/>
            <a:ext cx="25146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920240"/>
            <a:ext cx="21854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97706"/>
                </a:solidFill>
              </a:defRPr>
            </a:pPr>
            <a:r>
              <a:t>UNIT ECONOMICS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$38 BOM / $140 ASP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Mature-node silicon and organic packaging keep unit manufacturing cost under $38.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Target average selling price (ASP) of $120–$160 delivers &gt;68% gross margin.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Replaces over $400 worth of fragmented foreign ECUs and electromechanical fuse boxes.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2514600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251460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920240"/>
            <a:ext cx="21854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6A34A"/>
                </a:solidFill>
              </a:defRPr>
            </a:pPr>
            <a:r>
              <a:t>CAPITAL EFFICIENCY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10x Advantage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Zero Synopsys/Cadence license costs ($1.5M saved per tapeout).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Shuttle-based rapid iteration loop every 198 days across 3 domestic/international fabs.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₹10 Cr use of funds buys complete silicon qualification and commercial production.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737360"/>
            <a:ext cx="2514600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737360"/>
            <a:ext cx="251460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8552" y="1920240"/>
            <a:ext cx="21854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7490"/>
                </a:solidFill>
              </a:defRPr>
            </a:pPr>
            <a:r>
              <a:t>SOVEREIGN MOAT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Zero Foreign Lock-in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100% domestic IP ownership protected under Indian patent and semiconductor layout acts.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Permanent immunity from foreign export bans, ITAR restrictions, or kill-switches.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Scalable architectural platform powering 10 SKUs toward ₹1,000 Cr FY31 revenue.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