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12a053771c4c39" /><Relationship Type="http://schemas.openxmlformats.org/officeDocument/2006/relationships/extended-properties" Target="/docProps/app.xml" Id="R8e647d650189479b" /><Relationship Type="http://schemas.openxmlformats.org/officeDocument/2006/relationships/officeDocument" Target="/ppt/presentation.xml" Id="Rcab9f8e699f64f23" /></Relationships>
</file>

<file path=ppt/presentation.xml><?xml version="1.0" encoding="utf-8"?>
<p:presentation xmlns:p="http://schemas.openxmlformats.org/presentationml/2006/main">
  <p:sldMasterIdLst>
    <p:sldMasterId xmlns:r="http://schemas.openxmlformats.org/officeDocument/2006/relationships" id="2147483648" r:id="R1d10ccade7ae4063"/>
  </p:sldMasterIdLst>
  <p:notesMasterIdLst>
    <p:notesMasterId xmlns:r="http://schemas.openxmlformats.org/officeDocument/2006/relationships" r:id="R5931dc379e184312"/>
  </p:notesMasterIdLst>
  <p:sldIdLst>
    <p:sldId xmlns:r="http://schemas.openxmlformats.org/officeDocument/2006/relationships" id="256" r:id="R91ef68551ab74ad3"/>
    <p:sldId xmlns:r="http://schemas.openxmlformats.org/officeDocument/2006/relationships" id="257" r:id="R2c1badb4b6c248f9"/>
    <p:sldId xmlns:r="http://schemas.openxmlformats.org/officeDocument/2006/relationships" id="258" r:id="R76026a2e3c764a59"/>
    <p:sldId xmlns:r="http://schemas.openxmlformats.org/officeDocument/2006/relationships" id="259" r:id="R9113ea374d47424b"/>
    <p:sldId xmlns:r="http://schemas.openxmlformats.org/officeDocument/2006/relationships" id="260" r:id="R0319f2e838b14b90"/>
    <p:sldId xmlns:r="http://schemas.openxmlformats.org/officeDocument/2006/relationships" id="261" r:id="Reef613927c844e65"/>
    <p:sldId xmlns:r="http://schemas.openxmlformats.org/officeDocument/2006/relationships" id="262" r:id="R21e915c1102e4ee3"/>
    <p:sldId xmlns:r="http://schemas.openxmlformats.org/officeDocument/2006/relationships" id="263" r:id="Rf81e4c2a38e5498a"/>
    <p:sldId xmlns:r="http://schemas.openxmlformats.org/officeDocument/2006/relationships" id="264" r:id="R1f079aca15f34a6d"/>
    <p:sldId xmlns:r="http://schemas.openxmlformats.org/officeDocument/2006/relationships" id="265" r:id="R8f5ee2a9dd9d40fb"/>
    <p:sldId xmlns:r="http://schemas.openxmlformats.org/officeDocument/2006/relationships" id="266" r:id="Rdbb7c28716dc497e"/>
    <p:sldId xmlns:r="http://schemas.openxmlformats.org/officeDocument/2006/relationships" id="267" r:id="Re48a002bf93e4c3f"/>
    <p:sldId xmlns:r="http://schemas.openxmlformats.org/officeDocument/2006/relationships" id="268" r:id="R3ff6da75f71940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060a43f8e14f09" /><Relationship Type="http://schemas.openxmlformats.org/officeDocument/2006/relationships/slideMaster" Target="/ppt/slideMasters/slideMaster1.xml" Id="R1d10ccade7ae4063" /><Relationship Type="http://schemas.openxmlformats.org/officeDocument/2006/relationships/notesMaster" Target="/ppt/notesMasters/notesMaster1.xml" Id="R5931dc379e184312" /><Relationship Type="http://schemas.openxmlformats.org/officeDocument/2006/relationships/presProps" Target="/ppt/presProps.xml" Id="Rc032ad9f3af448c8" /><Relationship Type="http://schemas.openxmlformats.org/officeDocument/2006/relationships/tableStyles" Target="/ppt/tableStyles.xml" Id="R1917c902683c4223" /><Relationship Type="http://schemas.openxmlformats.org/officeDocument/2006/relationships/slide" Target="/ppt/slides/slide1.xml" Id="R91ef68551ab74ad3" /><Relationship Type="http://schemas.openxmlformats.org/officeDocument/2006/relationships/slide" Target="/ppt/slides/slide2.xml" Id="R2c1badb4b6c248f9" /><Relationship Type="http://schemas.openxmlformats.org/officeDocument/2006/relationships/slide" Target="/ppt/slides/slide3.xml" Id="R76026a2e3c764a59" /><Relationship Type="http://schemas.openxmlformats.org/officeDocument/2006/relationships/slide" Target="/ppt/slides/slide4.xml" Id="R9113ea374d47424b" /><Relationship Type="http://schemas.openxmlformats.org/officeDocument/2006/relationships/slide" Target="/ppt/slides/slide5.xml" Id="R0319f2e838b14b90" /><Relationship Type="http://schemas.openxmlformats.org/officeDocument/2006/relationships/slide" Target="/ppt/slides/slide6.xml" Id="Reef613927c844e65" /><Relationship Type="http://schemas.openxmlformats.org/officeDocument/2006/relationships/slide" Target="/ppt/slides/slide7.xml" Id="R21e915c1102e4ee3" /><Relationship Type="http://schemas.openxmlformats.org/officeDocument/2006/relationships/slide" Target="/ppt/slides/slide8.xml" Id="Rf81e4c2a38e5498a" /><Relationship Type="http://schemas.openxmlformats.org/officeDocument/2006/relationships/slide" Target="/ppt/slides/slide9.xml" Id="R1f079aca15f34a6d" /><Relationship Type="http://schemas.openxmlformats.org/officeDocument/2006/relationships/slide" Target="/ppt/slides/slide10.xml" Id="R8f5ee2a9dd9d40fb" /><Relationship Type="http://schemas.openxmlformats.org/officeDocument/2006/relationships/slide" Target="/ppt/slides/slide11.xml" Id="Rdbb7c28716dc497e" /><Relationship Type="http://schemas.openxmlformats.org/officeDocument/2006/relationships/slide" Target="/ppt/slides/slide12.xml" Id="Re48a002bf93e4c3f" /><Relationship Type="http://schemas.openxmlformats.org/officeDocument/2006/relationships/slide" Target="/ppt/slides/slide13.xml" Id="R3ff6da75f71940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6adbd5b8d74f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f40be69ae542e2" /><Relationship Type="http://schemas.openxmlformats.org/officeDocument/2006/relationships/notesMaster" Target="/ppt/notesMasters/notesMaster1.xml" Id="R5162118aaca14b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f5b0923b71460f" /><Relationship Type="http://schemas.openxmlformats.org/officeDocument/2006/relationships/notesMaster" Target="/ppt/notesMasters/notesMaster1.xml" Id="Rb3e95c8e70834e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4362f56f6e480a" /><Relationship Type="http://schemas.openxmlformats.org/officeDocument/2006/relationships/notesMaster" Target="/ppt/notesMasters/notesMaster1.xml" Id="Rbf47269635c240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b5196813814f90" /><Relationship Type="http://schemas.openxmlformats.org/officeDocument/2006/relationships/notesMaster" Target="/ppt/notesMasters/notesMaster1.xml" Id="R7b5f5b8439354e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6e49474a924f37" /><Relationship Type="http://schemas.openxmlformats.org/officeDocument/2006/relationships/notesMaster" Target="/ppt/notesMasters/notesMaster1.xml" Id="R6f9b41f0d4d448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69a984546141f9" /><Relationship Type="http://schemas.openxmlformats.org/officeDocument/2006/relationships/notesMaster" Target="/ppt/notesMasters/notesMaster1.xml" Id="R11634fbd335242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bf7b9f81d84df0" /><Relationship Type="http://schemas.openxmlformats.org/officeDocument/2006/relationships/notesMaster" Target="/ppt/notesMasters/notesMaster1.xml" Id="R0df2346b3c3143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8d028edde646ac" /><Relationship Type="http://schemas.openxmlformats.org/officeDocument/2006/relationships/notesMaster" Target="/ppt/notesMasters/notesMaster1.xml" Id="R2d9471f58cfb44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fe9c98f8ee4c6a" /><Relationship Type="http://schemas.openxmlformats.org/officeDocument/2006/relationships/notesMaster" Target="/ppt/notesMasters/notesMaster1.xml" Id="R2de3c713c9a841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ccb472399e400a" /><Relationship Type="http://schemas.openxmlformats.org/officeDocument/2006/relationships/notesMaster" Target="/ppt/notesMasters/notesMaster1.xml" Id="Rca4e531280e043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b5558566094711" /><Relationship Type="http://schemas.openxmlformats.org/officeDocument/2006/relationships/notesMaster" Target="/ppt/notesMasters/notesMaster1.xml" Id="Re895d016856347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3ad118bbde4499" /><Relationship Type="http://schemas.openxmlformats.org/officeDocument/2006/relationships/notesMaster" Target="/ppt/notesMasters/notesMaster1.xml" Id="R3f77a107253746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ded69c5e4f4127" /><Relationship Type="http://schemas.openxmlformats.org/officeDocument/2006/relationships/notesMaster" Target="/ppt/notesMasters/notesMaster1.xml" Id="R87444ff897b54c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DG32-2DOM is the attention variant of Deepgrid Semi's DG32-LITE motor-control chip. It keeps the dual-core lockstep controller and adds an INT8 attention engine on its own clock, so a drive can watch its own motor for faults. The design is complete and in physical trials. Every figure here is a post-route, simulated or analytic value, and each one is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on one slide. DG32-2DOM is DG32-LITE plus an attention engine, not a new core. The lockstep CPU pair, boot path, peripherals and sixty-four-pin pinout are identical. The engine runs at one hundred fourteen megahertz, its output is bit-exact to the software model, and one query row costs about thirty-two hundred cycles, by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findings forced the design. The lockstep core tops out around fifty-five to sixty-two megahertz, so the control domain has to stay at fifty. The engine is the throughput consumer, so it gets its own faster clock. And adding its memory to the DG32-LITE floorplan made routing time out, so the variant gets a larger die of its 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architecture. On the left, the fifty megahertz control domain: everything in DG32-LITE. On the right, the one hundred fourteen megahertz compute domain: the attention engine and its key and value buffers. Between them sit three clock-domain bridges. The engine reaches memory only through those bridges, so it can never stall the control 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None of the base chip is redesigned. The safety pair and its fault latch, the boot ROM and memory, and every motor and sensing block come straight from DG32-LITE's own design files. So the control loop still costs roughly three hundred hardware cycles, and because the engine needs no pins, the nine-by-nine millimetre package and its pinout stay put. Only the clocking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kick computes a band of query rows of one attention head, end to end. Firmware programs the shapes. A shared multiply array computes Q times K transpose. A row maximum indexes a table of softmax weights. The engine forms the weighted sum, divides once per row, saturates the result to INT8, and writes the output back to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not squeeze the engine down to four bits? Because attention spreads its weight thin. Across roughly four hundred keys that look alike, each key earns about a quarter of one percent, and four-bit arithmetic cannot represent that: every weight became zero, and so did the answer. The engine instead carries weights at fifteen bits through a forty-bit sum, which holds exactly past a hundred thousand keys, and only narrows to INT8 at the very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engine that streamed its data across the shared bus would spend its time fighting the CPU for it. So its working data is loaded once per kick into memory right beside it, and each query row rereads what is already there. That keeps one attention head near one percent of bus time; resending the data for each row would cost roughly four hundred times as much. The DMA can even do the loading without involving the processor.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usual way to join two clocks is a FIFO buffer. This design skips it, because data crosses between the domains so seldom: inputs go over once, and results come back once. A four-phase request and acknowledge, synchronised on arrival, is small and easy to prove safe. Programming commands cross one after another, and a whole block of reads or writes travels as a single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engine's cost can be worked out before silicon, because it is plain arithmetic. At sixteen lanes and four hundred keys, with keys of thirty-two bytes and values of sixty-four, combining the values takes half of each row, about sixteen hundred cycles. Scoring the keys takes a quarter, requantising about seven hundred, and the divide just forty-eight, roughly thirty-two hundred and forty in all. A bench measurement replaces that estimate once first silicon arrives.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Splitting the clocks worked: both domains close timing after place-and-route, with positive slack. The fifty megahertz control side has zero point three nanoseconds of slack, and the one hundred fourteen megahertz engine side zero point one nine, on a die of three point four by four point five millimetres. Those are layout results, not silicon; the silicon numbers come with bring-up.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is it for? Catching a wearing bearing, or a drive that starts behaving oddly, without an extra processor on the board, because the motor controller watches its own motor. The STM32G0 can only run that kind of model in software, so a hardware engine sets DG32-2DOM apart. On the roadmap it runs alongside DG32-LITE's first silicon, with its design finished and undergoing physical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what should stay with you? First, the safety controller was left alone; the engine was built around it, not into it. Second, nothing is lost to rounding, and the hardware reproduces the reference software's output exactly. Third, the price of each row is already known from analysis, at about thirty-two hundred cycles. The next step is to measure all of it on real silicon.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c1616724ea45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68bcb2bcba4b9f" /><Relationship Type="http://schemas.openxmlformats.org/officeDocument/2006/relationships/slideLayout" Target="/ppt/slideLayouts/slideLayout1.xml" Id="Re7a9a180802643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a9a180802643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7de4d3c6f2484f" /><Relationship Type="http://schemas.openxmlformats.org/officeDocument/2006/relationships/notesSlide" Target="/ppt/notesSlides/notesSlide1.xml" Id="Rf0de8333085047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0a2f7d8b814e35" /><Relationship Type="http://schemas.openxmlformats.org/officeDocument/2006/relationships/notesSlide" Target="/ppt/notesSlides/notesSlide2.xml" Id="Ra78fcd10c4c444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a18dfcbae34d59" /><Relationship Type="http://schemas.openxmlformats.org/officeDocument/2006/relationships/notesSlide" Target="/ppt/notesSlides/notesSlide3.xml" Id="Rda3a6eb910fb44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31d7b985044bb8" /><Relationship Type="http://schemas.openxmlformats.org/officeDocument/2006/relationships/notesSlide" Target="/ppt/notesSlides/notesSlide4.xml" Id="Raa66f63022b74c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6b2fa56d0bb4630" /><Relationship Type="http://schemas.openxmlformats.org/officeDocument/2006/relationships/notesSlide" Target="/ppt/notesSlides/notesSlide5.xml" Id="R2c613397cef646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3d2a4e69a94b57" /><Relationship Type="http://schemas.openxmlformats.org/officeDocument/2006/relationships/notesSlide" Target="/ppt/notesSlides/notesSlide6.xml" Id="Raac987a6820c4f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389f929c8a4191" /><Relationship Type="http://schemas.openxmlformats.org/officeDocument/2006/relationships/notesSlide" Target="/ppt/notesSlides/notesSlide7.xml" Id="R47f1ca1ac6d94e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6433c90eca46bc" /><Relationship Type="http://schemas.openxmlformats.org/officeDocument/2006/relationships/notesSlide" Target="/ppt/notesSlides/notesSlide8.xml" Id="R683abd6224264f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f06b5459864061" /><Relationship Type="http://schemas.openxmlformats.org/officeDocument/2006/relationships/notesSlide" Target="/ppt/notesSlides/notesSlide9.xml" Id="R54072b3810fc44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655221e5b24066" /><Relationship Type="http://schemas.openxmlformats.org/officeDocument/2006/relationships/notesSlide" Target="/ppt/notesSlides/notesSlide10.xml" Id="R3a7442bf01aa4d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940dea16b64a7e" /><Relationship Type="http://schemas.openxmlformats.org/officeDocument/2006/relationships/notesSlide" Target="/ppt/notesSlides/notesSlide11.xml" Id="R65b49aa7d81940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8e6ef640e9840d4" /><Relationship Type="http://schemas.openxmlformats.org/officeDocument/2006/relationships/notesSlide" Target="/ppt/notesSlides/notesSlide12.xml" Id="Ree88ee5d0cbb4a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5bc34f4b80d4750" /><Relationship Type="http://schemas.openxmlformats.org/officeDocument/2006/relationships/notesSlide" Target="/ppt/notesSlides/notesSlide13.xml" Id="R1db52fc803be41c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5" name="">
            <a:extLst xmlns:a="http://schemas.openxmlformats.org/drawingml/2006/main">
              <a:ext uri="{FF2B5EF4-FFF2-40B4-BE49-F238E27FC236}">
                <a16:creationId xmlns:a16="http://schemas.microsoft.com/office/drawing/2014/main" id="{751AC0B7-6E75-416F-BF39-60A298B135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3E68F0-C0BD-4E54-9CFF-FEE3EC86DBF3}"/>
              </a:ext>
            </a:extLst>
          </p:cNvPr>
          <p:cNvSpPr>
            <a:spLocks xmlns:a="http://schemas.openxmlformats.org/drawingml/2006/main" noGrp="1"/>
          </p:cNvSpPr>
          <p:nvPr/>
        </p:nvSpPr>
        <p:spPr>
          <a:xfrm xmlns:a="http://schemas.openxmlformats.org/drawingml/2006/main">
            <a:off x="457200" y="666750"/>
            <a:ext cx="7239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DEEPGRID SEMI  ·  DG32-2DOM  ·  SEPTEMBER 2026</a:t>
            </a:r>
          </a:p>
        </p:txBody>
      </p:sp>
      <p:sp>
        <p:nvSpPr>
          <p:cNvPr id="3" name="">
            <a:extLst xmlns:a="http://schemas.openxmlformats.org/drawingml/2006/main">
              <a:ext uri="{FF2B5EF4-FFF2-40B4-BE49-F238E27FC236}">
                <a16:creationId xmlns:a16="http://schemas.microsoft.com/office/drawing/2014/main" id="{771A8FD2-43BB-43C0-B427-E90FD5182533}"/>
              </a:ext>
            </a:extLst>
          </p:cNvPr>
          <p:cNvSpPr>
            <a:spLocks xmlns:a="http://schemas.openxmlformats.org/drawingml/2006/main" noGrp="1"/>
          </p:cNvSpPr>
          <p:nvPr/>
        </p:nvSpPr>
        <p:spPr>
          <a:xfrm xmlns:a="http://schemas.openxmlformats.org/drawingml/2006/main">
            <a:off x="457200" y="1066800"/>
            <a:ext cx="7239000" cy="1619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a:solidFill>
                  <a:srgbClr val="FFFFFF"/>
                </a:solidFill>
                <a:latin typeface="Georgia"/>
                <a:ea typeface="Georgia"/>
                <a:cs typeface="Georgia"/>
              </a:defRPr>
            </a:pPr>
            <a:r>
              <a:t>Condition monitoring on the motor-control chip</a:t>
            </a:r>
          </a:p>
        </p:txBody>
      </p:sp>
      <p:sp>
        <p:nvSpPr>
          <p:cNvPr id="4" name="">
            <a:extLst xmlns:a="http://schemas.openxmlformats.org/drawingml/2006/main">
              <a:ext uri="{FF2B5EF4-FFF2-40B4-BE49-F238E27FC236}">
                <a16:creationId xmlns:a16="http://schemas.microsoft.com/office/drawing/2014/main" id="{8F030EA7-460B-43AF-A577-60AD471C5495}"/>
              </a:ext>
            </a:extLst>
          </p:cNvPr>
          <p:cNvSpPr>
            <a:spLocks xmlns:a="http://schemas.openxmlformats.org/drawingml/2006/main" noGrp="1"/>
          </p:cNvSpPr>
          <p:nvPr/>
        </p:nvSpPr>
        <p:spPr>
          <a:xfrm xmlns:a="http://schemas.openxmlformats.org/drawingml/2006/main">
            <a:off x="457200" y="278130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6FB7128-E3EC-4086-B14E-CC9910091948}"/>
              </a:ext>
            </a:extLst>
          </p:cNvPr>
          <p:cNvSpPr>
            <a:spLocks xmlns:a="http://schemas.openxmlformats.org/drawingml/2006/main" noGrp="1"/>
          </p:cNvSpPr>
          <p:nvPr/>
        </p:nvSpPr>
        <p:spPr>
          <a:xfrm xmlns:a="http://schemas.openxmlformats.org/drawingml/2006/main">
            <a:off x="457200" y="2990850"/>
            <a:ext cx="66675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The DG32-LITE lockstep motor-control SoC plus an INT8 attention engine on a second, 114 MHz clock · 130 nm CMOS · design complete, in physical trials</a:t>
            </a:r>
          </a:p>
        </p:txBody>
      </p:sp>
      <p:sp>
        <p:nvSpPr>
          <p:cNvPr id="6" name="">
            <a:extLst xmlns:a="http://schemas.openxmlformats.org/drawingml/2006/main">
              <a:ext uri="{FF2B5EF4-FFF2-40B4-BE49-F238E27FC236}">
                <a16:creationId xmlns:a16="http://schemas.microsoft.com/office/drawing/2014/main" id="{01532155-6BCB-48A9-AF41-C27A05982404}"/>
              </a:ext>
            </a:extLst>
          </p:cNvPr>
          <p:cNvSpPr>
            <a:spLocks xmlns:a="http://schemas.openxmlformats.org/drawingml/2006/main" noGrp="1"/>
          </p:cNvSpPr>
          <p:nvPr/>
        </p:nvSpPr>
        <p:spPr>
          <a:xfrm xmlns:a="http://schemas.openxmlformats.org/drawingml/2006/main">
            <a:off x="8096250" y="1123950"/>
            <a:ext cx="3048000" cy="3048000"/>
          </a:xfrm>
          <a:prstGeom xmlns:a="http://schemas.openxmlformats.org/drawingml/2006/main" prst="rect">
            <a:avLst/>
          </a:prstGeom>
          <a:solidFill xmlns:a="http://schemas.openxmlformats.org/drawingml/2006/main">
            <a:srgbClr val="12243A"/>
          </a:solidFill>
          <a:ln xmlns:a="http://schemas.openxmlformats.org/drawingml/2006/main" w="19050">
            <a:solidFill>
              <a:srgbClr val="00B4D8"/>
            </a:solidFill>
            <a:prstDash val="solid"/>
          </a:ln>
        </p:spPr>
      </p:sp>
      <p:sp>
        <p:nvSpPr>
          <p:cNvPr id="7" name="">
            <a:extLst xmlns:a="http://schemas.openxmlformats.org/drawingml/2006/main">
              <a:ext uri="{FF2B5EF4-FFF2-40B4-BE49-F238E27FC236}">
                <a16:creationId xmlns:a16="http://schemas.microsoft.com/office/drawing/2014/main" id="{6DB52408-3BEB-4C68-AA7C-E00D7B1DA0C0}"/>
              </a:ext>
            </a:extLst>
          </p:cNvPr>
          <p:cNvSpPr>
            <a:spLocks xmlns:a="http://schemas.openxmlformats.org/drawingml/2006/main" noGrp="1"/>
          </p:cNvSpPr>
          <p:nvPr/>
        </p:nvSpPr>
        <p:spPr>
          <a:xfrm xmlns:a="http://schemas.openxmlformats.org/drawingml/2006/main">
            <a:off x="794385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3855EC2-388D-4EE6-A98A-8F9F3634A77F}"/>
              </a:ext>
            </a:extLst>
          </p:cNvPr>
          <p:cNvSpPr>
            <a:spLocks xmlns:a="http://schemas.openxmlformats.org/drawingml/2006/main" noGrp="1"/>
          </p:cNvSpPr>
          <p:nvPr/>
        </p:nvSpPr>
        <p:spPr>
          <a:xfrm xmlns:a="http://schemas.openxmlformats.org/drawingml/2006/main">
            <a:off x="1116330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2CD3482-B334-4458-A4CF-FFABB4615930}"/>
              </a:ext>
            </a:extLst>
          </p:cNvPr>
          <p:cNvSpPr>
            <a:spLocks xmlns:a="http://schemas.openxmlformats.org/drawingml/2006/main" noGrp="1"/>
          </p:cNvSpPr>
          <p:nvPr/>
        </p:nvSpPr>
        <p:spPr>
          <a:xfrm xmlns:a="http://schemas.openxmlformats.org/drawingml/2006/main">
            <a:off x="82772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044C06A-4C75-41A7-8ADC-2445BAE83D20}"/>
              </a:ext>
            </a:extLst>
          </p:cNvPr>
          <p:cNvSpPr>
            <a:spLocks xmlns:a="http://schemas.openxmlformats.org/drawingml/2006/main" noGrp="1"/>
          </p:cNvSpPr>
          <p:nvPr/>
        </p:nvSpPr>
        <p:spPr>
          <a:xfrm xmlns:a="http://schemas.openxmlformats.org/drawingml/2006/main">
            <a:off x="82772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858D90B-00F1-4E9F-A5E6-7E39A2B85F71}"/>
              </a:ext>
            </a:extLst>
          </p:cNvPr>
          <p:cNvSpPr>
            <a:spLocks xmlns:a="http://schemas.openxmlformats.org/drawingml/2006/main" noGrp="1"/>
          </p:cNvSpPr>
          <p:nvPr/>
        </p:nvSpPr>
        <p:spPr>
          <a:xfrm xmlns:a="http://schemas.openxmlformats.org/drawingml/2006/main">
            <a:off x="794385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7626823-6E41-460D-B085-6627B20B40D7}"/>
              </a:ext>
            </a:extLst>
          </p:cNvPr>
          <p:cNvSpPr>
            <a:spLocks xmlns:a="http://schemas.openxmlformats.org/drawingml/2006/main" noGrp="1"/>
          </p:cNvSpPr>
          <p:nvPr/>
        </p:nvSpPr>
        <p:spPr>
          <a:xfrm xmlns:a="http://schemas.openxmlformats.org/drawingml/2006/main">
            <a:off x="1116330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C6515E7-F775-4D04-9CE9-72ADBE261DFD}"/>
              </a:ext>
            </a:extLst>
          </p:cNvPr>
          <p:cNvSpPr>
            <a:spLocks xmlns:a="http://schemas.openxmlformats.org/drawingml/2006/main" noGrp="1"/>
          </p:cNvSpPr>
          <p:nvPr/>
        </p:nvSpPr>
        <p:spPr>
          <a:xfrm xmlns:a="http://schemas.openxmlformats.org/drawingml/2006/main">
            <a:off x="84499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3C24FE-1746-49BA-9E35-B61633EF740C}"/>
              </a:ext>
            </a:extLst>
          </p:cNvPr>
          <p:cNvSpPr>
            <a:spLocks xmlns:a="http://schemas.openxmlformats.org/drawingml/2006/main" noGrp="1"/>
          </p:cNvSpPr>
          <p:nvPr/>
        </p:nvSpPr>
        <p:spPr>
          <a:xfrm xmlns:a="http://schemas.openxmlformats.org/drawingml/2006/main">
            <a:off x="84499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D63F90F-0874-4D9C-8578-F2235587392F}"/>
              </a:ext>
            </a:extLst>
          </p:cNvPr>
          <p:cNvSpPr>
            <a:spLocks xmlns:a="http://schemas.openxmlformats.org/drawingml/2006/main" noGrp="1"/>
          </p:cNvSpPr>
          <p:nvPr/>
        </p:nvSpPr>
        <p:spPr>
          <a:xfrm xmlns:a="http://schemas.openxmlformats.org/drawingml/2006/main">
            <a:off x="794385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F745B7E-6EB6-40C7-AF82-CFE37F2F42D9}"/>
              </a:ext>
            </a:extLst>
          </p:cNvPr>
          <p:cNvSpPr>
            <a:spLocks xmlns:a="http://schemas.openxmlformats.org/drawingml/2006/main" noGrp="1"/>
          </p:cNvSpPr>
          <p:nvPr/>
        </p:nvSpPr>
        <p:spPr>
          <a:xfrm xmlns:a="http://schemas.openxmlformats.org/drawingml/2006/main">
            <a:off x="1116330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898AF40-8F8F-4E5F-86E3-2EF0203E6DC3}"/>
              </a:ext>
            </a:extLst>
          </p:cNvPr>
          <p:cNvSpPr>
            <a:spLocks xmlns:a="http://schemas.openxmlformats.org/drawingml/2006/main" noGrp="1"/>
          </p:cNvSpPr>
          <p:nvPr/>
        </p:nvSpPr>
        <p:spPr>
          <a:xfrm xmlns:a="http://schemas.openxmlformats.org/drawingml/2006/main">
            <a:off x="86226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1DE6944-4518-4FDD-B13A-A62F5CED4168}"/>
              </a:ext>
            </a:extLst>
          </p:cNvPr>
          <p:cNvSpPr>
            <a:spLocks xmlns:a="http://schemas.openxmlformats.org/drawingml/2006/main" noGrp="1"/>
          </p:cNvSpPr>
          <p:nvPr/>
        </p:nvSpPr>
        <p:spPr>
          <a:xfrm xmlns:a="http://schemas.openxmlformats.org/drawingml/2006/main">
            <a:off x="86226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B8E6E04-6B3D-4F59-8085-204CCB9C5214}"/>
              </a:ext>
            </a:extLst>
          </p:cNvPr>
          <p:cNvSpPr>
            <a:spLocks xmlns:a="http://schemas.openxmlformats.org/drawingml/2006/main" noGrp="1"/>
          </p:cNvSpPr>
          <p:nvPr/>
        </p:nvSpPr>
        <p:spPr>
          <a:xfrm xmlns:a="http://schemas.openxmlformats.org/drawingml/2006/main">
            <a:off x="794385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45CB0F5-25EF-4AE8-B1B3-9CAE8765A954}"/>
              </a:ext>
            </a:extLst>
          </p:cNvPr>
          <p:cNvSpPr>
            <a:spLocks xmlns:a="http://schemas.openxmlformats.org/drawingml/2006/main" noGrp="1"/>
          </p:cNvSpPr>
          <p:nvPr/>
        </p:nvSpPr>
        <p:spPr>
          <a:xfrm xmlns:a="http://schemas.openxmlformats.org/drawingml/2006/main">
            <a:off x="1116330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114F771-7C54-4E5E-9F33-4584218DE162}"/>
              </a:ext>
            </a:extLst>
          </p:cNvPr>
          <p:cNvSpPr>
            <a:spLocks xmlns:a="http://schemas.openxmlformats.org/drawingml/2006/main" noGrp="1"/>
          </p:cNvSpPr>
          <p:nvPr/>
        </p:nvSpPr>
        <p:spPr>
          <a:xfrm xmlns:a="http://schemas.openxmlformats.org/drawingml/2006/main">
            <a:off x="87953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6C3EE22-9178-4753-89DB-3F5D86F7C906}"/>
              </a:ext>
            </a:extLst>
          </p:cNvPr>
          <p:cNvSpPr>
            <a:spLocks xmlns:a="http://schemas.openxmlformats.org/drawingml/2006/main" noGrp="1"/>
          </p:cNvSpPr>
          <p:nvPr/>
        </p:nvSpPr>
        <p:spPr>
          <a:xfrm xmlns:a="http://schemas.openxmlformats.org/drawingml/2006/main">
            <a:off x="87953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AA29D09-A191-4840-8049-75DB94C196C0}"/>
              </a:ext>
            </a:extLst>
          </p:cNvPr>
          <p:cNvSpPr>
            <a:spLocks xmlns:a="http://schemas.openxmlformats.org/drawingml/2006/main" noGrp="1"/>
          </p:cNvSpPr>
          <p:nvPr/>
        </p:nvSpPr>
        <p:spPr>
          <a:xfrm xmlns:a="http://schemas.openxmlformats.org/drawingml/2006/main">
            <a:off x="794385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05E05F0-C559-43D9-A630-EDC8586B378B}"/>
              </a:ext>
            </a:extLst>
          </p:cNvPr>
          <p:cNvSpPr>
            <a:spLocks xmlns:a="http://schemas.openxmlformats.org/drawingml/2006/main" noGrp="1"/>
          </p:cNvSpPr>
          <p:nvPr/>
        </p:nvSpPr>
        <p:spPr>
          <a:xfrm xmlns:a="http://schemas.openxmlformats.org/drawingml/2006/main">
            <a:off x="1116330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12BD0F3-F7F7-4CB8-A069-39825402CE98}"/>
              </a:ext>
            </a:extLst>
          </p:cNvPr>
          <p:cNvSpPr>
            <a:spLocks xmlns:a="http://schemas.openxmlformats.org/drawingml/2006/main" noGrp="1"/>
          </p:cNvSpPr>
          <p:nvPr/>
        </p:nvSpPr>
        <p:spPr>
          <a:xfrm xmlns:a="http://schemas.openxmlformats.org/drawingml/2006/main">
            <a:off x="89681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BC6B497-7164-4F8E-81DC-5AA85D740A61}"/>
              </a:ext>
            </a:extLst>
          </p:cNvPr>
          <p:cNvSpPr>
            <a:spLocks xmlns:a="http://schemas.openxmlformats.org/drawingml/2006/main" noGrp="1"/>
          </p:cNvSpPr>
          <p:nvPr/>
        </p:nvSpPr>
        <p:spPr>
          <a:xfrm xmlns:a="http://schemas.openxmlformats.org/drawingml/2006/main">
            <a:off x="89681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38A070C-0080-42A4-8453-51CD1E5E27B3}"/>
              </a:ext>
            </a:extLst>
          </p:cNvPr>
          <p:cNvSpPr>
            <a:spLocks xmlns:a="http://schemas.openxmlformats.org/drawingml/2006/main" noGrp="1"/>
          </p:cNvSpPr>
          <p:nvPr/>
        </p:nvSpPr>
        <p:spPr>
          <a:xfrm xmlns:a="http://schemas.openxmlformats.org/drawingml/2006/main">
            <a:off x="794385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F46F903-55AE-4F98-BFC6-EFF88992402E}"/>
              </a:ext>
            </a:extLst>
          </p:cNvPr>
          <p:cNvSpPr>
            <a:spLocks xmlns:a="http://schemas.openxmlformats.org/drawingml/2006/main" noGrp="1"/>
          </p:cNvSpPr>
          <p:nvPr/>
        </p:nvSpPr>
        <p:spPr>
          <a:xfrm xmlns:a="http://schemas.openxmlformats.org/drawingml/2006/main">
            <a:off x="1116330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E62EFF7-8B5F-469A-BE89-185DAA2EB984}"/>
              </a:ext>
            </a:extLst>
          </p:cNvPr>
          <p:cNvSpPr>
            <a:spLocks xmlns:a="http://schemas.openxmlformats.org/drawingml/2006/main" noGrp="1"/>
          </p:cNvSpPr>
          <p:nvPr/>
        </p:nvSpPr>
        <p:spPr>
          <a:xfrm xmlns:a="http://schemas.openxmlformats.org/drawingml/2006/main">
            <a:off x="91408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4AD9AC5-CDF3-4DF1-91CE-A3A673A7B76B}"/>
              </a:ext>
            </a:extLst>
          </p:cNvPr>
          <p:cNvSpPr>
            <a:spLocks xmlns:a="http://schemas.openxmlformats.org/drawingml/2006/main" noGrp="1"/>
          </p:cNvSpPr>
          <p:nvPr/>
        </p:nvSpPr>
        <p:spPr>
          <a:xfrm xmlns:a="http://schemas.openxmlformats.org/drawingml/2006/main">
            <a:off x="91408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73EC363-C96D-4A6F-AFC2-71B2FBB5912A}"/>
              </a:ext>
            </a:extLst>
          </p:cNvPr>
          <p:cNvSpPr>
            <a:spLocks xmlns:a="http://schemas.openxmlformats.org/drawingml/2006/main" noGrp="1"/>
          </p:cNvSpPr>
          <p:nvPr/>
        </p:nvSpPr>
        <p:spPr>
          <a:xfrm xmlns:a="http://schemas.openxmlformats.org/drawingml/2006/main">
            <a:off x="794385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ECA8ACC-94BA-4C1F-8F90-5E9DB9752733}"/>
              </a:ext>
            </a:extLst>
          </p:cNvPr>
          <p:cNvSpPr>
            <a:spLocks xmlns:a="http://schemas.openxmlformats.org/drawingml/2006/main" noGrp="1"/>
          </p:cNvSpPr>
          <p:nvPr/>
        </p:nvSpPr>
        <p:spPr>
          <a:xfrm xmlns:a="http://schemas.openxmlformats.org/drawingml/2006/main">
            <a:off x="1116330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BF89251-8F79-40BA-9D00-545F6D7F02BD}"/>
              </a:ext>
            </a:extLst>
          </p:cNvPr>
          <p:cNvSpPr>
            <a:spLocks xmlns:a="http://schemas.openxmlformats.org/drawingml/2006/main" noGrp="1"/>
          </p:cNvSpPr>
          <p:nvPr/>
        </p:nvSpPr>
        <p:spPr>
          <a:xfrm xmlns:a="http://schemas.openxmlformats.org/drawingml/2006/main">
            <a:off x="93135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1A98D37-C76D-46FA-9DAB-C3697467C5E4}"/>
              </a:ext>
            </a:extLst>
          </p:cNvPr>
          <p:cNvSpPr>
            <a:spLocks xmlns:a="http://schemas.openxmlformats.org/drawingml/2006/main" noGrp="1"/>
          </p:cNvSpPr>
          <p:nvPr/>
        </p:nvSpPr>
        <p:spPr>
          <a:xfrm xmlns:a="http://schemas.openxmlformats.org/drawingml/2006/main">
            <a:off x="93135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A4606501-D163-44AE-8E05-53591DDA2F55}"/>
              </a:ext>
            </a:extLst>
          </p:cNvPr>
          <p:cNvSpPr>
            <a:spLocks xmlns:a="http://schemas.openxmlformats.org/drawingml/2006/main" noGrp="1"/>
          </p:cNvSpPr>
          <p:nvPr/>
        </p:nvSpPr>
        <p:spPr>
          <a:xfrm xmlns:a="http://schemas.openxmlformats.org/drawingml/2006/main">
            <a:off x="794385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8446A01-C9D6-48F9-8C64-E2DB383A840D}"/>
              </a:ext>
            </a:extLst>
          </p:cNvPr>
          <p:cNvSpPr>
            <a:spLocks xmlns:a="http://schemas.openxmlformats.org/drawingml/2006/main" noGrp="1"/>
          </p:cNvSpPr>
          <p:nvPr/>
        </p:nvSpPr>
        <p:spPr>
          <a:xfrm xmlns:a="http://schemas.openxmlformats.org/drawingml/2006/main">
            <a:off x="1116330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3332A34-D150-45FC-9A13-4701278A8AEE}"/>
              </a:ext>
            </a:extLst>
          </p:cNvPr>
          <p:cNvSpPr>
            <a:spLocks xmlns:a="http://schemas.openxmlformats.org/drawingml/2006/main" noGrp="1"/>
          </p:cNvSpPr>
          <p:nvPr/>
        </p:nvSpPr>
        <p:spPr>
          <a:xfrm xmlns:a="http://schemas.openxmlformats.org/drawingml/2006/main">
            <a:off x="94862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2826AA7-9EA5-4DA3-8E3A-E55376FAFEC7}"/>
              </a:ext>
            </a:extLst>
          </p:cNvPr>
          <p:cNvSpPr>
            <a:spLocks xmlns:a="http://schemas.openxmlformats.org/drawingml/2006/main" noGrp="1"/>
          </p:cNvSpPr>
          <p:nvPr/>
        </p:nvSpPr>
        <p:spPr>
          <a:xfrm xmlns:a="http://schemas.openxmlformats.org/drawingml/2006/main">
            <a:off x="94862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94134B2-5477-42C6-B7E5-551CD9A9BB7E}"/>
              </a:ext>
            </a:extLst>
          </p:cNvPr>
          <p:cNvSpPr>
            <a:spLocks xmlns:a="http://schemas.openxmlformats.org/drawingml/2006/main" noGrp="1"/>
          </p:cNvSpPr>
          <p:nvPr/>
        </p:nvSpPr>
        <p:spPr>
          <a:xfrm xmlns:a="http://schemas.openxmlformats.org/drawingml/2006/main">
            <a:off x="794385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A016EAA-AA54-4A57-9864-6B4CC7528547}"/>
              </a:ext>
            </a:extLst>
          </p:cNvPr>
          <p:cNvSpPr>
            <a:spLocks xmlns:a="http://schemas.openxmlformats.org/drawingml/2006/main" noGrp="1"/>
          </p:cNvSpPr>
          <p:nvPr/>
        </p:nvSpPr>
        <p:spPr>
          <a:xfrm xmlns:a="http://schemas.openxmlformats.org/drawingml/2006/main">
            <a:off x="1116330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509B84D-61E2-4658-9C35-906889366AF4}"/>
              </a:ext>
            </a:extLst>
          </p:cNvPr>
          <p:cNvSpPr>
            <a:spLocks xmlns:a="http://schemas.openxmlformats.org/drawingml/2006/main" noGrp="1"/>
          </p:cNvSpPr>
          <p:nvPr/>
        </p:nvSpPr>
        <p:spPr>
          <a:xfrm xmlns:a="http://schemas.openxmlformats.org/drawingml/2006/main">
            <a:off x="96589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83D2DD2-598D-4FC5-9A98-4254E93476DE}"/>
              </a:ext>
            </a:extLst>
          </p:cNvPr>
          <p:cNvSpPr>
            <a:spLocks xmlns:a="http://schemas.openxmlformats.org/drawingml/2006/main" noGrp="1"/>
          </p:cNvSpPr>
          <p:nvPr/>
        </p:nvSpPr>
        <p:spPr>
          <a:xfrm xmlns:a="http://schemas.openxmlformats.org/drawingml/2006/main">
            <a:off x="96589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E3E9665-50AF-4509-ABE5-66F9AB83FF27}"/>
              </a:ext>
            </a:extLst>
          </p:cNvPr>
          <p:cNvSpPr>
            <a:spLocks xmlns:a="http://schemas.openxmlformats.org/drawingml/2006/main" noGrp="1"/>
          </p:cNvSpPr>
          <p:nvPr/>
        </p:nvSpPr>
        <p:spPr>
          <a:xfrm xmlns:a="http://schemas.openxmlformats.org/drawingml/2006/main">
            <a:off x="794385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630B2A8-C3F6-49EE-8DAF-CCA423297B8C}"/>
              </a:ext>
            </a:extLst>
          </p:cNvPr>
          <p:cNvSpPr>
            <a:spLocks xmlns:a="http://schemas.openxmlformats.org/drawingml/2006/main" noGrp="1"/>
          </p:cNvSpPr>
          <p:nvPr/>
        </p:nvSpPr>
        <p:spPr>
          <a:xfrm xmlns:a="http://schemas.openxmlformats.org/drawingml/2006/main">
            <a:off x="1116330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407B8F78-5804-4911-8773-212EE3C2CC54}"/>
              </a:ext>
            </a:extLst>
          </p:cNvPr>
          <p:cNvSpPr>
            <a:spLocks xmlns:a="http://schemas.openxmlformats.org/drawingml/2006/main" noGrp="1"/>
          </p:cNvSpPr>
          <p:nvPr/>
        </p:nvSpPr>
        <p:spPr>
          <a:xfrm xmlns:a="http://schemas.openxmlformats.org/drawingml/2006/main">
            <a:off x="98317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F24DA49-D8F8-4A5C-91A7-C138940179A9}"/>
              </a:ext>
            </a:extLst>
          </p:cNvPr>
          <p:cNvSpPr>
            <a:spLocks xmlns:a="http://schemas.openxmlformats.org/drawingml/2006/main" noGrp="1"/>
          </p:cNvSpPr>
          <p:nvPr/>
        </p:nvSpPr>
        <p:spPr>
          <a:xfrm xmlns:a="http://schemas.openxmlformats.org/drawingml/2006/main">
            <a:off x="98317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F3BEBD50-565E-4864-86FE-7FFEE64A720A}"/>
              </a:ext>
            </a:extLst>
          </p:cNvPr>
          <p:cNvSpPr>
            <a:spLocks xmlns:a="http://schemas.openxmlformats.org/drawingml/2006/main" noGrp="1"/>
          </p:cNvSpPr>
          <p:nvPr/>
        </p:nvSpPr>
        <p:spPr>
          <a:xfrm xmlns:a="http://schemas.openxmlformats.org/drawingml/2006/main">
            <a:off x="794385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ADC916C-4818-4AD7-8402-AE33A433C1BB}"/>
              </a:ext>
            </a:extLst>
          </p:cNvPr>
          <p:cNvSpPr>
            <a:spLocks xmlns:a="http://schemas.openxmlformats.org/drawingml/2006/main" noGrp="1"/>
          </p:cNvSpPr>
          <p:nvPr/>
        </p:nvSpPr>
        <p:spPr>
          <a:xfrm xmlns:a="http://schemas.openxmlformats.org/drawingml/2006/main">
            <a:off x="1116330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66E35889-EC42-488C-9392-A64DF87CD522}"/>
              </a:ext>
            </a:extLst>
          </p:cNvPr>
          <p:cNvSpPr>
            <a:spLocks xmlns:a="http://schemas.openxmlformats.org/drawingml/2006/main" noGrp="1"/>
          </p:cNvSpPr>
          <p:nvPr/>
        </p:nvSpPr>
        <p:spPr>
          <a:xfrm xmlns:a="http://schemas.openxmlformats.org/drawingml/2006/main">
            <a:off x="100044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8E64081-BAEE-4F79-995C-FAD2A4A119AD}"/>
              </a:ext>
            </a:extLst>
          </p:cNvPr>
          <p:cNvSpPr>
            <a:spLocks xmlns:a="http://schemas.openxmlformats.org/drawingml/2006/main" noGrp="1"/>
          </p:cNvSpPr>
          <p:nvPr/>
        </p:nvSpPr>
        <p:spPr>
          <a:xfrm xmlns:a="http://schemas.openxmlformats.org/drawingml/2006/main">
            <a:off x="100044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DA9A4A4-741D-4BF5-8ED7-A62FC614F0B6}"/>
              </a:ext>
            </a:extLst>
          </p:cNvPr>
          <p:cNvSpPr>
            <a:spLocks xmlns:a="http://schemas.openxmlformats.org/drawingml/2006/main" noGrp="1"/>
          </p:cNvSpPr>
          <p:nvPr/>
        </p:nvSpPr>
        <p:spPr>
          <a:xfrm xmlns:a="http://schemas.openxmlformats.org/drawingml/2006/main">
            <a:off x="794385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F2EB4ECA-05E3-41B2-ACD4-60D543A7C782}"/>
              </a:ext>
            </a:extLst>
          </p:cNvPr>
          <p:cNvSpPr>
            <a:spLocks xmlns:a="http://schemas.openxmlformats.org/drawingml/2006/main" noGrp="1"/>
          </p:cNvSpPr>
          <p:nvPr/>
        </p:nvSpPr>
        <p:spPr>
          <a:xfrm xmlns:a="http://schemas.openxmlformats.org/drawingml/2006/main">
            <a:off x="1116330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04F055DF-929C-45BF-8B64-E8455A74D4A0}"/>
              </a:ext>
            </a:extLst>
          </p:cNvPr>
          <p:cNvSpPr>
            <a:spLocks xmlns:a="http://schemas.openxmlformats.org/drawingml/2006/main" noGrp="1"/>
          </p:cNvSpPr>
          <p:nvPr/>
        </p:nvSpPr>
        <p:spPr>
          <a:xfrm xmlns:a="http://schemas.openxmlformats.org/drawingml/2006/main">
            <a:off x="101771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B565C380-3BFE-4F06-9ED6-299195CF6561}"/>
              </a:ext>
            </a:extLst>
          </p:cNvPr>
          <p:cNvSpPr>
            <a:spLocks xmlns:a="http://schemas.openxmlformats.org/drawingml/2006/main" noGrp="1"/>
          </p:cNvSpPr>
          <p:nvPr/>
        </p:nvSpPr>
        <p:spPr>
          <a:xfrm xmlns:a="http://schemas.openxmlformats.org/drawingml/2006/main">
            <a:off x="101771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C402BD03-4BC8-4CC7-B899-F5029BCF3817}"/>
              </a:ext>
            </a:extLst>
          </p:cNvPr>
          <p:cNvSpPr>
            <a:spLocks xmlns:a="http://schemas.openxmlformats.org/drawingml/2006/main" noGrp="1"/>
          </p:cNvSpPr>
          <p:nvPr/>
        </p:nvSpPr>
        <p:spPr>
          <a:xfrm xmlns:a="http://schemas.openxmlformats.org/drawingml/2006/main">
            <a:off x="794385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C6CD7D3B-655A-4430-AF91-224FC12E291E}"/>
              </a:ext>
            </a:extLst>
          </p:cNvPr>
          <p:cNvSpPr>
            <a:spLocks xmlns:a="http://schemas.openxmlformats.org/drawingml/2006/main" noGrp="1"/>
          </p:cNvSpPr>
          <p:nvPr/>
        </p:nvSpPr>
        <p:spPr>
          <a:xfrm xmlns:a="http://schemas.openxmlformats.org/drawingml/2006/main">
            <a:off x="1116330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660651DE-A69D-46C1-8DE6-A5569376BABC}"/>
              </a:ext>
            </a:extLst>
          </p:cNvPr>
          <p:cNvSpPr>
            <a:spLocks xmlns:a="http://schemas.openxmlformats.org/drawingml/2006/main" noGrp="1"/>
          </p:cNvSpPr>
          <p:nvPr/>
        </p:nvSpPr>
        <p:spPr>
          <a:xfrm xmlns:a="http://schemas.openxmlformats.org/drawingml/2006/main">
            <a:off x="103498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27C420CF-C9B0-456E-A3FB-703AFF3C77D3}"/>
              </a:ext>
            </a:extLst>
          </p:cNvPr>
          <p:cNvSpPr>
            <a:spLocks xmlns:a="http://schemas.openxmlformats.org/drawingml/2006/main" noGrp="1"/>
          </p:cNvSpPr>
          <p:nvPr/>
        </p:nvSpPr>
        <p:spPr>
          <a:xfrm xmlns:a="http://schemas.openxmlformats.org/drawingml/2006/main">
            <a:off x="103498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13D0750A-D8F3-4E29-891E-BD9BC5C9824C}"/>
              </a:ext>
            </a:extLst>
          </p:cNvPr>
          <p:cNvSpPr>
            <a:spLocks xmlns:a="http://schemas.openxmlformats.org/drawingml/2006/main" noGrp="1"/>
          </p:cNvSpPr>
          <p:nvPr/>
        </p:nvSpPr>
        <p:spPr>
          <a:xfrm xmlns:a="http://schemas.openxmlformats.org/drawingml/2006/main">
            <a:off x="794385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0A48E128-AF92-44C9-8829-333E0441562E}"/>
              </a:ext>
            </a:extLst>
          </p:cNvPr>
          <p:cNvSpPr>
            <a:spLocks xmlns:a="http://schemas.openxmlformats.org/drawingml/2006/main" noGrp="1"/>
          </p:cNvSpPr>
          <p:nvPr/>
        </p:nvSpPr>
        <p:spPr>
          <a:xfrm xmlns:a="http://schemas.openxmlformats.org/drawingml/2006/main">
            <a:off x="1116330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D0027398-F40F-4B9D-83A1-E460978ED82E}"/>
              </a:ext>
            </a:extLst>
          </p:cNvPr>
          <p:cNvSpPr>
            <a:spLocks xmlns:a="http://schemas.openxmlformats.org/drawingml/2006/main" noGrp="1"/>
          </p:cNvSpPr>
          <p:nvPr/>
        </p:nvSpPr>
        <p:spPr>
          <a:xfrm xmlns:a="http://schemas.openxmlformats.org/drawingml/2006/main">
            <a:off x="105225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C0F683AB-F416-40B8-AF8E-2A3E2F819830}"/>
              </a:ext>
            </a:extLst>
          </p:cNvPr>
          <p:cNvSpPr>
            <a:spLocks xmlns:a="http://schemas.openxmlformats.org/drawingml/2006/main" noGrp="1"/>
          </p:cNvSpPr>
          <p:nvPr/>
        </p:nvSpPr>
        <p:spPr>
          <a:xfrm xmlns:a="http://schemas.openxmlformats.org/drawingml/2006/main">
            <a:off x="105225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E259AE58-D137-41AA-B64E-7BF1A8F182C1}"/>
              </a:ext>
            </a:extLst>
          </p:cNvPr>
          <p:cNvSpPr>
            <a:spLocks xmlns:a="http://schemas.openxmlformats.org/drawingml/2006/main" noGrp="1"/>
          </p:cNvSpPr>
          <p:nvPr/>
        </p:nvSpPr>
        <p:spPr>
          <a:xfrm xmlns:a="http://schemas.openxmlformats.org/drawingml/2006/main">
            <a:off x="794385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ECC0E57B-1B1F-4255-9ADE-8083BAA7B101}"/>
              </a:ext>
            </a:extLst>
          </p:cNvPr>
          <p:cNvSpPr>
            <a:spLocks xmlns:a="http://schemas.openxmlformats.org/drawingml/2006/main" noGrp="1"/>
          </p:cNvSpPr>
          <p:nvPr/>
        </p:nvSpPr>
        <p:spPr>
          <a:xfrm xmlns:a="http://schemas.openxmlformats.org/drawingml/2006/main">
            <a:off x="1116330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A6CD3348-9825-4B42-95B0-0A367FA6551D}"/>
              </a:ext>
            </a:extLst>
          </p:cNvPr>
          <p:cNvSpPr>
            <a:spLocks xmlns:a="http://schemas.openxmlformats.org/drawingml/2006/main" noGrp="1"/>
          </p:cNvSpPr>
          <p:nvPr/>
        </p:nvSpPr>
        <p:spPr>
          <a:xfrm xmlns:a="http://schemas.openxmlformats.org/drawingml/2006/main">
            <a:off x="106953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A090F251-4E16-45E1-A16A-FF88B72BA83B}"/>
              </a:ext>
            </a:extLst>
          </p:cNvPr>
          <p:cNvSpPr>
            <a:spLocks xmlns:a="http://schemas.openxmlformats.org/drawingml/2006/main" noGrp="1"/>
          </p:cNvSpPr>
          <p:nvPr/>
        </p:nvSpPr>
        <p:spPr>
          <a:xfrm xmlns:a="http://schemas.openxmlformats.org/drawingml/2006/main">
            <a:off x="106953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62E2BDEE-2076-47C2-8FDF-FF4399C112E5}"/>
              </a:ext>
            </a:extLst>
          </p:cNvPr>
          <p:cNvSpPr>
            <a:spLocks xmlns:a="http://schemas.openxmlformats.org/drawingml/2006/main" noGrp="1"/>
          </p:cNvSpPr>
          <p:nvPr/>
        </p:nvSpPr>
        <p:spPr>
          <a:xfrm xmlns:a="http://schemas.openxmlformats.org/drawingml/2006/main">
            <a:off x="794385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A26BB3CE-923D-46AF-BF59-7F2DE3636E55}"/>
              </a:ext>
            </a:extLst>
          </p:cNvPr>
          <p:cNvSpPr>
            <a:spLocks xmlns:a="http://schemas.openxmlformats.org/drawingml/2006/main" noGrp="1"/>
          </p:cNvSpPr>
          <p:nvPr/>
        </p:nvSpPr>
        <p:spPr>
          <a:xfrm xmlns:a="http://schemas.openxmlformats.org/drawingml/2006/main">
            <a:off x="1116330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92B88F16-3736-42AD-A99E-63C5EEE14579}"/>
              </a:ext>
            </a:extLst>
          </p:cNvPr>
          <p:cNvSpPr>
            <a:spLocks xmlns:a="http://schemas.openxmlformats.org/drawingml/2006/main" noGrp="1"/>
          </p:cNvSpPr>
          <p:nvPr/>
        </p:nvSpPr>
        <p:spPr>
          <a:xfrm xmlns:a="http://schemas.openxmlformats.org/drawingml/2006/main">
            <a:off x="108680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48BB974D-BE5B-4B11-8943-F03E5A085B9B}"/>
              </a:ext>
            </a:extLst>
          </p:cNvPr>
          <p:cNvSpPr>
            <a:spLocks xmlns:a="http://schemas.openxmlformats.org/drawingml/2006/main" noGrp="1"/>
          </p:cNvSpPr>
          <p:nvPr/>
        </p:nvSpPr>
        <p:spPr>
          <a:xfrm xmlns:a="http://schemas.openxmlformats.org/drawingml/2006/main">
            <a:off x="108680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C7F03DDB-3DF8-465F-8F60-7F46C955C744}"/>
              </a:ext>
            </a:extLst>
          </p:cNvPr>
          <p:cNvSpPr>
            <a:spLocks xmlns:a="http://schemas.openxmlformats.org/drawingml/2006/main" noGrp="1"/>
          </p:cNvSpPr>
          <p:nvPr/>
        </p:nvSpPr>
        <p:spPr>
          <a:xfrm xmlns:a="http://schemas.openxmlformats.org/drawingml/2006/main">
            <a:off x="8286750" y="1314450"/>
            <a:ext cx="133350" cy="133350"/>
          </a:xfrm>
          <a:prstGeom xmlns:a="http://schemas.openxmlformats.org/drawingml/2006/main" prst="ellipse">
            <a:avLst/>
          </a:prstGeom>
          <a:solidFill xmlns:a="http://schemas.openxmlformats.org/drawingml/2006/main">
            <a:srgbClr val="00B4D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70F58E5F-B7A2-4763-92D2-C73CFD4F9910}"/>
              </a:ext>
            </a:extLst>
          </p:cNvPr>
          <p:cNvSpPr>
            <a:spLocks xmlns:a="http://schemas.openxmlformats.org/drawingml/2006/main" noGrp="1"/>
          </p:cNvSpPr>
          <p:nvPr/>
        </p:nvSpPr>
        <p:spPr>
          <a:xfrm xmlns:a="http://schemas.openxmlformats.org/drawingml/2006/main">
            <a:off x="8591550" y="1790700"/>
            <a:ext cx="2057400" cy="1714500"/>
          </a:xfrm>
          <a:prstGeom xmlns:a="http://schemas.openxmlformats.org/drawingml/2006/main" prst="rect">
            <a:avLst/>
          </a:prstGeom>
          <a:solidFill xmlns:a="http://schemas.openxmlformats.org/drawingml/2006/main">
            <a:srgbClr val="1E3A55"/>
          </a:solidFill>
          <a:ln xmlns:a="http://schemas.openxmlformats.org/drawingml/2006/main" w="9525">
            <a:solidFill>
              <a:srgbClr val="8DB4D4"/>
            </a:solidFill>
            <a:prstDash val="solid"/>
          </a:ln>
        </p:spPr>
      </p:sp>
      <p:sp>
        <p:nvSpPr>
          <p:cNvPr id="73" name="">
            <a:extLst xmlns:a="http://schemas.openxmlformats.org/drawingml/2006/main">
              <a:ext uri="{FF2B5EF4-FFF2-40B4-BE49-F238E27FC236}">
                <a16:creationId xmlns:a16="http://schemas.microsoft.com/office/drawing/2014/main" id="{9A898713-FDCB-465D-BF76-7E21F4DA8C24}"/>
              </a:ext>
            </a:extLst>
          </p:cNvPr>
          <p:cNvSpPr>
            <a:spLocks xmlns:a="http://schemas.openxmlformats.org/drawingml/2006/main" noGrp="1"/>
          </p:cNvSpPr>
          <p:nvPr/>
        </p:nvSpPr>
        <p:spPr>
          <a:xfrm xmlns:a="http://schemas.openxmlformats.org/drawingml/2006/main">
            <a:off x="8686800" y="1885950"/>
            <a:ext cx="838200" cy="1524000"/>
          </a:xfrm>
          <a:prstGeom xmlns:a="http://schemas.openxmlformats.org/drawingml/2006/main" prst="rect">
            <a:avLst/>
          </a:prstGeom>
          <a:solidFill xmlns:a="http://schemas.openxmlformats.org/drawingml/2006/main">
            <a:srgbClr val="244A6B"/>
          </a:solidFill>
          <a:ln xmlns:a="http://schemas.openxmlformats.org/drawingml/2006/main" w="9525">
            <a:solidFill>
              <a:srgbClr val="00B4D8"/>
            </a:solidFill>
            <a:prstDash val="solid"/>
          </a:ln>
        </p:spPr>
      </p:sp>
      <p:sp>
        <p:nvSpPr>
          <p:cNvPr id="74" name="">
            <a:extLst xmlns:a="http://schemas.openxmlformats.org/drawingml/2006/main">
              <a:ext uri="{FF2B5EF4-FFF2-40B4-BE49-F238E27FC236}">
                <a16:creationId xmlns:a16="http://schemas.microsoft.com/office/drawing/2014/main" id="{123E81B2-1326-4887-9CF2-9DFA70DADD68}"/>
              </a:ext>
            </a:extLst>
          </p:cNvPr>
          <p:cNvSpPr>
            <a:spLocks xmlns:a="http://schemas.openxmlformats.org/drawingml/2006/main" noGrp="1"/>
          </p:cNvSpPr>
          <p:nvPr/>
        </p:nvSpPr>
        <p:spPr>
          <a:xfrm xmlns:a="http://schemas.openxmlformats.org/drawingml/2006/main">
            <a:off x="9715500" y="1885950"/>
            <a:ext cx="838200" cy="1524000"/>
          </a:xfrm>
          <a:prstGeom xmlns:a="http://schemas.openxmlformats.org/drawingml/2006/main" prst="rect">
            <a:avLst/>
          </a:prstGeom>
          <a:solidFill xmlns:a="http://schemas.openxmlformats.org/drawingml/2006/main">
            <a:srgbClr val="1F4F52"/>
          </a:solidFill>
          <a:ln xmlns:a="http://schemas.openxmlformats.org/drawingml/2006/main" w="9525">
            <a:solidFill>
              <a:srgbClr val="0A9396"/>
            </a:solidFill>
            <a:prstDash val="solid"/>
          </a:ln>
        </p:spPr>
      </p:sp>
      <p:sp>
        <p:nvSpPr>
          <p:cNvPr id="75" name="">
            <a:extLst xmlns:a="http://schemas.openxmlformats.org/drawingml/2006/main">
              <a:ext uri="{FF2B5EF4-FFF2-40B4-BE49-F238E27FC236}">
                <a16:creationId xmlns:a16="http://schemas.microsoft.com/office/drawing/2014/main" id="{6943012B-6241-41D3-AFBE-49C695E6FADD}"/>
              </a:ext>
            </a:extLst>
          </p:cNvPr>
          <p:cNvSpPr>
            <a:spLocks xmlns:a="http://schemas.openxmlformats.org/drawingml/2006/main" noGrp="1"/>
          </p:cNvSpPr>
          <p:nvPr/>
        </p:nvSpPr>
        <p:spPr>
          <a:xfrm xmlns:a="http://schemas.openxmlformats.org/drawingml/2006/main">
            <a:off x="9563100" y="2171700"/>
            <a:ext cx="114300" cy="1714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B6E9B858-CB30-4895-9169-5B3D77E2ADFA}"/>
              </a:ext>
            </a:extLst>
          </p:cNvPr>
          <p:cNvSpPr>
            <a:spLocks xmlns:a="http://schemas.openxmlformats.org/drawingml/2006/main" noGrp="1"/>
          </p:cNvSpPr>
          <p:nvPr/>
        </p:nvSpPr>
        <p:spPr>
          <a:xfrm xmlns:a="http://schemas.openxmlformats.org/drawingml/2006/main">
            <a:off x="9563100" y="2552700"/>
            <a:ext cx="114300" cy="1714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0CAE74EE-17AB-4537-8A24-3EDF3580765D}"/>
              </a:ext>
            </a:extLst>
          </p:cNvPr>
          <p:cNvSpPr>
            <a:spLocks xmlns:a="http://schemas.openxmlformats.org/drawingml/2006/main" noGrp="1"/>
          </p:cNvSpPr>
          <p:nvPr/>
        </p:nvSpPr>
        <p:spPr>
          <a:xfrm xmlns:a="http://schemas.openxmlformats.org/drawingml/2006/main">
            <a:off x="9563100" y="2933700"/>
            <a:ext cx="114300" cy="1714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CFA77F7D-B1BA-45DE-A872-B57DB90A5ED8}"/>
              </a:ext>
            </a:extLst>
          </p:cNvPr>
          <p:cNvSpPr>
            <a:spLocks xmlns:a="http://schemas.openxmlformats.org/drawingml/2006/main" noGrp="1"/>
          </p:cNvSpPr>
          <p:nvPr/>
        </p:nvSpPr>
        <p:spPr>
          <a:xfrm xmlns:a="http://schemas.openxmlformats.org/drawingml/2006/main">
            <a:off x="8801100" y="2019300"/>
            <a:ext cx="609600" cy="34290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7A30ACD9-A09E-4499-BFF8-FA1EAC8113BD}"/>
              </a:ext>
            </a:extLst>
          </p:cNvPr>
          <p:cNvSpPr>
            <a:spLocks xmlns:a="http://schemas.openxmlformats.org/drawingml/2006/main" noGrp="1"/>
          </p:cNvSpPr>
          <p:nvPr/>
        </p:nvSpPr>
        <p:spPr>
          <a:xfrm xmlns:a="http://schemas.openxmlformats.org/drawingml/2006/main">
            <a:off x="8801100" y="2457450"/>
            <a:ext cx="609600" cy="95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B5F56AF3-8E03-4584-87A4-2985B07AE8A6}"/>
              </a:ext>
            </a:extLst>
          </p:cNvPr>
          <p:cNvSpPr>
            <a:spLocks xmlns:a="http://schemas.openxmlformats.org/drawingml/2006/main" noGrp="1"/>
          </p:cNvSpPr>
          <p:nvPr/>
        </p:nvSpPr>
        <p:spPr>
          <a:xfrm xmlns:a="http://schemas.openxmlformats.org/drawingml/2006/main">
            <a:off x="9829800" y="20193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778468D2-11B2-4839-B0C5-5511ABE3C7C2}"/>
              </a:ext>
            </a:extLst>
          </p:cNvPr>
          <p:cNvSpPr>
            <a:spLocks xmlns:a="http://schemas.openxmlformats.org/drawingml/2006/main" noGrp="1"/>
          </p:cNvSpPr>
          <p:nvPr/>
        </p:nvSpPr>
        <p:spPr>
          <a:xfrm xmlns:a="http://schemas.openxmlformats.org/drawingml/2006/main">
            <a:off x="10153650" y="20193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39D95272-FA51-4268-8402-7515BECB6084}"/>
              </a:ext>
            </a:extLst>
          </p:cNvPr>
          <p:cNvSpPr>
            <a:spLocks xmlns:a="http://schemas.openxmlformats.org/drawingml/2006/main" noGrp="1"/>
          </p:cNvSpPr>
          <p:nvPr/>
        </p:nvSpPr>
        <p:spPr>
          <a:xfrm xmlns:a="http://schemas.openxmlformats.org/drawingml/2006/main">
            <a:off x="9829800" y="23050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20A1A6ED-5635-4AC3-B6CD-74AD08321F9C}"/>
              </a:ext>
            </a:extLst>
          </p:cNvPr>
          <p:cNvSpPr>
            <a:spLocks xmlns:a="http://schemas.openxmlformats.org/drawingml/2006/main" noGrp="1"/>
          </p:cNvSpPr>
          <p:nvPr/>
        </p:nvSpPr>
        <p:spPr>
          <a:xfrm xmlns:a="http://schemas.openxmlformats.org/drawingml/2006/main">
            <a:off x="10153650" y="23050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0B9D7939-7043-4377-98FF-7950C9F1C582}"/>
              </a:ext>
            </a:extLst>
          </p:cNvPr>
          <p:cNvSpPr>
            <a:spLocks xmlns:a="http://schemas.openxmlformats.org/drawingml/2006/main" noGrp="1"/>
          </p:cNvSpPr>
          <p:nvPr/>
        </p:nvSpPr>
        <p:spPr>
          <a:xfrm xmlns:a="http://schemas.openxmlformats.org/drawingml/2006/main">
            <a:off x="9829800" y="25908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62F3AEBA-1CCC-4097-85F1-80E74563DE6D}"/>
              </a:ext>
            </a:extLst>
          </p:cNvPr>
          <p:cNvSpPr>
            <a:spLocks xmlns:a="http://schemas.openxmlformats.org/drawingml/2006/main" noGrp="1"/>
          </p:cNvSpPr>
          <p:nvPr/>
        </p:nvSpPr>
        <p:spPr>
          <a:xfrm xmlns:a="http://schemas.openxmlformats.org/drawingml/2006/main">
            <a:off x="10153650" y="25908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6BF2850C-5CF3-4883-8EB0-737DD47F932C}"/>
              </a:ext>
            </a:extLst>
          </p:cNvPr>
          <p:cNvSpPr>
            <a:spLocks xmlns:a="http://schemas.openxmlformats.org/drawingml/2006/main" noGrp="1"/>
          </p:cNvSpPr>
          <p:nvPr/>
        </p:nvSpPr>
        <p:spPr>
          <a:xfrm xmlns:a="http://schemas.openxmlformats.org/drawingml/2006/main">
            <a:off x="9829800" y="28765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7B1BEBD4-8893-417E-BF71-7C3EFEF70AD7}"/>
              </a:ext>
            </a:extLst>
          </p:cNvPr>
          <p:cNvSpPr>
            <a:spLocks xmlns:a="http://schemas.openxmlformats.org/drawingml/2006/main" noGrp="1"/>
          </p:cNvSpPr>
          <p:nvPr/>
        </p:nvSpPr>
        <p:spPr>
          <a:xfrm xmlns:a="http://schemas.openxmlformats.org/drawingml/2006/main">
            <a:off x="10153650" y="28765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04D0CF99-2F73-4835-B243-C44671DBE110}"/>
              </a:ext>
            </a:extLst>
          </p:cNvPr>
          <p:cNvSpPr>
            <a:spLocks xmlns:a="http://schemas.openxmlformats.org/drawingml/2006/main" noGrp="1"/>
          </p:cNvSpPr>
          <p:nvPr/>
        </p:nvSpPr>
        <p:spPr>
          <a:xfrm xmlns:a="http://schemas.openxmlformats.org/drawingml/2006/main">
            <a:off x="7905750" y="4457700"/>
            <a:ext cx="3429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A9BACD"/>
                </a:solidFill>
                <a:latin typeface="Arial"/>
                <a:ea typeface="Arial"/>
                <a:cs typeface="Arial"/>
              </a:defRPr>
            </a:pPr>
            <a:r>
              <a:t>TWO CLOCK DOMAINS  ·  ILLUSTRATIVE</a:t>
            </a:r>
          </a:p>
        </p:txBody>
      </p:sp>
      <p:sp>
        <p:nvSpPr>
          <p:cNvPr id="89" name="">
            <a:extLst xmlns:a="http://schemas.openxmlformats.org/drawingml/2006/main">
              <a:ext uri="{FF2B5EF4-FFF2-40B4-BE49-F238E27FC236}">
                <a16:creationId xmlns:a16="http://schemas.microsoft.com/office/drawing/2014/main" id="{07FCCBF3-2D19-41D5-A6A2-F8A894633DAC}"/>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11C4675A-2CE7-4DCA-8B01-7AE09F8AD487}"/>
              </a:ext>
            </a:extLst>
          </p:cNvPr>
          <p:cNvSpPr>
            <a:spLocks xmlns:a="http://schemas.openxmlformats.org/drawingml/2006/main" noGrp="1"/>
          </p:cNvSpPr>
          <p:nvPr/>
        </p:nvSpPr>
        <p:spPr>
          <a:xfrm xmlns:a="http://schemas.openxmlformats.org/drawingml/2006/main">
            <a:off x="457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00B4D8"/>
                </a:solidFill>
                <a:latin typeface="Georgia"/>
                <a:ea typeface="Georgia"/>
                <a:cs typeface="Georgia"/>
              </a:defRPr>
            </a:pPr>
            <a:r>
              <a:t>114 MHz</a:t>
            </a:r>
          </a:p>
        </p:txBody>
      </p:sp>
      <p:sp>
        <p:nvSpPr>
          <p:cNvPr id="91" name="">
            <a:extLst xmlns:a="http://schemas.openxmlformats.org/drawingml/2006/main">
              <a:ext uri="{FF2B5EF4-FFF2-40B4-BE49-F238E27FC236}">
                <a16:creationId xmlns:a16="http://schemas.microsoft.com/office/drawing/2014/main" id="{8C7110C6-005A-403E-BF48-531ED0E1E7DA}"/>
              </a:ext>
            </a:extLst>
          </p:cNvPr>
          <p:cNvSpPr>
            <a:spLocks xmlns:a="http://schemas.openxmlformats.org/drawingml/2006/main" noGrp="1"/>
          </p:cNvSpPr>
          <p:nvPr/>
        </p:nvSpPr>
        <p:spPr>
          <a:xfrm xmlns:a="http://schemas.openxmlformats.org/drawingml/2006/main">
            <a:off x="457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COMPUTE CLOCK</a:t>
            </a:r>
          </a:p>
        </p:txBody>
      </p:sp>
      <p:sp>
        <p:nvSpPr>
          <p:cNvPr id="92" name="">
            <a:extLst xmlns:a="http://schemas.openxmlformats.org/drawingml/2006/main">
              <a:ext uri="{FF2B5EF4-FFF2-40B4-BE49-F238E27FC236}">
                <a16:creationId xmlns:a16="http://schemas.microsoft.com/office/drawing/2014/main" id="{B90074D2-DD77-4562-85E9-481FD87651AF}"/>
              </a:ext>
            </a:extLst>
          </p:cNvPr>
          <p:cNvSpPr>
            <a:spLocks xmlns:a="http://schemas.openxmlformats.org/drawingml/2006/main" noGrp="1"/>
          </p:cNvSpPr>
          <p:nvPr/>
        </p:nvSpPr>
        <p:spPr>
          <a:xfrm xmlns:a="http://schemas.openxmlformats.org/drawingml/2006/main">
            <a:off x="32766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FF38F891-96BF-4035-AE05-7F03E41495E0}"/>
              </a:ext>
            </a:extLst>
          </p:cNvPr>
          <p:cNvSpPr>
            <a:spLocks xmlns:a="http://schemas.openxmlformats.org/drawingml/2006/main" noGrp="1"/>
          </p:cNvSpPr>
          <p:nvPr/>
        </p:nvSpPr>
        <p:spPr>
          <a:xfrm xmlns:a="http://schemas.openxmlformats.org/drawingml/2006/main">
            <a:off x="3505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00B4D8"/>
                </a:solidFill>
                <a:latin typeface="Georgia"/>
                <a:ea typeface="Georgia"/>
                <a:cs typeface="Georgia"/>
              </a:defRPr>
            </a:pPr>
            <a:r>
              <a:t>Bit-exact</a:t>
            </a:r>
          </a:p>
        </p:txBody>
      </p:sp>
      <p:sp>
        <p:nvSpPr>
          <p:cNvPr id="94" name="">
            <a:extLst xmlns:a="http://schemas.openxmlformats.org/drawingml/2006/main">
              <a:ext uri="{FF2B5EF4-FFF2-40B4-BE49-F238E27FC236}">
                <a16:creationId xmlns:a16="http://schemas.microsoft.com/office/drawing/2014/main" id="{47C1F486-0C3C-4734-9C18-3A6DDD8FE82A}"/>
              </a:ext>
            </a:extLst>
          </p:cNvPr>
          <p:cNvSpPr>
            <a:spLocks xmlns:a="http://schemas.openxmlformats.org/drawingml/2006/main" noGrp="1"/>
          </p:cNvSpPr>
          <p:nvPr/>
        </p:nvSpPr>
        <p:spPr>
          <a:xfrm xmlns:a="http://schemas.openxmlformats.org/drawingml/2006/main">
            <a:off x="3505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TO THE SOFTWARE MODEL</a:t>
            </a:r>
          </a:p>
        </p:txBody>
      </p:sp>
      <p:sp>
        <p:nvSpPr>
          <p:cNvPr id="95" name="">
            <a:extLst xmlns:a="http://schemas.openxmlformats.org/drawingml/2006/main">
              <a:ext uri="{FF2B5EF4-FFF2-40B4-BE49-F238E27FC236}">
                <a16:creationId xmlns:a16="http://schemas.microsoft.com/office/drawing/2014/main" id="{18C84F5E-65AA-4659-A2F6-5C281A4B3610}"/>
              </a:ext>
            </a:extLst>
          </p:cNvPr>
          <p:cNvSpPr>
            <a:spLocks xmlns:a="http://schemas.openxmlformats.org/drawingml/2006/main" noGrp="1"/>
          </p:cNvSpPr>
          <p:nvPr/>
        </p:nvSpPr>
        <p:spPr>
          <a:xfrm xmlns:a="http://schemas.openxmlformats.org/drawingml/2006/main">
            <a:off x="60960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6E5E4D4B-7942-4493-8CD5-2904962BDD42}"/>
              </a:ext>
            </a:extLst>
          </p:cNvPr>
          <p:cNvSpPr>
            <a:spLocks xmlns:a="http://schemas.openxmlformats.org/drawingml/2006/main" noGrp="1"/>
          </p:cNvSpPr>
          <p:nvPr/>
        </p:nvSpPr>
        <p:spPr>
          <a:xfrm xmlns:a="http://schemas.openxmlformats.org/drawingml/2006/main">
            <a:off x="63246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00B4D8"/>
                </a:solidFill>
                <a:latin typeface="Georgia"/>
                <a:ea typeface="Georgia"/>
                <a:cs typeface="Georgia"/>
              </a:defRPr>
            </a:pPr>
            <a:r>
              <a:t>~3,242</a:t>
            </a:r>
          </a:p>
        </p:txBody>
      </p:sp>
      <p:sp>
        <p:nvSpPr>
          <p:cNvPr id="97" name="">
            <a:extLst xmlns:a="http://schemas.openxmlformats.org/drawingml/2006/main">
              <a:ext uri="{FF2B5EF4-FFF2-40B4-BE49-F238E27FC236}">
                <a16:creationId xmlns:a16="http://schemas.microsoft.com/office/drawing/2014/main" id="{2FBFD5A0-F56A-48AE-8B93-879FB916BBD2}"/>
              </a:ext>
            </a:extLst>
          </p:cNvPr>
          <p:cNvSpPr>
            <a:spLocks xmlns:a="http://schemas.openxmlformats.org/drawingml/2006/main" noGrp="1"/>
          </p:cNvSpPr>
          <p:nvPr/>
        </p:nvSpPr>
        <p:spPr>
          <a:xfrm xmlns:a="http://schemas.openxmlformats.org/drawingml/2006/main">
            <a:off x="63246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CYCLES PER ROW, ANALYTIC</a:t>
            </a:r>
          </a:p>
        </p:txBody>
      </p:sp>
      <p:sp>
        <p:nvSpPr>
          <p:cNvPr id="98" name="">
            <a:extLst xmlns:a="http://schemas.openxmlformats.org/drawingml/2006/main">
              <a:ext uri="{FF2B5EF4-FFF2-40B4-BE49-F238E27FC236}">
                <a16:creationId xmlns:a16="http://schemas.microsoft.com/office/drawing/2014/main" id="{6DE73196-0D69-487A-9D2C-9FB29A22EDE3}"/>
              </a:ext>
            </a:extLst>
          </p:cNvPr>
          <p:cNvSpPr>
            <a:spLocks xmlns:a="http://schemas.openxmlformats.org/drawingml/2006/main" noGrp="1"/>
          </p:cNvSpPr>
          <p:nvPr/>
        </p:nvSpPr>
        <p:spPr>
          <a:xfrm xmlns:a="http://schemas.openxmlformats.org/drawingml/2006/main">
            <a:off x="89154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C66D65D6-17C0-4585-BEFF-38095D3F38A0}"/>
              </a:ext>
            </a:extLst>
          </p:cNvPr>
          <p:cNvSpPr>
            <a:spLocks xmlns:a="http://schemas.openxmlformats.org/drawingml/2006/main" noGrp="1"/>
          </p:cNvSpPr>
          <p:nvPr/>
        </p:nvSpPr>
        <p:spPr>
          <a:xfrm xmlns:a="http://schemas.openxmlformats.org/drawingml/2006/main">
            <a:off x="91440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00B4D8"/>
                </a:solidFill>
                <a:latin typeface="Georgia"/>
                <a:ea typeface="Georgia"/>
                <a:cs typeface="Georgia"/>
              </a:defRPr>
            </a:pPr>
            <a:r>
              <a:t>Same pinout</a:t>
            </a:r>
          </a:p>
        </p:txBody>
      </p:sp>
      <p:sp>
        <p:nvSpPr>
          <p:cNvPr id="100" name="">
            <a:extLst xmlns:a="http://schemas.openxmlformats.org/drawingml/2006/main">
              <a:ext uri="{FF2B5EF4-FFF2-40B4-BE49-F238E27FC236}">
                <a16:creationId xmlns:a16="http://schemas.microsoft.com/office/drawing/2014/main" id="{78C91131-5EDD-43A7-9AEC-8AC530601F40}"/>
              </a:ext>
            </a:extLst>
          </p:cNvPr>
          <p:cNvSpPr>
            <a:spLocks xmlns:a="http://schemas.openxmlformats.org/drawingml/2006/main" noGrp="1"/>
          </p:cNvSpPr>
          <p:nvPr/>
        </p:nvSpPr>
        <p:spPr>
          <a:xfrm xmlns:a="http://schemas.openxmlformats.org/drawingml/2006/main">
            <a:off x="91440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AS DG32-LITE, QFN-64</a:t>
            </a:r>
          </a:p>
        </p:txBody>
      </p:sp>
      <p:sp>
        <p:nvSpPr>
          <p:cNvPr id="101" name="">
            <a:extLst xmlns:a="http://schemas.openxmlformats.org/drawingml/2006/main">
              <a:ext uri="{FF2B5EF4-FFF2-40B4-BE49-F238E27FC236}">
                <a16:creationId xmlns:a16="http://schemas.microsoft.com/office/drawing/2014/main" id="{58A68CA6-6031-4979-90F1-8A6D59EA14D9}"/>
              </a:ext>
            </a:extLst>
          </p:cNvPr>
          <p:cNvSpPr>
            <a:spLocks xmlns:a="http://schemas.openxmlformats.org/drawingml/2006/main" noGrp="1"/>
          </p:cNvSpPr>
          <p:nvPr/>
        </p:nvSpPr>
        <p:spPr>
          <a:xfrm xmlns:a="http://schemas.openxmlformats.org/drawingml/2006/main">
            <a:off x="457200" y="6096000"/>
            <a:ext cx="9525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Pre-silicon: post-route, simulated and analytic values, each labelled where it appears.</a:t>
            </a:r>
          </a:p>
        </p:txBody>
      </p:sp>
      <p:sp>
        <p:nvSpPr>
          <p:cNvPr id="102" name="">
            <a:extLst xmlns:a="http://schemas.openxmlformats.org/drawingml/2006/main">
              <a:ext uri="{FF2B5EF4-FFF2-40B4-BE49-F238E27FC236}">
                <a16:creationId xmlns:a16="http://schemas.microsoft.com/office/drawing/2014/main" id="{44106120-15E6-4AC6-BB0D-C672D215F52A}"/>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252958A2-3A63-467A-A671-EE22B40CEB9A}"/>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DG32-2DOM ARCHITECTURE  ·  SEPTEMBER 2026  ·  PRE-SILICON</a:t>
            </a:r>
          </a:p>
        </p:txBody>
      </p:sp>
      <p:sp>
        <p:nvSpPr>
          <p:cNvPr id="104" name="">
            <a:extLst xmlns:a="http://schemas.openxmlformats.org/drawingml/2006/main">
              <a:ext uri="{FF2B5EF4-FFF2-40B4-BE49-F238E27FC236}">
                <a16:creationId xmlns:a16="http://schemas.microsoft.com/office/drawing/2014/main" id="{9110525A-D16D-47A7-A08D-09A3E99AEF7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01</a:t>
            </a:r>
          </a:p>
        </p:txBody>
      </p:sp>
    </p:spTree>
    <p:extLst>
      <p:ext uri="{BB962C8B-B14F-4D97-AF65-F5344CB8AC3E}">
        <p14:creationId xmlns:p14="http://schemas.microsoft.com/office/powerpoint/2010/main" val="158411835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366FD8F-B1D2-4C74-8DC6-97017C459B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3251E8-0072-40FD-9E1E-9F1CC36486A1}"/>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02 · EXECUTIVE SUMMARY</a:t>
            </a:r>
          </a:p>
        </p:txBody>
      </p:sp>
      <p:sp>
        <p:nvSpPr>
          <p:cNvPr id="3" name="">
            <a:extLst xmlns:a="http://schemas.openxmlformats.org/drawingml/2006/main">
              <a:ext uri="{FF2B5EF4-FFF2-40B4-BE49-F238E27FC236}">
                <a16:creationId xmlns:a16="http://schemas.microsoft.com/office/drawing/2014/main" id="{A4E57411-4187-4EB7-A516-5345ED2879DE}"/>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DG32-2DOM adds an INT8 engine, not a new core</a:t>
            </a:r>
          </a:p>
        </p:txBody>
      </p:sp>
      <p:sp>
        <p:nvSpPr>
          <p:cNvPr id="4" name="">
            <a:extLst xmlns:a="http://schemas.openxmlformats.org/drawingml/2006/main">
              <a:ext uri="{FF2B5EF4-FFF2-40B4-BE49-F238E27FC236}">
                <a16:creationId xmlns:a16="http://schemas.microsoft.com/office/drawing/2014/main" id="{F24F266B-7DD5-4D09-9551-ED30FD17F31E}"/>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DG32-2DOM in one slide: what is added, what is untouched, and what the engine costs</a:t>
            </a:r>
          </a:p>
        </p:txBody>
      </p:sp>
      <p:sp>
        <p:nvSpPr>
          <p:cNvPr id="5" name="">
            <a:extLst xmlns:a="http://schemas.openxmlformats.org/drawingml/2006/main">
              <a:ext uri="{FF2B5EF4-FFF2-40B4-BE49-F238E27FC236}">
                <a16:creationId xmlns:a16="http://schemas.microsoft.com/office/drawing/2014/main" id="{44475E02-3A11-4632-A7F6-6020F9632B29}"/>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FE27B2-3BDC-48A1-B335-09411E5B5D3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2C666C0-8971-49BB-ABA6-7E54E96B7DE9}"/>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B8EFEB0A-E451-4F2A-B829-754C95E413A2}"/>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02</a:t>
            </a:r>
          </a:p>
        </p:txBody>
      </p:sp>
      <p:sp>
        <p:nvSpPr>
          <p:cNvPr id="9" name="">
            <a:extLst xmlns:a="http://schemas.openxmlformats.org/drawingml/2006/main">
              <a:ext uri="{FF2B5EF4-FFF2-40B4-BE49-F238E27FC236}">
                <a16:creationId xmlns:a16="http://schemas.microsoft.com/office/drawing/2014/main" id="{769A32C2-76D4-488F-86A4-6039E4A413CE}"/>
              </a:ext>
            </a:extLst>
          </p:cNvPr>
          <p:cNvSpPr>
            <a:spLocks xmlns:a="http://schemas.openxmlformats.org/drawingml/2006/main" noGrp="1"/>
          </p:cNvSpPr>
          <p:nvPr/>
        </p:nvSpPr>
        <p:spPr>
          <a:xfrm xmlns:a="http://schemas.openxmlformats.org/drawingml/2006/main">
            <a:off x="457200" y="1619250"/>
            <a:ext cx="5334000" cy="433387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0F02C70-626B-470A-B6CE-FFABCC50353C}"/>
              </a:ext>
            </a:extLst>
          </p:cNvPr>
          <p:cNvSpPr>
            <a:spLocks xmlns:a="http://schemas.openxmlformats.org/drawingml/2006/main" noGrp="1"/>
          </p:cNvSpPr>
          <p:nvPr/>
        </p:nvSpPr>
        <p:spPr>
          <a:xfrm xmlns:a="http://schemas.openxmlformats.org/drawingml/2006/main">
            <a:off x="762000" y="18669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THE ANSWER</a:t>
            </a:r>
          </a:p>
        </p:txBody>
      </p:sp>
      <p:sp>
        <p:nvSpPr>
          <p:cNvPr id="11" name="">
            <a:extLst xmlns:a="http://schemas.openxmlformats.org/drawingml/2006/main">
              <a:ext uri="{FF2B5EF4-FFF2-40B4-BE49-F238E27FC236}">
                <a16:creationId xmlns:a16="http://schemas.microsoft.com/office/drawing/2014/main" id="{7FE3F3AF-9ABA-4A9C-9107-63F891BEB2FE}"/>
              </a:ext>
            </a:extLst>
          </p:cNvPr>
          <p:cNvSpPr>
            <a:spLocks xmlns:a="http://schemas.openxmlformats.org/drawingml/2006/main" noGrp="1"/>
          </p:cNvSpPr>
          <p:nvPr/>
        </p:nvSpPr>
        <p:spPr>
          <a:xfrm xmlns:a="http://schemas.openxmlformats.org/drawingml/2006/main">
            <a:off x="762000" y="2171700"/>
            <a:ext cx="47244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FFFFFF"/>
                </a:solidFill>
                <a:latin typeface="Georgia"/>
                <a:ea typeface="Georgia"/>
                <a:cs typeface="Georgia"/>
              </a:defRPr>
            </a:pPr>
            <a:r>
              <a:t>DG32-2DOM is DG32-LITE plus an INT8 attention engine on its own clock, added behind bridges so the lockstep control core is untouched.</a:t>
            </a:r>
          </a:p>
        </p:txBody>
      </p:sp>
      <p:sp>
        <p:nvSpPr>
          <p:cNvPr id="12" name="">
            <a:extLst xmlns:a="http://schemas.openxmlformats.org/drawingml/2006/main">
              <a:ext uri="{FF2B5EF4-FFF2-40B4-BE49-F238E27FC236}">
                <a16:creationId xmlns:a16="http://schemas.microsoft.com/office/drawing/2014/main" id="{2C148E7A-A521-4B0D-9E00-AB194ADB2B68}"/>
              </a:ext>
            </a:extLst>
          </p:cNvPr>
          <p:cNvSpPr>
            <a:spLocks xmlns:a="http://schemas.openxmlformats.org/drawingml/2006/main" noGrp="1"/>
          </p:cNvSpPr>
          <p:nvPr/>
        </p:nvSpPr>
        <p:spPr>
          <a:xfrm xmlns:a="http://schemas.openxmlformats.org/drawingml/2006/main">
            <a:off x="762000" y="4191000"/>
            <a:ext cx="47244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Both chips come from one design source. The variant is a build option plus a second clock, on its own 3.4 × 4.5 mm die.</a:t>
            </a:r>
          </a:p>
        </p:txBody>
      </p:sp>
      <p:sp>
        <p:nvSpPr>
          <p:cNvPr id="13" name="">
            <a:extLst xmlns:a="http://schemas.openxmlformats.org/drawingml/2006/main">
              <a:ext uri="{FF2B5EF4-FFF2-40B4-BE49-F238E27FC236}">
                <a16:creationId xmlns:a16="http://schemas.microsoft.com/office/drawing/2014/main" id="{156B28F6-789C-4DBF-8B3D-8EEC0863209E}"/>
              </a:ext>
            </a:extLst>
          </p:cNvPr>
          <p:cNvSpPr>
            <a:spLocks xmlns:a="http://schemas.openxmlformats.org/drawingml/2006/main" noGrp="1"/>
          </p:cNvSpPr>
          <p:nvPr/>
        </p:nvSpPr>
        <p:spPr>
          <a:xfrm xmlns:a="http://schemas.openxmlformats.org/drawingml/2006/main">
            <a:off x="762000" y="5524500"/>
            <a:ext cx="4724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0B4D8"/>
                </a:solidFill>
                <a:latin typeface="Arial"/>
                <a:ea typeface="Arial"/>
                <a:cs typeface="Arial"/>
              </a:defRPr>
            </a:pPr>
            <a:r>
              <a:t>Status: design complete, in physical trials</a:t>
            </a:r>
          </a:p>
        </p:txBody>
      </p:sp>
      <p:sp>
        <p:nvSpPr>
          <p:cNvPr id="14" name="">
            <a:extLst xmlns:a="http://schemas.openxmlformats.org/drawingml/2006/main">
              <a:ext uri="{FF2B5EF4-FFF2-40B4-BE49-F238E27FC236}">
                <a16:creationId xmlns:a16="http://schemas.microsoft.com/office/drawing/2014/main" id="{6186612C-FF83-4635-8E1C-F6B8B1673D9C}"/>
              </a:ext>
            </a:extLst>
          </p:cNvPr>
          <p:cNvSpPr>
            <a:spLocks xmlns:a="http://schemas.openxmlformats.org/drawingml/2006/main" noGrp="1"/>
          </p:cNvSpPr>
          <p:nvPr/>
        </p:nvSpPr>
        <p:spPr>
          <a:xfrm xmlns:a="http://schemas.openxmlformats.org/drawingml/2006/main">
            <a:off x="6096000" y="1619250"/>
            <a:ext cx="2705100" cy="2000250"/>
          </a:xfrm>
          <a:prstGeom xmlns:a="http://schemas.openxmlformats.org/drawingml/2006/main" prst="roundRect">
            <a:avLst>
              <a:gd name="adj" fmla="val 3810"/>
            </a:avLst>
          </a:prstGeom>
          <a:solidFill xmlns:a="http://schemas.openxmlformats.org/drawingml/2006/main">
            <a:srgbClr val="F8FAFC"/>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93DBFD58-8F1B-48B1-AB9A-6A099BAE834D}"/>
              </a:ext>
            </a:extLst>
          </p:cNvPr>
          <p:cNvSpPr>
            <a:spLocks xmlns:a="http://schemas.openxmlformats.org/drawingml/2006/main" noGrp="1"/>
          </p:cNvSpPr>
          <p:nvPr/>
        </p:nvSpPr>
        <p:spPr>
          <a:xfrm xmlns:a="http://schemas.openxmlformats.org/drawingml/2006/main">
            <a:off x="6210300" y="1771650"/>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077A3"/>
                </a:solidFill>
                <a:latin typeface="Georgia"/>
                <a:ea typeface="Georgia"/>
                <a:cs typeface="Georgia"/>
              </a:defRPr>
            </a:pPr>
            <a:r>
              <a:t>114 MHz</a:t>
            </a:r>
          </a:p>
        </p:txBody>
      </p:sp>
      <p:sp>
        <p:nvSpPr>
          <p:cNvPr id="16" name="">
            <a:extLst xmlns:a="http://schemas.openxmlformats.org/drawingml/2006/main">
              <a:ext uri="{FF2B5EF4-FFF2-40B4-BE49-F238E27FC236}">
                <a16:creationId xmlns:a16="http://schemas.microsoft.com/office/drawing/2014/main" id="{F30A0962-8227-405F-BF81-6AF1EF18C3E5}"/>
              </a:ext>
            </a:extLst>
          </p:cNvPr>
          <p:cNvSpPr>
            <a:spLocks xmlns:a="http://schemas.openxmlformats.org/drawingml/2006/main" noGrp="1"/>
          </p:cNvSpPr>
          <p:nvPr/>
        </p:nvSpPr>
        <p:spPr>
          <a:xfrm xmlns:a="http://schemas.openxmlformats.org/drawingml/2006/main">
            <a:off x="6210300" y="2276475"/>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COMPUTE CLOCK</a:t>
            </a:r>
          </a:p>
        </p:txBody>
      </p:sp>
      <p:sp>
        <p:nvSpPr>
          <p:cNvPr id="17" name="">
            <a:extLst xmlns:a="http://schemas.openxmlformats.org/drawingml/2006/main">
              <a:ext uri="{FF2B5EF4-FFF2-40B4-BE49-F238E27FC236}">
                <a16:creationId xmlns:a16="http://schemas.microsoft.com/office/drawing/2014/main" id="{3390B943-B34E-496B-AB9D-63A543F860E1}"/>
              </a:ext>
            </a:extLst>
          </p:cNvPr>
          <p:cNvSpPr>
            <a:spLocks xmlns:a="http://schemas.openxmlformats.org/drawingml/2006/main" noGrp="1"/>
          </p:cNvSpPr>
          <p:nvPr/>
        </p:nvSpPr>
        <p:spPr>
          <a:xfrm xmlns:a="http://schemas.openxmlformats.org/drawingml/2006/main">
            <a:off x="6229350" y="2524125"/>
            <a:ext cx="2438400" cy="1038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The control domain stays at 50 MHz</a:t>
            </a:r>
          </a:p>
        </p:txBody>
      </p:sp>
      <p:sp>
        <p:nvSpPr>
          <p:cNvPr id="18" name="">
            <a:extLst xmlns:a="http://schemas.openxmlformats.org/drawingml/2006/main">
              <a:ext uri="{FF2B5EF4-FFF2-40B4-BE49-F238E27FC236}">
                <a16:creationId xmlns:a16="http://schemas.microsoft.com/office/drawing/2014/main" id="{56987DD9-D912-45F1-BDB8-A81CF94638FD}"/>
              </a:ext>
            </a:extLst>
          </p:cNvPr>
          <p:cNvSpPr>
            <a:spLocks xmlns:a="http://schemas.openxmlformats.org/drawingml/2006/main" noGrp="1"/>
          </p:cNvSpPr>
          <p:nvPr/>
        </p:nvSpPr>
        <p:spPr>
          <a:xfrm xmlns:a="http://schemas.openxmlformats.org/drawingml/2006/main">
            <a:off x="9029700" y="1619250"/>
            <a:ext cx="2705100" cy="2000250"/>
          </a:xfrm>
          <a:prstGeom xmlns:a="http://schemas.openxmlformats.org/drawingml/2006/main" prst="roundRect">
            <a:avLst>
              <a:gd name="adj" fmla="val 3810"/>
            </a:avLst>
          </a:prstGeom>
          <a:solidFill xmlns:a="http://schemas.openxmlformats.org/drawingml/2006/main">
            <a:srgbClr val="F8FAFC"/>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F0991184-77DF-41F7-A0C3-176DC687D8FD}"/>
              </a:ext>
            </a:extLst>
          </p:cNvPr>
          <p:cNvSpPr>
            <a:spLocks xmlns:a="http://schemas.openxmlformats.org/drawingml/2006/main" noGrp="1"/>
          </p:cNvSpPr>
          <p:nvPr/>
        </p:nvSpPr>
        <p:spPr>
          <a:xfrm xmlns:a="http://schemas.openxmlformats.org/drawingml/2006/main">
            <a:off x="9144000" y="1771650"/>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A9396"/>
                </a:solidFill>
                <a:latin typeface="Georgia"/>
                <a:ea typeface="Georgia"/>
                <a:cs typeface="Georgia"/>
              </a:defRPr>
            </a:pPr>
            <a:r>
              <a:t>400 keys</a:t>
            </a:r>
          </a:p>
        </p:txBody>
      </p:sp>
      <p:sp>
        <p:nvSpPr>
          <p:cNvPr id="20" name="">
            <a:extLst xmlns:a="http://schemas.openxmlformats.org/drawingml/2006/main">
              <a:ext uri="{FF2B5EF4-FFF2-40B4-BE49-F238E27FC236}">
                <a16:creationId xmlns:a16="http://schemas.microsoft.com/office/drawing/2014/main" id="{22EE4F06-0F26-4E3F-81AE-FA3447E37D64}"/>
              </a:ext>
            </a:extLst>
          </p:cNvPr>
          <p:cNvSpPr>
            <a:spLocks xmlns:a="http://schemas.openxmlformats.org/drawingml/2006/main" noGrp="1"/>
          </p:cNvSpPr>
          <p:nvPr/>
        </p:nvSpPr>
        <p:spPr>
          <a:xfrm xmlns:a="http://schemas.openxmlformats.org/drawingml/2006/main">
            <a:off x="9144000" y="2276475"/>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PER ATTENTION HEAD</a:t>
            </a:r>
          </a:p>
        </p:txBody>
      </p:sp>
      <p:sp>
        <p:nvSpPr>
          <p:cNvPr id="21" name="">
            <a:extLst xmlns:a="http://schemas.openxmlformats.org/drawingml/2006/main">
              <a:ext uri="{FF2B5EF4-FFF2-40B4-BE49-F238E27FC236}">
                <a16:creationId xmlns:a16="http://schemas.microsoft.com/office/drawing/2014/main" id="{3F5030CC-36C6-43D5-A631-BE82DEFDB101}"/>
              </a:ext>
            </a:extLst>
          </p:cNvPr>
          <p:cNvSpPr>
            <a:spLocks xmlns:a="http://schemas.openxmlformats.org/drawingml/2006/main" noGrp="1"/>
          </p:cNvSpPr>
          <p:nvPr/>
        </p:nvSpPr>
        <p:spPr>
          <a:xfrm xmlns:a="http://schemas.openxmlformats.org/drawingml/2006/main">
            <a:off x="9163050" y="2524125"/>
            <a:ext cx="2438400" cy="1038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Key dimension ≤ 32 bytes, value ≤ 64 bytes</a:t>
            </a:r>
          </a:p>
        </p:txBody>
      </p:sp>
      <p:sp>
        <p:nvSpPr>
          <p:cNvPr id="22" name="">
            <a:extLst xmlns:a="http://schemas.openxmlformats.org/drawingml/2006/main">
              <a:ext uri="{FF2B5EF4-FFF2-40B4-BE49-F238E27FC236}">
                <a16:creationId xmlns:a16="http://schemas.microsoft.com/office/drawing/2014/main" id="{8B59509A-51B3-4C63-90FF-9B62D25AB0D2}"/>
              </a:ext>
            </a:extLst>
          </p:cNvPr>
          <p:cNvSpPr>
            <a:spLocks xmlns:a="http://schemas.openxmlformats.org/drawingml/2006/main" noGrp="1"/>
          </p:cNvSpPr>
          <p:nvPr/>
        </p:nvSpPr>
        <p:spPr>
          <a:xfrm xmlns:a="http://schemas.openxmlformats.org/drawingml/2006/main">
            <a:off x="6096000" y="3810000"/>
            <a:ext cx="2705100" cy="2143125"/>
          </a:xfrm>
          <a:prstGeom xmlns:a="http://schemas.openxmlformats.org/drawingml/2006/main" prst="roundRect">
            <a:avLst>
              <a:gd name="adj" fmla="val 3556"/>
            </a:avLst>
          </a:prstGeom>
          <a:solidFill xmlns:a="http://schemas.openxmlformats.org/drawingml/2006/main">
            <a:srgbClr val="F8FAFC"/>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EBAADCDB-D9F0-4ACF-B438-7C939AE7B52E}"/>
              </a:ext>
            </a:extLst>
          </p:cNvPr>
          <p:cNvSpPr>
            <a:spLocks xmlns:a="http://schemas.openxmlformats.org/drawingml/2006/main" noGrp="1"/>
          </p:cNvSpPr>
          <p:nvPr/>
        </p:nvSpPr>
        <p:spPr>
          <a:xfrm xmlns:a="http://schemas.openxmlformats.org/drawingml/2006/main">
            <a:off x="6210300" y="3962400"/>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A9396"/>
                </a:solidFill>
                <a:latin typeface="Georgia"/>
                <a:ea typeface="Georgia"/>
                <a:cs typeface="Georgia"/>
              </a:defRPr>
            </a:pPr>
            <a:r>
              <a:t>~3,242</a:t>
            </a:r>
          </a:p>
        </p:txBody>
      </p:sp>
      <p:sp>
        <p:nvSpPr>
          <p:cNvPr id="24" name="">
            <a:extLst xmlns:a="http://schemas.openxmlformats.org/drawingml/2006/main">
              <a:ext uri="{FF2B5EF4-FFF2-40B4-BE49-F238E27FC236}">
                <a16:creationId xmlns:a16="http://schemas.microsoft.com/office/drawing/2014/main" id="{FC78DA03-9FFA-4F94-AF5E-86E7970C59A7}"/>
              </a:ext>
            </a:extLst>
          </p:cNvPr>
          <p:cNvSpPr>
            <a:spLocks xmlns:a="http://schemas.openxmlformats.org/drawingml/2006/main" noGrp="1"/>
          </p:cNvSpPr>
          <p:nvPr/>
        </p:nvSpPr>
        <p:spPr>
          <a:xfrm xmlns:a="http://schemas.openxmlformats.org/drawingml/2006/main">
            <a:off x="6210300" y="4467225"/>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CYCLES PER QUERY ROW</a:t>
            </a:r>
          </a:p>
        </p:txBody>
      </p:sp>
      <p:sp>
        <p:nvSpPr>
          <p:cNvPr id="25" name="">
            <a:extLst xmlns:a="http://schemas.openxmlformats.org/drawingml/2006/main">
              <a:ext uri="{FF2B5EF4-FFF2-40B4-BE49-F238E27FC236}">
                <a16:creationId xmlns:a16="http://schemas.microsoft.com/office/drawing/2014/main" id="{B30AC46C-5B06-494A-B127-EAE847A45D91}"/>
              </a:ext>
            </a:extLst>
          </p:cNvPr>
          <p:cNvSpPr>
            <a:spLocks xmlns:a="http://schemas.openxmlformats.org/drawingml/2006/main" noGrp="1"/>
          </p:cNvSpPr>
          <p:nvPr/>
        </p:nvSpPr>
        <p:spPr>
          <a:xfrm xmlns:a="http://schemas.openxmlformats.org/drawingml/2006/main">
            <a:off x="6229350" y="4714875"/>
            <a:ext cx="2438400" cy="1181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Analytic, at 16 lanes and 400 keys</a:t>
            </a:r>
          </a:p>
        </p:txBody>
      </p:sp>
      <p:sp>
        <p:nvSpPr>
          <p:cNvPr id="26" name="">
            <a:extLst xmlns:a="http://schemas.openxmlformats.org/drawingml/2006/main">
              <a:ext uri="{FF2B5EF4-FFF2-40B4-BE49-F238E27FC236}">
                <a16:creationId xmlns:a16="http://schemas.microsoft.com/office/drawing/2014/main" id="{868EB437-0195-4764-BD0D-C97DD2B13D57}"/>
              </a:ext>
            </a:extLst>
          </p:cNvPr>
          <p:cNvSpPr>
            <a:spLocks xmlns:a="http://schemas.openxmlformats.org/drawingml/2006/main" noGrp="1"/>
          </p:cNvSpPr>
          <p:nvPr/>
        </p:nvSpPr>
        <p:spPr>
          <a:xfrm xmlns:a="http://schemas.openxmlformats.org/drawingml/2006/main">
            <a:off x="9029700" y="3810000"/>
            <a:ext cx="2705100" cy="2143125"/>
          </a:xfrm>
          <a:prstGeom xmlns:a="http://schemas.openxmlformats.org/drawingml/2006/main" prst="roundRect">
            <a:avLst>
              <a:gd name="adj" fmla="val 3556"/>
            </a:avLst>
          </a:prstGeom>
          <a:solidFill xmlns:a="http://schemas.openxmlformats.org/drawingml/2006/main">
            <a:srgbClr val="F8FAFC"/>
          </a:solidFill>
          <a:ln xmlns:a="http://schemas.openxmlformats.org/drawingml/2006/main" w="9525">
            <a:solidFill>
              <a:srgbClr val="E2E8F0"/>
            </a:solidFill>
            <a:prstDash val="solid"/>
          </a:ln>
        </p:spPr>
      </p:sp>
      <p:sp>
        <p:nvSpPr>
          <p:cNvPr id="27" name="">
            <a:extLst xmlns:a="http://schemas.openxmlformats.org/drawingml/2006/main">
              <a:ext uri="{FF2B5EF4-FFF2-40B4-BE49-F238E27FC236}">
                <a16:creationId xmlns:a16="http://schemas.microsoft.com/office/drawing/2014/main" id="{5545D0AD-660A-464B-A5DB-1422657A18BA}"/>
              </a:ext>
            </a:extLst>
          </p:cNvPr>
          <p:cNvSpPr>
            <a:spLocks xmlns:a="http://schemas.openxmlformats.org/drawingml/2006/main" noGrp="1"/>
          </p:cNvSpPr>
          <p:nvPr/>
        </p:nvSpPr>
        <p:spPr>
          <a:xfrm xmlns:a="http://schemas.openxmlformats.org/drawingml/2006/main">
            <a:off x="9144000" y="3962400"/>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A9396"/>
                </a:solidFill>
                <a:latin typeface="Georgia"/>
                <a:ea typeface="Georgia"/>
                <a:cs typeface="Georgia"/>
              </a:defRPr>
            </a:pPr>
            <a:r>
              <a:t>0 pads</a:t>
            </a:r>
          </a:p>
        </p:txBody>
      </p:sp>
      <p:sp>
        <p:nvSpPr>
          <p:cNvPr id="28" name="">
            <a:extLst xmlns:a="http://schemas.openxmlformats.org/drawingml/2006/main">
              <a:ext uri="{FF2B5EF4-FFF2-40B4-BE49-F238E27FC236}">
                <a16:creationId xmlns:a16="http://schemas.microsoft.com/office/drawing/2014/main" id="{A6A09D7B-97BC-457C-A2F8-385E90417E55}"/>
              </a:ext>
            </a:extLst>
          </p:cNvPr>
          <p:cNvSpPr>
            <a:spLocks xmlns:a="http://schemas.openxmlformats.org/drawingml/2006/main" noGrp="1"/>
          </p:cNvSpPr>
          <p:nvPr/>
        </p:nvSpPr>
        <p:spPr>
          <a:xfrm xmlns:a="http://schemas.openxmlformats.org/drawingml/2006/main">
            <a:off x="9144000" y="4467225"/>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ADDED TO THE PINOUT</a:t>
            </a:r>
          </a:p>
        </p:txBody>
      </p:sp>
      <p:sp>
        <p:nvSpPr>
          <p:cNvPr id="29" name="">
            <a:extLst xmlns:a="http://schemas.openxmlformats.org/drawingml/2006/main">
              <a:ext uri="{FF2B5EF4-FFF2-40B4-BE49-F238E27FC236}">
                <a16:creationId xmlns:a16="http://schemas.microsoft.com/office/drawing/2014/main" id="{E5FAD1CB-F399-46DD-8F15-46EE027B5B42}"/>
              </a:ext>
            </a:extLst>
          </p:cNvPr>
          <p:cNvSpPr>
            <a:spLocks xmlns:a="http://schemas.openxmlformats.org/drawingml/2006/main" noGrp="1"/>
          </p:cNvSpPr>
          <p:nvPr/>
        </p:nvSpPr>
        <p:spPr>
          <a:xfrm xmlns:a="http://schemas.openxmlformats.org/drawingml/2006/main">
            <a:off x="9163050" y="4714875"/>
            <a:ext cx="2438400" cy="1181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Same QFN-64 as DG32-LITE</a:t>
            </a:r>
          </a:p>
        </p:txBody>
      </p:sp>
      <p:sp>
        <p:nvSpPr>
          <p:cNvPr id="30" name="">
            <a:extLst xmlns:a="http://schemas.openxmlformats.org/drawingml/2006/main">
              <a:ext uri="{FF2B5EF4-FFF2-40B4-BE49-F238E27FC236}">
                <a16:creationId xmlns:a16="http://schemas.microsoft.com/office/drawing/2014/main" id="{81A563AB-AAEF-4962-951A-271D3F2CE930}"/>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block architecture §1, §4.18; DG32-2DOM preliminary datasheet §1–2.</a:t>
            </a:r>
          </a:p>
        </p:txBody>
      </p:sp>
    </p:spTree>
    <p:extLst>
      <p:ext uri="{BB962C8B-B14F-4D97-AF65-F5344CB8AC3E}">
        <p14:creationId xmlns:p14="http://schemas.microsoft.com/office/powerpoint/2010/main" val="149361645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15A4454-CCD2-49E2-973B-1325231CD8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1617C5-257A-424D-87BD-9BC43932E2FE}"/>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03 · DESIGN PREMISES</a:t>
            </a:r>
          </a:p>
        </p:txBody>
      </p:sp>
      <p:sp>
        <p:nvSpPr>
          <p:cNvPr id="3" name="">
            <a:extLst xmlns:a="http://schemas.openxmlformats.org/drawingml/2006/main">
              <a:ext uri="{FF2B5EF4-FFF2-40B4-BE49-F238E27FC236}">
                <a16:creationId xmlns:a16="http://schemas.microsoft.com/office/drawing/2014/main" id="{D3F1B37A-2C79-43A3-A100-A6D4082CC3F5}"/>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Three findings forced a second clock domain</a:t>
            </a:r>
          </a:p>
        </p:txBody>
      </p:sp>
      <p:sp>
        <p:nvSpPr>
          <p:cNvPr id="4" name="">
            <a:extLst xmlns:a="http://schemas.openxmlformats.org/drawingml/2006/main">
              <a:ext uri="{FF2B5EF4-FFF2-40B4-BE49-F238E27FC236}">
                <a16:creationId xmlns:a16="http://schemas.microsoft.com/office/drawing/2014/main" id="{F8609126-4A15-464A-BC26-B145C5566EC2}"/>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Each finding came from hardening the design, and each one set the variant’s shape</a:t>
            </a:r>
          </a:p>
        </p:txBody>
      </p:sp>
      <p:sp>
        <p:nvSpPr>
          <p:cNvPr id="5" name="">
            <a:extLst xmlns:a="http://schemas.openxmlformats.org/drawingml/2006/main">
              <a:ext uri="{FF2B5EF4-FFF2-40B4-BE49-F238E27FC236}">
                <a16:creationId xmlns:a16="http://schemas.microsoft.com/office/drawing/2014/main" id="{54BD2516-06E1-4FAF-9A8A-049EEAC188AB}"/>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841A0BA-B648-4303-9759-019FE9218947}"/>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F43B7AE-AF37-4C80-8716-469CDB26AFEE}"/>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55B60DA2-507F-4F8A-8167-A3797611C648}"/>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03</a:t>
            </a:r>
          </a:p>
        </p:txBody>
      </p:sp>
      <p:sp>
        <p:nvSpPr>
          <p:cNvPr id="9" name="">
            <a:extLst xmlns:a="http://schemas.openxmlformats.org/drawingml/2006/main">
              <a:ext uri="{FF2B5EF4-FFF2-40B4-BE49-F238E27FC236}">
                <a16:creationId xmlns:a16="http://schemas.microsoft.com/office/drawing/2014/main" id="{49C25A5F-9002-4737-8554-81DC9A0EDBB0}"/>
              </a:ext>
            </a:extLst>
          </p:cNvPr>
          <p:cNvSpPr>
            <a:spLocks xmlns:a="http://schemas.openxmlformats.org/drawingml/2006/main" noGrp="1"/>
          </p:cNvSpPr>
          <p:nvPr/>
        </p:nvSpPr>
        <p:spPr>
          <a:xfrm xmlns:a="http://schemas.openxmlformats.org/drawingml/2006/main">
            <a:off x="457200" y="1638300"/>
            <a:ext cx="11277600" cy="4000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19C4E10-997B-44D6-A4DE-C4111A0F3DD5}"/>
              </a:ext>
            </a:extLst>
          </p:cNvPr>
          <p:cNvSpPr>
            <a:spLocks xmlns:a="http://schemas.openxmlformats.org/drawingml/2006/main" noGrp="1"/>
          </p:cNvSpPr>
          <p:nvPr/>
        </p:nvSpPr>
        <p:spPr>
          <a:xfrm xmlns:a="http://schemas.openxmlformats.org/drawingml/2006/main">
            <a:off x="590550" y="1752600"/>
            <a:ext cx="2952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FINDING</a:t>
            </a:r>
          </a:p>
        </p:txBody>
      </p:sp>
      <p:sp>
        <p:nvSpPr>
          <p:cNvPr id="11" name="">
            <a:extLst xmlns:a="http://schemas.openxmlformats.org/drawingml/2006/main">
              <a:ext uri="{FF2B5EF4-FFF2-40B4-BE49-F238E27FC236}">
                <a16:creationId xmlns:a16="http://schemas.microsoft.com/office/drawing/2014/main" id="{C2643F00-BAEF-4AD9-A39E-7939A9F7B0BB}"/>
              </a:ext>
            </a:extLst>
          </p:cNvPr>
          <p:cNvSpPr>
            <a:spLocks xmlns:a="http://schemas.openxmlformats.org/drawingml/2006/main" noGrp="1"/>
          </p:cNvSpPr>
          <p:nvPr/>
        </p:nvSpPr>
        <p:spPr>
          <a:xfrm xmlns:a="http://schemas.openxmlformats.org/drawingml/2006/main">
            <a:off x="3733800" y="1752600"/>
            <a:ext cx="3619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IT MEANS</a:t>
            </a:r>
          </a:p>
        </p:txBody>
      </p:sp>
      <p:sp>
        <p:nvSpPr>
          <p:cNvPr id="12" name="">
            <a:extLst xmlns:a="http://schemas.openxmlformats.org/drawingml/2006/main">
              <a:ext uri="{FF2B5EF4-FFF2-40B4-BE49-F238E27FC236}">
                <a16:creationId xmlns:a16="http://schemas.microsoft.com/office/drawing/2014/main" id="{E7998D81-2111-4450-85E4-B91D13FA8B21}"/>
              </a:ext>
            </a:extLst>
          </p:cNvPr>
          <p:cNvSpPr>
            <a:spLocks xmlns:a="http://schemas.openxmlformats.org/drawingml/2006/main" noGrp="1"/>
          </p:cNvSpPr>
          <p:nvPr/>
        </p:nvSpPr>
        <p:spPr>
          <a:xfrm xmlns:a="http://schemas.openxmlformats.org/drawingml/2006/main">
            <a:off x="7543800" y="1752600"/>
            <a:ext cx="413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THE DESIGN DOES</a:t>
            </a:r>
          </a:p>
        </p:txBody>
      </p:sp>
      <p:sp>
        <p:nvSpPr>
          <p:cNvPr id="13" name="">
            <a:extLst xmlns:a="http://schemas.openxmlformats.org/drawingml/2006/main">
              <a:ext uri="{FF2B5EF4-FFF2-40B4-BE49-F238E27FC236}">
                <a16:creationId xmlns:a16="http://schemas.microsoft.com/office/drawing/2014/main" id="{82B76542-55E1-4551-8C6C-D0530562FB33}"/>
              </a:ext>
            </a:extLst>
          </p:cNvPr>
          <p:cNvSpPr>
            <a:spLocks xmlns:a="http://schemas.openxmlformats.org/drawingml/2006/main" noGrp="1"/>
          </p:cNvSpPr>
          <p:nvPr/>
        </p:nvSpPr>
        <p:spPr>
          <a:xfrm xmlns:a="http://schemas.openxmlformats.org/drawingml/2006/main">
            <a:off x="457200" y="2038350"/>
            <a:ext cx="112776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5776F08B-3DAC-4846-936E-7E59EEC617A2}"/>
              </a:ext>
            </a:extLst>
          </p:cNvPr>
          <p:cNvSpPr>
            <a:spLocks xmlns:a="http://schemas.openxmlformats.org/drawingml/2006/main" noGrp="1"/>
          </p:cNvSpPr>
          <p:nvPr/>
        </p:nvSpPr>
        <p:spPr>
          <a:xfrm xmlns:a="http://schemas.openxmlformats.org/drawingml/2006/main">
            <a:off x="590550" y="2143125"/>
            <a:ext cx="29337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core fmax ~55–62 MHz</a:t>
            </a:r>
          </a:p>
        </p:txBody>
      </p:sp>
      <p:sp>
        <p:nvSpPr>
          <p:cNvPr id="15" name="">
            <a:extLst xmlns:a="http://schemas.openxmlformats.org/drawingml/2006/main">
              <a:ext uri="{FF2B5EF4-FFF2-40B4-BE49-F238E27FC236}">
                <a16:creationId xmlns:a16="http://schemas.microsoft.com/office/drawing/2014/main" id="{3C319C2E-2C6A-470E-91B6-4E542505C223}"/>
              </a:ext>
            </a:extLst>
          </p:cNvPr>
          <p:cNvSpPr>
            <a:spLocks xmlns:a="http://schemas.openxmlformats.org/drawingml/2006/main" noGrp="1"/>
          </p:cNvSpPr>
          <p:nvPr/>
        </p:nvSpPr>
        <p:spPr>
          <a:xfrm xmlns:a="http://schemas.openxmlformats.org/drawingml/2006/main">
            <a:off x="3733800" y="2143125"/>
            <a:ext cx="36004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Raising the whole die clock would break the core’s timing</a:t>
            </a:r>
          </a:p>
        </p:txBody>
      </p:sp>
      <p:sp>
        <p:nvSpPr>
          <p:cNvPr id="16" name="">
            <a:extLst xmlns:a="http://schemas.openxmlformats.org/drawingml/2006/main">
              <a:ext uri="{FF2B5EF4-FFF2-40B4-BE49-F238E27FC236}">
                <a16:creationId xmlns:a16="http://schemas.microsoft.com/office/drawing/2014/main" id="{A514FE28-1FC1-470F-9888-A1DEC6A722A0}"/>
              </a:ext>
            </a:extLst>
          </p:cNvPr>
          <p:cNvSpPr>
            <a:spLocks xmlns:a="http://schemas.openxmlformats.org/drawingml/2006/main" noGrp="1"/>
          </p:cNvSpPr>
          <p:nvPr/>
        </p:nvSpPr>
        <p:spPr>
          <a:xfrm xmlns:a="http://schemas.openxmlformats.org/drawingml/2006/main">
            <a:off x="7543800" y="2143125"/>
            <a:ext cx="4114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control domain stays at 50 MHz</a:t>
            </a:r>
          </a:p>
        </p:txBody>
      </p:sp>
      <p:sp>
        <p:nvSpPr>
          <p:cNvPr id="17" name="">
            <a:extLst xmlns:a="http://schemas.openxmlformats.org/drawingml/2006/main">
              <a:ext uri="{FF2B5EF4-FFF2-40B4-BE49-F238E27FC236}">
                <a16:creationId xmlns:a16="http://schemas.microsoft.com/office/drawing/2014/main" id="{C76BD9BD-E5C0-46D8-AFE0-7CD6E6699CCA}"/>
              </a:ext>
            </a:extLst>
          </p:cNvPr>
          <p:cNvSpPr>
            <a:spLocks xmlns:a="http://schemas.openxmlformats.org/drawingml/2006/main" noGrp="1"/>
          </p:cNvSpPr>
          <p:nvPr/>
        </p:nvSpPr>
        <p:spPr>
          <a:xfrm xmlns:a="http://schemas.openxmlformats.org/drawingml/2006/main">
            <a:off x="457200" y="2762250"/>
            <a:ext cx="11277600" cy="7239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D5FA994C-C663-4FBB-ABC7-0580BE47B1AA}"/>
              </a:ext>
            </a:extLst>
          </p:cNvPr>
          <p:cNvSpPr>
            <a:spLocks xmlns:a="http://schemas.openxmlformats.org/drawingml/2006/main" noGrp="1"/>
          </p:cNvSpPr>
          <p:nvPr/>
        </p:nvSpPr>
        <p:spPr>
          <a:xfrm xmlns:a="http://schemas.openxmlformats.org/drawingml/2006/main">
            <a:off x="457200" y="2762250"/>
            <a:ext cx="47625" cy="7239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B03B78D-BBE0-496A-8DAA-6D5C4F6872A9}"/>
              </a:ext>
            </a:extLst>
          </p:cNvPr>
          <p:cNvSpPr>
            <a:spLocks xmlns:a="http://schemas.openxmlformats.org/drawingml/2006/main" noGrp="1"/>
          </p:cNvSpPr>
          <p:nvPr/>
        </p:nvSpPr>
        <p:spPr>
          <a:xfrm xmlns:a="http://schemas.openxmlformats.org/drawingml/2006/main">
            <a:off x="590550" y="2867025"/>
            <a:ext cx="29337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The engine is the throughput consumer</a:t>
            </a:r>
          </a:p>
        </p:txBody>
      </p:sp>
      <p:sp>
        <p:nvSpPr>
          <p:cNvPr id="20" name="">
            <a:extLst xmlns:a="http://schemas.openxmlformats.org/drawingml/2006/main">
              <a:ext uri="{FF2B5EF4-FFF2-40B4-BE49-F238E27FC236}">
                <a16:creationId xmlns:a16="http://schemas.microsoft.com/office/drawing/2014/main" id="{8B3E4567-31EF-41F1-9558-205C0EC2D230}"/>
              </a:ext>
            </a:extLst>
          </p:cNvPr>
          <p:cNvSpPr>
            <a:spLocks xmlns:a="http://schemas.openxmlformats.org/drawingml/2006/main" noGrp="1"/>
          </p:cNvSpPr>
          <p:nvPr/>
        </p:nvSpPr>
        <p:spPr>
          <a:xfrm xmlns:a="http://schemas.openxmlformats.org/drawingml/2006/main">
            <a:off x="3733800" y="2867025"/>
            <a:ext cx="36004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It needs more speed than the control core can give</a:t>
            </a:r>
          </a:p>
        </p:txBody>
      </p:sp>
      <p:sp>
        <p:nvSpPr>
          <p:cNvPr id="21" name="">
            <a:extLst xmlns:a="http://schemas.openxmlformats.org/drawingml/2006/main">
              <a:ext uri="{FF2B5EF4-FFF2-40B4-BE49-F238E27FC236}">
                <a16:creationId xmlns:a16="http://schemas.microsoft.com/office/drawing/2014/main" id="{7607CC77-E02E-4F23-8F18-AF20B7D3B784}"/>
              </a:ext>
            </a:extLst>
          </p:cNvPr>
          <p:cNvSpPr>
            <a:spLocks xmlns:a="http://schemas.openxmlformats.org/drawingml/2006/main" noGrp="1"/>
          </p:cNvSpPr>
          <p:nvPr/>
        </p:nvSpPr>
        <p:spPr>
          <a:xfrm xmlns:a="http://schemas.openxmlformats.org/drawingml/2006/main">
            <a:off x="7543800" y="2867025"/>
            <a:ext cx="4114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The engine runs on its own 114 MHz clock</a:t>
            </a:r>
          </a:p>
        </p:txBody>
      </p:sp>
      <p:sp>
        <p:nvSpPr>
          <p:cNvPr id="22" name="">
            <a:extLst xmlns:a="http://schemas.openxmlformats.org/drawingml/2006/main">
              <a:ext uri="{FF2B5EF4-FFF2-40B4-BE49-F238E27FC236}">
                <a16:creationId xmlns:a16="http://schemas.microsoft.com/office/drawing/2014/main" id="{94CEEC58-E24D-482C-A206-AFB17A0D1D16}"/>
              </a:ext>
            </a:extLst>
          </p:cNvPr>
          <p:cNvSpPr>
            <a:spLocks xmlns:a="http://schemas.openxmlformats.org/drawingml/2006/main" noGrp="1"/>
          </p:cNvSpPr>
          <p:nvPr/>
        </p:nvSpPr>
        <p:spPr>
          <a:xfrm xmlns:a="http://schemas.openxmlformats.org/drawingml/2006/main">
            <a:off x="457200" y="3486150"/>
            <a:ext cx="112776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6490F063-1CE4-4B3C-ADE6-0B7027BA07BE}"/>
              </a:ext>
            </a:extLst>
          </p:cNvPr>
          <p:cNvSpPr>
            <a:spLocks xmlns:a="http://schemas.openxmlformats.org/drawingml/2006/main" noGrp="1"/>
          </p:cNvSpPr>
          <p:nvPr/>
        </p:nvSpPr>
        <p:spPr>
          <a:xfrm xmlns:a="http://schemas.openxmlformats.org/drawingml/2006/main">
            <a:off x="590550" y="3590925"/>
            <a:ext cx="29337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Engine memory congested the LITE floorplan</a:t>
            </a:r>
          </a:p>
        </p:txBody>
      </p:sp>
      <p:sp>
        <p:nvSpPr>
          <p:cNvPr id="24" name="">
            <a:extLst xmlns:a="http://schemas.openxmlformats.org/drawingml/2006/main">
              <a:ext uri="{FF2B5EF4-FFF2-40B4-BE49-F238E27FC236}">
                <a16:creationId xmlns:a16="http://schemas.microsoft.com/office/drawing/2014/main" id="{7B481FBA-2BEB-415F-BA7C-BB4ECB485069}"/>
              </a:ext>
            </a:extLst>
          </p:cNvPr>
          <p:cNvSpPr>
            <a:spLocks xmlns:a="http://schemas.openxmlformats.org/drawingml/2006/main" noGrp="1"/>
          </p:cNvSpPr>
          <p:nvPr/>
        </p:nvSpPr>
        <p:spPr>
          <a:xfrm xmlns:a="http://schemas.openxmlformats.org/drawingml/2006/main">
            <a:off x="3733800" y="3590925"/>
            <a:ext cx="36004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Adding its buffers made routing time out</a:t>
            </a:r>
          </a:p>
        </p:txBody>
      </p:sp>
      <p:sp>
        <p:nvSpPr>
          <p:cNvPr id="25" name="">
            <a:extLst xmlns:a="http://schemas.openxmlformats.org/drawingml/2006/main">
              <a:ext uri="{FF2B5EF4-FFF2-40B4-BE49-F238E27FC236}">
                <a16:creationId xmlns:a16="http://schemas.microsoft.com/office/drawing/2014/main" id="{914CBAC7-F128-48BE-92CE-54C2CE179F17}"/>
              </a:ext>
            </a:extLst>
          </p:cNvPr>
          <p:cNvSpPr>
            <a:spLocks xmlns:a="http://schemas.openxmlformats.org/drawingml/2006/main" noGrp="1"/>
          </p:cNvSpPr>
          <p:nvPr/>
        </p:nvSpPr>
        <p:spPr>
          <a:xfrm xmlns:a="http://schemas.openxmlformats.org/drawingml/2006/main">
            <a:off x="7543800" y="3590925"/>
            <a:ext cx="4114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DG32-2DOM gets its own 3.4 × 4.5 mm die</a:t>
            </a:r>
          </a:p>
        </p:txBody>
      </p:sp>
      <p:sp>
        <p:nvSpPr>
          <p:cNvPr id="26" name="">
            <a:extLst xmlns:a="http://schemas.openxmlformats.org/drawingml/2006/main">
              <a:ext uri="{FF2B5EF4-FFF2-40B4-BE49-F238E27FC236}">
                <a16:creationId xmlns:a16="http://schemas.microsoft.com/office/drawing/2014/main" id="{7994FE34-A9BB-4F5D-A2E9-F21628887519}"/>
              </a:ext>
            </a:extLst>
          </p:cNvPr>
          <p:cNvSpPr>
            <a:spLocks xmlns:a="http://schemas.openxmlformats.org/drawingml/2006/main" noGrp="1"/>
          </p:cNvSpPr>
          <p:nvPr/>
        </p:nvSpPr>
        <p:spPr>
          <a:xfrm xmlns:a="http://schemas.openxmlformats.org/drawingml/2006/main">
            <a:off x="457200" y="4210050"/>
            <a:ext cx="1127760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7" name="">
            <a:extLst xmlns:a="http://schemas.openxmlformats.org/drawingml/2006/main">
              <a:ext uri="{FF2B5EF4-FFF2-40B4-BE49-F238E27FC236}">
                <a16:creationId xmlns:a16="http://schemas.microsoft.com/office/drawing/2014/main" id="{6CE5A139-B640-4F5B-96CD-FED1CEB1D3E6}"/>
              </a:ext>
            </a:extLst>
          </p:cNvPr>
          <p:cNvSpPr>
            <a:spLocks xmlns:a="http://schemas.openxmlformats.org/drawingml/2006/main" noGrp="1"/>
          </p:cNvSpPr>
          <p:nvPr/>
        </p:nvSpPr>
        <p:spPr>
          <a:xfrm xmlns:a="http://schemas.openxmlformats.org/drawingml/2006/main">
            <a:off x="590550" y="4314825"/>
            <a:ext cx="29337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INT4 output came out identically zero</a:t>
            </a:r>
          </a:p>
        </p:txBody>
      </p:sp>
      <p:sp>
        <p:nvSpPr>
          <p:cNvPr id="28" name="">
            <a:extLst xmlns:a="http://schemas.openxmlformats.org/drawingml/2006/main">
              <a:ext uri="{FF2B5EF4-FFF2-40B4-BE49-F238E27FC236}">
                <a16:creationId xmlns:a16="http://schemas.microsoft.com/office/drawing/2014/main" id="{0F0241DE-29A0-455C-99FE-6CBF52400BFA}"/>
              </a:ext>
            </a:extLst>
          </p:cNvPr>
          <p:cNvSpPr>
            <a:spLocks xmlns:a="http://schemas.openxmlformats.org/drawingml/2006/main" noGrp="1"/>
          </p:cNvSpPr>
          <p:nvPr/>
        </p:nvSpPr>
        <p:spPr>
          <a:xfrm xmlns:a="http://schemas.openxmlformats.org/drawingml/2006/main">
            <a:off x="3733800" y="4314825"/>
            <a:ext cx="36004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 1/400 softmax weight rounds to zero at 4 bits</a:t>
            </a:r>
          </a:p>
        </p:txBody>
      </p:sp>
      <p:sp>
        <p:nvSpPr>
          <p:cNvPr id="29" name="">
            <a:extLst xmlns:a="http://schemas.openxmlformats.org/drawingml/2006/main">
              <a:ext uri="{FF2B5EF4-FFF2-40B4-BE49-F238E27FC236}">
                <a16:creationId xmlns:a16="http://schemas.microsoft.com/office/drawing/2014/main" id="{70455B5B-42DA-4CCF-8994-BB32DE04A474}"/>
              </a:ext>
            </a:extLst>
          </p:cNvPr>
          <p:cNvSpPr>
            <a:spLocks xmlns:a="http://schemas.openxmlformats.org/drawingml/2006/main" noGrp="1"/>
          </p:cNvSpPr>
          <p:nvPr/>
        </p:nvSpPr>
        <p:spPr>
          <a:xfrm xmlns:a="http://schemas.openxmlformats.org/drawingml/2006/main">
            <a:off x="7543800" y="4314825"/>
            <a:ext cx="4114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15-bit weights into a 40-bit numerator</a:t>
            </a:r>
          </a:p>
        </p:txBody>
      </p:sp>
      <p:sp>
        <p:nvSpPr>
          <p:cNvPr id="30" name="">
            <a:extLst xmlns:a="http://schemas.openxmlformats.org/drawingml/2006/main">
              <a:ext uri="{FF2B5EF4-FFF2-40B4-BE49-F238E27FC236}">
                <a16:creationId xmlns:a16="http://schemas.microsoft.com/office/drawing/2014/main" id="{BBDC3FDA-61FB-4074-BD85-675CCA8A09C0}"/>
              </a:ext>
            </a:extLst>
          </p:cNvPr>
          <p:cNvSpPr>
            <a:spLocks xmlns:a="http://schemas.openxmlformats.org/drawingml/2006/main" noGrp="1"/>
          </p:cNvSpPr>
          <p:nvPr/>
        </p:nvSpPr>
        <p:spPr>
          <a:xfrm xmlns:a="http://schemas.openxmlformats.org/drawingml/2006/main">
            <a:off x="457200" y="5086350"/>
            <a:ext cx="112776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3A0B9697-B3F2-46FB-81DD-E594C01A2C50}"/>
              </a:ext>
            </a:extLst>
          </p:cNvPr>
          <p:cNvSpPr>
            <a:spLocks xmlns:a="http://schemas.openxmlformats.org/drawingml/2006/main" noGrp="1"/>
          </p:cNvSpPr>
          <p:nvPr/>
        </p:nvSpPr>
        <p:spPr>
          <a:xfrm xmlns:a="http://schemas.openxmlformats.org/drawingml/2006/main">
            <a:off x="457200" y="5086350"/>
            <a:ext cx="57150" cy="10096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B6C0DD8-420A-46B7-9D7F-83EBC6A0A5D4}"/>
              </a:ext>
            </a:extLst>
          </p:cNvPr>
          <p:cNvSpPr>
            <a:spLocks xmlns:a="http://schemas.openxmlformats.org/drawingml/2006/main" noGrp="1"/>
          </p:cNvSpPr>
          <p:nvPr/>
        </p:nvSpPr>
        <p:spPr>
          <a:xfrm xmlns:a="http://schemas.openxmlformats.org/drawingml/2006/main">
            <a:off x="685800" y="527685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Additions only</a:t>
            </a:r>
          </a:p>
        </p:txBody>
      </p:sp>
      <p:sp>
        <p:nvSpPr>
          <p:cNvPr id="33" name="">
            <a:extLst xmlns:a="http://schemas.openxmlformats.org/drawingml/2006/main">
              <a:ext uri="{FF2B5EF4-FFF2-40B4-BE49-F238E27FC236}">
                <a16:creationId xmlns:a16="http://schemas.microsoft.com/office/drawing/2014/main" id="{F7BE4845-0A20-4E27-8081-22722948F901}"/>
              </a:ext>
            </a:extLst>
          </p:cNvPr>
          <p:cNvSpPr>
            <a:spLocks xmlns:a="http://schemas.openxmlformats.org/drawingml/2006/main" noGrp="1"/>
          </p:cNvSpPr>
          <p:nvPr/>
        </p:nvSpPr>
        <p:spPr>
          <a:xfrm xmlns:a="http://schemas.openxmlformats.org/drawingml/2006/main">
            <a:off x="685800" y="5638800"/>
            <a:ext cx="108204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frozen control core, boot path and bus decode are unchanged; the engine is added around them.</a:t>
            </a:r>
          </a:p>
        </p:txBody>
      </p:sp>
      <p:sp>
        <p:nvSpPr>
          <p:cNvPr id="34" name="">
            <a:extLst xmlns:a="http://schemas.openxmlformats.org/drawingml/2006/main">
              <a:ext uri="{FF2B5EF4-FFF2-40B4-BE49-F238E27FC236}">
                <a16:creationId xmlns:a16="http://schemas.microsoft.com/office/drawing/2014/main" id="{AB177461-218A-4776-B7A6-0037C44BB0D4}"/>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block architecture §2, design premises and locked decisions.</a:t>
            </a:r>
          </a:p>
        </p:txBody>
      </p:sp>
    </p:spTree>
    <p:extLst>
      <p:ext uri="{BB962C8B-B14F-4D97-AF65-F5344CB8AC3E}">
        <p14:creationId xmlns:p14="http://schemas.microsoft.com/office/powerpoint/2010/main" val="172245805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87EFE992-67A9-4E66-91AD-96F30F42FF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C7FFB8-B37E-4C02-8435-3DAAFF7DA7D5}"/>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04 · ARCHITECTURE</a:t>
            </a:r>
          </a:p>
        </p:txBody>
      </p:sp>
      <p:sp>
        <p:nvSpPr>
          <p:cNvPr id="3" name="">
            <a:extLst xmlns:a="http://schemas.openxmlformats.org/drawingml/2006/main">
              <a:ext uri="{FF2B5EF4-FFF2-40B4-BE49-F238E27FC236}">
                <a16:creationId xmlns:a16="http://schemas.microsoft.com/office/drawing/2014/main" id="{C4153E5A-B925-42A4-AF87-3200DFBB598F}"/>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engine sits beside the core, behind bridges</a:t>
            </a:r>
          </a:p>
        </p:txBody>
      </p:sp>
      <p:sp>
        <p:nvSpPr>
          <p:cNvPr id="4" name="">
            <a:extLst xmlns:a="http://schemas.openxmlformats.org/drawingml/2006/main">
              <a:ext uri="{FF2B5EF4-FFF2-40B4-BE49-F238E27FC236}">
                <a16:creationId xmlns:a16="http://schemas.microsoft.com/office/drawing/2014/main" id="{44FFE2E7-C240-4470-908A-42C2CDE2F46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clock domains on one die; the engine reaches memory only through the clock bridges</a:t>
            </a:r>
          </a:p>
        </p:txBody>
      </p:sp>
      <p:sp>
        <p:nvSpPr>
          <p:cNvPr id="5" name="">
            <a:extLst xmlns:a="http://schemas.openxmlformats.org/drawingml/2006/main">
              <a:ext uri="{FF2B5EF4-FFF2-40B4-BE49-F238E27FC236}">
                <a16:creationId xmlns:a16="http://schemas.microsoft.com/office/drawing/2014/main" id="{D4965291-7D7A-4251-8CA8-0DD0948A1571}"/>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08088DD-2996-4F28-A4F0-25182985BF0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2B1DF51-E49C-49A2-B8EA-40FEB21A69C2}"/>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77F36446-AFD2-4DF8-ADD6-61DFE9A0A6DF}"/>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04</a:t>
            </a:r>
          </a:p>
        </p:txBody>
      </p:sp>
      <p:sp>
        <p:nvSpPr>
          <p:cNvPr id="9" name="">
            <a:extLst xmlns:a="http://schemas.openxmlformats.org/drawingml/2006/main">
              <a:ext uri="{FF2B5EF4-FFF2-40B4-BE49-F238E27FC236}">
                <a16:creationId xmlns:a16="http://schemas.microsoft.com/office/drawing/2014/main" id="{97964C68-3047-40BF-8346-7BFCB9BE0C27}"/>
              </a:ext>
            </a:extLst>
          </p:cNvPr>
          <p:cNvSpPr>
            <a:spLocks xmlns:a="http://schemas.openxmlformats.org/drawingml/2006/main" noGrp="1"/>
          </p:cNvSpPr>
          <p:nvPr/>
        </p:nvSpPr>
        <p:spPr>
          <a:xfrm xmlns:a="http://schemas.openxmlformats.org/drawingml/2006/main">
            <a:off x="457200" y="1638300"/>
            <a:ext cx="3143250" cy="4000500"/>
          </a:xfrm>
          <a:prstGeom xmlns:a="http://schemas.openxmlformats.org/drawingml/2006/main" prst="rect">
            <a:avLst/>
          </a:prstGeom>
          <a:solidFill xmlns:a="http://schemas.openxmlformats.org/drawingml/2006/main">
            <a:srgbClr val="E8F8FC"/>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C703C727-BF44-4B8C-9371-0182F38CF9BD}"/>
              </a:ext>
            </a:extLst>
          </p:cNvPr>
          <p:cNvSpPr>
            <a:spLocks xmlns:a="http://schemas.openxmlformats.org/drawingml/2006/main" noGrp="1"/>
          </p:cNvSpPr>
          <p:nvPr/>
        </p:nvSpPr>
        <p:spPr>
          <a:xfrm xmlns:a="http://schemas.openxmlformats.org/drawingml/2006/main">
            <a:off x="457200" y="1638300"/>
            <a:ext cx="3143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C005439-7E83-466D-8679-461F02181C96}"/>
              </a:ext>
            </a:extLst>
          </p:cNvPr>
          <p:cNvSpPr>
            <a:spLocks xmlns:a="http://schemas.openxmlformats.org/drawingml/2006/main" noGrp="1"/>
          </p:cNvSpPr>
          <p:nvPr/>
        </p:nvSpPr>
        <p:spPr>
          <a:xfrm xmlns:a="http://schemas.openxmlformats.org/drawingml/2006/main">
            <a:off x="609600" y="1790700"/>
            <a:ext cx="28575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50 MHz control domain</a:t>
            </a:r>
          </a:p>
        </p:txBody>
      </p:sp>
      <p:sp>
        <p:nvSpPr>
          <p:cNvPr id="12" name="">
            <a:extLst xmlns:a="http://schemas.openxmlformats.org/drawingml/2006/main">
              <a:ext uri="{FF2B5EF4-FFF2-40B4-BE49-F238E27FC236}">
                <a16:creationId xmlns:a16="http://schemas.microsoft.com/office/drawing/2014/main" id="{4937435D-94B5-4447-94E2-216A64B5AA32}"/>
              </a:ext>
            </a:extLst>
          </p:cNvPr>
          <p:cNvSpPr>
            <a:spLocks xmlns:a="http://schemas.openxmlformats.org/drawingml/2006/main" noGrp="1"/>
          </p:cNvSpPr>
          <p:nvPr/>
        </p:nvSpPr>
        <p:spPr>
          <a:xfrm xmlns:a="http://schemas.openxmlformats.org/drawingml/2006/main">
            <a:off x="628650" y="215265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13" name="">
            <a:extLst xmlns:a="http://schemas.openxmlformats.org/drawingml/2006/main">
              <a:ext uri="{FF2B5EF4-FFF2-40B4-BE49-F238E27FC236}">
                <a16:creationId xmlns:a16="http://schemas.microsoft.com/office/drawing/2014/main" id="{9B13D3AA-EAA7-41A9-81A5-461CB0BB46EC}"/>
              </a:ext>
            </a:extLst>
          </p:cNvPr>
          <p:cNvSpPr>
            <a:spLocks xmlns:a="http://schemas.openxmlformats.org/drawingml/2006/main" noGrp="1"/>
          </p:cNvSpPr>
          <p:nvPr/>
        </p:nvSpPr>
        <p:spPr>
          <a:xfrm xmlns:a="http://schemas.openxmlformats.org/drawingml/2006/main">
            <a:off x="762000" y="225742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CPU pair</a:t>
            </a:r>
          </a:p>
        </p:txBody>
      </p:sp>
      <p:sp>
        <p:nvSpPr>
          <p:cNvPr id="14" name="">
            <a:extLst xmlns:a="http://schemas.openxmlformats.org/drawingml/2006/main">
              <a:ext uri="{FF2B5EF4-FFF2-40B4-BE49-F238E27FC236}">
                <a16:creationId xmlns:a16="http://schemas.microsoft.com/office/drawing/2014/main" id="{FFE8E7D4-BD49-4317-A393-27BDBA36BEA9}"/>
              </a:ext>
            </a:extLst>
          </p:cNvPr>
          <p:cNvSpPr>
            <a:spLocks xmlns:a="http://schemas.openxmlformats.org/drawingml/2006/main" noGrp="1"/>
          </p:cNvSpPr>
          <p:nvPr/>
        </p:nvSpPr>
        <p:spPr>
          <a:xfrm xmlns:a="http://schemas.openxmlformats.org/drawingml/2006/main">
            <a:off x="628650" y="270510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15" name="">
            <a:extLst xmlns:a="http://schemas.openxmlformats.org/drawingml/2006/main">
              <a:ext uri="{FF2B5EF4-FFF2-40B4-BE49-F238E27FC236}">
                <a16:creationId xmlns:a16="http://schemas.microsoft.com/office/drawing/2014/main" id="{AC18A968-3A38-43D7-A565-96623347F619}"/>
              </a:ext>
            </a:extLst>
          </p:cNvPr>
          <p:cNvSpPr>
            <a:spLocks xmlns:a="http://schemas.openxmlformats.org/drawingml/2006/main" noGrp="1"/>
          </p:cNvSpPr>
          <p:nvPr/>
        </p:nvSpPr>
        <p:spPr>
          <a:xfrm xmlns:a="http://schemas.openxmlformats.org/drawingml/2006/main">
            <a:off x="762000" y="280987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Fault latch + supervision</a:t>
            </a:r>
          </a:p>
        </p:txBody>
      </p:sp>
      <p:sp>
        <p:nvSpPr>
          <p:cNvPr id="16" name="">
            <a:extLst xmlns:a="http://schemas.openxmlformats.org/drawingml/2006/main">
              <a:ext uri="{FF2B5EF4-FFF2-40B4-BE49-F238E27FC236}">
                <a16:creationId xmlns:a16="http://schemas.microsoft.com/office/drawing/2014/main" id="{95332884-53A8-438E-A8B8-61A0921B8CD2}"/>
              </a:ext>
            </a:extLst>
          </p:cNvPr>
          <p:cNvSpPr>
            <a:spLocks xmlns:a="http://schemas.openxmlformats.org/drawingml/2006/main" noGrp="1"/>
          </p:cNvSpPr>
          <p:nvPr/>
        </p:nvSpPr>
        <p:spPr>
          <a:xfrm xmlns:a="http://schemas.openxmlformats.org/drawingml/2006/main">
            <a:off x="628650" y="325755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17" name="">
            <a:extLst xmlns:a="http://schemas.openxmlformats.org/drawingml/2006/main">
              <a:ext uri="{FF2B5EF4-FFF2-40B4-BE49-F238E27FC236}">
                <a16:creationId xmlns:a16="http://schemas.microsoft.com/office/drawing/2014/main" id="{6FE62D10-5469-45F5-B61D-FFCFA877488B}"/>
              </a:ext>
            </a:extLst>
          </p:cNvPr>
          <p:cNvSpPr>
            <a:spLocks xmlns:a="http://schemas.openxmlformats.org/drawingml/2006/main" noGrp="1"/>
          </p:cNvSpPr>
          <p:nvPr/>
        </p:nvSpPr>
        <p:spPr>
          <a:xfrm xmlns:a="http://schemas.openxmlformats.org/drawingml/2006/main">
            <a:off x="762000" y="336232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Boot ROM + SRAM</a:t>
            </a:r>
          </a:p>
        </p:txBody>
      </p:sp>
      <p:sp>
        <p:nvSpPr>
          <p:cNvPr id="18" name="">
            <a:extLst xmlns:a="http://schemas.openxmlformats.org/drawingml/2006/main">
              <a:ext uri="{FF2B5EF4-FFF2-40B4-BE49-F238E27FC236}">
                <a16:creationId xmlns:a16="http://schemas.microsoft.com/office/drawing/2014/main" id="{05939F4B-1D11-412A-92E1-BB8F077B3AF7}"/>
              </a:ext>
            </a:extLst>
          </p:cNvPr>
          <p:cNvSpPr>
            <a:spLocks xmlns:a="http://schemas.openxmlformats.org/drawingml/2006/main" noGrp="1"/>
          </p:cNvSpPr>
          <p:nvPr/>
        </p:nvSpPr>
        <p:spPr>
          <a:xfrm xmlns:a="http://schemas.openxmlformats.org/drawingml/2006/main">
            <a:off x="628650" y="381000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5FD9EC92-1080-46DC-BF2B-4D08CA050FF0}"/>
              </a:ext>
            </a:extLst>
          </p:cNvPr>
          <p:cNvSpPr>
            <a:spLocks xmlns:a="http://schemas.openxmlformats.org/drawingml/2006/main" noGrp="1"/>
          </p:cNvSpPr>
          <p:nvPr/>
        </p:nvSpPr>
        <p:spPr>
          <a:xfrm xmlns:a="http://schemas.openxmlformats.org/drawingml/2006/main">
            <a:off x="762000" y="391477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DMA + interrupts</a:t>
            </a:r>
          </a:p>
        </p:txBody>
      </p:sp>
      <p:sp>
        <p:nvSpPr>
          <p:cNvPr id="20" name="">
            <a:extLst xmlns:a="http://schemas.openxmlformats.org/drawingml/2006/main">
              <a:ext uri="{FF2B5EF4-FFF2-40B4-BE49-F238E27FC236}">
                <a16:creationId xmlns:a16="http://schemas.microsoft.com/office/drawing/2014/main" id="{81D4A0D2-6D97-4179-92FA-507A9B3DA317}"/>
              </a:ext>
            </a:extLst>
          </p:cNvPr>
          <p:cNvSpPr>
            <a:spLocks xmlns:a="http://schemas.openxmlformats.org/drawingml/2006/main" noGrp="1"/>
          </p:cNvSpPr>
          <p:nvPr/>
        </p:nvSpPr>
        <p:spPr>
          <a:xfrm xmlns:a="http://schemas.openxmlformats.org/drawingml/2006/main">
            <a:off x="628650" y="436245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21" name="">
            <a:extLst xmlns:a="http://schemas.openxmlformats.org/drawingml/2006/main">
              <a:ext uri="{FF2B5EF4-FFF2-40B4-BE49-F238E27FC236}">
                <a16:creationId xmlns:a16="http://schemas.microsoft.com/office/drawing/2014/main" id="{EB0D7C55-5EBC-455E-A197-6B56799AAD2E}"/>
              </a:ext>
            </a:extLst>
          </p:cNvPr>
          <p:cNvSpPr>
            <a:spLocks xmlns:a="http://schemas.openxmlformats.org/drawingml/2006/main" noGrp="1"/>
          </p:cNvSpPr>
          <p:nvPr/>
        </p:nvSpPr>
        <p:spPr>
          <a:xfrm xmlns:a="http://schemas.openxmlformats.org/drawingml/2006/main">
            <a:off x="762000" y="446722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Motor drive + sensing</a:t>
            </a:r>
          </a:p>
        </p:txBody>
      </p:sp>
      <p:sp>
        <p:nvSpPr>
          <p:cNvPr id="22" name="">
            <a:extLst xmlns:a="http://schemas.openxmlformats.org/drawingml/2006/main">
              <a:ext uri="{FF2B5EF4-FFF2-40B4-BE49-F238E27FC236}">
                <a16:creationId xmlns:a16="http://schemas.microsoft.com/office/drawing/2014/main" id="{CDE8CE0A-904F-4934-8A02-B135980C9466}"/>
              </a:ext>
            </a:extLst>
          </p:cNvPr>
          <p:cNvSpPr>
            <a:spLocks xmlns:a="http://schemas.openxmlformats.org/drawingml/2006/main" noGrp="1"/>
          </p:cNvSpPr>
          <p:nvPr/>
        </p:nvSpPr>
        <p:spPr>
          <a:xfrm xmlns:a="http://schemas.openxmlformats.org/drawingml/2006/main">
            <a:off x="628650" y="491490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23" name="">
            <a:extLst xmlns:a="http://schemas.openxmlformats.org/drawingml/2006/main">
              <a:ext uri="{FF2B5EF4-FFF2-40B4-BE49-F238E27FC236}">
                <a16:creationId xmlns:a16="http://schemas.microsoft.com/office/drawing/2014/main" id="{EA4F9C9D-F918-4560-9A8E-8A6650BB5D02}"/>
              </a:ext>
            </a:extLst>
          </p:cNvPr>
          <p:cNvSpPr>
            <a:spLocks xmlns:a="http://schemas.openxmlformats.org/drawingml/2006/main" noGrp="1"/>
          </p:cNvSpPr>
          <p:nvPr/>
        </p:nvSpPr>
        <p:spPr>
          <a:xfrm xmlns:a="http://schemas.openxmlformats.org/drawingml/2006/main">
            <a:off x="762000" y="501967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Connectivity + test</a:t>
            </a:r>
          </a:p>
        </p:txBody>
      </p:sp>
      <p:sp>
        <p:nvSpPr>
          <p:cNvPr id="24" name="">
            <a:extLst xmlns:a="http://schemas.openxmlformats.org/drawingml/2006/main">
              <a:ext uri="{FF2B5EF4-FFF2-40B4-BE49-F238E27FC236}">
                <a16:creationId xmlns:a16="http://schemas.microsoft.com/office/drawing/2014/main" id="{3CAB9D8B-6E34-4562-913E-76EDE4294585}"/>
              </a:ext>
            </a:extLst>
          </p:cNvPr>
          <p:cNvSpPr>
            <a:spLocks xmlns:a="http://schemas.openxmlformats.org/drawingml/2006/main" noGrp="1"/>
          </p:cNvSpPr>
          <p:nvPr/>
        </p:nvSpPr>
        <p:spPr>
          <a:xfrm xmlns:a="http://schemas.openxmlformats.org/drawingml/2006/main">
            <a:off x="3790950" y="1638300"/>
            <a:ext cx="1714500" cy="4000500"/>
          </a:xfrm>
          <a:prstGeom xmlns:a="http://schemas.openxmlformats.org/drawingml/2006/main" prst="rect">
            <a:avLst/>
          </a:prstGeom>
          <a:solidFill xmlns:a="http://schemas.openxmlformats.org/drawingml/2006/main">
            <a:srgbClr val="F8FAFC"/>
          </a:solidFill>
          <a:ln xmlns:a="http://schemas.openxmlformats.org/drawingml/2006/main" w="19050">
            <a:solidFill>
              <a:srgbClr val="8DB4D4"/>
            </a:solidFill>
            <a:prstDash val="solid"/>
          </a:ln>
        </p:spPr>
      </p:sp>
      <p:sp>
        <p:nvSpPr>
          <p:cNvPr id="25" name="">
            <a:extLst xmlns:a="http://schemas.openxmlformats.org/drawingml/2006/main">
              <a:ext uri="{FF2B5EF4-FFF2-40B4-BE49-F238E27FC236}">
                <a16:creationId xmlns:a16="http://schemas.microsoft.com/office/drawing/2014/main" id="{DFBD9220-BF88-4AA8-8830-BA097F89E271}"/>
              </a:ext>
            </a:extLst>
          </p:cNvPr>
          <p:cNvSpPr>
            <a:spLocks xmlns:a="http://schemas.openxmlformats.org/drawingml/2006/main" noGrp="1"/>
          </p:cNvSpPr>
          <p:nvPr/>
        </p:nvSpPr>
        <p:spPr>
          <a:xfrm xmlns:a="http://schemas.openxmlformats.org/drawingml/2006/main">
            <a:off x="3790950" y="1638300"/>
            <a:ext cx="171450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3730D01-B138-444D-B935-B4115DA32DFF}"/>
              </a:ext>
            </a:extLst>
          </p:cNvPr>
          <p:cNvSpPr>
            <a:spLocks xmlns:a="http://schemas.openxmlformats.org/drawingml/2006/main" noGrp="1"/>
          </p:cNvSpPr>
          <p:nvPr/>
        </p:nvSpPr>
        <p:spPr>
          <a:xfrm xmlns:a="http://schemas.openxmlformats.org/drawingml/2006/main">
            <a:off x="3943350" y="1790700"/>
            <a:ext cx="1428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Clock bridges</a:t>
            </a:r>
          </a:p>
        </p:txBody>
      </p:sp>
      <p:sp>
        <p:nvSpPr>
          <p:cNvPr id="27" name="">
            <a:extLst xmlns:a="http://schemas.openxmlformats.org/drawingml/2006/main">
              <a:ext uri="{FF2B5EF4-FFF2-40B4-BE49-F238E27FC236}">
                <a16:creationId xmlns:a16="http://schemas.microsoft.com/office/drawing/2014/main" id="{56B68F63-E8B6-4F2B-93D6-353D24C73E12}"/>
              </a:ext>
            </a:extLst>
          </p:cNvPr>
          <p:cNvSpPr>
            <a:spLocks xmlns:a="http://schemas.openxmlformats.org/drawingml/2006/main" noGrp="1"/>
          </p:cNvSpPr>
          <p:nvPr/>
        </p:nvSpPr>
        <p:spPr>
          <a:xfrm xmlns:a="http://schemas.openxmlformats.org/drawingml/2006/main">
            <a:off x="3943350" y="2286000"/>
            <a:ext cx="14097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1E293B"/>
            </a:solidFill>
            <a:prstDash val="solid"/>
          </a:ln>
        </p:spPr>
      </p:sp>
      <p:sp>
        <p:nvSpPr>
          <p:cNvPr id="28" name="">
            <a:extLst xmlns:a="http://schemas.openxmlformats.org/drawingml/2006/main">
              <a:ext uri="{FF2B5EF4-FFF2-40B4-BE49-F238E27FC236}">
                <a16:creationId xmlns:a16="http://schemas.microsoft.com/office/drawing/2014/main" id="{306202C0-4E1E-4C95-963F-D647DE0C5698}"/>
              </a:ext>
            </a:extLst>
          </p:cNvPr>
          <p:cNvSpPr>
            <a:spLocks xmlns:a="http://schemas.openxmlformats.org/drawingml/2006/main" noGrp="1"/>
          </p:cNvSpPr>
          <p:nvPr/>
        </p:nvSpPr>
        <p:spPr>
          <a:xfrm xmlns:a="http://schemas.openxmlformats.org/drawingml/2006/main">
            <a:off x="4038600" y="2400300"/>
            <a:ext cx="1219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E293B"/>
                </a:solidFill>
                <a:latin typeface="Arial"/>
                <a:ea typeface="Arial"/>
                <a:cs typeface="Arial"/>
              </a:defRPr>
            </a:pPr>
            <a:r>
              <a:t>Lite</a:t>
            </a:r>
          </a:p>
        </p:txBody>
      </p:sp>
      <p:sp>
        <p:nvSpPr>
          <p:cNvPr id="29" name="">
            <a:extLst xmlns:a="http://schemas.openxmlformats.org/drawingml/2006/main">
              <a:ext uri="{FF2B5EF4-FFF2-40B4-BE49-F238E27FC236}">
                <a16:creationId xmlns:a16="http://schemas.microsoft.com/office/drawing/2014/main" id="{66F9B279-EAD8-47C0-A7D5-00D120A69F9F}"/>
              </a:ext>
            </a:extLst>
          </p:cNvPr>
          <p:cNvSpPr>
            <a:spLocks xmlns:a="http://schemas.openxmlformats.org/drawingml/2006/main" noGrp="1"/>
          </p:cNvSpPr>
          <p:nvPr/>
        </p:nvSpPr>
        <p:spPr>
          <a:xfrm xmlns:a="http://schemas.openxmlformats.org/drawingml/2006/main">
            <a:off x="4038600" y="2667000"/>
            <a:ext cx="12192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programming</a:t>
            </a:r>
          </a:p>
        </p:txBody>
      </p:sp>
      <p:sp>
        <p:nvSpPr>
          <p:cNvPr id="30" name="">
            <a:extLst xmlns:a="http://schemas.openxmlformats.org/drawingml/2006/main">
              <a:ext uri="{FF2B5EF4-FFF2-40B4-BE49-F238E27FC236}">
                <a16:creationId xmlns:a16="http://schemas.microsoft.com/office/drawing/2014/main" id="{C65962E1-215C-453C-8F69-91B1A6EF800E}"/>
              </a:ext>
            </a:extLst>
          </p:cNvPr>
          <p:cNvSpPr>
            <a:spLocks xmlns:a="http://schemas.openxmlformats.org/drawingml/2006/main" noGrp="1"/>
          </p:cNvSpPr>
          <p:nvPr/>
        </p:nvSpPr>
        <p:spPr>
          <a:xfrm xmlns:a="http://schemas.openxmlformats.org/drawingml/2006/main">
            <a:off x="3943350" y="3352800"/>
            <a:ext cx="14097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1E293B"/>
            </a:solidFill>
            <a:prstDash val="solid"/>
          </a:ln>
        </p:spPr>
      </p:sp>
      <p:sp>
        <p:nvSpPr>
          <p:cNvPr id="31" name="">
            <a:extLst xmlns:a="http://schemas.openxmlformats.org/drawingml/2006/main">
              <a:ext uri="{FF2B5EF4-FFF2-40B4-BE49-F238E27FC236}">
                <a16:creationId xmlns:a16="http://schemas.microsoft.com/office/drawing/2014/main" id="{86524486-7C95-4C97-ADBC-D0E24617C2FF}"/>
              </a:ext>
            </a:extLst>
          </p:cNvPr>
          <p:cNvSpPr>
            <a:spLocks xmlns:a="http://schemas.openxmlformats.org/drawingml/2006/main" noGrp="1"/>
          </p:cNvSpPr>
          <p:nvPr/>
        </p:nvSpPr>
        <p:spPr>
          <a:xfrm xmlns:a="http://schemas.openxmlformats.org/drawingml/2006/main">
            <a:off x="4038600" y="3467100"/>
            <a:ext cx="1219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E293B"/>
                </a:solidFill>
                <a:latin typeface="Arial"/>
                <a:ea typeface="Arial"/>
                <a:cs typeface="Arial"/>
              </a:defRPr>
            </a:pPr>
            <a:r>
              <a:t>Burst read</a:t>
            </a:r>
          </a:p>
        </p:txBody>
      </p:sp>
      <p:sp>
        <p:nvSpPr>
          <p:cNvPr id="32" name="">
            <a:extLst xmlns:a="http://schemas.openxmlformats.org/drawingml/2006/main">
              <a:ext uri="{FF2B5EF4-FFF2-40B4-BE49-F238E27FC236}">
                <a16:creationId xmlns:a16="http://schemas.microsoft.com/office/drawing/2014/main" id="{632C8047-707D-4B1D-93DC-3192EC6F8787}"/>
              </a:ext>
            </a:extLst>
          </p:cNvPr>
          <p:cNvSpPr>
            <a:spLocks xmlns:a="http://schemas.openxmlformats.org/drawingml/2006/main" noGrp="1"/>
          </p:cNvSpPr>
          <p:nvPr/>
        </p:nvSpPr>
        <p:spPr>
          <a:xfrm xmlns:a="http://schemas.openxmlformats.org/drawingml/2006/main">
            <a:off x="4038600" y="3733800"/>
            <a:ext cx="12192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keys, values in</a:t>
            </a:r>
          </a:p>
        </p:txBody>
      </p:sp>
      <p:sp>
        <p:nvSpPr>
          <p:cNvPr id="33" name="">
            <a:extLst xmlns:a="http://schemas.openxmlformats.org/drawingml/2006/main">
              <a:ext uri="{FF2B5EF4-FFF2-40B4-BE49-F238E27FC236}">
                <a16:creationId xmlns:a16="http://schemas.microsoft.com/office/drawing/2014/main" id="{53BC17E8-3F8F-43F5-BB05-5A6A9878DDB8}"/>
              </a:ext>
            </a:extLst>
          </p:cNvPr>
          <p:cNvSpPr>
            <a:spLocks xmlns:a="http://schemas.openxmlformats.org/drawingml/2006/main" noGrp="1"/>
          </p:cNvSpPr>
          <p:nvPr/>
        </p:nvSpPr>
        <p:spPr>
          <a:xfrm xmlns:a="http://schemas.openxmlformats.org/drawingml/2006/main">
            <a:off x="3943350" y="4419600"/>
            <a:ext cx="14097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1E293B"/>
            </a:solidFill>
            <a:prstDash val="solid"/>
          </a:ln>
        </p:spPr>
      </p:sp>
      <p:sp>
        <p:nvSpPr>
          <p:cNvPr id="34" name="">
            <a:extLst xmlns:a="http://schemas.openxmlformats.org/drawingml/2006/main">
              <a:ext uri="{FF2B5EF4-FFF2-40B4-BE49-F238E27FC236}">
                <a16:creationId xmlns:a16="http://schemas.microsoft.com/office/drawing/2014/main" id="{CAB460FD-745B-4460-B049-6A25B14E193A}"/>
              </a:ext>
            </a:extLst>
          </p:cNvPr>
          <p:cNvSpPr>
            <a:spLocks xmlns:a="http://schemas.openxmlformats.org/drawingml/2006/main" noGrp="1"/>
          </p:cNvSpPr>
          <p:nvPr/>
        </p:nvSpPr>
        <p:spPr>
          <a:xfrm xmlns:a="http://schemas.openxmlformats.org/drawingml/2006/main">
            <a:off x="4038600" y="4533900"/>
            <a:ext cx="1219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E293B"/>
                </a:solidFill>
                <a:latin typeface="Arial"/>
                <a:ea typeface="Arial"/>
                <a:cs typeface="Arial"/>
              </a:defRPr>
            </a:pPr>
            <a:r>
              <a:t>Burst write</a:t>
            </a:r>
          </a:p>
        </p:txBody>
      </p:sp>
      <p:sp>
        <p:nvSpPr>
          <p:cNvPr id="35" name="">
            <a:extLst xmlns:a="http://schemas.openxmlformats.org/drawingml/2006/main">
              <a:ext uri="{FF2B5EF4-FFF2-40B4-BE49-F238E27FC236}">
                <a16:creationId xmlns:a16="http://schemas.microsoft.com/office/drawing/2014/main" id="{E2DBD891-73DF-4BCF-AF27-CBD0EECC3F01}"/>
              </a:ext>
            </a:extLst>
          </p:cNvPr>
          <p:cNvSpPr>
            <a:spLocks xmlns:a="http://schemas.openxmlformats.org/drawingml/2006/main" noGrp="1"/>
          </p:cNvSpPr>
          <p:nvPr/>
        </p:nvSpPr>
        <p:spPr>
          <a:xfrm xmlns:a="http://schemas.openxmlformats.org/drawingml/2006/main">
            <a:off x="4038600" y="4800600"/>
            <a:ext cx="12192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output back</a:t>
            </a:r>
          </a:p>
        </p:txBody>
      </p:sp>
      <p:sp>
        <p:nvSpPr>
          <p:cNvPr id="36" name="">
            <a:extLst xmlns:a="http://schemas.openxmlformats.org/drawingml/2006/main">
              <a:ext uri="{FF2B5EF4-FFF2-40B4-BE49-F238E27FC236}">
                <a16:creationId xmlns:a16="http://schemas.microsoft.com/office/drawing/2014/main" id="{D83671B9-EC43-404F-A0CF-4CD804B5EB28}"/>
              </a:ext>
            </a:extLst>
          </p:cNvPr>
          <p:cNvSpPr>
            <a:spLocks xmlns:a="http://schemas.openxmlformats.org/drawingml/2006/main" noGrp="1"/>
          </p:cNvSpPr>
          <p:nvPr/>
        </p:nvSpPr>
        <p:spPr>
          <a:xfrm xmlns:a="http://schemas.openxmlformats.org/drawingml/2006/main">
            <a:off x="5695950" y="1638300"/>
            <a:ext cx="3143250" cy="4000500"/>
          </a:xfrm>
          <a:prstGeom xmlns:a="http://schemas.openxmlformats.org/drawingml/2006/main" prst="rect">
            <a:avLst/>
          </a:prstGeom>
          <a:solidFill xmlns:a="http://schemas.openxmlformats.org/drawingml/2006/main">
            <a:srgbClr val="E8F6F5"/>
          </a:solidFill>
          <a:ln xmlns:a="http://schemas.openxmlformats.org/drawingml/2006/main" w="19050">
            <a:solidFill>
              <a:srgbClr val="0A9396"/>
            </a:solidFill>
            <a:prstDash val="solid"/>
          </a:ln>
        </p:spPr>
      </p:sp>
      <p:sp>
        <p:nvSpPr>
          <p:cNvPr id="37" name="">
            <a:extLst xmlns:a="http://schemas.openxmlformats.org/drawingml/2006/main">
              <a:ext uri="{FF2B5EF4-FFF2-40B4-BE49-F238E27FC236}">
                <a16:creationId xmlns:a16="http://schemas.microsoft.com/office/drawing/2014/main" id="{C5C6B2B1-193E-4B65-B8E7-00C7E76FC708}"/>
              </a:ext>
            </a:extLst>
          </p:cNvPr>
          <p:cNvSpPr>
            <a:spLocks xmlns:a="http://schemas.openxmlformats.org/drawingml/2006/main" noGrp="1"/>
          </p:cNvSpPr>
          <p:nvPr/>
        </p:nvSpPr>
        <p:spPr>
          <a:xfrm xmlns:a="http://schemas.openxmlformats.org/drawingml/2006/main">
            <a:off x="5695950" y="1638300"/>
            <a:ext cx="3143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0F197FE-01E2-4D60-93BD-141BB39DEC21}"/>
              </a:ext>
            </a:extLst>
          </p:cNvPr>
          <p:cNvSpPr>
            <a:spLocks xmlns:a="http://schemas.openxmlformats.org/drawingml/2006/main" noGrp="1"/>
          </p:cNvSpPr>
          <p:nvPr/>
        </p:nvSpPr>
        <p:spPr>
          <a:xfrm xmlns:a="http://schemas.openxmlformats.org/drawingml/2006/main">
            <a:off x="5848350" y="1790700"/>
            <a:ext cx="28575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114 MHz compute domain</a:t>
            </a:r>
          </a:p>
        </p:txBody>
      </p:sp>
      <p:sp>
        <p:nvSpPr>
          <p:cNvPr id="39" name="">
            <a:extLst xmlns:a="http://schemas.openxmlformats.org/drawingml/2006/main">
              <a:ext uri="{FF2B5EF4-FFF2-40B4-BE49-F238E27FC236}">
                <a16:creationId xmlns:a16="http://schemas.microsoft.com/office/drawing/2014/main" id="{CA6C8A1B-ED1A-48A8-956A-772CBA14C5E1}"/>
              </a:ext>
            </a:extLst>
          </p:cNvPr>
          <p:cNvSpPr>
            <a:spLocks xmlns:a="http://schemas.openxmlformats.org/drawingml/2006/main" noGrp="1"/>
          </p:cNvSpPr>
          <p:nvPr/>
        </p:nvSpPr>
        <p:spPr>
          <a:xfrm xmlns:a="http://schemas.openxmlformats.org/drawingml/2006/main">
            <a:off x="5867400" y="2152650"/>
            <a:ext cx="28003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9050">
            <a:solidFill>
              <a:srgbClr val="0A9396"/>
            </a:solidFill>
            <a:prstDash val="solid"/>
          </a:ln>
        </p:spPr>
      </p:sp>
      <p:sp>
        <p:nvSpPr>
          <p:cNvPr id="40" name="">
            <a:extLst xmlns:a="http://schemas.openxmlformats.org/drawingml/2006/main">
              <a:ext uri="{FF2B5EF4-FFF2-40B4-BE49-F238E27FC236}">
                <a16:creationId xmlns:a16="http://schemas.microsoft.com/office/drawing/2014/main" id="{61BC4CB3-407A-48E7-AA4D-98FD2DED760E}"/>
              </a:ext>
            </a:extLst>
          </p:cNvPr>
          <p:cNvSpPr>
            <a:spLocks xmlns:a="http://schemas.openxmlformats.org/drawingml/2006/main" noGrp="1"/>
          </p:cNvSpPr>
          <p:nvPr/>
        </p:nvSpPr>
        <p:spPr>
          <a:xfrm xmlns:a="http://schemas.openxmlformats.org/drawingml/2006/main">
            <a:off x="6019800" y="2305050"/>
            <a:ext cx="24955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Arial"/>
                <a:ea typeface="Arial"/>
                <a:cs typeface="Arial"/>
              </a:defRPr>
            </a:pPr>
            <a:r>
              <a:t>INT8 attention engine</a:t>
            </a:r>
          </a:p>
        </p:txBody>
      </p:sp>
      <p:sp>
        <p:nvSpPr>
          <p:cNvPr id="41" name="">
            <a:extLst xmlns:a="http://schemas.openxmlformats.org/drawingml/2006/main">
              <a:ext uri="{FF2B5EF4-FFF2-40B4-BE49-F238E27FC236}">
                <a16:creationId xmlns:a16="http://schemas.microsoft.com/office/drawing/2014/main" id="{6E7482E2-CC16-4C31-B484-40F29E779C84}"/>
              </a:ext>
            </a:extLst>
          </p:cNvPr>
          <p:cNvSpPr>
            <a:spLocks xmlns:a="http://schemas.openxmlformats.org/drawingml/2006/main" noGrp="1"/>
          </p:cNvSpPr>
          <p:nvPr/>
        </p:nvSpPr>
        <p:spPr>
          <a:xfrm xmlns:a="http://schemas.openxmlformats.org/drawingml/2006/main">
            <a:off x="6019800" y="2647950"/>
            <a:ext cx="2495550" cy="762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Multiply · weight · combine · requantise · write back</a:t>
            </a:r>
          </a:p>
        </p:txBody>
      </p:sp>
      <p:sp>
        <p:nvSpPr>
          <p:cNvPr id="42" name="">
            <a:extLst xmlns:a="http://schemas.openxmlformats.org/drawingml/2006/main">
              <a:ext uri="{FF2B5EF4-FFF2-40B4-BE49-F238E27FC236}">
                <a16:creationId xmlns:a16="http://schemas.microsoft.com/office/drawing/2014/main" id="{A7EDCE99-9744-42E4-9AC5-5D4E6EF978DD}"/>
              </a:ext>
            </a:extLst>
          </p:cNvPr>
          <p:cNvSpPr>
            <a:spLocks xmlns:a="http://schemas.openxmlformats.org/drawingml/2006/main" noGrp="1"/>
          </p:cNvSpPr>
          <p:nvPr/>
        </p:nvSpPr>
        <p:spPr>
          <a:xfrm xmlns:a="http://schemas.openxmlformats.org/drawingml/2006/main">
            <a:off x="5867400" y="373380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A9396"/>
            </a:solidFill>
            <a:prstDash val="solid"/>
          </a:ln>
        </p:spPr>
      </p:sp>
      <p:sp>
        <p:nvSpPr>
          <p:cNvPr id="43" name="">
            <a:extLst xmlns:a="http://schemas.openxmlformats.org/drawingml/2006/main">
              <a:ext uri="{FF2B5EF4-FFF2-40B4-BE49-F238E27FC236}">
                <a16:creationId xmlns:a16="http://schemas.microsoft.com/office/drawing/2014/main" id="{5520050D-6D5B-46FA-9211-F44D168D8E59}"/>
              </a:ext>
            </a:extLst>
          </p:cNvPr>
          <p:cNvSpPr>
            <a:spLocks xmlns:a="http://schemas.openxmlformats.org/drawingml/2006/main" noGrp="1"/>
          </p:cNvSpPr>
          <p:nvPr/>
        </p:nvSpPr>
        <p:spPr>
          <a:xfrm xmlns:a="http://schemas.openxmlformats.org/drawingml/2006/main">
            <a:off x="6000750" y="383857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K buffer · SRAM macro</a:t>
            </a:r>
          </a:p>
        </p:txBody>
      </p:sp>
      <p:sp>
        <p:nvSpPr>
          <p:cNvPr id="44" name="">
            <a:extLst xmlns:a="http://schemas.openxmlformats.org/drawingml/2006/main">
              <a:ext uri="{FF2B5EF4-FFF2-40B4-BE49-F238E27FC236}">
                <a16:creationId xmlns:a16="http://schemas.microsoft.com/office/drawing/2014/main" id="{C0D291F0-6468-4BC6-9543-64EE6FDDD48A}"/>
              </a:ext>
            </a:extLst>
          </p:cNvPr>
          <p:cNvSpPr>
            <a:spLocks xmlns:a="http://schemas.openxmlformats.org/drawingml/2006/main" noGrp="1"/>
          </p:cNvSpPr>
          <p:nvPr/>
        </p:nvSpPr>
        <p:spPr>
          <a:xfrm xmlns:a="http://schemas.openxmlformats.org/drawingml/2006/main">
            <a:off x="5867400" y="428625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A9396"/>
            </a:solidFill>
            <a:prstDash val="solid"/>
          </a:ln>
        </p:spPr>
      </p:sp>
      <p:sp>
        <p:nvSpPr>
          <p:cNvPr id="45" name="">
            <a:extLst xmlns:a="http://schemas.openxmlformats.org/drawingml/2006/main">
              <a:ext uri="{FF2B5EF4-FFF2-40B4-BE49-F238E27FC236}">
                <a16:creationId xmlns:a16="http://schemas.microsoft.com/office/drawing/2014/main" id="{6A38C4B8-E1BD-48A1-9656-F6E28902774F}"/>
              </a:ext>
            </a:extLst>
          </p:cNvPr>
          <p:cNvSpPr>
            <a:spLocks xmlns:a="http://schemas.openxmlformats.org/drawingml/2006/main" noGrp="1"/>
          </p:cNvSpPr>
          <p:nvPr/>
        </p:nvSpPr>
        <p:spPr>
          <a:xfrm xmlns:a="http://schemas.openxmlformats.org/drawingml/2006/main">
            <a:off x="6000750" y="439102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 buffer · SRAM macro</a:t>
            </a:r>
          </a:p>
        </p:txBody>
      </p:sp>
      <p:sp>
        <p:nvSpPr>
          <p:cNvPr id="46" name="">
            <a:extLst xmlns:a="http://schemas.openxmlformats.org/drawingml/2006/main">
              <a:ext uri="{FF2B5EF4-FFF2-40B4-BE49-F238E27FC236}">
                <a16:creationId xmlns:a16="http://schemas.microsoft.com/office/drawing/2014/main" id="{C915BD46-89F7-48BF-A286-7FBD06A33391}"/>
              </a:ext>
            </a:extLst>
          </p:cNvPr>
          <p:cNvSpPr>
            <a:spLocks xmlns:a="http://schemas.openxmlformats.org/drawingml/2006/main" noGrp="1"/>
          </p:cNvSpPr>
          <p:nvPr/>
        </p:nvSpPr>
        <p:spPr>
          <a:xfrm xmlns:a="http://schemas.openxmlformats.org/drawingml/2006/main">
            <a:off x="5867400" y="483870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A9396"/>
            </a:solidFill>
            <a:prstDash val="solid"/>
          </a:ln>
        </p:spPr>
      </p:sp>
      <p:sp>
        <p:nvSpPr>
          <p:cNvPr id="47" name="">
            <a:extLst xmlns:a="http://schemas.openxmlformats.org/drawingml/2006/main">
              <a:ext uri="{FF2B5EF4-FFF2-40B4-BE49-F238E27FC236}">
                <a16:creationId xmlns:a16="http://schemas.microsoft.com/office/drawing/2014/main" id="{A2E0E678-5F26-4985-9507-C8DF33CC6728}"/>
              </a:ext>
            </a:extLst>
          </p:cNvPr>
          <p:cNvSpPr>
            <a:spLocks xmlns:a="http://schemas.openxmlformats.org/drawingml/2006/main" noGrp="1"/>
          </p:cNvSpPr>
          <p:nvPr/>
        </p:nvSpPr>
        <p:spPr>
          <a:xfrm xmlns:a="http://schemas.openxmlformats.org/drawingml/2006/main">
            <a:off x="6000750" y="494347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EXP table · 256 × 15-bit</a:t>
            </a:r>
          </a:p>
        </p:txBody>
      </p:sp>
      <p:sp>
        <p:nvSpPr>
          <p:cNvPr id="48" name="">
            <a:extLst xmlns:a="http://schemas.openxmlformats.org/drawingml/2006/main">
              <a:ext uri="{FF2B5EF4-FFF2-40B4-BE49-F238E27FC236}">
                <a16:creationId xmlns:a16="http://schemas.microsoft.com/office/drawing/2014/main" id="{642A582E-8152-42A4-9D8E-564A8FE79728}"/>
              </a:ext>
            </a:extLst>
          </p:cNvPr>
          <p:cNvSpPr>
            <a:spLocks xmlns:a="http://schemas.openxmlformats.org/drawingml/2006/main" noGrp="1"/>
          </p:cNvSpPr>
          <p:nvPr/>
        </p:nvSpPr>
        <p:spPr>
          <a:xfrm xmlns:a="http://schemas.openxmlformats.org/drawingml/2006/main">
            <a:off x="457200" y="5753100"/>
            <a:ext cx="8382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i="1">
                <a:solidFill>
                  <a:srgbClr val="6B7280"/>
                </a:solidFill>
                <a:latin typeface="Arial"/>
                <a:ea typeface="Arial"/>
                <a:cs typeface="Arial"/>
              </a:defRPr>
            </a:pPr>
            <a:r>
              <a:t>One 3.4 × 4.5 mm die · same QFN-64 pinout · pre-silicon design</a:t>
            </a:r>
          </a:p>
        </p:txBody>
      </p:sp>
      <p:sp>
        <p:nvSpPr>
          <p:cNvPr id="49" name="">
            <a:extLst xmlns:a="http://schemas.openxmlformats.org/drawingml/2006/main">
              <a:ext uri="{FF2B5EF4-FFF2-40B4-BE49-F238E27FC236}">
                <a16:creationId xmlns:a16="http://schemas.microsoft.com/office/drawing/2014/main" id="{66E927B1-C331-48FD-9154-05C43D04A498}"/>
              </a:ext>
            </a:extLst>
          </p:cNvPr>
          <p:cNvSpPr>
            <a:spLocks xmlns:a="http://schemas.openxmlformats.org/drawingml/2006/main" noGrp="1"/>
          </p:cNvSpPr>
          <p:nvPr/>
        </p:nvSpPr>
        <p:spPr>
          <a:xfrm xmlns:a="http://schemas.openxmlformats.org/drawingml/2006/main">
            <a:off x="9144000" y="167640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DCB6E21-6FA4-47BB-B545-929E35745DA0}"/>
              </a:ext>
            </a:extLst>
          </p:cNvPr>
          <p:cNvSpPr>
            <a:spLocks xmlns:a="http://schemas.openxmlformats.org/drawingml/2006/main" noGrp="1"/>
          </p:cNvSpPr>
          <p:nvPr/>
        </p:nvSpPr>
        <p:spPr>
          <a:xfrm xmlns:a="http://schemas.openxmlformats.org/drawingml/2006/main">
            <a:off x="9144000" y="173355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1</a:t>
            </a:r>
          </a:p>
        </p:txBody>
      </p:sp>
      <p:sp>
        <p:nvSpPr>
          <p:cNvPr id="51" name="">
            <a:extLst xmlns:a="http://schemas.openxmlformats.org/drawingml/2006/main">
              <a:ext uri="{FF2B5EF4-FFF2-40B4-BE49-F238E27FC236}">
                <a16:creationId xmlns:a16="http://schemas.microsoft.com/office/drawing/2014/main" id="{CF5C8C5C-D0F4-4DD2-AF31-5559963889CC}"/>
              </a:ext>
            </a:extLst>
          </p:cNvPr>
          <p:cNvSpPr>
            <a:spLocks xmlns:a="http://schemas.openxmlformats.org/drawingml/2006/main" noGrp="1"/>
          </p:cNvSpPr>
          <p:nvPr/>
        </p:nvSpPr>
        <p:spPr>
          <a:xfrm xmlns:a="http://schemas.openxmlformats.org/drawingml/2006/main">
            <a:off x="9601200" y="1695450"/>
            <a:ext cx="2133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One design source</a:t>
            </a:r>
          </a:p>
        </p:txBody>
      </p:sp>
      <p:sp>
        <p:nvSpPr>
          <p:cNvPr id="52" name="">
            <a:extLst xmlns:a="http://schemas.openxmlformats.org/drawingml/2006/main">
              <a:ext uri="{FF2B5EF4-FFF2-40B4-BE49-F238E27FC236}">
                <a16:creationId xmlns:a16="http://schemas.microsoft.com/office/drawing/2014/main" id="{F2DFA35C-942E-40E6-83C8-25C36A5870E5}"/>
              </a:ext>
            </a:extLst>
          </p:cNvPr>
          <p:cNvSpPr>
            <a:spLocks xmlns:a="http://schemas.openxmlformats.org/drawingml/2006/main" noGrp="1"/>
          </p:cNvSpPr>
          <p:nvPr/>
        </p:nvSpPr>
        <p:spPr>
          <a:xfrm xmlns:a="http://schemas.openxmlformats.org/drawingml/2006/main">
            <a:off x="9601200" y="1981200"/>
            <a:ext cx="2133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 build option plus a second clock, not a fork.</a:t>
            </a:r>
          </a:p>
        </p:txBody>
      </p:sp>
      <p:sp>
        <p:nvSpPr>
          <p:cNvPr id="53" name="">
            <a:extLst xmlns:a="http://schemas.openxmlformats.org/drawingml/2006/main">
              <a:ext uri="{FF2B5EF4-FFF2-40B4-BE49-F238E27FC236}">
                <a16:creationId xmlns:a16="http://schemas.microsoft.com/office/drawing/2014/main" id="{C1EC205F-5717-4090-BD8C-04C5BC96A7D3}"/>
              </a:ext>
            </a:extLst>
          </p:cNvPr>
          <p:cNvSpPr>
            <a:spLocks xmlns:a="http://schemas.openxmlformats.org/drawingml/2006/main" noGrp="1"/>
          </p:cNvSpPr>
          <p:nvPr/>
        </p:nvSpPr>
        <p:spPr>
          <a:xfrm xmlns:a="http://schemas.openxmlformats.org/drawingml/2006/main">
            <a:off x="9144000" y="272415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CC9C06D-542E-4A2E-888D-4247542D731E}"/>
              </a:ext>
            </a:extLst>
          </p:cNvPr>
          <p:cNvSpPr>
            <a:spLocks xmlns:a="http://schemas.openxmlformats.org/drawingml/2006/main" noGrp="1"/>
          </p:cNvSpPr>
          <p:nvPr/>
        </p:nvSpPr>
        <p:spPr>
          <a:xfrm xmlns:a="http://schemas.openxmlformats.org/drawingml/2006/main">
            <a:off x="9144000" y="278130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2</a:t>
            </a:r>
          </a:p>
        </p:txBody>
      </p:sp>
      <p:sp>
        <p:nvSpPr>
          <p:cNvPr id="55" name="">
            <a:extLst xmlns:a="http://schemas.openxmlformats.org/drawingml/2006/main">
              <a:ext uri="{FF2B5EF4-FFF2-40B4-BE49-F238E27FC236}">
                <a16:creationId xmlns:a16="http://schemas.microsoft.com/office/drawing/2014/main" id="{CFA33D52-A20E-4E65-B20F-80CC19A9D23E}"/>
              </a:ext>
            </a:extLst>
          </p:cNvPr>
          <p:cNvSpPr>
            <a:spLocks xmlns:a="http://schemas.openxmlformats.org/drawingml/2006/main" noGrp="1"/>
          </p:cNvSpPr>
          <p:nvPr/>
        </p:nvSpPr>
        <p:spPr>
          <a:xfrm xmlns:a="http://schemas.openxmlformats.org/drawingml/2006/main">
            <a:off x="9601200" y="2743200"/>
            <a:ext cx="2133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Bridges only</a:t>
            </a:r>
          </a:p>
        </p:txBody>
      </p:sp>
      <p:sp>
        <p:nvSpPr>
          <p:cNvPr id="56" name="">
            <a:extLst xmlns:a="http://schemas.openxmlformats.org/drawingml/2006/main">
              <a:ext uri="{FF2B5EF4-FFF2-40B4-BE49-F238E27FC236}">
                <a16:creationId xmlns:a16="http://schemas.microsoft.com/office/drawing/2014/main" id="{AFDE9F8D-9A39-45D9-A7B4-BF3BA37419ED}"/>
              </a:ext>
            </a:extLst>
          </p:cNvPr>
          <p:cNvSpPr>
            <a:spLocks xmlns:a="http://schemas.openxmlformats.org/drawingml/2006/main" noGrp="1"/>
          </p:cNvSpPr>
          <p:nvPr/>
        </p:nvSpPr>
        <p:spPr>
          <a:xfrm xmlns:a="http://schemas.openxmlformats.org/drawingml/2006/main">
            <a:off x="9601200" y="3028950"/>
            <a:ext cx="2133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engine reaches memory only through the bridges.</a:t>
            </a:r>
          </a:p>
        </p:txBody>
      </p:sp>
      <p:sp>
        <p:nvSpPr>
          <p:cNvPr id="57" name="">
            <a:extLst xmlns:a="http://schemas.openxmlformats.org/drawingml/2006/main">
              <a:ext uri="{FF2B5EF4-FFF2-40B4-BE49-F238E27FC236}">
                <a16:creationId xmlns:a16="http://schemas.microsoft.com/office/drawing/2014/main" id="{616C331E-35CD-48A2-9D1F-A008FE7B4F09}"/>
              </a:ext>
            </a:extLst>
          </p:cNvPr>
          <p:cNvSpPr>
            <a:spLocks xmlns:a="http://schemas.openxmlformats.org/drawingml/2006/main" noGrp="1"/>
          </p:cNvSpPr>
          <p:nvPr/>
        </p:nvSpPr>
        <p:spPr>
          <a:xfrm xmlns:a="http://schemas.openxmlformats.org/drawingml/2006/main">
            <a:off x="9144000" y="377190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ED30AF5D-6425-4401-B92A-697FEBF714CA}"/>
              </a:ext>
            </a:extLst>
          </p:cNvPr>
          <p:cNvSpPr>
            <a:spLocks xmlns:a="http://schemas.openxmlformats.org/drawingml/2006/main" noGrp="1"/>
          </p:cNvSpPr>
          <p:nvPr/>
        </p:nvSpPr>
        <p:spPr>
          <a:xfrm xmlns:a="http://schemas.openxmlformats.org/drawingml/2006/main">
            <a:off x="9144000" y="382905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3</a:t>
            </a:r>
          </a:p>
        </p:txBody>
      </p:sp>
      <p:sp>
        <p:nvSpPr>
          <p:cNvPr id="59" name="">
            <a:extLst xmlns:a="http://schemas.openxmlformats.org/drawingml/2006/main">
              <a:ext uri="{FF2B5EF4-FFF2-40B4-BE49-F238E27FC236}">
                <a16:creationId xmlns:a16="http://schemas.microsoft.com/office/drawing/2014/main" id="{7C9BCB2F-15EB-4B4D-A587-0C8C48FEA0B2}"/>
              </a:ext>
            </a:extLst>
          </p:cNvPr>
          <p:cNvSpPr>
            <a:spLocks xmlns:a="http://schemas.openxmlformats.org/drawingml/2006/main" noGrp="1"/>
          </p:cNvSpPr>
          <p:nvPr/>
        </p:nvSpPr>
        <p:spPr>
          <a:xfrm xmlns:a="http://schemas.openxmlformats.org/drawingml/2006/main">
            <a:off x="9601200" y="3790950"/>
            <a:ext cx="2133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Cannot stall</a:t>
            </a:r>
          </a:p>
        </p:txBody>
      </p:sp>
      <p:sp>
        <p:nvSpPr>
          <p:cNvPr id="60" name="">
            <a:extLst xmlns:a="http://schemas.openxmlformats.org/drawingml/2006/main">
              <a:ext uri="{FF2B5EF4-FFF2-40B4-BE49-F238E27FC236}">
                <a16:creationId xmlns:a16="http://schemas.microsoft.com/office/drawing/2014/main" id="{306AEE38-65E0-4D79-84BB-ED875197EA39}"/>
              </a:ext>
            </a:extLst>
          </p:cNvPr>
          <p:cNvSpPr>
            <a:spLocks xmlns:a="http://schemas.openxmlformats.org/drawingml/2006/main" noGrp="1"/>
          </p:cNvSpPr>
          <p:nvPr/>
        </p:nvSpPr>
        <p:spPr>
          <a:xfrm xmlns:a="http://schemas.openxmlformats.org/drawingml/2006/main">
            <a:off x="9601200" y="4076700"/>
            <a:ext cx="2133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No engine transaction extends the core’s worst case.</a:t>
            </a:r>
          </a:p>
        </p:txBody>
      </p:sp>
      <p:sp>
        <p:nvSpPr>
          <p:cNvPr id="61" name="">
            <a:extLst xmlns:a="http://schemas.openxmlformats.org/drawingml/2006/main">
              <a:ext uri="{FF2B5EF4-FFF2-40B4-BE49-F238E27FC236}">
                <a16:creationId xmlns:a16="http://schemas.microsoft.com/office/drawing/2014/main" id="{9A10D4DB-92E9-4E09-9B56-7B2DEB170EA6}"/>
              </a:ext>
            </a:extLst>
          </p:cNvPr>
          <p:cNvSpPr>
            <a:spLocks xmlns:a="http://schemas.openxmlformats.org/drawingml/2006/main" noGrp="1"/>
          </p:cNvSpPr>
          <p:nvPr/>
        </p:nvSpPr>
        <p:spPr>
          <a:xfrm xmlns:a="http://schemas.openxmlformats.org/drawingml/2006/main">
            <a:off x="9144000" y="481965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D6E226B7-F625-4A0F-BDBE-FB71ECFD4F9A}"/>
              </a:ext>
            </a:extLst>
          </p:cNvPr>
          <p:cNvSpPr>
            <a:spLocks xmlns:a="http://schemas.openxmlformats.org/drawingml/2006/main" noGrp="1"/>
          </p:cNvSpPr>
          <p:nvPr/>
        </p:nvSpPr>
        <p:spPr>
          <a:xfrm xmlns:a="http://schemas.openxmlformats.org/drawingml/2006/main">
            <a:off x="9144000" y="487680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4</a:t>
            </a:r>
          </a:p>
        </p:txBody>
      </p:sp>
      <p:sp>
        <p:nvSpPr>
          <p:cNvPr id="63" name="">
            <a:extLst xmlns:a="http://schemas.openxmlformats.org/drawingml/2006/main">
              <a:ext uri="{FF2B5EF4-FFF2-40B4-BE49-F238E27FC236}">
                <a16:creationId xmlns:a16="http://schemas.microsoft.com/office/drawing/2014/main" id="{20ADDC43-6D30-4D91-9676-31D3A31AB322}"/>
              </a:ext>
            </a:extLst>
          </p:cNvPr>
          <p:cNvSpPr>
            <a:spLocks xmlns:a="http://schemas.openxmlformats.org/drawingml/2006/main" noGrp="1"/>
          </p:cNvSpPr>
          <p:nvPr/>
        </p:nvSpPr>
        <p:spPr>
          <a:xfrm xmlns:a="http://schemas.openxmlformats.org/drawingml/2006/main">
            <a:off x="9601200" y="4838700"/>
            <a:ext cx="2133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Done interrupt</a:t>
            </a:r>
          </a:p>
        </p:txBody>
      </p:sp>
      <p:sp>
        <p:nvSpPr>
          <p:cNvPr id="64" name="">
            <a:extLst xmlns:a="http://schemas.openxmlformats.org/drawingml/2006/main">
              <a:ext uri="{FF2B5EF4-FFF2-40B4-BE49-F238E27FC236}">
                <a16:creationId xmlns:a16="http://schemas.microsoft.com/office/drawing/2014/main" id="{78BFBAD2-BE66-44A8-959F-FE1DB1E253C8}"/>
              </a:ext>
            </a:extLst>
          </p:cNvPr>
          <p:cNvSpPr>
            <a:spLocks xmlns:a="http://schemas.openxmlformats.org/drawingml/2006/main" noGrp="1"/>
          </p:cNvSpPr>
          <p:nvPr/>
        </p:nvSpPr>
        <p:spPr>
          <a:xfrm xmlns:a="http://schemas.openxmlformats.org/drawingml/2006/main">
            <a:off x="9601200" y="5124450"/>
            <a:ext cx="2133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Completion reaches both cores as an interrupt.</a:t>
            </a:r>
          </a:p>
        </p:txBody>
      </p:sp>
      <p:sp>
        <p:nvSpPr>
          <p:cNvPr id="65" name="">
            <a:extLst xmlns:a="http://schemas.openxmlformats.org/drawingml/2006/main">
              <a:ext uri="{FF2B5EF4-FFF2-40B4-BE49-F238E27FC236}">
                <a16:creationId xmlns:a16="http://schemas.microsoft.com/office/drawing/2014/main" id="{F8CAD48A-CC97-4552-A37D-07F6E638E68B}"/>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block architecture §3, §4.18–4.19, §7 communication matrix.</a:t>
            </a:r>
          </a:p>
        </p:txBody>
      </p:sp>
    </p:spTree>
    <p:extLst>
      <p:ext uri="{BB962C8B-B14F-4D97-AF65-F5344CB8AC3E}">
        <p14:creationId xmlns:p14="http://schemas.microsoft.com/office/powerpoint/2010/main" val="105959628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C39D55F9-6155-40B5-80C9-EFFAF4D0F89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3E53D6-2B6C-4095-8F3D-A3AA9DA1A349}"/>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05 · SHARED BASE</a:t>
            </a:r>
          </a:p>
        </p:txBody>
      </p:sp>
      <p:sp>
        <p:nvSpPr>
          <p:cNvPr id="3" name="">
            <a:extLst xmlns:a="http://schemas.openxmlformats.org/drawingml/2006/main">
              <a:ext uri="{FF2B5EF4-FFF2-40B4-BE49-F238E27FC236}">
                <a16:creationId xmlns:a16="http://schemas.microsoft.com/office/drawing/2014/main" id="{F7EB0F8A-EE0A-43CF-B973-675C85C5D713}"/>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Everything proven on DG32-LITE carries over</a:t>
            </a:r>
          </a:p>
        </p:txBody>
      </p:sp>
      <p:sp>
        <p:nvSpPr>
          <p:cNvPr id="4" name="">
            <a:extLst xmlns:a="http://schemas.openxmlformats.org/drawingml/2006/main">
              <a:ext uri="{FF2B5EF4-FFF2-40B4-BE49-F238E27FC236}">
                <a16:creationId xmlns:a16="http://schemas.microsoft.com/office/drawing/2014/main" id="{45ED01F1-A2C8-433B-BE1F-E32414A93CF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same blocks from the same design source; only the clocks change</a:t>
            </a:r>
          </a:p>
        </p:txBody>
      </p:sp>
      <p:sp>
        <p:nvSpPr>
          <p:cNvPr id="5" name="">
            <a:extLst xmlns:a="http://schemas.openxmlformats.org/drawingml/2006/main">
              <a:ext uri="{FF2B5EF4-FFF2-40B4-BE49-F238E27FC236}">
                <a16:creationId xmlns:a16="http://schemas.microsoft.com/office/drawing/2014/main" id="{760728C8-830F-49C0-AC40-D6BA4CE2363B}"/>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B2A0F85-107E-497F-A599-2569E8FA3B9E}"/>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984638B-00E9-4A4E-89BB-E4B008238C10}"/>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B42B17BF-DBB2-4D42-94E9-E5F89AD8221D}"/>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05</a:t>
            </a:r>
          </a:p>
        </p:txBody>
      </p:sp>
      <p:sp>
        <p:nvSpPr>
          <p:cNvPr id="9" name="">
            <a:extLst xmlns:a="http://schemas.openxmlformats.org/drawingml/2006/main">
              <a:ext uri="{FF2B5EF4-FFF2-40B4-BE49-F238E27FC236}">
                <a16:creationId xmlns:a16="http://schemas.microsoft.com/office/drawing/2014/main" id="{FFBF3595-470F-4048-9631-49802F0AE1BC}"/>
              </a:ext>
            </a:extLst>
          </p:cNvPr>
          <p:cNvSpPr>
            <a:spLocks xmlns:a="http://schemas.openxmlformats.org/drawingml/2006/main" noGrp="1"/>
          </p:cNvSpPr>
          <p:nvPr/>
        </p:nvSpPr>
        <p:spPr>
          <a:xfrm xmlns:a="http://schemas.openxmlformats.org/drawingml/2006/main">
            <a:off x="457200" y="1638300"/>
            <a:ext cx="11277600" cy="4000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F58B2B8-4E4A-4486-91D6-EC506DF06E7D}"/>
              </a:ext>
            </a:extLst>
          </p:cNvPr>
          <p:cNvSpPr>
            <a:spLocks xmlns:a="http://schemas.openxmlformats.org/drawingml/2006/main" noGrp="1"/>
          </p:cNvSpPr>
          <p:nvPr/>
        </p:nvSpPr>
        <p:spPr>
          <a:xfrm xmlns:a="http://schemas.openxmlformats.org/drawingml/2006/main">
            <a:off x="590550" y="1752600"/>
            <a:ext cx="266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BLOCK GROUP</a:t>
            </a:r>
          </a:p>
        </p:txBody>
      </p:sp>
      <p:sp>
        <p:nvSpPr>
          <p:cNvPr id="11" name="">
            <a:extLst xmlns:a="http://schemas.openxmlformats.org/drawingml/2006/main">
              <a:ext uri="{FF2B5EF4-FFF2-40B4-BE49-F238E27FC236}">
                <a16:creationId xmlns:a16="http://schemas.microsoft.com/office/drawing/2014/main" id="{F35211DE-59AE-4F9F-8779-D37EE0DC88FE}"/>
              </a:ext>
            </a:extLst>
          </p:cNvPr>
          <p:cNvSpPr>
            <a:spLocks xmlns:a="http://schemas.openxmlformats.org/drawingml/2006/main" noGrp="1"/>
          </p:cNvSpPr>
          <p:nvPr/>
        </p:nvSpPr>
        <p:spPr>
          <a:xfrm xmlns:a="http://schemas.openxmlformats.org/drawingml/2006/main">
            <a:off x="3448050" y="17526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ON DG32-LITE</a:t>
            </a:r>
          </a:p>
        </p:txBody>
      </p:sp>
      <p:sp>
        <p:nvSpPr>
          <p:cNvPr id="12" name="">
            <a:extLst xmlns:a="http://schemas.openxmlformats.org/drawingml/2006/main">
              <a:ext uri="{FF2B5EF4-FFF2-40B4-BE49-F238E27FC236}">
                <a16:creationId xmlns:a16="http://schemas.microsoft.com/office/drawing/2014/main" id="{553B852F-A676-49F5-BEAE-BB9FEE971E8A}"/>
              </a:ext>
            </a:extLst>
          </p:cNvPr>
          <p:cNvSpPr>
            <a:spLocks xmlns:a="http://schemas.openxmlformats.org/drawingml/2006/main" noGrp="1"/>
          </p:cNvSpPr>
          <p:nvPr/>
        </p:nvSpPr>
        <p:spPr>
          <a:xfrm xmlns:a="http://schemas.openxmlformats.org/drawingml/2006/main">
            <a:off x="7448550" y="1752600"/>
            <a:ext cx="42291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ON DG32-2DOM</a:t>
            </a:r>
          </a:p>
        </p:txBody>
      </p:sp>
      <p:sp>
        <p:nvSpPr>
          <p:cNvPr id="13" name="">
            <a:extLst xmlns:a="http://schemas.openxmlformats.org/drawingml/2006/main">
              <a:ext uri="{FF2B5EF4-FFF2-40B4-BE49-F238E27FC236}">
                <a16:creationId xmlns:a16="http://schemas.microsoft.com/office/drawing/2014/main" id="{E689A19F-28AF-4537-862B-048CD16C0565}"/>
              </a:ext>
            </a:extLst>
          </p:cNvPr>
          <p:cNvSpPr>
            <a:spLocks xmlns:a="http://schemas.openxmlformats.org/drawingml/2006/main" noGrp="1"/>
          </p:cNvSpPr>
          <p:nvPr/>
        </p:nvSpPr>
        <p:spPr>
          <a:xfrm xmlns:a="http://schemas.openxmlformats.org/drawingml/2006/main">
            <a:off x="457200" y="2038350"/>
            <a:ext cx="11277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3155D09D-0AA4-43BF-82C5-670706BB1FFA}"/>
              </a:ext>
            </a:extLst>
          </p:cNvPr>
          <p:cNvSpPr>
            <a:spLocks xmlns:a="http://schemas.openxmlformats.org/drawingml/2006/main" noGrp="1"/>
          </p:cNvSpPr>
          <p:nvPr/>
        </p:nvSpPr>
        <p:spPr>
          <a:xfrm xmlns:a="http://schemas.openxmlformats.org/drawingml/2006/main">
            <a:off x="590550" y="214312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safety core</a:t>
            </a:r>
          </a:p>
        </p:txBody>
      </p:sp>
      <p:sp>
        <p:nvSpPr>
          <p:cNvPr id="15" name="">
            <a:extLst xmlns:a="http://schemas.openxmlformats.org/drawingml/2006/main">
              <a:ext uri="{FF2B5EF4-FFF2-40B4-BE49-F238E27FC236}">
                <a16:creationId xmlns:a16="http://schemas.microsoft.com/office/drawing/2014/main" id="{087BE552-348D-49B4-A52F-918850A92DB3}"/>
              </a:ext>
            </a:extLst>
          </p:cNvPr>
          <p:cNvSpPr>
            <a:spLocks xmlns:a="http://schemas.openxmlformats.org/drawingml/2006/main" noGrp="1"/>
          </p:cNvSpPr>
          <p:nvPr/>
        </p:nvSpPr>
        <p:spPr>
          <a:xfrm xmlns:a="http://schemas.openxmlformats.org/drawingml/2006/main">
            <a:off x="3448050" y="214312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MAIN + CHECKER, fault latch, FAULT_N</a:t>
            </a:r>
          </a:p>
        </p:txBody>
      </p:sp>
      <p:sp>
        <p:nvSpPr>
          <p:cNvPr id="16" name="">
            <a:extLst xmlns:a="http://schemas.openxmlformats.org/drawingml/2006/main">
              <a:ext uri="{FF2B5EF4-FFF2-40B4-BE49-F238E27FC236}">
                <a16:creationId xmlns:a16="http://schemas.microsoft.com/office/drawing/2014/main" id="{84A30CAE-DD3B-4A26-B383-FA13E71562DB}"/>
              </a:ext>
            </a:extLst>
          </p:cNvPr>
          <p:cNvSpPr>
            <a:spLocks xmlns:a="http://schemas.openxmlformats.org/drawingml/2006/main" noGrp="1"/>
          </p:cNvSpPr>
          <p:nvPr/>
        </p:nvSpPr>
        <p:spPr>
          <a:xfrm xmlns:a="http://schemas.openxmlformats.org/drawingml/2006/main">
            <a:off x="7448550" y="214312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Identical</a:t>
            </a:r>
          </a:p>
        </p:txBody>
      </p:sp>
      <p:sp>
        <p:nvSpPr>
          <p:cNvPr id="17" name="">
            <a:extLst xmlns:a="http://schemas.openxmlformats.org/drawingml/2006/main">
              <a:ext uri="{FF2B5EF4-FFF2-40B4-BE49-F238E27FC236}">
                <a16:creationId xmlns:a16="http://schemas.microsoft.com/office/drawing/2014/main" id="{638165BE-C954-4168-A6B7-88DC1C4FB4A0}"/>
              </a:ext>
            </a:extLst>
          </p:cNvPr>
          <p:cNvSpPr>
            <a:spLocks xmlns:a="http://schemas.openxmlformats.org/drawingml/2006/main" noGrp="1"/>
          </p:cNvSpPr>
          <p:nvPr/>
        </p:nvSpPr>
        <p:spPr>
          <a:xfrm xmlns:a="http://schemas.openxmlformats.org/drawingml/2006/main">
            <a:off x="457200" y="2590800"/>
            <a:ext cx="11277600" cy="5524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6D1D91CD-EC0F-407C-B54E-CE1B0C7BDCB1}"/>
              </a:ext>
            </a:extLst>
          </p:cNvPr>
          <p:cNvSpPr>
            <a:spLocks xmlns:a="http://schemas.openxmlformats.org/drawingml/2006/main" noGrp="1"/>
          </p:cNvSpPr>
          <p:nvPr/>
        </p:nvSpPr>
        <p:spPr>
          <a:xfrm xmlns:a="http://schemas.openxmlformats.org/drawingml/2006/main">
            <a:off x="590550" y="269557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Boot and memory</a:t>
            </a:r>
          </a:p>
        </p:txBody>
      </p:sp>
      <p:sp>
        <p:nvSpPr>
          <p:cNvPr id="19" name="">
            <a:extLst xmlns:a="http://schemas.openxmlformats.org/drawingml/2006/main">
              <a:ext uri="{FF2B5EF4-FFF2-40B4-BE49-F238E27FC236}">
                <a16:creationId xmlns:a16="http://schemas.microsoft.com/office/drawing/2014/main" id="{5D28AD5F-C626-4541-82D1-A4BAACF2DF54}"/>
              </a:ext>
            </a:extLst>
          </p:cNvPr>
          <p:cNvSpPr>
            <a:spLocks xmlns:a="http://schemas.openxmlformats.org/drawingml/2006/main" noGrp="1"/>
          </p:cNvSpPr>
          <p:nvPr/>
        </p:nvSpPr>
        <p:spPr>
          <a:xfrm xmlns:a="http://schemas.openxmlformats.org/drawingml/2006/main">
            <a:off x="3448050" y="269557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64 KB ROM, 32 KB SRAM, external QSPI flash</a:t>
            </a:r>
          </a:p>
        </p:txBody>
      </p:sp>
      <p:sp>
        <p:nvSpPr>
          <p:cNvPr id="20" name="">
            <a:extLst xmlns:a="http://schemas.openxmlformats.org/drawingml/2006/main">
              <a:ext uri="{FF2B5EF4-FFF2-40B4-BE49-F238E27FC236}">
                <a16:creationId xmlns:a16="http://schemas.microsoft.com/office/drawing/2014/main" id="{04C6EC29-873A-4045-81E6-0970C5D78AD7}"/>
              </a:ext>
            </a:extLst>
          </p:cNvPr>
          <p:cNvSpPr>
            <a:spLocks xmlns:a="http://schemas.openxmlformats.org/drawingml/2006/main" noGrp="1"/>
          </p:cNvSpPr>
          <p:nvPr/>
        </p:nvSpPr>
        <p:spPr>
          <a:xfrm xmlns:a="http://schemas.openxmlformats.org/drawingml/2006/main">
            <a:off x="7448550" y="269557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Identical; the SRAM idle read port can feed the engine</a:t>
            </a:r>
          </a:p>
        </p:txBody>
      </p:sp>
      <p:sp>
        <p:nvSpPr>
          <p:cNvPr id="21" name="">
            <a:extLst xmlns:a="http://schemas.openxmlformats.org/drawingml/2006/main">
              <a:ext uri="{FF2B5EF4-FFF2-40B4-BE49-F238E27FC236}">
                <a16:creationId xmlns:a16="http://schemas.microsoft.com/office/drawing/2014/main" id="{DB9A5239-F0A8-46B7-B5E2-6C0C80110BE4}"/>
              </a:ext>
            </a:extLst>
          </p:cNvPr>
          <p:cNvSpPr>
            <a:spLocks xmlns:a="http://schemas.openxmlformats.org/drawingml/2006/main" noGrp="1"/>
          </p:cNvSpPr>
          <p:nvPr/>
        </p:nvSpPr>
        <p:spPr>
          <a:xfrm xmlns:a="http://schemas.openxmlformats.org/drawingml/2006/main">
            <a:off x="457200" y="3143250"/>
            <a:ext cx="11277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D8D49E70-C991-4D39-8E64-084DE51509DD}"/>
              </a:ext>
            </a:extLst>
          </p:cNvPr>
          <p:cNvSpPr>
            <a:spLocks xmlns:a="http://schemas.openxmlformats.org/drawingml/2006/main" noGrp="1"/>
          </p:cNvSpPr>
          <p:nvPr/>
        </p:nvSpPr>
        <p:spPr>
          <a:xfrm xmlns:a="http://schemas.openxmlformats.org/drawingml/2006/main">
            <a:off x="590550" y="324802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Motor drive and sensing</a:t>
            </a:r>
          </a:p>
        </p:txBody>
      </p:sp>
      <p:sp>
        <p:nvSpPr>
          <p:cNvPr id="23" name="">
            <a:extLst xmlns:a="http://schemas.openxmlformats.org/drawingml/2006/main">
              <a:ext uri="{FF2B5EF4-FFF2-40B4-BE49-F238E27FC236}">
                <a16:creationId xmlns:a16="http://schemas.microsoft.com/office/drawing/2014/main" id="{C300DF8D-53DC-4C48-A6F2-DE7694861982}"/>
              </a:ext>
            </a:extLst>
          </p:cNvPr>
          <p:cNvSpPr>
            <a:spLocks xmlns:a="http://schemas.openxmlformats.org/drawingml/2006/main" noGrp="1"/>
          </p:cNvSpPr>
          <p:nvPr/>
        </p:nvSpPr>
        <p:spPr>
          <a:xfrm xmlns:a="http://schemas.openxmlformats.org/drawingml/2006/main">
            <a:off x="3448050" y="324802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PWM + brake, DShot × 4, encoder, ADC, CORDIC</a:t>
            </a:r>
          </a:p>
        </p:txBody>
      </p:sp>
      <p:sp>
        <p:nvSpPr>
          <p:cNvPr id="24" name="">
            <a:extLst xmlns:a="http://schemas.openxmlformats.org/drawingml/2006/main">
              <a:ext uri="{FF2B5EF4-FFF2-40B4-BE49-F238E27FC236}">
                <a16:creationId xmlns:a16="http://schemas.microsoft.com/office/drawing/2014/main" id="{2BD447B0-398F-4A5A-A754-097DC9023BDD}"/>
              </a:ext>
            </a:extLst>
          </p:cNvPr>
          <p:cNvSpPr>
            <a:spLocks xmlns:a="http://schemas.openxmlformats.org/drawingml/2006/main" noGrp="1"/>
          </p:cNvSpPr>
          <p:nvPr/>
        </p:nvSpPr>
        <p:spPr>
          <a:xfrm xmlns:a="http://schemas.openxmlformats.org/drawingml/2006/main">
            <a:off x="7448550" y="324802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Identical</a:t>
            </a:r>
          </a:p>
        </p:txBody>
      </p:sp>
      <p:sp>
        <p:nvSpPr>
          <p:cNvPr id="25" name="">
            <a:extLst xmlns:a="http://schemas.openxmlformats.org/drawingml/2006/main">
              <a:ext uri="{FF2B5EF4-FFF2-40B4-BE49-F238E27FC236}">
                <a16:creationId xmlns:a16="http://schemas.microsoft.com/office/drawing/2014/main" id="{C7FF5C47-85BC-4F4F-A53D-BF8A895FBAD9}"/>
              </a:ext>
            </a:extLst>
          </p:cNvPr>
          <p:cNvSpPr>
            <a:spLocks xmlns:a="http://schemas.openxmlformats.org/drawingml/2006/main" noGrp="1"/>
          </p:cNvSpPr>
          <p:nvPr/>
        </p:nvSpPr>
        <p:spPr>
          <a:xfrm xmlns:a="http://schemas.openxmlformats.org/drawingml/2006/main">
            <a:off x="457200" y="3695700"/>
            <a:ext cx="11277600" cy="5524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6AEA725B-3C00-46F4-8568-207A5201DA59}"/>
              </a:ext>
            </a:extLst>
          </p:cNvPr>
          <p:cNvSpPr>
            <a:spLocks xmlns:a="http://schemas.openxmlformats.org/drawingml/2006/main" noGrp="1"/>
          </p:cNvSpPr>
          <p:nvPr/>
        </p:nvSpPr>
        <p:spPr>
          <a:xfrm xmlns:a="http://schemas.openxmlformats.org/drawingml/2006/main">
            <a:off x="590550" y="380047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Control-loop budget</a:t>
            </a:r>
          </a:p>
        </p:txBody>
      </p:sp>
      <p:sp>
        <p:nvSpPr>
          <p:cNvPr id="27" name="">
            <a:extLst xmlns:a="http://schemas.openxmlformats.org/drawingml/2006/main">
              <a:ext uri="{FF2B5EF4-FFF2-40B4-BE49-F238E27FC236}">
                <a16:creationId xmlns:a16="http://schemas.microsoft.com/office/drawing/2014/main" id="{4053CCEC-840B-4D80-9642-B4FFB5BFAED0}"/>
              </a:ext>
            </a:extLst>
          </p:cNvPr>
          <p:cNvSpPr>
            <a:spLocks xmlns:a="http://schemas.openxmlformats.org/drawingml/2006/main" noGrp="1"/>
          </p:cNvSpPr>
          <p:nvPr/>
        </p:nvSpPr>
        <p:spPr>
          <a:xfrm xmlns:a="http://schemas.openxmlformats.org/drawingml/2006/main">
            <a:off x="3448050" y="380047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~300 hardware cycles, ~100 kHz simulated</a:t>
            </a:r>
          </a:p>
        </p:txBody>
      </p:sp>
      <p:sp>
        <p:nvSpPr>
          <p:cNvPr id="28" name="">
            <a:extLst xmlns:a="http://schemas.openxmlformats.org/drawingml/2006/main">
              <a:ext uri="{FF2B5EF4-FFF2-40B4-BE49-F238E27FC236}">
                <a16:creationId xmlns:a16="http://schemas.microsoft.com/office/drawing/2014/main" id="{FB22ECD5-0E64-47EC-87F7-87C4E1F82A23}"/>
              </a:ext>
            </a:extLst>
          </p:cNvPr>
          <p:cNvSpPr>
            <a:spLocks xmlns:a="http://schemas.openxmlformats.org/drawingml/2006/main" noGrp="1"/>
          </p:cNvSpPr>
          <p:nvPr/>
        </p:nvSpPr>
        <p:spPr>
          <a:xfrm xmlns:a="http://schemas.openxmlformats.org/drawingml/2006/main">
            <a:off x="7448550" y="380047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Identical</a:t>
            </a:r>
          </a:p>
        </p:txBody>
      </p:sp>
      <p:sp>
        <p:nvSpPr>
          <p:cNvPr id="29" name="">
            <a:extLst xmlns:a="http://schemas.openxmlformats.org/drawingml/2006/main">
              <a:ext uri="{FF2B5EF4-FFF2-40B4-BE49-F238E27FC236}">
                <a16:creationId xmlns:a16="http://schemas.microsoft.com/office/drawing/2014/main" id="{2457B427-27FD-440C-A8C6-E331903CDCA9}"/>
              </a:ext>
            </a:extLst>
          </p:cNvPr>
          <p:cNvSpPr>
            <a:spLocks xmlns:a="http://schemas.openxmlformats.org/drawingml/2006/main" noGrp="1"/>
          </p:cNvSpPr>
          <p:nvPr/>
        </p:nvSpPr>
        <p:spPr>
          <a:xfrm xmlns:a="http://schemas.openxmlformats.org/drawingml/2006/main">
            <a:off x="457200" y="4248150"/>
            <a:ext cx="11277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2C83F09E-9FBF-4432-9D13-3542C6B34776}"/>
              </a:ext>
            </a:extLst>
          </p:cNvPr>
          <p:cNvSpPr>
            <a:spLocks xmlns:a="http://schemas.openxmlformats.org/drawingml/2006/main" noGrp="1"/>
          </p:cNvSpPr>
          <p:nvPr/>
        </p:nvSpPr>
        <p:spPr>
          <a:xfrm xmlns:a="http://schemas.openxmlformats.org/drawingml/2006/main">
            <a:off x="590550" y="435292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Package and pinout</a:t>
            </a:r>
          </a:p>
        </p:txBody>
      </p:sp>
      <p:sp>
        <p:nvSpPr>
          <p:cNvPr id="31" name="">
            <a:extLst xmlns:a="http://schemas.openxmlformats.org/drawingml/2006/main">
              <a:ext uri="{FF2B5EF4-FFF2-40B4-BE49-F238E27FC236}">
                <a16:creationId xmlns:a16="http://schemas.microsoft.com/office/drawing/2014/main" id="{C9D1AE0F-6EAB-4405-A3C1-7496C1C38665}"/>
              </a:ext>
            </a:extLst>
          </p:cNvPr>
          <p:cNvSpPr>
            <a:spLocks xmlns:a="http://schemas.openxmlformats.org/drawingml/2006/main" noGrp="1"/>
          </p:cNvSpPr>
          <p:nvPr/>
        </p:nvSpPr>
        <p:spPr>
          <a:xfrm xmlns:a="http://schemas.openxmlformats.org/drawingml/2006/main">
            <a:off x="3448050" y="435292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QFN-64, 44 signal pins</a:t>
            </a:r>
          </a:p>
        </p:txBody>
      </p:sp>
      <p:sp>
        <p:nvSpPr>
          <p:cNvPr id="32" name="">
            <a:extLst xmlns:a="http://schemas.openxmlformats.org/drawingml/2006/main">
              <a:ext uri="{FF2B5EF4-FFF2-40B4-BE49-F238E27FC236}">
                <a16:creationId xmlns:a16="http://schemas.microsoft.com/office/drawing/2014/main" id="{03B8A117-C09C-4B0C-9875-900FCCFAB9ED}"/>
              </a:ext>
            </a:extLst>
          </p:cNvPr>
          <p:cNvSpPr>
            <a:spLocks xmlns:a="http://schemas.openxmlformats.org/drawingml/2006/main" noGrp="1"/>
          </p:cNvSpPr>
          <p:nvPr/>
        </p:nvSpPr>
        <p:spPr>
          <a:xfrm xmlns:a="http://schemas.openxmlformats.org/drawingml/2006/main">
            <a:off x="7448550" y="435292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Identical; the engine adds no pads</a:t>
            </a:r>
          </a:p>
        </p:txBody>
      </p:sp>
      <p:sp>
        <p:nvSpPr>
          <p:cNvPr id="33" name="">
            <a:extLst xmlns:a="http://schemas.openxmlformats.org/drawingml/2006/main">
              <a:ext uri="{FF2B5EF4-FFF2-40B4-BE49-F238E27FC236}">
                <a16:creationId xmlns:a16="http://schemas.microsoft.com/office/drawing/2014/main" id="{956E9DC9-2EDC-4985-8FAA-89FE9B215AA7}"/>
              </a:ext>
            </a:extLst>
          </p:cNvPr>
          <p:cNvSpPr>
            <a:spLocks xmlns:a="http://schemas.openxmlformats.org/drawingml/2006/main" noGrp="1"/>
          </p:cNvSpPr>
          <p:nvPr/>
        </p:nvSpPr>
        <p:spPr>
          <a:xfrm xmlns:a="http://schemas.openxmlformats.org/drawingml/2006/main">
            <a:off x="457200" y="4800600"/>
            <a:ext cx="11277600" cy="55245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A7B097CA-74F2-4412-8BDF-895ACA9A74E5}"/>
              </a:ext>
            </a:extLst>
          </p:cNvPr>
          <p:cNvSpPr>
            <a:spLocks xmlns:a="http://schemas.openxmlformats.org/drawingml/2006/main" noGrp="1"/>
          </p:cNvSpPr>
          <p:nvPr/>
        </p:nvSpPr>
        <p:spPr>
          <a:xfrm xmlns:a="http://schemas.openxmlformats.org/drawingml/2006/main">
            <a:off x="457200" y="4800600"/>
            <a:ext cx="47625" cy="5524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551BB96-FDFC-4C70-99EC-1356A4674342}"/>
              </a:ext>
            </a:extLst>
          </p:cNvPr>
          <p:cNvSpPr>
            <a:spLocks xmlns:a="http://schemas.openxmlformats.org/drawingml/2006/main" noGrp="1"/>
          </p:cNvSpPr>
          <p:nvPr/>
        </p:nvSpPr>
        <p:spPr>
          <a:xfrm xmlns:a="http://schemas.openxmlformats.org/drawingml/2006/main">
            <a:off x="590550" y="490537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Clocks</a:t>
            </a:r>
          </a:p>
        </p:txBody>
      </p:sp>
      <p:sp>
        <p:nvSpPr>
          <p:cNvPr id="36" name="">
            <a:extLst xmlns:a="http://schemas.openxmlformats.org/drawingml/2006/main">
              <a:ext uri="{FF2B5EF4-FFF2-40B4-BE49-F238E27FC236}">
                <a16:creationId xmlns:a16="http://schemas.microsoft.com/office/drawing/2014/main" id="{61B22DD1-F0F1-4025-92F4-45A7B5CADC12}"/>
              </a:ext>
            </a:extLst>
          </p:cNvPr>
          <p:cNvSpPr>
            <a:spLocks xmlns:a="http://schemas.openxmlformats.org/drawingml/2006/main" noGrp="1"/>
          </p:cNvSpPr>
          <p:nvPr/>
        </p:nvSpPr>
        <p:spPr>
          <a:xfrm xmlns:a="http://schemas.openxmlformats.org/drawingml/2006/main">
            <a:off x="3448050" y="490537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One 50 MHz domain</a:t>
            </a:r>
          </a:p>
        </p:txBody>
      </p:sp>
      <p:sp>
        <p:nvSpPr>
          <p:cNvPr id="37" name="">
            <a:extLst xmlns:a="http://schemas.openxmlformats.org/drawingml/2006/main">
              <a:ext uri="{FF2B5EF4-FFF2-40B4-BE49-F238E27FC236}">
                <a16:creationId xmlns:a16="http://schemas.microsoft.com/office/drawing/2014/main" id="{453B7FE4-F672-4B58-AD11-6200FA9DA4A1}"/>
              </a:ext>
            </a:extLst>
          </p:cNvPr>
          <p:cNvSpPr>
            <a:spLocks xmlns:a="http://schemas.openxmlformats.org/drawingml/2006/main" noGrp="1"/>
          </p:cNvSpPr>
          <p:nvPr/>
        </p:nvSpPr>
        <p:spPr>
          <a:xfrm xmlns:a="http://schemas.openxmlformats.org/drawingml/2006/main">
            <a:off x="7448550" y="490537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50 MHz control + 114 MHz compute</a:t>
            </a:r>
          </a:p>
        </p:txBody>
      </p:sp>
      <p:sp>
        <p:nvSpPr>
          <p:cNvPr id="38" name="">
            <a:extLst xmlns:a="http://schemas.openxmlformats.org/drawingml/2006/main">
              <a:ext uri="{FF2B5EF4-FFF2-40B4-BE49-F238E27FC236}">
                <a16:creationId xmlns:a16="http://schemas.microsoft.com/office/drawing/2014/main" id="{91CAF787-90B0-485E-8366-84847CB5C97E}"/>
              </a:ext>
            </a:extLst>
          </p:cNvPr>
          <p:cNvSpPr>
            <a:spLocks xmlns:a="http://schemas.openxmlformats.org/drawingml/2006/main" noGrp="1"/>
          </p:cNvSpPr>
          <p:nvPr/>
        </p:nvSpPr>
        <p:spPr>
          <a:xfrm xmlns:a="http://schemas.openxmlformats.org/drawingml/2006/main">
            <a:off x="457200" y="5524500"/>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The DG32-LITE deck and film cover the shared base in depth. This deck covers only what DG32-2DOM adds.</a:t>
            </a:r>
          </a:p>
        </p:txBody>
      </p:sp>
      <p:sp>
        <p:nvSpPr>
          <p:cNvPr id="39" name="">
            <a:extLst xmlns:a="http://schemas.openxmlformats.org/drawingml/2006/main">
              <a:ext uri="{FF2B5EF4-FFF2-40B4-BE49-F238E27FC236}">
                <a16:creationId xmlns:a16="http://schemas.microsoft.com/office/drawing/2014/main" id="{CABF5AE4-D164-464A-98DB-D78C8B6F9FF9}"/>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block architecture §1, §4.1–4.17, §5.1–5.2; DG32-2DOM preliminary datasheet §2.</a:t>
            </a:r>
          </a:p>
        </p:txBody>
      </p:sp>
    </p:spTree>
    <p:extLst>
      <p:ext uri="{BB962C8B-B14F-4D97-AF65-F5344CB8AC3E}">
        <p14:creationId xmlns:p14="http://schemas.microsoft.com/office/powerpoint/2010/main" val="107701534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03B45771-7ED4-49B7-8B37-D6A98CB2EA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A4D490-5155-41E4-B5CB-19224663D131}"/>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06 · ATTENTION ENGINE</a:t>
            </a:r>
          </a:p>
        </p:txBody>
      </p:sp>
      <p:sp>
        <p:nvSpPr>
          <p:cNvPr id="3" name="">
            <a:extLst xmlns:a="http://schemas.openxmlformats.org/drawingml/2006/main">
              <a:ext uri="{FF2B5EF4-FFF2-40B4-BE49-F238E27FC236}">
                <a16:creationId xmlns:a16="http://schemas.microsoft.com/office/drawing/2014/main" id="{FD713048-3566-41EE-B597-EBAA96FFBED3}"/>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FFFFFF"/>
                </a:solidFill>
                <a:latin typeface="Georgia"/>
                <a:ea typeface="Georgia"/>
                <a:cs typeface="Georgia"/>
              </a:defRPr>
            </a:pPr>
            <a:r>
              <a:t>One kick computes a band of query rows</a:t>
            </a:r>
          </a:p>
        </p:txBody>
      </p:sp>
      <p:sp>
        <p:nvSpPr>
          <p:cNvPr id="4" name="">
            <a:extLst xmlns:a="http://schemas.openxmlformats.org/drawingml/2006/main">
              <a:ext uri="{FF2B5EF4-FFF2-40B4-BE49-F238E27FC236}">
                <a16:creationId xmlns:a16="http://schemas.microsoft.com/office/drawing/2014/main" id="{6F7C8D17-AC84-47C2-9B83-4E45B013378B}"/>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Every stage runs on the 114 MHz clock; firmware only programs the shapes and waits for done</a:t>
            </a:r>
          </a:p>
        </p:txBody>
      </p:sp>
      <p:sp>
        <p:nvSpPr>
          <p:cNvPr id="5" name="">
            <a:extLst xmlns:a="http://schemas.openxmlformats.org/drawingml/2006/main">
              <a:ext uri="{FF2B5EF4-FFF2-40B4-BE49-F238E27FC236}">
                <a16:creationId xmlns:a16="http://schemas.microsoft.com/office/drawing/2014/main" id="{8035C42B-0763-46C3-91F6-C4B24041B8FF}"/>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07894ED-6004-4D9D-8091-2459D123AD75}"/>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2A19F1C-AD00-423A-BB40-511291CC2C8C}"/>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4EC3C720-19B6-4A80-A891-DC8F8CC39D11}"/>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06</a:t>
            </a:r>
          </a:p>
        </p:txBody>
      </p:sp>
      <p:sp>
        <p:nvSpPr>
          <p:cNvPr id="9" name="">
            <a:extLst xmlns:a="http://schemas.openxmlformats.org/drawingml/2006/main">
              <a:ext uri="{FF2B5EF4-FFF2-40B4-BE49-F238E27FC236}">
                <a16:creationId xmlns:a16="http://schemas.microsoft.com/office/drawing/2014/main" id="{57A5DF5E-86D0-4D95-B4A3-940C4EDDF687}"/>
              </a:ext>
            </a:extLst>
          </p:cNvPr>
          <p:cNvSpPr>
            <a:spLocks xmlns:a="http://schemas.openxmlformats.org/drawingml/2006/main" noGrp="1"/>
          </p:cNvSpPr>
          <p:nvPr/>
        </p:nvSpPr>
        <p:spPr>
          <a:xfrm xmlns:a="http://schemas.openxmlformats.org/drawingml/2006/main">
            <a:off x="45720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019C9C0E-E965-4CEA-BE97-74E741DCAB6E}"/>
              </a:ext>
            </a:extLst>
          </p:cNvPr>
          <p:cNvSpPr>
            <a:spLocks xmlns:a="http://schemas.openxmlformats.org/drawingml/2006/main" noGrp="1"/>
          </p:cNvSpPr>
          <p:nvPr/>
        </p:nvSpPr>
        <p:spPr>
          <a:xfrm xmlns:a="http://schemas.openxmlformats.org/drawingml/2006/main">
            <a:off x="457200" y="171450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6E5610B-309D-4846-BB50-65363EE5F429}"/>
              </a:ext>
            </a:extLst>
          </p:cNvPr>
          <p:cNvSpPr>
            <a:spLocks xmlns:a="http://schemas.openxmlformats.org/drawingml/2006/main" noGrp="1"/>
          </p:cNvSpPr>
          <p:nvPr/>
        </p:nvSpPr>
        <p:spPr>
          <a:xfrm xmlns:a="http://schemas.openxmlformats.org/drawingml/2006/main">
            <a:off x="59055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Program</a:t>
            </a:r>
          </a:p>
        </p:txBody>
      </p:sp>
      <p:sp>
        <p:nvSpPr>
          <p:cNvPr id="12" name="">
            <a:extLst xmlns:a="http://schemas.openxmlformats.org/drawingml/2006/main">
              <a:ext uri="{FF2B5EF4-FFF2-40B4-BE49-F238E27FC236}">
                <a16:creationId xmlns:a16="http://schemas.microsoft.com/office/drawing/2014/main" id="{C975DDC3-40B9-4D0E-9D6F-3A791B149BA7}"/>
              </a:ext>
            </a:extLst>
          </p:cNvPr>
          <p:cNvSpPr>
            <a:spLocks xmlns:a="http://schemas.openxmlformats.org/drawingml/2006/main" noGrp="1"/>
          </p:cNvSpPr>
          <p:nvPr/>
        </p:nvSpPr>
        <p:spPr>
          <a:xfrm xmlns:a="http://schemas.openxmlformats.org/drawingml/2006/main">
            <a:off x="59055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Shapes over AXI-lite</a:t>
            </a:r>
          </a:p>
        </p:txBody>
      </p:sp>
      <p:sp>
        <p:nvSpPr>
          <p:cNvPr id="13" name="">
            <a:extLst xmlns:a="http://schemas.openxmlformats.org/drawingml/2006/main">
              <a:ext uri="{FF2B5EF4-FFF2-40B4-BE49-F238E27FC236}">
                <a16:creationId xmlns:a16="http://schemas.microsoft.com/office/drawing/2014/main" id="{23018EC3-3C17-4B5A-9BD2-ED18278F7647}"/>
              </a:ext>
            </a:extLst>
          </p:cNvPr>
          <p:cNvSpPr>
            <a:spLocks xmlns:a="http://schemas.openxmlformats.org/drawingml/2006/main" noGrp="1"/>
          </p:cNvSpPr>
          <p:nvPr/>
        </p:nvSpPr>
        <p:spPr>
          <a:xfrm xmlns:a="http://schemas.openxmlformats.org/drawingml/2006/main">
            <a:off x="2070735" y="21621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F4CEF4A3-1008-4E12-B799-F0F7C546FD65}"/>
              </a:ext>
            </a:extLst>
          </p:cNvPr>
          <p:cNvSpPr>
            <a:spLocks xmlns:a="http://schemas.openxmlformats.org/drawingml/2006/main" noGrp="1"/>
          </p:cNvSpPr>
          <p:nvPr/>
        </p:nvSpPr>
        <p:spPr>
          <a:xfrm xmlns:a="http://schemas.openxmlformats.org/drawingml/2006/main">
            <a:off x="238887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5" name="">
            <a:extLst xmlns:a="http://schemas.openxmlformats.org/drawingml/2006/main">
              <a:ext uri="{FF2B5EF4-FFF2-40B4-BE49-F238E27FC236}">
                <a16:creationId xmlns:a16="http://schemas.microsoft.com/office/drawing/2014/main" id="{123BA294-F19B-40F3-996E-64B05ECADA53}"/>
              </a:ext>
            </a:extLst>
          </p:cNvPr>
          <p:cNvSpPr>
            <a:spLocks xmlns:a="http://schemas.openxmlformats.org/drawingml/2006/main" noGrp="1"/>
          </p:cNvSpPr>
          <p:nvPr/>
        </p:nvSpPr>
        <p:spPr>
          <a:xfrm xmlns:a="http://schemas.openxmlformats.org/drawingml/2006/main">
            <a:off x="2388870" y="171450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FCC74DA-3A03-41A8-A3BD-1964873EAA91}"/>
              </a:ext>
            </a:extLst>
          </p:cNvPr>
          <p:cNvSpPr>
            <a:spLocks xmlns:a="http://schemas.openxmlformats.org/drawingml/2006/main" noGrp="1"/>
          </p:cNvSpPr>
          <p:nvPr/>
        </p:nvSpPr>
        <p:spPr>
          <a:xfrm xmlns:a="http://schemas.openxmlformats.org/drawingml/2006/main">
            <a:off x="252222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Multiply</a:t>
            </a:r>
          </a:p>
        </p:txBody>
      </p:sp>
      <p:sp>
        <p:nvSpPr>
          <p:cNvPr id="17" name="">
            <a:extLst xmlns:a="http://schemas.openxmlformats.org/drawingml/2006/main">
              <a:ext uri="{FF2B5EF4-FFF2-40B4-BE49-F238E27FC236}">
                <a16:creationId xmlns:a16="http://schemas.microsoft.com/office/drawing/2014/main" id="{53ED4633-464E-4ADB-BFA6-BCBCDC5887BD}"/>
              </a:ext>
            </a:extLst>
          </p:cNvPr>
          <p:cNvSpPr>
            <a:spLocks xmlns:a="http://schemas.openxmlformats.org/drawingml/2006/main" noGrp="1"/>
          </p:cNvSpPr>
          <p:nvPr/>
        </p:nvSpPr>
        <p:spPr>
          <a:xfrm xmlns:a="http://schemas.openxmlformats.org/drawingml/2006/main">
            <a:off x="252222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QKᵀ, 16 lanes</a:t>
            </a:r>
          </a:p>
        </p:txBody>
      </p:sp>
      <p:sp>
        <p:nvSpPr>
          <p:cNvPr id="18" name="">
            <a:extLst xmlns:a="http://schemas.openxmlformats.org/drawingml/2006/main">
              <a:ext uri="{FF2B5EF4-FFF2-40B4-BE49-F238E27FC236}">
                <a16:creationId xmlns:a16="http://schemas.microsoft.com/office/drawing/2014/main" id="{BE78FE85-FA95-4350-A9EE-B2DB3AF44C5D}"/>
              </a:ext>
            </a:extLst>
          </p:cNvPr>
          <p:cNvSpPr>
            <a:spLocks xmlns:a="http://schemas.openxmlformats.org/drawingml/2006/main" noGrp="1"/>
          </p:cNvSpPr>
          <p:nvPr/>
        </p:nvSpPr>
        <p:spPr>
          <a:xfrm xmlns:a="http://schemas.openxmlformats.org/drawingml/2006/main">
            <a:off x="4002405" y="21621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1DDD9DCA-DF1A-4D91-AE32-49210EEAA24F}"/>
              </a:ext>
            </a:extLst>
          </p:cNvPr>
          <p:cNvSpPr>
            <a:spLocks xmlns:a="http://schemas.openxmlformats.org/drawingml/2006/main" noGrp="1"/>
          </p:cNvSpPr>
          <p:nvPr/>
        </p:nvSpPr>
        <p:spPr>
          <a:xfrm xmlns:a="http://schemas.openxmlformats.org/drawingml/2006/main">
            <a:off x="432054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0" name="">
            <a:extLst xmlns:a="http://schemas.openxmlformats.org/drawingml/2006/main">
              <a:ext uri="{FF2B5EF4-FFF2-40B4-BE49-F238E27FC236}">
                <a16:creationId xmlns:a16="http://schemas.microsoft.com/office/drawing/2014/main" id="{BED6C217-4475-4CCC-8B04-9EDEC0E465C4}"/>
              </a:ext>
            </a:extLst>
          </p:cNvPr>
          <p:cNvSpPr>
            <a:spLocks xmlns:a="http://schemas.openxmlformats.org/drawingml/2006/main" noGrp="1"/>
          </p:cNvSpPr>
          <p:nvPr/>
        </p:nvSpPr>
        <p:spPr>
          <a:xfrm xmlns:a="http://schemas.openxmlformats.org/drawingml/2006/main">
            <a:off x="4320540" y="171450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7EF05DA-55A3-436F-AD38-984948EA6500}"/>
              </a:ext>
            </a:extLst>
          </p:cNvPr>
          <p:cNvSpPr>
            <a:spLocks xmlns:a="http://schemas.openxmlformats.org/drawingml/2006/main" noGrp="1"/>
          </p:cNvSpPr>
          <p:nvPr/>
        </p:nvSpPr>
        <p:spPr>
          <a:xfrm xmlns:a="http://schemas.openxmlformats.org/drawingml/2006/main">
            <a:off x="445389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Weight</a:t>
            </a:r>
          </a:p>
        </p:txBody>
      </p:sp>
      <p:sp>
        <p:nvSpPr>
          <p:cNvPr id="22" name="">
            <a:extLst xmlns:a="http://schemas.openxmlformats.org/drawingml/2006/main">
              <a:ext uri="{FF2B5EF4-FFF2-40B4-BE49-F238E27FC236}">
                <a16:creationId xmlns:a16="http://schemas.microsoft.com/office/drawing/2014/main" id="{69DDDF1E-1712-42CD-B620-516B858D03D1}"/>
              </a:ext>
            </a:extLst>
          </p:cNvPr>
          <p:cNvSpPr>
            <a:spLocks xmlns:a="http://schemas.openxmlformats.org/drawingml/2006/main" noGrp="1"/>
          </p:cNvSpPr>
          <p:nvPr/>
        </p:nvSpPr>
        <p:spPr>
          <a:xfrm xmlns:a="http://schemas.openxmlformats.org/drawingml/2006/main">
            <a:off x="445389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Row max → EXP table</a:t>
            </a:r>
          </a:p>
        </p:txBody>
      </p:sp>
      <p:sp>
        <p:nvSpPr>
          <p:cNvPr id="23" name="">
            <a:extLst xmlns:a="http://schemas.openxmlformats.org/drawingml/2006/main">
              <a:ext uri="{FF2B5EF4-FFF2-40B4-BE49-F238E27FC236}">
                <a16:creationId xmlns:a16="http://schemas.microsoft.com/office/drawing/2014/main" id="{2A56BE3F-F2C5-4FF8-9A01-747F2FED1833}"/>
              </a:ext>
            </a:extLst>
          </p:cNvPr>
          <p:cNvSpPr>
            <a:spLocks xmlns:a="http://schemas.openxmlformats.org/drawingml/2006/main" noGrp="1"/>
          </p:cNvSpPr>
          <p:nvPr/>
        </p:nvSpPr>
        <p:spPr>
          <a:xfrm xmlns:a="http://schemas.openxmlformats.org/drawingml/2006/main">
            <a:off x="5934075" y="21621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6ABC14AB-0E4C-4E5B-8330-3BB418971354}"/>
              </a:ext>
            </a:extLst>
          </p:cNvPr>
          <p:cNvSpPr>
            <a:spLocks xmlns:a="http://schemas.openxmlformats.org/drawingml/2006/main" noGrp="1"/>
          </p:cNvSpPr>
          <p:nvPr/>
        </p:nvSpPr>
        <p:spPr>
          <a:xfrm xmlns:a="http://schemas.openxmlformats.org/drawingml/2006/main">
            <a:off x="625221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5" name="">
            <a:extLst xmlns:a="http://schemas.openxmlformats.org/drawingml/2006/main">
              <a:ext uri="{FF2B5EF4-FFF2-40B4-BE49-F238E27FC236}">
                <a16:creationId xmlns:a16="http://schemas.microsoft.com/office/drawing/2014/main" id="{2E0495EB-6FAE-4DC8-90F7-E37F1C10C023}"/>
              </a:ext>
            </a:extLst>
          </p:cNvPr>
          <p:cNvSpPr>
            <a:spLocks xmlns:a="http://schemas.openxmlformats.org/drawingml/2006/main" noGrp="1"/>
          </p:cNvSpPr>
          <p:nvPr/>
        </p:nvSpPr>
        <p:spPr>
          <a:xfrm xmlns:a="http://schemas.openxmlformats.org/drawingml/2006/main">
            <a:off x="6252210" y="171450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F148195-0A05-4791-8A55-1D65086E41F4}"/>
              </a:ext>
            </a:extLst>
          </p:cNvPr>
          <p:cNvSpPr>
            <a:spLocks xmlns:a="http://schemas.openxmlformats.org/drawingml/2006/main" noGrp="1"/>
          </p:cNvSpPr>
          <p:nvPr/>
        </p:nvSpPr>
        <p:spPr>
          <a:xfrm xmlns:a="http://schemas.openxmlformats.org/drawingml/2006/main">
            <a:off x="638556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Combine</a:t>
            </a:r>
          </a:p>
        </p:txBody>
      </p:sp>
      <p:sp>
        <p:nvSpPr>
          <p:cNvPr id="27" name="">
            <a:extLst xmlns:a="http://schemas.openxmlformats.org/drawingml/2006/main">
              <a:ext uri="{FF2B5EF4-FFF2-40B4-BE49-F238E27FC236}">
                <a16:creationId xmlns:a16="http://schemas.microsoft.com/office/drawing/2014/main" id="{B82B0397-FD9B-477C-81B9-9CCB9878ED86}"/>
              </a:ext>
            </a:extLst>
          </p:cNvPr>
          <p:cNvSpPr>
            <a:spLocks xmlns:a="http://schemas.openxmlformats.org/drawingml/2006/main" noGrp="1"/>
          </p:cNvSpPr>
          <p:nvPr/>
        </p:nvSpPr>
        <p:spPr>
          <a:xfrm xmlns:a="http://schemas.openxmlformats.org/drawingml/2006/main">
            <a:off x="638556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Sum ÷ one reciprocal</a:t>
            </a:r>
          </a:p>
        </p:txBody>
      </p:sp>
      <p:sp>
        <p:nvSpPr>
          <p:cNvPr id="28" name="">
            <a:extLst xmlns:a="http://schemas.openxmlformats.org/drawingml/2006/main">
              <a:ext uri="{FF2B5EF4-FFF2-40B4-BE49-F238E27FC236}">
                <a16:creationId xmlns:a16="http://schemas.microsoft.com/office/drawing/2014/main" id="{67B4B891-2EA9-4EE8-9F54-FAF2ACA53D80}"/>
              </a:ext>
            </a:extLst>
          </p:cNvPr>
          <p:cNvSpPr>
            <a:spLocks xmlns:a="http://schemas.openxmlformats.org/drawingml/2006/main" noGrp="1"/>
          </p:cNvSpPr>
          <p:nvPr/>
        </p:nvSpPr>
        <p:spPr>
          <a:xfrm xmlns:a="http://schemas.openxmlformats.org/drawingml/2006/main">
            <a:off x="7865745" y="21621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9" name="">
            <a:extLst xmlns:a="http://schemas.openxmlformats.org/drawingml/2006/main">
              <a:ext uri="{FF2B5EF4-FFF2-40B4-BE49-F238E27FC236}">
                <a16:creationId xmlns:a16="http://schemas.microsoft.com/office/drawing/2014/main" id="{287F10AA-4E62-4AD8-99F8-02FDCBFB1DD3}"/>
              </a:ext>
            </a:extLst>
          </p:cNvPr>
          <p:cNvSpPr>
            <a:spLocks xmlns:a="http://schemas.openxmlformats.org/drawingml/2006/main" noGrp="1"/>
          </p:cNvSpPr>
          <p:nvPr/>
        </p:nvSpPr>
        <p:spPr>
          <a:xfrm xmlns:a="http://schemas.openxmlformats.org/drawingml/2006/main">
            <a:off x="818388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30" name="">
            <a:extLst xmlns:a="http://schemas.openxmlformats.org/drawingml/2006/main">
              <a:ext uri="{FF2B5EF4-FFF2-40B4-BE49-F238E27FC236}">
                <a16:creationId xmlns:a16="http://schemas.microsoft.com/office/drawing/2014/main" id="{14233F52-2938-4BC4-BD3F-CF63A7CB2D49}"/>
              </a:ext>
            </a:extLst>
          </p:cNvPr>
          <p:cNvSpPr>
            <a:spLocks xmlns:a="http://schemas.openxmlformats.org/drawingml/2006/main" noGrp="1"/>
          </p:cNvSpPr>
          <p:nvPr/>
        </p:nvSpPr>
        <p:spPr>
          <a:xfrm xmlns:a="http://schemas.openxmlformats.org/drawingml/2006/main">
            <a:off x="8183880" y="171450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02608E1-FA41-42BF-867D-870D08744D84}"/>
              </a:ext>
            </a:extLst>
          </p:cNvPr>
          <p:cNvSpPr>
            <a:spLocks xmlns:a="http://schemas.openxmlformats.org/drawingml/2006/main" noGrp="1"/>
          </p:cNvSpPr>
          <p:nvPr/>
        </p:nvSpPr>
        <p:spPr>
          <a:xfrm xmlns:a="http://schemas.openxmlformats.org/drawingml/2006/main">
            <a:off x="831723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Requantise</a:t>
            </a:r>
          </a:p>
        </p:txBody>
      </p:sp>
      <p:sp>
        <p:nvSpPr>
          <p:cNvPr id="32" name="">
            <a:extLst xmlns:a="http://schemas.openxmlformats.org/drawingml/2006/main">
              <a:ext uri="{FF2B5EF4-FFF2-40B4-BE49-F238E27FC236}">
                <a16:creationId xmlns:a16="http://schemas.microsoft.com/office/drawing/2014/main" id="{6B66094C-E741-4CCC-8C49-57DF3E64360D}"/>
              </a:ext>
            </a:extLst>
          </p:cNvPr>
          <p:cNvSpPr>
            <a:spLocks xmlns:a="http://schemas.openxmlformats.org/drawingml/2006/main" noGrp="1"/>
          </p:cNvSpPr>
          <p:nvPr/>
        </p:nvSpPr>
        <p:spPr>
          <a:xfrm xmlns:a="http://schemas.openxmlformats.org/drawingml/2006/main">
            <a:off x="831723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Saturate to INT8</a:t>
            </a:r>
          </a:p>
        </p:txBody>
      </p:sp>
      <p:sp>
        <p:nvSpPr>
          <p:cNvPr id="33" name="">
            <a:extLst xmlns:a="http://schemas.openxmlformats.org/drawingml/2006/main">
              <a:ext uri="{FF2B5EF4-FFF2-40B4-BE49-F238E27FC236}">
                <a16:creationId xmlns:a16="http://schemas.microsoft.com/office/drawing/2014/main" id="{FC6862D7-7932-4B40-9095-33195ACE489B}"/>
              </a:ext>
            </a:extLst>
          </p:cNvPr>
          <p:cNvSpPr>
            <a:spLocks xmlns:a="http://schemas.openxmlformats.org/drawingml/2006/main" noGrp="1"/>
          </p:cNvSpPr>
          <p:nvPr/>
        </p:nvSpPr>
        <p:spPr>
          <a:xfrm xmlns:a="http://schemas.openxmlformats.org/drawingml/2006/main">
            <a:off x="9797415" y="21621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34" name="">
            <a:extLst xmlns:a="http://schemas.openxmlformats.org/drawingml/2006/main">
              <a:ext uri="{FF2B5EF4-FFF2-40B4-BE49-F238E27FC236}">
                <a16:creationId xmlns:a16="http://schemas.microsoft.com/office/drawing/2014/main" id="{BCB42B89-B1D3-42A7-8941-55B37C6ED327}"/>
              </a:ext>
            </a:extLst>
          </p:cNvPr>
          <p:cNvSpPr>
            <a:spLocks xmlns:a="http://schemas.openxmlformats.org/drawingml/2006/main" noGrp="1"/>
          </p:cNvSpPr>
          <p:nvPr/>
        </p:nvSpPr>
        <p:spPr>
          <a:xfrm xmlns:a="http://schemas.openxmlformats.org/drawingml/2006/main">
            <a:off x="1011555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35" name="">
            <a:extLst xmlns:a="http://schemas.openxmlformats.org/drawingml/2006/main">
              <a:ext uri="{FF2B5EF4-FFF2-40B4-BE49-F238E27FC236}">
                <a16:creationId xmlns:a16="http://schemas.microsoft.com/office/drawing/2014/main" id="{EF2005FA-1652-487B-B9F3-71655EA29DB8}"/>
              </a:ext>
            </a:extLst>
          </p:cNvPr>
          <p:cNvSpPr>
            <a:spLocks xmlns:a="http://schemas.openxmlformats.org/drawingml/2006/main" noGrp="1"/>
          </p:cNvSpPr>
          <p:nvPr/>
        </p:nvSpPr>
        <p:spPr>
          <a:xfrm xmlns:a="http://schemas.openxmlformats.org/drawingml/2006/main">
            <a:off x="10115550" y="1714500"/>
            <a:ext cx="1619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DC279942-D3B4-4B4B-A327-94C350EF5200}"/>
              </a:ext>
            </a:extLst>
          </p:cNvPr>
          <p:cNvSpPr>
            <a:spLocks xmlns:a="http://schemas.openxmlformats.org/drawingml/2006/main" noGrp="1"/>
          </p:cNvSpPr>
          <p:nvPr/>
        </p:nvSpPr>
        <p:spPr>
          <a:xfrm xmlns:a="http://schemas.openxmlformats.org/drawingml/2006/main">
            <a:off x="1024890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Write back</a:t>
            </a:r>
          </a:p>
        </p:txBody>
      </p:sp>
      <p:sp>
        <p:nvSpPr>
          <p:cNvPr id="37" name="">
            <a:extLst xmlns:a="http://schemas.openxmlformats.org/drawingml/2006/main">
              <a:ext uri="{FF2B5EF4-FFF2-40B4-BE49-F238E27FC236}">
                <a16:creationId xmlns:a16="http://schemas.microsoft.com/office/drawing/2014/main" id="{3EEBF9DF-A204-44DE-AE1D-AC914AF9AC1A}"/>
              </a:ext>
            </a:extLst>
          </p:cNvPr>
          <p:cNvSpPr>
            <a:spLocks xmlns:a="http://schemas.openxmlformats.org/drawingml/2006/main" noGrp="1"/>
          </p:cNvSpPr>
          <p:nvPr/>
        </p:nvSpPr>
        <p:spPr>
          <a:xfrm xmlns:a="http://schemas.openxmlformats.org/drawingml/2006/main">
            <a:off x="1024890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Output to memory</a:t>
            </a:r>
          </a:p>
        </p:txBody>
      </p:sp>
      <p:sp>
        <p:nvSpPr>
          <p:cNvPr id="38" name="">
            <a:extLst xmlns:a="http://schemas.openxmlformats.org/drawingml/2006/main">
              <a:ext uri="{FF2B5EF4-FFF2-40B4-BE49-F238E27FC236}">
                <a16:creationId xmlns:a16="http://schemas.microsoft.com/office/drawing/2014/main" id="{EB778433-1091-48AB-90FE-E97A73B5F9CC}"/>
              </a:ext>
            </a:extLst>
          </p:cNvPr>
          <p:cNvSpPr>
            <a:spLocks xmlns:a="http://schemas.openxmlformats.org/drawingml/2006/main" noGrp="1"/>
          </p:cNvSpPr>
          <p:nvPr/>
        </p:nvSpPr>
        <p:spPr>
          <a:xfrm xmlns:a="http://schemas.openxmlformats.org/drawingml/2006/main">
            <a:off x="4572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9" name="">
            <a:extLst xmlns:a="http://schemas.openxmlformats.org/drawingml/2006/main">
              <a:ext uri="{FF2B5EF4-FFF2-40B4-BE49-F238E27FC236}">
                <a16:creationId xmlns:a16="http://schemas.microsoft.com/office/drawing/2014/main" id="{ED42F713-5384-475A-88E1-8921D46EFAE1}"/>
              </a:ext>
            </a:extLst>
          </p:cNvPr>
          <p:cNvSpPr>
            <a:spLocks xmlns:a="http://schemas.openxmlformats.org/drawingml/2006/main" noGrp="1"/>
          </p:cNvSpPr>
          <p:nvPr/>
        </p:nvSpPr>
        <p:spPr>
          <a:xfrm xmlns:a="http://schemas.openxmlformats.org/drawingml/2006/main">
            <a:off x="457200" y="3143250"/>
            <a:ext cx="57150" cy="14954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9CC36B5-D046-43E9-AA11-45A22AB50A6D}"/>
              </a:ext>
            </a:extLst>
          </p:cNvPr>
          <p:cNvSpPr>
            <a:spLocks xmlns:a="http://schemas.openxmlformats.org/drawingml/2006/main" noGrp="1"/>
          </p:cNvSpPr>
          <p:nvPr/>
        </p:nvSpPr>
        <p:spPr>
          <a:xfrm xmlns:a="http://schemas.openxmlformats.org/drawingml/2006/main">
            <a:off x="6858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Bit-exact</a:t>
            </a:r>
          </a:p>
        </p:txBody>
      </p:sp>
      <p:sp>
        <p:nvSpPr>
          <p:cNvPr id="41" name="">
            <a:extLst xmlns:a="http://schemas.openxmlformats.org/drawingml/2006/main">
              <a:ext uri="{FF2B5EF4-FFF2-40B4-BE49-F238E27FC236}">
                <a16:creationId xmlns:a16="http://schemas.microsoft.com/office/drawing/2014/main" id="{C267CF13-4347-48D3-B440-74B0CDAD9E3A}"/>
              </a:ext>
            </a:extLst>
          </p:cNvPr>
          <p:cNvSpPr>
            <a:spLocks xmlns:a="http://schemas.openxmlformats.org/drawingml/2006/main" noGrp="1"/>
          </p:cNvSpPr>
          <p:nvPr/>
        </p:nvSpPr>
        <p:spPr>
          <a:xfrm xmlns:a="http://schemas.openxmlformats.org/drawingml/2006/main">
            <a:off x="6858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output matches the golden software model, for any geometry the engine accepts.</a:t>
            </a:r>
          </a:p>
        </p:txBody>
      </p:sp>
      <p:sp>
        <p:nvSpPr>
          <p:cNvPr id="42" name="">
            <a:extLst xmlns:a="http://schemas.openxmlformats.org/drawingml/2006/main">
              <a:ext uri="{FF2B5EF4-FFF2-40B4-BE49-F238E27FC236}">
                <a16:creationId xmlns:a16="http://schemas.microsoft.com/office/drawing/2014/main" id="{B3106169-89B7-492C-A25A-81901ABD99C7}"/>
              </a:ext>
            </a:extLst>
          </p:cNvPr>
          <p:cNvSpPr>
            <a:spLocks xmlns:a="http://schemas.openxmlformats.org/drawingml/2006/main" noGrp="1"/>
          </p:cNvSpPr>
          <p:nvPr/>
        </p:nvSpPr>
        <p:spPr>
          <a:xfrm xmlns:a="http://schemas.openxmlformats.org/drawingml/2006/main">
            <a:off x="43053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DB372F04-9E16-4B6F-8D11-4DDA083FA43C}"/>
              </a:ext>
            </a:extLst>
          </p:cNvPr>
          <p:cNvSpPr>
            <a:spLocks xmlns:a="http://schemas.openxmlformats.org/drawingml/2006/main" noGrp="1"/>
          </p:cNvSpPr>
          <p:nvPr/>
        </p:nvSpPr>
        <p:spPr>
          <a:xfrm xmlns:a="http://schemas.openxmlformats.org/drawingml/2006/main">
            <a:off x="4305300" y="31432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25E4ABF-0F01-4EA0-B7BC-EB0F8C321E73}"/>
              </a:ext>
            </a:extLst>
          </p:cNvPr>
          <p:cNvSpPr>
            <a:spLocks xmlns:a="http://schemas.openxmlformats.org/drawingml/2006/main" noGrp="1"/>
          </p:cNvSpPr>
          <p:nvPr/>
        </p:nvSpPr>
        <p:spPr>
          <a:xfrm xmlns:a="http://schemas.openxmlformats.org/drawingml/2006/main">
            <a:off x="45339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Reuse between kicks</a:t>
            </a:r>
          </a:p>
        </p:txBody>
      </p:sp>
      <p:sp>
        <p:nvSpPr>
          <p:cNvPr id="45" name="">
            <a:extLst xmlns:a="http://schemas.openxmlformats.org/drawingml/2006/main">
              <a:ext uri="{FF2B5EF4-FFF2-40B4-BE49-F238E27FC236}">
                <a16:creationId xmlns:a16="http://schemas.microsoft.com/office/drawing/2014/main" id="{89988B29-4111-4942-AD69-36F7D57641F0}"/>
              </a:ext>
            </a:extLst>
          </p:cNvPr>
          <p:cNvSpPr>
            <a:spLocks xmlns:a="http://schemas.openxmlformats.org/drawingml/2006/main" noGrp="1"/>
          </p:cNvSpPr>
          <p:nvPr/>
        </p:nvSpPr>
        <p:spPr>
          <a:xfrm xmlns:a="http://schemas.openxmlformats.org/drawingml/2006/main">
            <a:off x="45339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later kick can skip the load and reuse resident keys, values and the weight table.</a:t>
            </a:r>
          </a:p>
        </p:txBody>
      </p:sp>
      <p:sp>
        <p:nvSpPr>
          <p:cNvPr id="46" name="">
            <a:extLst xmlns:a="http://schemas.openxmlformats.org/drawingml/2006/main">
              <a:ext uri="{FF2B5EF4-FFF2-40B4-BE49-F238E27FC236}">
                <a16:creationId xmlns:a16="http://schemas.microsoft.com/office/drawing/2014/main" id="{49F0A6A6-DAD0-4ACD-8357-8D1C6AFC8369}"/>
              </a:ext>
            </a:extLst>
          </p:cNvPr>
          <p:cNvSpPr>
            <a:spLocks xmlns:a="http://schemas.openxmlformats.org/drawingml/2006/main" noGrp="1"/>
          </p:cNvSpPr>
          <p:nvPr/>
        </p:nvSpPr>
        <p:spPr>
          <a:xfrm xmlns:a="http://schemas.openxmlformats.org/drawingml/2006/main">
            <a:off x="81534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E6A82A9E-6C61-48A9-B1FD-2D97D3AB7604}"/>
              </a:ext>
            </a:extLst>
          </p:cNvPr>
          <p:cNvSpPr>
            <a:spLocks xmlns:a="http://schemas.openxmlformats.org/drawingml/2006/main" noGrp="1"/>
          </p:cNvSpPr>
          <p:nvPr/>
        </p:nvSpPr>
        <p:spPr>
          <a:xfrm xmlns:a="http://schemas.openxmlformats.org/drawingml/2006/main">
            <a:off x="8153400" y="31432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7C8AB11-B6BD-41C7-8E39-9982CD5EB162}"/>
              </a:ext>
            </a:extLst>
          </p:cNvPr>
          <p:cNvSpPr>
            <a:spLocks xmlns:a="http://schemas.openxmlformats.org/drawingml/2006/main" noGrp="1"/>
          </p:cNvSpPr>
          <p:nvPr/>
        </p:nvSpPr>
        <p:spPr>
          <a:xfrm xmlns:a="http://schemas.openxmlformats.org/drawingml/2006/main">
            <a:off x="83820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One multiply array</a:t>
            </a:r>
          </a:p>
        </p:txBody>
      </p:sp>
      <p:sp>
        <p:nvSpPr>
          <p:cNvPr id="49" name="">
            <a:extLst xmlns:a="http://schemas.openxmlformats.org/drawingml/2006/main">
              <a:ext uri="{FF2B5EF4-FFF2-40B4-BE49-F238E27FC236}">
                <a16:creationId xmlns:a16="http://schemas.microsoft.com/office/drawing/2014/main" id="{E91B27D4-3276-40B1-BE30-BE5157EB4C7C}"/>
              </a:ext>
            </a:extLst>
          </p:cNvPr>
          <p:cNvSpPr>
            <a:spLocks xmlns:a="http://schemas.openxmlformats.org/drawingml/2006/main" noGrp="1"/>
          </p:cNvSpPr>
          <p:nvPr/>
        </p:nvSpPr>
        <p:spPr>
          <a:xfrm xmlns:a="http://schemas.openxmlformats.org/drawingml/2006/main">
            <a:off x="83820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same array serves the key pass and the value pass, keeping the datapath small.</a:t>
            </a:r>
          </a:p>
        </p:txBody>
      </p:sp>
      <p:sp>
        <p:nvSpPr>
          <p:cNvPr id="50" name="">
            <a:extLst xmlns:a="http://schemas.openxmlformats.org/drawingml/2006/main">
              <a:ext uri="{FF2B5EF4-FFF2-40B4-BE49-F238E27FC236}">
                <a16:creationId xmlns:a16="http://schemas.microsoft.com/office/drawing/2014/main" id="{DDF94B98-6592-4664-98C0-CDB9AC31ECA3}"/>
              </a:ext>
            </a:extLst>
          </p:cNvPr>
          <p:cNvSpPr>
            <a:spLocks xmlns:a="http://schemas.openxmlformats.org/drawingml/2006/main" noGrp="1"/>
          </p:cNvSpPr>
          <p:nvPr/>
        </p:nvSpPr>
        <p:spPr>
          <a:xfrm xmlns:a="http://schemas.openxmlformats.org/drawingml/2006/main">
            <a:off x="457200" y="5334000"/>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Up to 400 keys per head  ·  key dimension up to 32 bytes  ·  value dimension up to 64 bytes</a:t>
            </a:r>
          </a:p>
        </p:txBody>
      </p:sp>
      <p:sp>
        <p:nvSpPr>
          <p:cNvPr id="51" name="">
            <a:extLst xmlns:a="http://schemas.openxmlformats.org/drawingml/2006/main">
              <a:ext uri="{FF2B5EF4-FFF2-40B4-BE49-F238E27FC236}">
                <a16:creationId xmlns:a16="http://schemas.microsoft.com/office/drawing/2014/main" id="{28C7EA2E-2530-4B27-B490-73AF665FF98B}"/>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Sources: DG32-2DOM block architecture §4.18; DG32-2DOM preliminary datasheet §1, §8.</a:t>
            </a:r>
          </a:p>
        </p:txBody>
      </p:sp>
    </p:spTree>
    <p:extLst>
      <p:ext uri="{BB962C8B-B14F-4D97-AF65-F5344CB8AC3E}">
        <p14:creationId xmlns:p14="http://schemas.microsoft.com/office/powerpoint/2010/main" val="194594972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EF868E9-3D04-4086-9277-34BF63C532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763CB7-0E7C-4432-BF8D-6437ECE6CA10}"/>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07 · PRECISION</a:t>
            </a:r>
          </a:p>
        </p:txBody>
      </p:sp>
      <p:sp>
        <p:nvSpPr>
          <p:cNvPr id="3" name="">
            <a:extLst xmlns:a="http://schemas.openxmlformats.org/drawingml/2006/main">
              <a:ext uri="{FF2B5EF4-FFF2-40B4-BE49-F238E27FC236}">
                <a16:creationId xmlns:a16="http://schemas.microsoft.com/office/drawing/2014/main" id="{3DE34F91-6897-4161-8B19-B1AD74428FEF}"/>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INT4 rounded every weight to zero</a:t>
            </a:r>
          </a:p>
        </p:txBody>
      </p:sp>
      <p:sp>
        <p:nvSpPr>
          <p:cNvPr id="4" name="">
            <a:extLst xmlns:a="http://schemas.openxmlformats.org/drawingml/2006/main">
              <a:ext uri="{FF2B5EF4-FFF2-40B4-BE49-F238E27FC236}">
                <a16:creationId xmlns:a16="http://schemas.microsoft.com/office/drawing/2014/main" id="{28F1335C-1C67-416E-B214-D999781DAE98}"/>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With about 400 near-uniform keys, each softmax weight is close to 1/400</a:t>
            </a:r>
          </a:p>
        </p:txBody>
      </p:sp>
      <p:sp>
        <p:nvSpPr>
          <p:cNvPr id="5" name="">
            <a:extLst xmlns:a="http://schemas.openxmlformats.org/drawingml/2006/main">
              <a:ext uri="{FF2B5EF4-FFF2-40B4-BE49-F238E27FC236}">
                <a16:creationId xmlns:a16="http://schemas.microsoft.com/office/drawing/2014/main" id="{F17D32C3-535C-4063-83CF-9DD396877660}"/>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702862-A92D-4C2C-9A60-DC121B64F677}"/>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AE6DCC3-47DD-44D9-9A38-36CA8148F696}"/>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065FE53F-79EC-4D99-837D-546E475C4EBF}"/>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07</a:t>
            </a:r>
          </a:p>
        </p:txBody>
      </p:sp>
      <p:sp>
        <p:nvSpPr>
          <p:cNvPr id="9" name="">
            <a:extLst xmlns:a="http://schemas.openxmlformats.org/drawingml/2006/main">
              <a:ext uri="{FF2B5EF4-FFF2-40B4-BE49-F238E27FC236}">
                <a16:creationId xmlns:a16="http://schemas.microsoft.com/office/drawing/2014/main" id="{F5578F5B-2EF9-481E-96E8-9B3922AB3777}"/>
              </a:ext>
            </a:extLst>
          </p:cNvPr>
          <p:cNvSpPr>
            <a:spLocks xmlns:a="http://schemas.openxmlformats.org/drawingml/2006/main" noGrp="1"/>
          </p:cNvSpPr>
          <p:nvPr/>
        </p:nvSpPr>
        <p:spPr>
          <a:xfrm xmlns:a="http://schemas.openxmlformats.org/drawingml/2006/main">
            <a:off x="457200" y="1638300"/>
            <a:ext cx="3581400" cy="1752600"/>
          </a:xfrm>
          <a:prstGeom xmlns:a="http://schemas.openxmlformats.org/drawingml/2006/main" prst="roundRect">
            <a:avLst>
              <a:gd name="adj" fmla="val 4348"/>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7E136C11-0A38-4A1C-843A-2D2B7E792E3B}"/>
              </a:ext>
            </a:extLst>
          </p:cNvPr>
          <p:cNvSpPr>
            <a:spLocks xmlns:a="http://schemas.openxmlformats.org/drawingml/2006/main" noGrp="1"/>
          </p:cNvSpPr>
          <p:nvPr/>
        </p:nvSpPr>
        <p:spPr>
          <a:xfrm xmlns:a="http://schemas.openxmlformats.org/drawingml/2006/main">
            <a:off x="571500" y="1790700"/>
            <a:ext cx="3352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077A3"/>
                </a:solidFill>
                <a:latin typeface="Georgia"/>
                <a:ea typeface="Georgia"/>
                <a:cs typeface="Georgia"/>
              </a:defRPr>
            </a:pPr>
            <a:r>
              <a:t>1/400</a:t>
            </a:r>
          </a:p>
        </p:txBody>
      </p:sp>
      <p:sp>
        <p:nvSpPr>
          <p:cNvPr id="11" name="">
            <a:extLst xmlns:a="http://schemas.openxmlformats.org/drawingml/2006/main">
              <a:ext uri="{FF2B5EF4-FFF2-40B4-BE49-F238E27FC236}">
                <a16:creationId xmlns:a16="http://schemas.microsoft.com/office/drawing/2014/main" id="{9563819B-ADCF-4F7A-9A5C-6FA1D04C0FF4}"/>
              </a:ext>
            </a:extLst>
          </p:cNvPr>
          <p:cNvSpPr>
            <a:spLocks xmlns:a="http://schemas.openxmlformats.org/drawingml/2006/main" noGrp="1"/>
          </p:cNvSpPr>
          <p:nvPr/>
        </p:nvSpPr>
        <p:spPr>
          <a:xfrm xmlns:a="http://schemas.openxmlformats.org/drawingml/2006/main">
            <a:off x="571500" y="235267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ONE SOFTMAX WEIGHT</a:t>
            </a:r>
          </a:p>
        </p:txBody>
      </p:sp>
      <p:sp>
        <p:nvSpPr>
          <p:cNvPr id="12" name="">
            <a:extLst xmlns:a="http://schemas.openxmlformats.org/drawingml/2006/main">
              <a:ext uri="{FF2B5EF4-FFF2-40B4-BE49-F238E27FC236}">
                <a16:creationId xmlns:a16="http://schemas.microsoft.com/office/drawing/2014/main" id="{701FA3EF-EA0E-4F95-9615-F91C1ADBD059}"/>
              </a:ext>
            </a:extLst>
          </p:cNvPr>
          <p:cNvSpPr>
            <a:spLocks xmlns:a="http://schemas.openxmlformats.org/drawingml/2006/main" noGrp="1"/>
          </p:cNvSpPr>
          <p:nvPr/>
        </p:nvSpPr>
        <p:spPr>
          <a:xfrm xmlns:a="http://schemas.openxmlformats.org/drawingml/2006/main">
            <a:off x="590550" y="2600325"/>
            <a:ext cx="331470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About 0.0025 with ~400 near-uniform keys</a:t>
            </a:r>
          </a:p>
        </p:txBody>
      </p:sp>
      <p:sp>
        <p:nvSpPr>
          <p:cNvPr id="13" name="">
            <a:extLst xmlns:a="http://schemas.openxmlformats.org/drawingml/2006/main">
              <a:ext uri="{FF2B5EF4-FFF2-40B4-BE49-F238E27FC236}">
                <a16:creationId xmlns:a16="http://schemas.microsoft.com/office/drawing/2014/main" id="{7DBCF8AD-301A-405E-AE05-04E02FE929C6}"/>
              </a:ext>
            </a:extLst>
          </p:cNvPr>
          <p:cNvSpPr>
            <a:spLocks xmlns:a="http://schemas.openxmlformats.org/drawingml/2006/main" noGrp="1"/>
          </p:cNvSpPr>
          <p:nvPr/>
        </p:nvSpPr>
        <p:spPr>
          <a:xfrm xmlns:a="http://schemas.openxmlformats.org/drawingml/2006/main">
            <a:off x="4305300" y="1638300"/>
            <a:ext cx="3581400" cy="1752600"/>
          </a:xfrm>
          <a:prstGeom xmlns:a="http://schemas.openxmlformats.org/drawingml/2006/main" prst="roundRect">
            <a:avLst>
              <a:gd name="adj" fmla="val 4348"/>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77A5109C-62F5-488B-B8C0-43CA1ACD9001}"/>
              </a:ext>
            </a:extLst>
          </p:cNvPr>
          <p:cNvSpPr>
            <a:spLocks xmlns:a="http://schemas.openxmlformats.org/drawingml/2006/main" noGrp="1"/>
          </p:cNvSpPr>
          <p:nvPr/>
        </p:nvSpPr>
        <p:spPr>
          <a:xfrm xmlns:a="http://schemas.openxmlformats.org/drawingml/2006/main">
            <a:off x="4419600" y="1790700"/>
            <a:ext cx="3352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B42318"/>
                </a:solidFill>
                <a:latin typeface="Georgia"/>
                <a:ea typeface="Georgia"/>
                <a:cs typeface="Georgia"/>
              </a:defRPr>
            </a:pPr>
            <a:r>
              <a:t>0</a:t>
            </a:r>
          </a:p>
        </p:txBody>
      </p:sp>
      <p:sp>
        <p:nvSpPr>
          <p:cNvPr id="15" name="">
            <a:extLst xmlns:a="http://schemas.openxmlformats.org/drawingml/2006/main">
              <a:ext uri="{FF2B5EF4-FFF2-40B4-BE49-F238E27FC236}">
                <a16:creationId xmlns:a16="http://schemas.microsoft.com/office/drawing/2014/main" id="{648E0C88-16DA-41AB-9EB6-D84D7FFDCEA8}"/>
              </a:ext>
            </a:extLst>
          </p:cNvPr>
          <p:cNvSpPr>
            <a:spLocks xmlns:a="http://schemas.openxmlformats.org/drawingml/2006/main" noGrp="1"/>
          </p:cNvSpPr>
          <p:nvPr/>
        </p:nvSpPr>
        <p:spPr>
          <a:xfrm xmlns:a="http://schemas.openxmlformats.org/drawingml/2006/main">
            <a:off x="4419600" y="235267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WHAT INT4 KEPT</a:t>
            </a:r>
          </a:p>
        </p:txBody>
      </p:sp>
      <p:sp>
        <p:nvSpPr>
          <p:cNvPr id="16" name="">
            <a:extLst xmlns:a="http://schemas.openxmlformats.org/drawingml/2006/main">
              <a:ext uri="{FF2B5EF4-FFF2-40B4-BE49-F238E27FC236}">
                <a16:creationId xmlns:a16="http://schemas.microsoft.com/office/drawing/2014/main" id="{AB5CB8CB-91E7-4076-A52A-CB1851D5ADD1}"/>
              </a:ext>
            </a:extLst>
          </p:cNvPr>
          <p:cNvSpPr>
            <a:spLocks xmlns:a="http://schemas.openxmlformats.org/drawingml/2006/main" noGrp="1"/>
          </p:cNvSpPr>
          <p:nvPr/>
        </p:nvSpPr>
        <p:spPr>
          <a:xfrm xmlns:a="http://schemas.openxmlformats.org/drawingml/2006/main">
            <a:off x="4438650" y="2600325"/>
            <a:ext cx="331470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The weight rounded to zero; the output came out identically zero</a:t>
            </a:r>
          </a:p>
        </p:txBody>
      </p:sp>
      <p:sp>
        <p:nvSpPr>
          <p:cNvPr id="17" name="">
            <a:extLst xmlns:a="http://schemas.openxmlformats.org/drawingml/2006/main">
              <a:ext uri="{FF2B5EF4-FFF2-40B4-BE49-F238E27FC236}">
                <a16:creationId xmlns:a16="http://schemas.microsoft.com/office/drawing/2014/main" id="{0656CB39-37FA-4D73-BE59-AD441C3E5A66}"/>
              </a:ext>
            </a:extLst>
          </p:cNvPr>
          <p:cNvSpPr>
            <a:spLocks xmlns:a="http://schemas.openxmlformats.org/drawingml/2006/main" noGrp="1"/>
          </p:cNvSpPr>
          <p:nvPr/>
        </p:nvSpPr>
        <p:spPr>
          <a:xfrm xmlns:a="http://schemas.openxmlformats.org/drawingml/2006/main">
            <a:off x="8153400" y="1638300"/>
            <a:ext cx="3581400" cy="1752600"/>
          </a:xfrm>
          <a:prstGeom xmlns:a="http://schemas.openxmlformats.org/drawingml/2006/main" prst="roundRect">
            <a:avLst>
              <a:gd name="adj" fmla="val 4348"/>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15AF709D-B8E1-4AD3-B6F0-2DB66834E021}"/>
              </a:ext>
            </a:extLst>
          </p:cNvPr>
          <p:cNvSpPr>
            <a:spLocks xmlns:a="http://schemas.openxmlformats.org/drawingml/2006/main" noGrp="1"/>
          </p:cNvSpPr>
          <p:nvPr/>
        </p:nvSpPr>
        <p:spPr>
          <a:xfrm xmlns:a="http://schemas.openxmlformats.org/drawingml/2006/main">
            <a:off x="8267700" y="1790700"/>
            <a:ext cx="3352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7686A"/>
                </a:solidFill>
                <a:latin typeface="Georgia"/>
                <a:ea typeface="Georgia"/>
                <a:cs typeface="Georgia"/>
              </a:defRPr>
            </a:pPr>
            <a:r>
              <a:t>~82 levels</a:t>
            </a:r>
          </a:p>
        </p:txBody>
      </p:sp>
      <p:sp>
        <p:nvSpPr>
          <p:cNvPr id="19" name="">
            <a:extLst xmlns:a="http://schemas.openxmlformats.org/drawingml/2006/main">
              <a:ext uri="{FF2B5EF4-FFF2-40B4-BE49-F238E27FC236}">
                <a16:creationId xmlns:a16="http://schemas.microsoft.com/office/drawing/2014/main" id="{C63CB1BD-1C23-4F28-9E21-B3B331D40354}"/>
              </a:ext>
            </a:extLst>
          </p:cNvPr>
          <p:cNvSpPr>
            <a:spLocks xmlns:a="http://schemas.openxmlformats.org/drawingml/2006/main" noGrp="1"/>
          </p:cNvSpPr>
          <p:nvPr/>
        </p:nvSpPr>
        <p:spPr>
          <a:xfrm xmlns:a="http://schemas.openxmlformats.org/drawingml/2006/main">
            <a:off x="8267700" y="235267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WHAT 15 BITS KEEP</a:t>
            </a:r>
          </a:p>
        </p:txBody>
      </p:sp>
      <p:sp>
        <p:nvSpPr>
          <p:cNvPr id="20" name="">
            <a:extLst xmlns:a="http://schemas.openxmlformats.org/drawingml/2006/main">
              <a:ext uri="{FF2B5EF4-FFF2-40B4-BE49-F238E27FC236}">
                <a16:creationId xmlns:a16="http://schemas.microsoft.com/office/drawing/2014/main" id="{15610605-D61E-4F3B-9319-042D05C92BAB}"/>
              </a:ext>
            </a:extLst>
          </p:cNvPr>
          <p:cNvSpPr>
            <a:spLocks xmlns:a="http://schemas.openxmlformats.org/drawingml/2006/main" noGrp="1"/>
          </p:cNvSpPr>
          <p:nvPr/>
        </p:nvSpPr>
        <p:spPr>
          <a:xfrm xmlns:a="http://schemas.openxmlformats.org/drawingml/2006/main">
            <a:off x="8286750" y="2600325"/>
            <a:ext cx="331470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Derived: 32,767 ÷ 400</a:t>
            </a:r>
          </a:p>
        </p:txBody>
      </p:sp>
      <p:sp>
        <p:nvSpPr>
          <p:cNvPr id="21" name="">
            <a:extLst xmlns:a="http://schemas.openxmlformats.org/drawingml/2006/main">
              <a:ext uri="{FF2B5EF4-FFF2-40B4-BE49-F238E27FC236}">
                <a16:creationId xmlns:a16="http://schemas.microsoft.com/office/drawing/2014/main" id="{53DADEE1-B2D7-4385-853B-7EA8F1530A4A}"/>
              </a:ext>
            </a:extLst>
          </p:cNvPr>
          <p:cNvSpPr>
            <a:spLocks xmlns:a="http://schemas.openxmlformats.org/drawingml/2006/main" noGrp="1"/>
          </p:cNvSpPr>
          <p:nvPr/>
        </p:nvSpPr>
        <p:spPr>
          <a:xfrm xmlns:a="http://schemas.openxmlformats.org/drawingml/2006/main">
            <a:off x="457200" y="361950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B609685B-7DEE-4AFD-8EDB-DB5D8399B0F8}"/>
              </a:ext>
            </a:extLst>
          </p:cNvPr>
          <p:cNvSpPr>
            <a:spLocks xmlns:a="http://schemas.openxmlformats.org/drawingml/2006/main" noGrp="1"/>
          </p:cNvSpPr>
          <p:nvPr/>
        </p:nvSpPr>
        <p:spPr>
          <a:xfrm xmlns:a="http://schemas.openxmlformats.org/drawingml/2006/main">
            <a:off x="457200" y="36195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4FB173E-1095-4CF2-B72F-E6A1FE5105E7}"/>
              </a:ext>
            </a:extLst>
          </p:cNvPr>
          <p:cNvSpPr>
            <a:spLocks xmlns:a="http://schemas.openxmlformats.org/drawingml/2006/main" noGrp="1"/>
          </p:cNvSpPr>
          <p:nvPr/>
        </p:nvSpPr>
        <p:spPr>
          <a:xfrm xmlns:a="http://schemas.openxmlformats.org/drawingml/2006/main">
            <a:off x="685800" y="381000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Weights stay unquantised</a:t>
            </a:r>
          </a:p>
        </p:txBody>
      </p:sp>
      <p:sp>
        <p:nvSpPr>
          <p:cNvPr id="24" name="">
            <a:extLst xmlns:a="http://schemas.openxmlformats.org/drawingml/2006/main">
              <a:ext uri="{FF2B5EF4-FFF2-40B4-BE49-F238E27FC236}">
                <a16:creationId xmlns:a16="http://schemas.microsoft.com/office/drawing/2014/main" id="{816B0A06-1A27-4655-9113-AABF982E825E}"/>
              </a:ext>
            </a:extLst>
          </p:cNvPr>
          <p:cNvSpPr>
            <a:spLocks xmlns:a="http://schemas.openxmlformats.org/drawingml/2006/main" noGrp="1"/>
          </p:cNvSpPr>
          <p:nvPr/>
        </p:nvSpPr>
        <p:spPr>
          <a:xfrm xmlns:a="http://schemas.openxmlformats.org/drawingml/2006/main">
            <a:off x="685800" y="417195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Fifteen-bit weights run all the way into the numerator; only the final output is saturated to INT8.</a:t>
            </a:r>
          </a:p>
        </p:txBody>
      </p:sp>
      <p:sp>
        <p:nvSpPr>
          <p:cNvPr id="25" name="">
            <a:extLst xmlns:a="http://schemas.openxmlformats.org/drawingml/2006/main">
              <a:ext uri="{FF2B5EF4-FFF2-40B4-BE49-F238E27FC236}">
                <a16:creationId xmlns:a16="http://schemas.microsoft.com/office/drawing/2014/main" id="{136CB6B6-7F28-43D4-92AA-8C225665F556}"/>
              </a:ext>
            </a:extLst>
          </p:cNvPr>
          <p:cNvSpPr>
            <a:spLocks xmlns:a="http://schemas.openxmlformats.org/drawingml/2006/main" noGrp="1"/>
          </p:cNvSpPr>
          <p:nvPr/>
        </p:nvSpPr>
        <p:spPr>
          <a:xfrm xmlns:a="http://schemas.openxmlformats.org/drawingml/2006/main">
            <a:off x="6229350" y="361950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2E03BE89-9692-4913-A15B-DB1633B0B1A9}"/>
              </a:ext>
            </a:extLst>
          </p:cNvPr>
          <p:cNvSpPr>
            <a:spLocks xmlns:a="http://schemas.openxmlformats.org/drawingml/2006/main" noGrp="1"/>
          </p:cNvSpPr>
          <p:nvPr/>
        </p:nvSpPr>
        <p:spPr>
          <a:xfrm xmlns:a="http://schemas.openxmlformats.org/drawingml/2006/main">
            <a:off x="6229350" y="36195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F24ECB9-F945-4149-BDF3-E0D37373EFB4}"/>
              </a:ext>
            </a:extLst>
          </p:cNvPr>
          <p:cNvSpPr>
            <a:spLocks xmlns:a="http://schemas.openxmlformats.org/drawingml/2006/main" noGrp="1"/>
          </p:cNvSpPr>
          <p:nvPr/>
        </p:nvSpPr>
        <p:spPr>
          <a:xfrm xmlns:a="http://schemas.openxmlformats.org/drawingml/2006/main">
            <a:off x="6457950" y="381000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 40-bit numerator</a:t>
            </a:r>
          </a:p>
        </p:txBody>
      </p:sp>
      <p:sp>
        <p:nvSpPr>
          <p:cNvPr id="28" name="">
            <a:extLst xmlns:a="http://schemas.openxmlformats.org/drawingml/2006/main">
              <a:ext uri="{FF2B5EF4-FFF2-40B4-BE49-F238E27FC236}">
                <a16:creationId xmlns:a16="http://schemas.microsoft.com/office/drawing/2014/main" id="{F52AEEDF-D160-46C7-903D-9FD4E20D3E29}"/>
              </a:ext>
            </a:extLst>
          </p:cNvPr>
          <p:cNvSpPr>
            <a:spLocks xmlns:a="http://schemas.openxmlformats.org/drawingml/2006/main" noGrp="1"/>
          </p:cNvSpPr>
          <p:nvPr/>
        </p:nvSpPr>
        <p:spPr>
          <a:xfrm xmlns:a="http://schemas.openxmlformats.org/drawingml/2006/main">
            <a:off x="6457950" y="417195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32-bit numerator breaks at 512 keys. Forty bits stays exact to 131,072 keys, so bit-exactness holds.</a:t>
            </a:r>
          </a:p>
        </p:txBody>
      </p:sp>
      <p:sp>
        <p:nvSpPr>
          <p:cNvPr id="29" name="">
            <a:extLst xmlns:a="http://schemas.openxmlformats.org/drawingml/2006/main">
              <a:ext uri="{FF2B5EF4-FFF2-40B4-BE49-F238E27FC236}">
                <a16:creationId xmlns:a16="http://schemas.microsoft.com/office/drawing/2014/main" id="{82CD24E1-81AC-4111-AC21-16285187412F}"/>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block architecture, locked decisions and §4.18 rationale. Level count derived.</a:t>
            </a:r>
          </a:p>
        </p:txBody>
      </p:sp>
    </p:spTree>
    <p:extLst>
      <p:ext uri="{BB962C8B-B14F-4D97-AF65-F5344CB8AC3E}">
        <p14:creationId xmlns:p14="http://schemas.microsoft.com/office/powerpoint/2010/main" val="173777936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6378319-96E1-4F4A-9C25-280853E6C4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BB0D8E-EC9C-4EC3-8262-1F6B2FEBCBDA}"/>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08 · MEMORY TRAFFIC</a:t>
            </a:r>
          </a:p>
        </p:txBody>
      </p:sp>
      <p:sp>
        <p:nvSpPr>
          <p:cNvPr id="3" name="">
            <a:extLst xmlns:a="http://schemas.openxmlformats.org/drawingml/2006/main">
              <a:ext uri="{FF2B5EF4-FFF2-40B4-BE49-F238E27FC236}">
                <a16:creationId xmlns:a16="http://schemas.microsoft.com/office/drawing/2014/main" id="{59633D3A-4EFE-4A0B-90EF-0B78C4DFD789}"/>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Loading keys and values once cuts traffic 400×</a:t>
            </a:r>
          </a:p>
        </p:txBody>
      </p:sp>
      <p:sp>
        <p:nvSpPr>
          <p:cNvPr id="4" name="">
            <a:extLst xmlns:a="http://schemas.openxmlformats.org/drawingml/2006/main">
              <a:ext uri="{FF2B5EF4-FFF2-40B4-BE49-F238E27FC236}">
                <a16:creationId xmlns:a16="http://schemas.microsoft.com/office/drawing/2014/main" id="{AB81CB2C-60A0-4D9E-996E-A30F4A9994C7}"/>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Bus traffic per attention head, drawn to scale: resident buffers against streaming values per row</a:t>
            </a:r>
          </a:p>
        </p:txBody>
      </p:sp>
      <p:sp>
        <p:nvSpPr>
          <p:cNvPr id="5" name="">
            <a:extLst xmlns:a="http://schemas.openxmlformats.org/drawingml/2006/main">
              <a:ext uri="{FF2B5EF4-FFF2-40B4-BE49-F238E27FC236}">
                <a16:creationId xmlns:a16="http://schemas.microsoft.com/office/drawing/2014/main" id="{22D4868D-28B2-4564-81AE-7C8B6D14CF35}"/>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FE7C113-FEA4-4AC2-954D-C0550237C123}"/>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E400621-441E-41AF-8092-8922D37B11A7}"/>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302E5E26-4ABF-44C2-83D4-1B6F2764E29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08</a:t>
            </a:r>
          </a:p>
        </p:txBody>
      </p:sp>
      <p:sp>
        <p:nvSpPr>
          <p:cNvPr id="9" name="">
            <a:extLst xmlns:a="http://schemas.openxmlformats.org/drawingml/2006/main">
              <a:ext uri="{FF2B5EF4-FFF2-40B4-BE49-F238E27FC236}">
                <a16:creationId xmlns:a16="http://schemas.microsoft.com/office/drawing/2014/main" id="{3867D7F8-CDFA-4356-A10A-9CBA8E560239}"/>
              </a:ext>
            </a:extLst>
          </p:cNvPr>
          <p:cNvSpPr>
            <a:spLocks xmlns:a="http://schemas.openxmlformats.org/drawingml/2006/main" noGrp="1"/>
          </p:cNvSpPr>
          <p:nvPr/>
        </p:nvSpPr>
        <p:spPr>
          <a:xfrm xmlns:a="http://schemas.openxmlformats.org/drawingml/2006/main">
            <a:off x="457200" y="1866900"/>
            <a:ext cx="647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KEYS AND VALUES RESIDENT, RE-READ PER ROW</a:t>
            </a:r>
          </a:p>
        </p:txBody>
      </p:sp>
      <p:sp>
        <p:nvSpPr>
          <p:cNvPr id="10" name="">
            <a:extLst xmlns:a="http://schemas.openxmlformats.org/drawingml/2006/main">
              <a:ext uri="{FF2B5EF4-FFF2-40B4-BE49-F238E27FC236}">
                <a16:creationId xmlns:a16="http://schemas.microsoft.com/office/drawing/2014/main" id="{2153C064-7E25-44DB-9627-3E25643E5493}"/>
              </a:ext>
            </a:extLst>
          </p:cNvPr>
          <p:cNvSpPr>
            <a:spLocks xmlns:a="http://schemas.openxmlformats.org/drawingml/2006/main" noGrp="1"/>
          </p:cNvSpPr>
          <p:nvPr/>
        </p:nvSpPr>
        <p:spPr>
          <a:xfrm xmlns:a="http://schemas.openxmlformats.org/drawingml/2006/main">
            <a:off x="457200" y="2152650"/>
            <a:ext cx="6477000" cy="4191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7913229-3DF2-45E7-88AD-5FBD6AF2D38D}"/>
              </a:ext>
            </a:extLst>
          </p:cNvPr>
          <p:cNvSpPr>
            <a:spLocks xmlns:a="http://schemas.openxmlformats.org/drawingml/2006/main" noGrp="1"/>
          </p:cNvSpPr>
          <p:nvPr/>
        </p:nvSpPr>
        <p:spPr>
          <a:xfrm xmlns:a="http://schemas.openxmlformats.org/drawingml/2006/main">
            <a:off x="457200" y="2152650"/>
            <a:ext cx="95250" cy="4191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49DE133-02B1-4C07-A832-192E4083FD5C}"/>
              </a:ext>
            </a:extLst>
          </p:cNvPr>
          <p:cNvSpPr>
            <a:spLocks xmlns:a="http://schemas.openxmlformats.org/drawingml/2006/main" noGrp="1"/>
          </p:cNvSpPr>
          <p:nvPr/>
        </p:nvSpPr>
        <p:spPr>
          <a:xfrm xmlns:a="http://schemas.openxmlformats.org/drawingml/2006/main">
            <a:off x="685800" y="2228850"/>
            <a:ext cx="2857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Georgia"/>
                <a:ea typeface="Georgia"/>
                <a:cs typeface="Georgia"/>
              </a:defRPr>
            </a:pPr>
            <a:r>
              <a:t>~1% bus occupancy</a:t>
            </a:r>
          </a:p>
        </p:txBody>
      </p:sp>
      <p:sp>
        <p:nvSpPr>
          <p:cNvPr id="13" name="">
            <a:extLst xmlns:a="http://schemas.openxmlformats.org/drawingml/2006/main">
              <a:ext uri="{FF2B5EF4-FFF2-40B4-BE49-F238E27FC236}">
                <a16:creationId xmlns:a16="http://schemas.microsoft.com/office/drawing/2014/main" id="{59EDB167-03F6-45C5-8C4F-1CA24A93EA2A}"/>
              </a:ext>
            </a:extLst>
          </p:cNvPr>
          <p:cNvSpPr>
            <a:spLocks xmlns:a="http://schemas.openxmlformats.org/drawingml/2006/main" noGrp="1"/>
          </p:cNvSpPr>
          <p:nvPr/>
        </p:nvSpPr>
        <p:spPr>
          <a:xfrm xmlns:a="http://schemas.openxmlformats.org/drawingml/2006/main">
            <a:off x="457200" y="3009900"/>
            <a:ext cx="647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VALUES STREAMED FOR EVERY ROW</a:t>
            </a:r>
          </a:p>
        </p:txBody>
      </p:sp>
      <p:sp>
        <p:nvSpPr>
          <p:cNvPr id="14" name="">
            <a:extLst xmlns:a="http://schemas.openxmlformats.org/drawingml/2006/main">
              <a:ext uri="{FF2B5EF4-FFF2-40B4-BE49-F238E27FC236}">
                <a16:creationId xmlns:a16="http://schemas.microsoft.com/office/drawing/2014/main" id="{BF5BB641-6CE8-46DC-854C-00C1A1844F3D}"/>
              </a:ext>
            </a:extLst>
          </p:cNvPr>
          <p:cNvSpPr>
            <a:spLocks xmlns:a="http://schemas.openxmlformats.org/drawingml/2006/main" noGrp="1"/>
          </p:cNvSpPr>
          <p:nvPr/>
        </p:nvSpPr>
        <p:spPr>
          <a:xfrm xmlns:a="http://schemas.openxmlformats.org/drawingml/2006/main">
            <a:off x="457200" y="3295650"/>
            <a:ext cx="6477000" cy="4191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2387C29-CBD7-47AD-A904-440D46AD18C4}"/>
              </a:ext>
            </a:extLst>
          </p:cNvPr>
          <p:cNvSpPr>
            <a:spLocks xmlns:a="http://schemas.openxmlformats.org/drawingml/2006/main" noGrp="1"/>
          </p:cNvSpPr>
          <p:nvPr/>
        </p:nvSpPr>
        <p:spPr>
          <a:xfrm xmlns:a="http://schemas.openxmlformats.org/drawingml/2006/main">
            <a:off x="609600" y="3371850"/>
            <a:ext cx="3810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Georgia"/>
                <a:ea typeface="Georgia"/>
                <a:cs typeface="Georgia"/>
              </a:defRPr>
            </a:pPr>
            <a:r>
              <a:t>~400× the traffic</a:t>
            </a:r>
          </a:p>
        </p:txBody>
      </p:sp>
      <p:sp>
        <p:nvSpPr>
          <p:cNvPr id="16" name="">
            <a:extLst xmlns:a="http://schemas.openxmlformats.org/drawingml/2006/main">
              <a:ext uri="{FF2B5EF4-FFF2-40B4-BE49-F238E27FC236}">
                <a16:creationId xmlns:a16="http://schemas.microsoft.com/office/drawing/2014/main" id="{6DA6A0BD-5E11-460C-9BEC-6DD0E2799B86}"/>
              </a:ext>
            </a:extLst>
          </p:cNvPr>
          <p:cNvSpPr>
            <a:spLocks xmlns:a="http://schemas.openxmlformats.org/drawingml/2006/main" noGrp="1"/>
          </p:cNvSpPr>
          <p:nvPr/>
        </p:nvSpPr>
        <p:spPr>
          <a:xfrm xmlns:a="http://schemas.openxmlformats.org/drawingml/2006/main">
            <a:off x="457200" y="3905250"/>
            <a:ext cx="647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i="1">
                <a:solidFill>
                  <a:srgbClr val="6B7280"/>
                </a:solidFill>
                <a:latin typeface="Arial"/>
                <a:ea typeface="Arial"/>
                <a:cs typeface="Arial"/>
              </a:defRPr>
            </a:pPr>
            <a:r>
              <a:t>Relative scale: both bars share one axis, so the resident case is a sliver.</a:t>
            </a:r>
          </a:p>
        </p:txBody>
      </p:sp>
      <p:sp>
        <p:nvSpPr>
          <p:cNvPr id="17" name="">
            <a:extLst xmlns:a="http://schemas.openxmlformats.org/drawingml/2006/main">
              <a:ext uri="{FF2B5EF4-FFF2-40B4-BE49-F238E27FC236}">
                <a16:creationId xmlns:a16="http://schemas.microsoft.com/office/drawing/2014/main" id="{D3389F5C-C76F-47B5-B665-B2F5BC1C2A58}"/>
              </a:ext>
            </a:extLst>
          </p:cNvPr>
          <p:cNvSpPr>
            <a:spLocks xmlns:a="http://schemas.openxmlformats.org/drawingml/2006/main" noGrp="1"/>
          </p:cNvSpPr>
          <p:nvPr/>
        </p:nvSpPr>
        <p:spPr>
          <a:xfrm xmlns:a="http://schemas.openxmlformats.org/drawingml/2006/main">
            <a:off x="7429500" y="1638300"/>
            <a:ext cx="43053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CAF4C3CA-850B-474F-9FA0-4F0726602250}"/>
              </a:ext>
            </a:extLst>
          </p:cNvPr>
          <p:cNvSpPr>
            <a:spLocks xmlns:a="http://schemas.openxmlformats.org/drawingml/2006/main" noGrp="1"/>
          </p:cNvSpPr>
          <p:nvPr/>
        </p:nvSpPr>
        <p:spPr>
          <a:xfrm xmlns:a="http://schemas.openxmlformats.org/drawingml/2006/main">
            <a:off x="7429500" y="163830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3D04271-FA21-4044-B98E-F880950530A8}"/>
              </a:ext>
            </a:extLst>
          </p:cNvPr>
          <p:cNvSpPr>
            <a:spLocks xmlns:a="http://schemas.openxmlformats.org/drawingml/2006/main" noGrp="1"/>
          </p:cNvSpPr>
          <p:nvPr/>
        </p:nvSpPr>
        <p:spPr>
          <a:xfrm xmlns:a="http://schemas.openxmlformats.org/drawingml/2006/main">
            <a:off x="7658100" y="1828800"/>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Load once, re-read per row</a:t>
            </a:r>
          </a:p>
        </p:txBody>
      </p:sp>
      <p:sp>
        <p:nvSpPr>
          <p:cNvPr id="20" name="">
            <a:extLst xmlns:a="http://schemas.openxmlformats.org/drawingml/2006/main">
              <a:ext uri="{FF2B5EF4-FFF2-40B4-BE49-F238E27FC236}">
                <a16:creationId xmlns:a16="http://schemas.microsoft.com/office/drawing/2014/main" id="{07EFD942-67A3-4A62-97CD-01E9DF89AE87}"/>
              </a:ext>
            </a:extLst>
          </p:cNvPr>
          <p:cNvSpPr>
            <a:spLocks xmlns:a="http://schemas.openxmlformats.org/drawingml/2006/main" noGrp="1"/>
          </p:cNvSpPr>
          <p:nvPr/>
        </p:nvSpPr>
        <p:spPr>
          <a:xfrm xmlns:a="http://schemas.openxmlformats.org/drawingml/2006/main">
            <a:off x="7658100" y="2190750"/>
            <a:ext cx="38481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Keys and values sit in SRAM macros beside the engine and are re-read for every query row.</a:t>
            </a:r>
          </a:p>
        </p:txBody>
      </p:sp>
      <p:sp>
        <p:nvSpPr>
          <p:cNvPr id="21" name="">
            <a:extLst xmlns:a="http://schemas.openxmlformats.org/drawingml/2006/main">
              <a:ext uri="{FF2B5EF4-FFF2-40B4-BE49-F238E27FC236}">
                <a16:creationId xmlns:a16="http://schemas.microsoft.com/office/drawing/2014/main" id="{540847FF-EDAE-4B1E-8A0C-A7463366B816}"/>
              </a:ext>
            </a:extLst>
          </p:cNvPr>
          <p:cNvSpPr>
            <a:spLocks xmlns:a="http://schemas.openxmlformats.org/drawingml/2006/main" noGrp="1"/>
          </p:cNvSpPr>
          <p:nvPr/>
        </p:nvSpPr>
        <p:spPr>
          <a:xfrm xmlns:a="http://schemas.openxmlformats.org/drawingml/2006/main">
            <a:off x="7429500" y="3267075"/>
            <a:ext cx="43053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A523C017-EBAF-42AA-9CEB-A3A257709EBD}"/>
              </a:ext>
            </a:extLst>
          </p:cNvPr>
          <p:cNvSpPr>
            <a:spLocks xmlns:a="http://schemas.openxmlformats.org/drawingml/2006/main" noGrp="1"/>
          </p:cNvSpPr>
          <p:nvPr/>
        </p:nvSpPr>
        <p:spPr>
          <a:xfrm xmlns:a="http://schemas.openxmlformats.org/drawingml/2006/main">
            <a:off x="7429500" y="3267075"/>
            <a:ext cx="57150" cy="14954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15B6B91-0E55-4F35-9BE5-8C983331333D}"/>
              </a:ext>
            </a:extLst>
          </p:cNvPr>
          <p:cNvSpPr>
            <a:spLocks xmlns:a="http://schemas.openxmlformats.org/drawingml/2006/main" noGrp="1"/>
          </p:cNvSpPr>
          <p:nvPr/>
        </p:nvSpPr>
        <p:spPr>
          <a:xfrm xmlns:a="http://schemas.openxmlformats.org/drawingml/2006/main">
            <a:off x="7658100" y="3457575"/>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 contention-free feed</a:t>
            </a:r>
          </a:p>
        </p:txBody>
      </p:sp>
      <p:sp>
        <p:nvSpPr>
          <p:cNvPr id="24" name="">
            <a:extLst xmlns:a="http://schemas.openxmlformats.org/drawingml/2006/main">
              <a:ext uri="{FF2B5EF4-FFF2-40B4-BE49-F238E27FC236}">
                <a16:creationId xmlns:a16="http://schemas.microsoft.com/office/drawing/2014/main" id="{DE6A6BDB-D430-4DE0-965C-FC2A24199026}"/>
              </a:ext>
            </a:extLst>
          </p:cNvPr>
          <p:cNvSpPr>
            <a:spLocks xmlns:a="http://schemas.openxmlformats.org/drawingml/2006/main" noGrp="1"/>
          </p:cNvSpPr>
          <p:nvPr/>
        </p:nvSpPr>
        <p:spPr>
          <a:xfrm xmlns:a="http://schemas.openxmlformats.org/drawingml/2006/main">
            <a:off x="7658100" y="3819525"/>
            <a:ext cx="38481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DMA and the SRAM’s idle second read port can move data to the engine without the CPU.</a:t>
            </a:r>
          </a:p>
        </p:txBody>
      </p:sp>
      <p:sp>
        <p:nvSpPr>
          <p:cNvPr id="25" name="">
            <a:extLst xmlns:a="http://schemas.openxmlformats.org/drawingml/2006/main">
              <a:ext uri="{FF2B5EF4-FFF2-40B4-BE49-F238E27FC236}">
                <a16:creationId xmlns:a16="http://schemas.microsoft.com/office/drawing/2014/main" id="{A7BCE442-E153-453E-937F-0DB8332AB81B}"/>
              </a:ext>
            </a:extLst>
          </p:cNvPr>
          <p:cNvSpPr>
            <a:spLocks xmlns:a="http://schemas.openxmlformats.org/drawingml/2006/main" noGrp="1"/>
          </p:cNvSpPr>
          <p:nvPr/>
        </p:nvSpPr>
        <p:spPr>
          <a:xfrm xmlns:a="http://schemas.openxmlformats.org/drawingml/2006/main">
            <a:off x="7429500" y="4895850"/>
            <a:ext cx="43053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C00D8EDD-8363-4063-A09A-774508449814}"/>
              </a:ext>
            </a:extLst>
          </p:cNvPr>
          <p:cNvSpPr>
            <a:spLocks xmlns:a="http://schemas.openxmlformats.org/drawingml/2006/main" noGrp="1"/>
          </p:cNvSpPr>
          <p:nvPr/>
        </p:nvSpPr>
        <p:spPr>
          <a:xfrm xmlns:a="http://schemas.openxmlformats.org/drawingml/2006/main">
            <a:off x="7429500" y="489585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6809270-7ACB-44E2-9A6A-EDFC72D748EE}"/>
              </a:ext>
            </a:extLst>
          </p:cNvPr>
          <p:cNvSpPr>
            <a:spLocks xmlns:a="http://schemas.openxmlformats.org/drawingml/2006/main" noGrp="1"/>
          </p:cNvSpPr>
          <p:nvPr/>
        </p:nvSpPr>
        <p:spPr>
          <a:xfrm xmlns:a="http://schemas.openxmlformats.org/drawingml/2006/main">
            <a:off x="7658100" y="5086350"/>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it matters</a:t>
            </a:r>
          </a:p>
        </p:txBody>
      </p:sp>
      <p:sp>
        <p:nvSpPr>
          <p:cNvPr id="28" name="">
            <a:extLst xmlns:a="http://schemas.openxmlformats.org/drawingml/2006/main">
              <a:ext uri="{FF2B5EF4-FFF2-40B4-BE49-F238E27FC236}">
                <a16:creationId xmlns:a16="http://schemas.microsoft.com/office/drawing/2014/main" id="{36760D04-448B-4420-ADB0-4D67254DD587}"/>
              </a:ext>
            </a:extLst>
          </p:cNvPr>
          <p:cNvSpPr>
            <a:spLocks xmlns:a="http://schemas.openxmlformats.org/drawingml/2006/main" noGrp="1"/>
          </p:cNvSpPr>
          <p:nvPr/>
        </p:nvSpPr>
        <p:spPr>
          <a:xfrm xmlns:a="http://schemas.openxmlformats.org/drawingml/2006/main">
            <a:off x="7658100" y="5448300"/>
            <a:ext cx="38481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Streaming would make the engine fight the rest of the die for memory.</a:t>
            </a:r>
          </a:p>
        </p:txBody>
      </p:sp>
      <p:sp>
        <p:nvSpPr>
          <p:cNvPr id="29" name="">
            <a:extLst xmlns:a="http://schemas.openxmlformats.org/drawingml/2006/main">
              <a:ext uri="{FF2B5EF4-FFF2-40B4-BE49-F238E27FC236}">
                <a16:creationId xmlns:a16="http://schemas.microsoft.com/office/drawing/2014/main" id="{34D84B34-4690-4FC3-8619-908C5C320B19}"/>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block architecture §4.18 rationale, §4.3, §4.17.</a:t>
            </a:r>
          </a:p>
        </p:txBody>
      </p:sp>
    </p:spTree>
    <p:extLst>
      <p:ext uri="{BB962C8B-B14F-4D97-AF65-F5344CB8AC3E}">
        <p14:creationId xmlns:p14="http://schemas.microsoft.com/office/powerpoint/2010/main" val="80333835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EEF1BF34-962F-4ABD-A328-8FEEDA3FAD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435C84-ADC4-4C67-8997-D39B9F231C32}"/>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09 · CLOCK BRIDGES</a:t>
            </a:r>
          </a:p>
        </p:txBody>
      </p:sp>
      <p:sp>
        <p:nvSpPr>
          <p:cNvPr id="3" name="">
            <a:extLst xmlns:a="http://schemas.openxmlformats.org/drawingml/2006/main">
              <a:ext uri="{FF2B5EF4-FFF2-40B4-BE49-F238E27FC236}">
                <a16:creationId xmlns:a16="http://schemas.microsoft.com/office/drawing/2014/main" id="{BA40EBCF-2C00-42B1-93E1-4B8B142F6F31}"/>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Rare crossings let a handshake replace a FIFO</a:t>
            </a:r>
          </a:p>
        </p:txBody>
      </p:sp>
      <p:sp>
        <p:nvSpPr>
          <p:cNvPr id="4" name="">
            <a:extLst xmlns:a="http://schemas.openxmlformats.org/drawingml/2006/main">
              <a:ext uri="{FF2B5EF4-FFF2-40B4-BE49-F238E27FC236}">
                <a16:creationId xmlns:a16="http://schemas.microsoft.com/office/drawing/2014/main" id="{F7F73AB8-F7F3-4C01-B45B-3C51E4A25D08}"/>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transaction between 50 MHz and 114 MHz crosses a four-phase level handshake</a:t>
            </a:r>
          </a:p>
        </p:txBody>
      </p:sp>
      <p:sp>
        <p:nvSpPr>
          <p:cNvPr id="5" name="">
            <a:extLst xmlns:a="http://schemas.openxmlformats.org/drawingml/2006/main">
              <a:ext uri="{FF2B5EF4-FFF2-40B4-BE49-F238E27FC236}">
                <a16:creationId xmlns:a16="http://schemas.microsoft.com/office/drawing/2014/main" id="{75DB5458-7A45-4EE1-9131-A34BBB6BFAD6}"/>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91F8D2-FD37-4D19-974C-68A68999808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868A7AF-F761-4D41-9328-A34361F6CB6F}"/>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6DEFA3DD-EF8B-4265-8796-91913A078DC6}"/>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09</a:t>
            </a:r>
          </a:p>
        </p:txBody>
      </p:sp>
      <p:sp>
        <p:nvSpPr>
          <p:cNvPr id="9" name="">
            <a:extLst xmlns:a="http://schemas.openxmlformats.org/drawingml/2006/main">
              <a:ext uri="{FF2B5EF4-FFF2-40B4-BE49-F238E27FC236}">
                <a16:creationId xmlns:a16="http://schemas.microsoft.com/office/drawing/2014/main" id="{3C3AAEAA-9F6E-4148-B3DE-901CCD6CD4C9}"/>
              </a:ext>
            </a:extLst>
          </p:cNvPr>
          <p:cNvSpPr>
            <a:spLocks xmlns:a="http://schemas.openxmlformats.org/drawingml/2006/main" noGrp="1"/>
          </p:cNvSpPr>
          <p:nvPr/>
        </p:nvSpPr>
        <p:spPr>
          <a:xfrm xmlns:a="http://schemas.openxmlformats.org/drawingml/2006/main">
            <a:off x="457200" y="169545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0DDBF6B7-74BD-4455-8F5F-30FE50B8CA28}"/>
              </a:ext>
            </a:extLst>
          </p:cNvPr>
          <p:cNvSpPr>
            <a:spLocks xmlns:a="http://schemas.openxmlformats.org/drawingml/2006/main" noGrp="1"/>
          </p:cNvSpPr>
          <p:nvPr/>
        </p:nvSpPr>
        <p:spPr>
          <a:xfrm xmlns:a="http://schemas.openxmlformats.org/drawingml/2006/main">
            <a:off x="457200" y="1695450"/>
            <a:ext cx="18288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D384C1A-A937-4F64-8CB6-F2BFD83D0E9F}"/>
              </a:ext>
            </a:extLst>
          </p:cNvPr>
          <p:cNvSpPr>
            <a:spLocks xmlns:a="http://schemas.openxmlformats.org/drawingml/2006/main" noGrp="1"/>
          </p:cNvSpPr>
          <p:nvPr/>
        </p:nvSpPr>
        <p:spPr>
          <a:xfrm xmlns:a="http://schemas.openxmlformats.org/drawingml/2006/main">
            <a:off x="590550" y="188595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50 MHz side</a:t>
            </a:r>
          </a:p>
        </p:txBody>
      </p:sp>
      <p:sp>
        <p:nvSpPr>
          <p:cNvPr id="12" name="">
            <a:extLst xmlns:a="http://schemas.openxmlformats.org/drawingml/2006/main">
              <a:ext uri="{FF2B5EF4-FFF2-40B4-BE49-F238E27FC236}">
                <a16:creationId xmlns:a16="http://schemas.microsoft.com/office/drawing/2014/main" id="{08685625-923A-4C3D-A3BE-4423E57E9A52}"/>
              </a:ext>
            </a:extLst>
          </p:cNvPr>
          <p:cNvSpPr>
            <a:spLocks xmlns:a="http://schemas.openxmlformats.org/drawingml/2006/main" noGrp="1"/>
          </p:cNvSpPr>
          <p:nvPr/>
        </p:nvSpPr>
        <p:spPr>
          <a:xfrm xmlns:a="http://schemas.openxmlformats.org/drawingml/2006/main">
            <a:off x="590550" y="217170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CPU and DMA traffic</a:t>
            </a:r>
          </a:p>
        </p:txBody>
      </p:sp>
      <p:sp>
        <p:nvSpPr>
          <p:cNvPr id="13" name="">
            <a:extLst xmlns:a="http://schemas.openxmlformats.org/drawingml/2006/main">
              <a:ext uri="{FF2B5EF4-FFF2-40B4-BE49-F238E27FC236}">
                <a16:creationId xmlns:a16="http://schemas.microsoft.com/office/drawing/2014/main" id="{194EC75F-7925-4580-A9CA-07EDDFA8BA6C}"/>
              </a:ext>
            </a:extLst>
          </p:cNvPr>
          <p:cNvSpPr>
            <a:spLocks xmlns:a="http://schemas.openxmlformats.org/drawingml/2006/main" noGrp="1"/>
          </p:cNvSpPr>
          <p:nvPr/>
        </p:nvSpPr>
        <p:spPr>
          <a:xfrm xmlns:a="http://schemas.openxmlformats.org/drawingml/2006/main">
            <a:off x="23907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E7FA5CA3-0A03-4CC5-A853-2030C06D6BD8}"/>
              </a:ext>
            </a:extLst>
          </p:cNvPr>
          <p:cNvSpPr>
            <a:spLocks xmlns:a="http://schemas.openxmlformats.org/drawingml/2006/main" noGrp="1"/>
          </p:cNvSpPr>
          <p:nvPr/>
        </p:nvSpPr>
        <p:spPr>
          <a:xfrm xmlns:a="http://schemas.openxmlformats.org/drawingml/2006/main">
            <a:off x="2819400" y="169545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DA95128F-9684-4575-A33F-1616678077BB}"/>
              </a:ext>
            </a:extLst>
          </p:cNvPr>
          <p:cNvSpPr>
            <a:spLocks xmlns:a="http://schemas.openxmlformats.org/drawingml/2006/main" noGrp="1"/>
          </p:cNvSpPr>
          <p:nvPr/>
        </p:nvSpPr>
        <p:spPr>
          <a:xfrm xmlns:a="http://schemas.openxmlformats.org/drawingml/2006/main">
            <a:off x="2819400" y="1695450"/>
            <a:ext cx="18288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78318FC-0FA2-4BA0-9B43-5886D9D87D4D}"/>
              </a:ext>
            </a:extLst>
          </p:cNvPr>
          <p:cNvSpPr>
            <a:spLocks xmlns:a="http://schemas.openxmlformats.org/drawingml/2006/main" noGrp="1"/>
          </p:cNvSpPr>
          <p:nvPr/>
        </p:nvSpPr>
        <p:spPr>
          <a:xfrm xmlns:a="http://schemas.openxmlformats.org/drawingml/2006/main">
            <a:off x="2952750" y="188595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Request</a:t>
            </a:r>
          </a:p>
        </p:txBody>
      </p:sp>
      <p:sp>
        <p:nvSpPr>
          <p:cNvPr id="17" name="">
            <a:extLst xmlns:a="http://schemas.openxmlformats.org/drawingml/2006/main">
              <a:ext uri="{FF2B5EF4-FFF2-40B4-BE49-F238E27FC236}">
                <a16:creationId xmlns:a16="http://schemas.microsoft.com/office/drawing/2014/main" id="{B931341E-B4A5-4880-8748-D99E633A63B4}"/>
              </a:ext>
            </a:extLst>
          </p:cNvPr>
          <p:cNvSpPr>
            <a:spLocks xmlns:a="http://schemas.openxmlformats.org/drawingml/2006/main" noGrp="1"/>
          </p:cNvSpPr>
          <p:nvPr/>
        </p:nvSpPr>
        <p:spPr>
          <a:xfrm xmlns:a="http://schemas.openxmlformats.org/drawingml/2006/main">
            <a:off x="2952750" y="217170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Payload held stable</a:t>
            </a:r>
          </a:p>
        </p:txBody>
      </p:sp>
      <p:sp>
        <p:nvSpPr>
          <p:cNvPr id="18" name="">
            <a:extLst xmlns:a="http://schemas.openxmlformats.org/drawingml/2006/main">
              <a:ext uri="{FF2B5EF4-FFF2-40B4-BE49-F238E27FC236}">
                <a16:creationId xmlns:a16="http://schemas.microsoft.com/office/drawing/2014/main" id="{3F69D76C-4794-44EC-9FD0-920BE4738E99}"/>
              </a:ext>
            </a:extLst>
          </p:cNvPr>
          <p:cNvSpPr>
            <a:spLocks xmlns:a="http://schemas.openxmlformats.org/drawingml/2006/main" noGrp="1"/>
          </p:cNvSpPr>
          <p:nvPr/>
        </p:nvSpPr>
        <p:spPr>
          <a:xfrm xmlns:a="http://schemas.openxmlformats.org/drawingml/2006/main">
            <a:off x="47529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9946E941-0BDC-48E6-BC47-6D256937B693}"/>
              </a:ext>
            </a:extLst>
          </p:cNvPr>
          <p:cNvSpPr>
            <a:spLocks xmlns:a="http://schemas.openxmlformats.org/drawingml/2006/main" noGrp="1"/>
          </p:cNvSpPr>
          <p:nvPr/>
        </p:nvSpPr>
        <p:spPr>
          <a:xfrm xmlns:a="http://schemas.openxmlformats.org/drawingml/2006/main">
            <a:off x="5181600" y="169545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3A211122-9B6A-409A-A9C7-D4957C5021AE}"/>
              </a:ext>
            </a:extLst>
          </p:cNvPr>
          <p:cNvSpPr>
            <a:spLocks xmlns:a="http://schemas.openxmlformats.org/drawingml/2006/main" noGrp="1"/>
          </p:cNvSpPr>
          <p:nvPr/>
        </p:nvSpPr>
        <p:spPr>
          <a:xfrm xmlns:a="http://schemas.openxmlformats.org/drawingml/2006/main">
            <a:off x="5181600" y="1695450"/>
            <a:ext cx="18288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A3A3793-9704-4B5C-A173-2677FB9B0BE0}"/>
              </a:ext>
            </a:extLst>
          </p:cNvPr>
          <p:cNvSpPr>
            <a:spLocks xmlns:a="http://schemas.openxmlformats.org/drawingml/2006/main" noGrp="1"/>
          </p:cNvSpPr>
          <p:nvPr/>
        </p:nvSpPr>
        <p:spPr>
          <a:xfrm xmlns:a="http://schemas.openxmlformats.org/drawingml/2006/main">
            <a:off x="5314950" y="188595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2-flop sync</a:t>
            </a:r>
          </a:p>
        </p:txBody>
      </p:sp>
      <p:sp>
        <p:nvSpPr>
          <p:cNvPr id="22" name="">
            <a:extLst xmlns:a="http://schemas.openxmlformats.org/drawingml/2006/main">
              <a:ext uri="{FF2B5EF4-FFF2-40B4-BE49-F238E27FC236}">
                <a16:creationId xmlns:a16="http://schemas.microsoft.com/office/drawing/2014/main" id="{B7665992-25AA-4AA4-AE47-74E55338D4EE}"/>
              </a:ext>
            </a:extLst>
          </p:cNvPr>
          <p:cNvSpPr>
            <a:spLocks xmlns:a="http://schemas.openxmlformats.org/drawingml/2006/main" noGrp="1"/>
          </p:cNvSpPr>
          <p:nvPr/>
        </p:nvSpPr>
        <p:spPr>
          <a:xfrm xmlns:a="http://schemas.openxmlformats.org/drawingml/2006/main">
            <a:off x="5314950" y="217170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Metastability guard</a:t>
            </a:r>
          </a:p>
        </p:txBody>
      </p:sp>
      <p:sp>
        <p:nvSpPr>
          <p:cNvPr id="23" name="">
            <a:extLst xmlns:a="http://schemas.openxmlformats.org/drawingml/2006/main">
              <a:ext uri="{FF2B5EF4-FFF2-40B4-BE49-F238E27FC236}">
                <a16:creationId xmlns:a16="http://schemas.microsoft.com/office/drawing/2014/main" id="{97BFA1EE-9FC3-455D-8FFD-08E2A750C263}"/>
              </a:ext>
            </a:extLst>
          </p:cNvPr>
          <p:cNvSpPr>
            <a:spLocks xmlns:a="http://schemas.openxmlformats.org/drawingml/2006/main" noGrp="1"/>
          </p:cNvSpPr>
          <p:nvPr/>
        </p:nvSpPr>
        <p:spPr>
          <a:xfrm xmlns:a="http://schemas.openxmlformats.org/drawingml/2006/main">
            <a:off x="71151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6BAF949A-4460-4995-8F25-50FC3CEB1244}"/>
              </a:ext>
            </a:extLst>
          </p:cNvPr>
          <p:cNvSpPr>
            <a:spLocks xmlns:a="http://schemas.openxmlformats.org/drawingml/2006/main" noGrp="1"/>
          </p:cNvSpPr>
          <p:nvPr/>
        </p:nvSpPr>
        <p:spPr>
          <a:xfrm xmlns:a="http://schemas.openxmlformats.org/drawingml/2006/main">
            <a:off x="7543800" y="169545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5" name="">
            <a:extLst xmlns:a="http://schemas.openxmlformats.org/drawingml/2006/main">
              <a:ext uri="{FF2B5EF4-FFF2-40B4-BE49-F238E27FC236}">
                <a16:creationId xmlns:a16="http://schemas.microsoft.com/office/drawing/2014/main" id="{BDE068B1-AD5A-40E3-9B60-6EB40FBB66BB}"/>
              </a:ext>
            </a:extLst>
          </p:cNvPr>
          <p:cNvSpPr>
            <a:spLocks xmlns:a="http://schemas.openxmlformats.org/drawingml/2006/main" noGrp="1"/>
          </p:cNvSpPr>
          <p:nvPr/>
        </p:nvSpPr>
        <p:spPr>
          <a:xfrm xmlns:a="http://schemas.openxmlformats.org/drawingml/2006/main">
            <a:off x="7543800" y="1695450"/>
            <a:ext cx="18288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6DD8E6D-DD43-4E88-91F4-B8E83ACB0C35}"/>
              </a:ext>
            </a:extLst>
          </p:cNvPr>
          <p:cNvSpPr>
            <a:spLocks xmlns:a="http://schemas.openxmlformats.org/drawingml/2006/main" noGrp="1"/>
          </p:cNvSpPr>
          <p:nvPr/>
        </p:nvSpPr>
        <p:spPr>
          <a:xfrm xmlns:a="http://schemas.openxmlformats.org/drawingml/2006/main">
            <a:off x="7677150" y="188595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Acknowledge</a:t>
            </a:r>
          </a:p>
        </p:txBody>
      </p:sp>
      <p:sp>
        <p:nvSpPr>
          <p:cNvPr id="27" name="">
            <a:extLst xmlns:a="http://schemas.openxmlformats.org/drawingml/2006/main">
              <a:ext uri="{FF2B5EF4-FFF2-40B4-BE49-F238E27FC236}">
                <a16:creationId xmlns:a16="http://schemas.microsoft.com/office/drawing/2014/main" id="{FECD6BE6-9FAF-4468-8FFA-EB543CBF8639}"/>
              </a:ext>
            </a:extLst>
          </p:cNvPr>
          <p:cNvSpPr>
            <a:spLocks xmlns:a="http://schemas.openxmlformats.org/drawingml/2006/main" noGrp="1"/>
          </p:cNvSpPr>
          <p:nvPr/>
        </p:nvSpPr>
        <p:spPr>
          <a:xfrm xmlns:a="http://schemas.openxmlformats.org/drawingml/2006/main">
            <a:off x="7677150" y="217170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4-phase handshake</a:t>
            </a:r>
          </a:p>
        </p:txBody>
      </p:sp>
      <p:sp>
        <p:nvSpPr>
          <p:cNvPr id="28" name="">
            <a:extLst xmlns:a="http://schemas.openxmlformats.org/drawingml/2006/main">
              <a:ext uri="{FF2B5EF4-FFF2-40B4-BE49-F238E27FC236}">
                <a16:creationId xmlns:a16="http://schemas.microsoft.com/office/drawing/2014/main" id="{421A9290-28B4-4A6C-9655-C191B00E1CA2}"/>
              </a:ext>
            </a:extLst>
          </p:cNvPr>
          <p:cNvSpPr>
            <a:spLocks xmlns:a="http://schemas.openxmlformats.org/drawingml/2006/main" noGrp="1"/>
          </p:cNvSpPr>
          <p:nvPr/>
        </p:nvSpPr>
        <p:spPr>
          <a:xfrm xmlns:a="http://schemas.openxmlformats.org/drawingml/2006/main">
            <a:off x="94773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9" name="">
            <a:extLst xmlns:a="http://schemas.openxmlformats.org/drawingml/2006/main">
              <a:ext uri="{FF2B5EF4-FFF2-40B4-BE49-F238E27FC236}">
                <a16:creationId xmlns:a16="http://schemas.microsoft.com/office/drawing/2014/main" id="{A4A24A5C-95DB-4A23-9040-CF9EB188BE8E}"/>
              </a:ext>
            </a:extLst>
          </p:cNvPr>
          <p:cNvSpPr>
            <a:spLocks xmlns:a="http://schemas.openxmlformats.org/drawingml/2006/main" noGrp="1"/>
          </p:cNvSpPr>
          <p:nvPr/>
        </p:nvSpPr>
        <p:spPr>
          <a:xfrm xmlns:a="http://schemas.openxmlformats.org/drawingml/2006/main">
            <a:off x="9906000" y="169545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30" name="">
            <a:extLst xmlns:a="http://schemas.openxmlformats.org/drawingml/2006/main">
              <a:ext uri="{FF2B5EF4-FFF2-40B4-BE49-F238E27FC236}">
                <a16:creationId xmlns:a16="http://schemas.microsoft.com/office/drawing/2014/main" id="{996723B9-6F54-4601-98D1-45C411AF7B36}"/>
              </a:ext>
            </a:extLst>
          </p:cNvPr>
          <p:cNvSpPr>
            <a:spLocks xmlns:a="http://schemas.openxmlformats.org/drawingml/2006/main" noGrp="1"/>
          </p:cNvSpPr>
          <p:nvPr/>
        </p:nvSpPr>
        <p:spPr>
          <a:xfrm xmlns:a="http://schemas.openxmlformats.org/drawingml/2006/main">
            <a:off x="9906000" y="1695450"/>
            <a:ext cx="18288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81E7D1F-2135-4575-A8C7-7E4F2EA23720}"/>
              </a:ext>
            </a:extLst>
          </p:cNvPr>
          <p:cNvSpPr>
            <a:spLocks xmlns:a="http://schemas.openxmlformats.org/drawingml/2006/main" noGrp="1"/>
          </p:cNvSpPr>
          <p:nvPr/>
        </p:nvSpPr>
        <p:spPr>
          <a:xfrm xmlns:a="http://schemas.openxmlformats.org/drawingml/2006/main">
            <a:off x="10039350" y="188595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114 MHz side</a:t>
            </a:r>
          </a:p>
        </p:txBody>
      </p:sp>
      <p:sp>
        <p:nvSpPr>
          <p:cNvPr id="32" name="">
            <a:extLst xmlns:a="http://schemas.openxmlformats.org/drawingml/2006/main">
              <a:ext uri="{FF2B5EF4-FFF2-40B4-BE49-F238E27FC236}">
                <a16:creationId xmlns:a16="http://schemas.microsoft.com/office/drawing/2014/main" id="{AFE59783-E5B5-4ECD-B22A-EA2751C2AD1D}"/>
              </a:ext>
            </a:extLst>
          </p:cNvPr>
          <p:cNvSpPr>
            <a:spLocks xmlns:a="http://schemas.openxmlformats.org/drawingml/2006/main" noGrp="1"/>
          </p:cNvSpPr>
          <p:nvPr/>
        </p:nvSpPr>
        <p:spPr>
          <a:xfrm xmlns:a="http://schemas.openxmlformats.org/drawingml/2006/main">
            <a:off x="10039350" y="217170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Attention engine</a:t>
            </a:r>
          </a:p>
        </p:txBody>
      </p:sp>
      <p:sp>
        <p:nvSpPr>
          <p:cNvPr id="33" name="">
            <a:extLst xmlns:a="http://schemas.openxmlformats.org/drawingml/2006/main">
              <a:ext uri="{FF2B5EF4-FFF2-40B4-BE49-F238E27FC236}">
                <a16:creationId xmlns:a16="http://schemas.microsoft.com/office/drawing/2014/main" id="{B5B17222-EA5A-4609-AE2D-05490D857E81}"/>
              </a:ext>
            </a:extLst>
          </p:cNvPr>
          <p:cNvSpPr>
            <a:spLocks xmlns:a="http://schemas.openxmlformats.org/drawingml/2006/main" noGrp="1"/>
          </p:cNvSpPr>
          <p:nvPr/>
        </p:nvSpPr>
        <p:spPr>
          <a:xfrm xmlns:a="http://schemas.openxmlformats.org/drawingml/2006/main">
            <a:off x="457200" y="31432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335DDBD3-BDFB-4D0D-9E1C-52375CE3F2B9}"/>
              </a:ext>
            </a:extLst>
          </p:cNvPr>
          <p:cNvSpPr>
            <a:spLocks xmlns:a="http://schemas.openxmlformats.org/drawingml/2006/main" noGrp="1"/>
          </p:cNvSpPr>
          <p:nvPr/>
        </p:nvSpPr>
        <p:spPr>
          <a:xfrm xmlns:a="http://schemas.openxmlformats.org/drawingml/2006/main">
            <a:off x="457200" y="31432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DE96FCA-AD7F-4904-A3CC-D5586D6EB173}"/>
              </a:ext>
            </a:extLst>
          </p:cNvPr>
          <p:cNvSpPr>
            <a:spLocks xmlns:a="http://schemas.openxmlformats.org/drawingml/2006/main" noGrp="1"/>
          </p:cNvSpPr>
          <p:nvPr/>
        </p:nvSpPr>
        <p:spPr>
          <a:xfrm xmlns:a="http://schemas.openxmlformats.org/drawingml/2006/main">
            <a:off x="6858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Lite bridge</a:t>
            </a:r>
          </a:p>
        </p:txBody>
      </p:sp>
      <p:sp>
        <p:nvSpPr>
          <p:cNvPr id="36" name="">
            <a:extLst xmlns:a="http://schemas.openxmlformats.org/drawingml/2006/main">
              <a:ext uri="{FF2B5EF4-FFF2-40B4-BE49-F238E27FC236}">
                <a16:creationId xmlns:a16="http://schemas.microsoft.com/office/drawing/2014/main" id="{9F4E87C5-39E9-4C00-B05E-FA36BA1047D4}"/>
              </a:ext>
            </a:extLst>
          </p:cNvPr>
          <p:cNvSpPr>
            <a:spLocks xmlns:a="http://schemas.openxmlformats.org/drawingml/2006/main" noGrp="1"/>
          </p:cNvSpPr>
          <p:nvPr/>
        </p:nvSpPr>
        <p:spPr>
          <a:xfrm xmlns:a="http://schemas.openxmlformats.org/drawingml/2006/main">
            <a:off x="685800" y="36957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Carries programming, with one transaction outstanding at a time.</a:t>
            </a:r>
          </a:p>
        </p:txBody>
      </p:sp>
      <p:sp>
        <p:nvSpPr>
          <p:cNvPr id="37" name="">
            <a:extLst xmlns:a="http://schemas.openxmlformats.org/drawingml/2006/main">
              <a:ext uri="{FF2B5EF4-FFF2-40B4-BE49-F238E27FC236}">
                <a16:creationId xmlns:a16="http://schemas.microsoft.com/office/drawing/2014/main" id="{8DF13DD4-28C2-4B68-8FD9-AC2BBE9BC221}"/>
              </a:ext>
            </a:extLst>
          </p:cNvPr>
          <p:cNvSpPr>
            <a:spLocks xmlns:a="http://schemas.openxmlformats.org/drawingml/2006/main" noGrp="1"/>
          </p:cNvSpPr>
          <p:nvPr/>
        </p:nvSpPr>
        <p:spPr>
          <a:xfrm xmlns:a="http://schemas.openxmlformats.org/drawingml/2006/main">
            <a:off x="4305300" y="31432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F29D6AE9-D8EA-4CD6-B748-743E2C409815}"/>
              </a:ext>
            </a:extLst>
          </p:cNvPr>
          <p:cNvSpPr>
            <a:spLocks xmlns:a="http://schemas.openxmlformats.org/drawingml/2006/main" noGrp="1"/>
          </p:cNvSpPr>
          <p:nvPr/>
        </p:nvSpPr>
        <p:spPr>
          <a:xfrm xmlns:a="http://schemas.openxmlformats.org/drawingml/2006/main">
            <a:off x="4305300" y="31432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672F4C5-E80E-41D7-BDCB-342C8E631BDC}"/>
              </a:ext>
            </a:extLst>
          </p:cNvPr>
          <p:cNvSpPr>
            <a:spLocks xmlns:a="http://schemas.openxmlformats.org/drawingml/2006/main" noGrp="1"/>
          </p:cNvSpPr>
          <p:nvPr/>
        </p:nvSpPr>
        <p:spPr>
          <a:xfrm xmlns:a="http://schemas.openxmlformats.org/drawingml/2006/main">
            <a:off x="45339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Burst read bridge</a:t>
            </a:r>
          </a:p>
        </p:txBody>
      </p:sp>
      <p:sp>
        <p:nvSpPr>
          <p:cNvPr id="40" name="">
            <a:extLst xmlns:a="http://schemas.openxmlformats.org/drawingml/2006/main">
              <a:ext uri="{FF2B5EF4-FFF2-40B4-BE49-F238E27FC236}">
                <a16:creationId xmlns:a16="http://schemas.microsoft.com/office/drawing/2014/main" id="{AD2F312E-01D5-4364-AC9A-7B16EC637DC7}"/>
              </a:ext>
            </a:extLst>
          </p:cNvPr>
          <p:cNvSpPr>
            <a:spLocks xmlns:a="http://schemas.openxmlformats.org/drawingml/2006/main" noGrp="1"/>
          </p:cNvSpPr>
          <p:nvPr/>
        </p:nvSpPr>
        <p:spPr>
          <a:xfrm xmlns:a="http://schemas.openxmlformats.org/drawingml/2006/main">
            <a:off x="4533900" y="36957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Batches a whole read burst into a single crossing.</a:t>
            </a:r>
          </a:p>
        </p:txBody>
      </p:sp>
      <p:sp>
        <p:nvSpPr>
          <p:cNvPr id="41" name="">
            <a:extLst xmlns:a="http://schemas.openxmlformats.org/drawingml/2006/main">
              <a:ext uri="{FF2B5EF4-FFF2-40B4-BE49-F238E27FC236}">
                <a16:creationId xmlns:a16="http://schemas.microsoft.com/office/drawing/2014/main" id="{37548248-6B82-4BA3-86DA-AECE3C9D12C0}"/>
              </a:ext>
            </a:extLst>
          </p:cNvPr>
          <p:cNvSpPr>
            <a:spLocks xmlns:a="http://schemas.openxmlformats.org/drawingml/2006/main" noGrp="1"/>
          </p:cNvSpPr>
          <p:nvPr/>
        </p:nvSpPr>
        <p:spPr>
          <a:xfrm xmlns:a="http://schemas.openxmlformats.org/drawingml/2006/main">
            <a:off x="8153400" y="31432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D7758C03-7FFF-4371-97A3-DDF1DEEC6507}"/>
              </a:ext>
            </a:extLst>
          </p:cNvPr>
          <p:cNvSpPr>
            <a:spLocks xmlns:a="http://schemas.openxmlformats.org/drawingml/2006/main" noGrp="1"/>
          </p:cNvSpPr>
          <p:nvPr/>
        </p:nvSpPr>
        <p:spPr>
          <a:xfrm xmlns:a="http://schemas.openxmlformats.org/drawingml/2006/main">
            <a:off x="8153400" y="31432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686BA52-58D1-4388-9185-E108E93B7FA5}"/>
              </a:ext>
            </a:extLst>
          </p:cNvPr>
          <p:cNvSpPr>
            <a:spLocks xmlns:a="http://schemas.openxmlformats.org/drawingml/2006/main" noGrp="1"/>
          </p:cNvSpPr>
          <p:nvPr/>
        </p:nvSpPr>
        <p:spPr>
          <a:xfrm xmlns:a="http://schemas.openxmlformats.org/drawingml/2006/main">
            <a:off x="83820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Burst write bridge</a:t>
            </a:r>
          </a:p>
        </p:txBody>
      </p:sp>
      <p:sp>
        <p:nvSpPr>
          <p:cNvPr id="44" name="">
            <a:extLst xmlns:a="http://schemas.openxmlformats.org/drawingml/2006/main">
              <a:ext uri="{FF2B5EF4-FFF2-40B4-BE49-F238E27FC236}">
                <a16:creationId xmlns:a16="http://schemas.microsoft.com/office/drawing/2014/main" id="{201FD57E-5911-4BB3-AAD6-2A602F5C0F3A}"/>
              </a:ext>
            </a:extLst>
          </p:cNvPr>
          <p:cNvSpPr>
            <a:spLocks xmlns:a="http://schemas.openxmlformats.org/drawingml/2006/main" noGrp="1"/>
          </p:cNvSpPr>
          <p:nvPr/>
        </p:nvSpPr>
        <p:spPr>
          <a:xfrm xmlns:a="http://schemas.openxmlformats.org/drawingml/2006/main">
            <a:off x="8382000" y="36957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Batches a whole write burst into a single crossing.</a:t>
            </a:r>
          </a:p>
        </p:txBody>
      </p:sp>
      <p:sp>
        <p:nvSpPr>
          <p:cNvPr id="45" name="">
            <a:extLst xmlns:a="http://schemas.openxmlformats.org/drawingml/2006/main">
              <a:ext uri="{FF2B5EF4-FFF2-40B4-BE49-F238E27FC236}">
                <a16:creationId xmlns:a16="http://schemas.microsoft.com/office/drawing/2014/main" id="{D8A79776-E373-4310-9AD7-C830CDDFC7C2}"/>
              </a:ext>
            </a:extLst>
          </p:cNvPr>
          <p:cNvSpPr>
            <a:spLocks xmlns:a="http://schemas.openxmlformats.org/drawingml/2006/main" noGrp="1"/>
          </p:cNvSpPr>
          <p:nvPr/>
        </p:nvSpPr>
        <p:spPr>
          <a:xfrm xmlns:a="http://schemas.openxmlformats.org/drawingml/2006/main">
            <a:off x="457200" y="4667250"/>
            <a:ext cx="112776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6" name="">
            <a:extLst xmlns:a="http://schemas.openxmlformats.org/drawingml/2006/main">
              <a:ext uri="{FF2B5EF4-FFF2-40B4-BE49-F238E27FC236}">
                <a16:creationId xmlns:a16="http://schemas.microsoft.com/office/drawing/2014/main" id="{EB5CDE1B-43D0-4870-9ACE-51E37A7A238C}"/>
              </a:ext>
            </a:extLst>
          </p:cNvPr>
          <p:cNvSpPr>
            <a:spLocks xmlns:a="http://schemas.openxmlformats.org/drawingml/2006/main" noGrp="1"/>
          </p:cNvSpPr>
          <p:nvPr/>
        </p:nvSpPr>
        <p:spPr>
          <a:xfrm xmlns:a="http://schemas.openxmlformats.org/drawingml/2006/main">
            <a:off x="457200" y="4667250"/>
            <a:ext cx="57150" cy="124777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395F0C25-CE77-46B1-A1CE-6A7EB25D941D}"/>
              </a:ext>
            </a:extLst>
          </p:cNvPr>
          <p:cNvSpPr>
            <a:spLocks xmlns:a="http://schemas.openxmlformats.org/drawingml/2006/main" noGrp="1"/>
          </p:cNvSpPr>
          <p:nvPr/>
        </p:nvSpPr>
        <p:spPr>
          <a:xfrm xmlns:a="http://schemas.openxmlformats.org/drawingml/2006/main">
            <a:off x="685800" y="485775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not a FIFO</a:t>
            </a:r>
          </a:p>
        </p:txBody>
      </p:sp>
      <p:sp>
        <p:nvSpPr>
          <p:cNvPr id="48" name="">
            <a:extLst xmlns:a="http://schemas.openxmlformats.org/drawingml/2006/main">
              <a:ext uri="{FF2B5EF4-FFF2-40B4-BE49-F238E27FC236}">
                <a16:creationId xmlns:a16="http://schemas.microsoft.com/office/drawing/2014/main" id="{72CA15B0-0459-4BBE-A222-54F8515BFC63}"/>
              </a:ext>
            </a:extLst>
          </p:cNvPr>
          <p:cNvSpPr>
            <a:spLocks xmlns:a="http://schemas.openxmlformats.org/drawingml/2006/main" noGrp="1"/>
          </p:cNvSpPr>
          <p:nvPr/>
        </p:nvSpPr>
        <p:spPr>
          <a:xfrm xmlns:a="http://schemas.openxmlformats.org/drawingml/2006/main">
            <a:off x="685800" y="5219700"/>
            <a:ext cx="108204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Keys and values load once and outputs write back once, so a small, provably safe handshake needs no gray-coded pointers.</a:t>
            </a:r>
          </a:p>
        </p:txBody>
      </p:sp>
      <p:sp>
        <p:nvSpPr>
          <p:cNvPr id="49" name="">
            <a:extLst xmlns:a="http://schemas.openxmlformats.org/drawingml/2006/main">
              <a:ext uri="{FF2B5EF4-FFF2-40B4-BE49-F238E27FC236}">
                <a16:creationId xmlns:a16="http://schemas.microsoft.com/office/drawing/2014/main" id="{E4BA4FCE-1347-4542-9912-6D78B5036802}"/>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block architecture §4.19.</a:t>
            </a:r>
          </a:p>
        </p:txBody>
      </p:sp>
    </p:spTree>
    <p:extLst>
      <p:ext uri="{BB962C8B-B14F-4D97-AF65-F5344CB8AC3E}">
        <p14:creationId xmlns:p14="http://schemas.microsoft.com/office/powerpoint/2010/main" val="56778158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0C782DBB-28A2-49A2-A912-59A23C4A2F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C0AA26-3A2B-44B6-9643-D5998804D8E2}"/>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10 · ENGINE COST</a:t>
            </a:r>
          </a:p>
        </p:txBody>
      </p:sp>
      <p:sp>
        <p:nvSpPr>
          <p:cNvPr id="3" name="">
            <a:extLst xmlns:a="http://schemas.openxmlformats.org/drawingml/2006/main">
              <a:ext uri="{FF2B5EF4-FFF2-40B4-BE49-F238E27FC236}">
                <a16:creationId xmlns:a16="http://schemas.microsoft.com/office/drawing/2014/main" id="{70453A0E-9E8F-44F3-998B-0FF6B47BDF86}"/>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query row costs about 3,242 cycles</a:t>
            </a:r>
          </a:p>
        </p:txBody>
      </p:sp>
      <p:sp>
        <p:nvSpPr>
          <p:cNvPr id="4" name="">
            <a:extLst xmlns:a="http://schemas.openxmlformats.org/drawingml/2006/main">
              <a:ext uri="{FF2B5EF4-FFF2-40B4-BE49-F238E27FC236}">
                <a16:creationId xmlns:a16="http://schemas.microsoft.com/office/drawing/2014/main" id="{4A83B5EA-8A25-445B-959C-DEBC0561779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Analytic, at 16 lanes, 400 keys, 32-byte keys and 64-byte values; the bench figure comes at bring-up</a:t>
            </a:r>
          </a:p>
        </p:txBody>
      </p:sp>
      <p:sp>
        <p:nvSpPr>
          <p:cNvPr id="5" name="">
            <a:extLst xmlns:a="http://schemas.openxmlformats.org/drawingml/2006/main">
              <a:ext uri="{FF2B5EF4-FFF2-40B4-BE49-F238E27FC236}">
                <a16:creationId xmlns:a16="http://schemas.microsoft.com/office/drawing/2014/main" id="{000C571E-AC8F-4152-87F9-9FAC647E2269}"/>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9D313AE-6F5B-4F12-B489-B29F8F4A970B}"/>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89B0E4F-8868-41DA-91CB-3D2621E5E1CE}"/>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DFF9249D-8472-4245-8632-0B6B015B0F46}"/>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10</a:t>
            </a:r>
          </a:p>
        </p:txBody>
      </p:sp>
      <p:sp>
        <p:nvSpPr>
          <p:cNvPr id="9" name="">
            <a:extLst xmlns:a="http://schemas.openxmlformats.org/drawingml/2006/main">
              <a:ext uri="{FF2B5EF4-FFF2-40B4-BE49-F238E27FC236}">
                <a16:creationId xmlns:a16="http://schemas.microsoft.com/office/drawing/2014/main" id="{8905FADE-ECBD-4427-9B25-441451D5A45A}"/>
              </a:ext>
            </a:extLst>
          </p:cNvPr>
          <p:cNvSpPr>
            <a:spLocks xmlns:a="http://schemas.openxmlformats.org/drawingml/2006/main" noGrp="1"/>
          </p:cNvSpPr>
          <p:nvPr/>
        </p:nvSpPr>
        <p:spPr>
          <a:xfrm xmlns:a="http://schemas.openxmlformats.org/drawingml/2006/main">
            <a:off x="457200" y="1619250"/>
            <a:ext cx="609600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594BBE7-A624-4121-A7D0-C553EE97DCAF}"/>
              </a:ext>
            </a:extLst>
          </p:cNvPr>
          <p:cNvSpPr>
            <a:spLocks xmlns:a="http://schemas.openxmlformats.org/drawingml/2006/main" noGrp="1"/>
          </p:cNvSpPr>
          <p:nvPr/>
        </p:nvSpPr>
        <p:spPr>
          <a:xfrm xmlns:a="http://schemas.openxmlformats.org/drawingml/2006/main">
            <a:off x="590550" y="1733550"/>
            <a:ext cx="1809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TERM</a:t>
            </a:r>
          </a:p>
        </p:txBody>
      </p:sp>
      <p:sp>
        <p:nvSpPr>
          <p:cNvPr id="11" name="">
            <a:extLst xmlns:a="http://schemas.openxmlformats.org/drawingml/2006/main">
              <a:ext uri="{FF2B5EF4-FFF2-40B4-BE49-F238E27FC236}">
                <a16:creationId xmlns:a16="http://schemas.microsoft.com/office/drawing/2014/main" id="{20F55888-6C18-445B-86E0-30B654B5929D}"/>
              </a:ext>
            </a:extLst>
          </p:cNvPr>
          <p:cNvSpPr>
            <a:spLocks xmlns:a="http://schemas.openxmlformats.org/drawingml/2006/main" noGrp="1"/>
          </p:cNvSpPr>
          <p:nvPr/>
        </p:nvSpPr>
        <p:spPr>
          <a:xfrm xmlns:a="http://schemas.openxmlformats.org/drawingml/2006/main">
            <a:off x="2590800" y="1733550"/>
            <a:ext cx="2381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HOW IT SCALES</a:t>
            </a:r>
          </a:p>
        </p:txBody>
      </p:sp>
      <p:sp>
        <p:nvSpPr>
          <p:cNvPr id="12" name="">
            <a:extLst xmlns:a="http://schemas.openxmlformats.org/drawingml/2006/main">
              <a:ext uri="{FF2B5EF4-FFF2-40B4-BE49-F238E27FC236}">
                <a16:creationId xmlns:a16="http://schemas.microsoft.com/office/drawing/2014/main" id="{5E9EEBCE-5855-450C-A97F-442A2C711EC3}"/>
              </a:ext>
            </a:extLst>
          </p:cNvPr>
          <p:cNvSpPr>
            <a:spLocks xmlns:a="http://schemas.openxmlformats.org/drawingml/2006/main" noGrp="1"/>
          </p:cNvSpPr>
          <p:nvPr/>
        </p:nvSpPr>
        <p:spPr>
          <a:xfrm xmlns:a="http://schemas.openxmlformats.org/drawingml/2006/main">
            <a:off x="5162550" y="1733550"/>
            <a:ext cx="1333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CYCLES</a:t>
            </a:r>
          </a:p>
        </p:txBody>
      </p:sp>
      <p:sp>
        <p:nvSpPr>
          <p:cNvPr id="13" name="">
            <a:extLst xmlns:a="http://schemas.openxmlformats.org/drawingml/2006/main">
              <a:ext uri="{FF2B5EF4-FFF2-40B4-BE49-F238E27FC236}">
                <a16:creationId xmlns:a16="http://schemas.microsoft.com/office/drawing/2014/main" id="{16E15A16-61C7-4A92-B690-8CE7800609E2}"/>
              </a:ext>
            </a:extLst>
          </p:cNvPr>
          <p:cNvSpPr>
            <a:spLocks xmlns:a="http://schemas.openxmlformats.org/drawingml/2006/main" noGrp="1"/>
          </p:cNvSpPr>
          <p:nvPr/>
        </p:nvSpPr>
        <p:spPr>
          <a:xfrm xmlns:a="http://schemas.openxmlformats.org/drawingml/2006/main">
            <a:off x="457200" y="2000250"/>
            <a:ext cx="6096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FB4F7E2C-1F3E-4BAE-8BBD-EFB47F1D79B5}"/>
              </a:ext>
            </a:extLst>
          </p:cNvPr>
          <p:cNvSpPr>
            <a:spLocks xmlns:a="http://schemas.openxmlformats.org/drawingml/2006/main" noGrp="1"/>
          </p:cNvSpPr>
          <p:nvPr/>
        </p:nvSpPr>
        <p:spPr>
          <a:xfrm xmlns:a="http://schemas.openxmlformats.org/drawingml/2006/main">
            <a:off x="590550" y="21050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Value pass</a:t>
            </a:r>
          </a:p>
        </p:txBody>
      </p:sp>
      <p:sp>
        <p:nvSpPr>
          <p:cNvPr id="15" name="">
            <a:extLst xmlns:a="http://schemas.openxmlformats.org/drawingml/2006/main">
              <a:ext uri="{FF2B5EF4-FFF2-40B4-BE49-F238E27FC236}">
                <a16:creationId xmlns:a16="http://schemas.microsoft.com/office/drawing/2014/main" id="{30122F5E-6B70-4394-97B3-2F8F67EA2B6A}"/>
              </a:ext>
            </a:extLst>
          </p:cNvPr>
          <p:cNvSpPr>
            <a:spLocks xmlns:a="http://schemas.openxmlformats.org/drawingml/2006/main" noGrp="1"/>
          </p:cNvSpPr>
          <p:nvPr/>
        </p:nvSpPr>
        <p:spPr>
          <a:xfrm xmlns:a="http://schemas.openxmlformats.org/drawingml/2006/main">
            <a:off x="2590800" y="2105025"/>
            <a:ext cx="2362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keys × value dim ÷ lanes</a:t>
            </a:r>
          </a:p>
        </p:txBody>
      </p:sp>
      <p:sp>
        <p:nvSpPr>
          <p:cNvPr id="16" name="">
            <a:extLst xmlns:a="http://schemas.openxmlformats.org/drawingml/2006/main">
              <a:ext uri="{FF2B5EF4-FFF2-40B4-BE49-F238E27FC236}">
                <a16:creationId xmlns:a16="http://schemas.microsoft.com/office/drawing/2014/main" id="{38FE0870-CEFE-4790-998E-EB6F80F34FDB}"/>
              </a:ext>
            </a:extLst>
          </p:cNvPr>
          <p:cNvSpPr>
            <a:spLocks xmlns:a="http://schemas.openxmlformats.org/drawingml/2006/main" noGrp="1"/>
          </p:cNvSpPr>
          <p:nvPr/>
        </p:nvSpPr>
        <p:spPr>
          <a:xfrm xmlns:a="http://schemas.openxmlformats.org/drawingml/2006/main">
            <a:off x="5162550" y="2105025"/>
            <a:ext cx="1314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1,600</a:t>
            </a:r>
          </a:p>
        </p:txBody>
      </p:sp>
      <p:sp>
        <p:nvSpPr>
          <p:cNvPr id="17" name="">
            <a:extLst xmlns:a="http://schemas.openxmlformats.org/drawingml/2006/main">
              <a:ext uri="{FF2B5EF4-FFF2-40B4-BE49-F238E27FC236}">
                <a16:creationId xmlns:a16="http://schemas.microsoft.com/office/drawing/2014/main" id="{022FB337-7F6B-417D-A0FD-BC9BC88060C1}"/>
              </a:ext>
            </a:extLst>
          </p:cNvPr>
          <p:cNvSpPr>
            <a:spLocks xmlns:a="http://schemas.openxmlformats.org/drawingml/2006/main" noGrp="1"/>
          </p:cNvSpPr>
          <p:nvPr/>
        </p:nvSpPr>
        <p:spPr>
          <a:xfrm xmlns:a="http://schemas.openxmlformats.org/drawingml/2006/main">
            <a:off x="457200" y="2438400"/>
            <a:ext cx="6096000" cy="4381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473489B2-6982-45DD-AE12-724927BBB464}"/>
              </a:ext>
            </a:extLst>
          </p:cNvPr>
          <p:cNvSpPr>
            <a:spLocks xmlns:a="http://schemas.openxmlformats.org/drawingml/2006/main" noGrp="1"/>
          </p:cNvSpPr>
          <p:nvPr/>
        </p:nvSpPr>
        <p:spPr>
          <a:xfrm xmlns:a="http://schemas.openxmlformats.org/drawingml/2006/main">
            <a:off x="590550" y="254317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Key pass</a:t>
            </a:r>
          </a:p>
        </p:txBody>
      </p:sp>
      <p:sp>
        <p:nvSpPr>
          <p:cNvPr id="19" name="">
            <a:extLst xmlns:a="http://schemas.openxmlformats.org/drawingml/2006/main">
              <a:ext uri="{FF2B5EF4-FFF2-40B4-BE49-F238E27FC236}">
                <a16:creationId xmlns:a16="http://schemas.microsoft.com/office/drawing/2014/main" id="{4F4E5845-7252-4F52-A549-EC8E5DADAAE8}"/>
              </a:ext>
            </a:extLst>
          </p:cNvPr>
          <p:cNvSpPr>
            <a:spLocks xmlns:a="http://schemas.openxmlformats.org/drawingml/2006/main" noGrp="1"/>
          </p:cNvSpPr>
          <p:nvPr/>
        </p:nvSpPr>
        <p:spPr>
          <a:xfrm xmlns:a="http://schemas.openxmlformats.org/drawingml/2006/main">
            <a:off x="2590800" y="2543175"/>
            <a:ext cx="2362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keys × key dim ÷ lanes</a:t>
            </a:r>
          </a:p>
        </p:txBody>
      </p:sp>
      <p:sp>
        <p:nvSpPr>
          <p:cNvPr id="20" name="">
            <a:extLst xmlns:a="http://schemas.openxmlformats.org/drawingml/2006/main">
              <a:ext uri="{FF2B5EF4-FFF2-40B4-BE49-F238E27FC236}">
                <a16:creationId xmlns:a16="http://schemas.microsoft.com/office/drawing/2014/main" id="{90334F0B-6017-470D-9086-3738C939E8F5}"/>
              </a:ext>
            </a:extLst>
          </p:cNvPr>
          <p:cNvSpPr>
            <a:spLocks xmlns:a="http://schemas.openxmlformats.org/drawingml/2006/main" noGrp="1"/>
          </p:cNvSpPr>
          <p:nvPr/>
        </p:nvSpPr>
        <p:spPr>
          <a:xfrm xmlns:a="http://schemas.openxmlformats.org/drawingml/2006/main">
            <a:off x="5162550" y="2543175"/>
            <a:ext cx="1314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800</a:t>
            </a:r>
          </a:p>
        </p:txBody>
      </p:sp>
      <p:sp>
        <p:nvSpPr>
          <p:cNvPr id="21" name="">
            <a:extLst xmlns:a="http://schemas.openxmlformats.org/drawingml/2006/main">
              <a:ext uri="{FF2B5EF4-FFF2-40B4-BE49-F238E27FC236}">
                <a16:creationId xmlns:a16="http://schemas.microsoft.com/office/drawing/2014/main" id="{E106AFC2-7A4E-42AB-B753-9AD5B84266D9}"/>
              </a:ext>
            </a:extLst>
          </p:cNvPr>
          <p:cNvSpPr>
            <a:spLocks xmlns:a="http://schemas.openxmlformats.org/drawingml/2006/main" noGrp="1"/>
          </p:cNvSpPr>
          <p:nvPr/>
        </p:nvSpPr>
        <p:spPr>
          <a:xfrm xmlns:a="http://schemas.openxmlformats.org/drawingml/2006/main">
            <a:off x="457200" y="2876550"/>
            <a:ext cx="6096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DA057494-3EB6-433F-B9AB-3279E2194DD3}"/>
              </a:ext>
            </a:extLst>
          </p:cNvPr>
          <p:cNvSpPr>
            <a:spLocks xmlns:a="http://schemas.openxmlformats.org/drawingml/2006/main" noGrp="1"/>
          </p:cNvSpPr>
          <p:nvPr/>
        </p:nvSpPr>
        <p:spPr>
          <a:xfrm xmlns:a="http://schemas.openxmlformats.org/drawingml/2006/main">
            <a:off x="590550" y="29813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Requantise</a:t>
            </a:r>
          </a:p>
        </p:txBody>
      </p:sp>
      <p:sp>
        <p:nvSpPr>
          <p:cNvPr id="23" name="">
            <a:extLst xmlns:a="http://schemas.openxmlformats.org/drawingml/2006/main">
              <a:ext uri="{FF2B5EF4-FFF2-40B4-BE49-F238E27FC236}">
                <a16:creationId xmlns:a16="http://schemas.microsoft.com/office/drawing/2014/main" id="{9D570BCC-46FB-4694-8EDD-5C5E927E946F}"/>
              </a:ext>
            </a:extLst>
          </p:cNvPr>
          <p:cNvSpPr>
            <a:spLocks xmlns:a="http://schemas.openxmlformats.org/drawingml/2006/main" noGrp="1"/>
          </p:cNvSpPr>
          <p:nvPr/>
        </p:nvSpPr>
        <p:spPr>
          <a:xfrm xmlns:a="http://schemas.openxmlformats.org/drawingml/2006/main">
            <a:off x="2590800" y="2981325"/>
            <a:ext cx="2362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11 × value dim</a:t>
            </a:r>
          </a:p>
        </p:txBody>
      </p:sp>
      <p:sp>
        <p:nvSpPr>
          <p:cNvPr id="24" name="">
            <a:extLst xmlns:a="http://schemas.openxmlformats.org/drawingml/2006/main">
              <a:ext uri="{FF2B5EF4-FFF2-40B4-BE49-F238E27FC236}">
                <a16:creationId xmlns:a16="http://schemas.microsoft.com/office/drawing/2014/main" id="{39D8FEE3-D2A7-43B7-B1B2-53D7046F9EB0}"/>
              </a:ext>
            </a:extLst>
          </p:cNvPr>
          <p:cNvSpPr>
            <a:spLocks xmlns:a="http://schemas.openxmlformats.org/drawingml/2006/main" noGrp="1"/>
          </p:cNvSpPr>
          <p:nvPr/>
        </p:nvSpPr>
        <p:spPr>
          <a:xfrm xmlns:a="http://schemas.openxmlformats.org/drawingml/2006/main">
            <a:off x="5162550" y="2981325"/>
            <a:ext cx="1314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704</a:t>
            </a:r>
          </a:p>
        </p:txBody>
      </p:sp>
      <p:sp>
        <p:nvSpPr>
          <p:cNvPr id="25" name="">
            <a:extLst xmlns:a="http://schemas.openxmlformats.org/drawingml/2006/main">
              <a:ext uri="{FF2B5EF4-FFF2-40B4-BE49-F238E27FC236}">
                <a16:creationId xmlns:a16="http://schemas.microsoft.com/office/drawing/2014/main" id="{69EC5792-771D-42E4-A4EF-A5E7259DF934}"/>
              </a:ext>
            </a:extLst>
          </p:cNvPr>
          <p:cNvSpPr>
            <a:spLocks xmlns:a="http://schemas.openxmlformats.org/drawingml/2006/main" noGrp="1"/>
          </p:cNvSpPr>
          <p:nvPr/>
        </p:nvSpPr>
        <p:spPr>
          <a:xfrm xmlns:a="http://schemas.openxmlformats.org/drawingml/2006/main">
            <a:off x="457200" y="3314700"/>
            <a:ext cx="6096000" cy="4381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302677AE-591F-450D-8814-E87110B74158}"/>
              </a:ext>
            </a:extLst>
          </p:cNvPr>
          <p:cNvSpPr>
            <a:spLocks xmlns:a="http://schemas.openxmlformats.org/drawingml/2006/main" noGrp="1"/>
          </p:cNvSpPr>
          <p:nvPr/>
        </p:nvSpPr>
        <p:spPr>
          <a:xfrm xmlns:a="http://schemas.openxmlformats.org/drawingml/2006/main">
            <a:off x="590550" y="341947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Write back + drain</a:t>
            </a:r>
          </a:p>
        </p:txBody>
      </p:sp>
      <p:sp>
        <p:nvSpPr>
          <p:cNvPr id="27" name="">
            <a:extLst xmlns:a="http://schemas.openxmlformats.org/drawingml/2006/main">
              <a:ext uri="{FF2B5EF4-FFF2-40B4-BE49-F238E27FC236}">
                <a16:creationId xmlns:a16="http://schemas.microsoft.com/office/drawing/2014/main" id="{1CF6AFF5-0B10-4CD5-941F-671E1837C360}"/>
              </a:ext>
            </a:extLst>
          </p:cNvPr>
          <p:cNvSpPr>
            <a:spLocks xmlns:a="http://schemas.openxmlformats.org/drawingml/2006/main" noGrp="1"/>
          </p:cNvSpPr>
          <p:nvPr/>
        </p:nvSpPr>
        <p:spPr>
          <a:xfrm xmlns:a="http://schemas.openxmlformats.org/drawingml/2006/main">
            <a:off x="2590800" y="3419475"/>
            <a:ext cx="2362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remainder</a:t>
            </a:r>
          </a:p>
        </p:txBody>
      </p:sp>
      <p:sp>
        <p:nvSpPr>
          <p:cNvPr id="28" name="">
            <a:extLst xmlns:a="http://schemas.openxmlformats.org/drawingml/2006/main">
              <a:ext uri="{FF2B5EF4-FFF2-40B4-BE49-F238E27FC236}">
                <a16:creationId xmlns:a16="http://schemas.microsoft.com/office/drawing/2014/main" id="{DB3648A1-AB5B-4035-A5C4-15D214D8FC7C}"/>
              </a:ext>
            </a:extLst>
          </p:cNvPr>
          <p:cNvSpPr>
            <a:spLocks xmlns:a="http://schemas.openxmlformats.org/drawingml/2006/main" noGrp="1"/>
          </p:cNvSpPr>
          <p:nvPr/>
        </p:nvSpPr>
        <p:spPr>
          <a:xfrm xmlns:a="http://schemas.openxmlformats.org/drawingml/2006/main">
            <a:off x="5162550" y="3419475"/>
            <a:ext cx="1314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~90</a:t>
            </a:r>
          </a:p>
        </p:txBody>
      </p:sp>
      <p:sp>
        <p:nvSpPr>
          <p:cNvPr id="29" name="">
            <a:extLst xmlns:a="http://schemas.openxmlformats.org/drawingml/2006/main">
              <a:ext uri="{FF2B5EF4-FFF2-40B4-BE49-F238E27FC236}">
                <a16:creationId xmlns:a16="http://schemas.microsoft.com/office/drawing/2014/main" id="{DC8F3398-C4CB-4CDA-8811-5F20153C5B0A}"/>
              </a:ext>
            </a:extLst>
          </p:cNvPr>
          <p:cNvSpPr>
            <a:spLocks xmlns:a="http://schemas.openxmlformats.org/drawingml/2006/main" noGrp="1"/>
          </p:cNvSpPr>
          <p:nvPr/>
        </p:nvSpPr>
        <p:spPr>
          <a:xfrm xmlns:a="http://schemas.openxmlformats.org/drawingml/2006/main">
            <a:off x="457200" y="3752850"/>
            <a:ext cx="6096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5FB4C70C-9562-487B-B5C3-A96EECF14361}"/>
              </a:ext>
            </a:extLst>
          </p:cNvPr>
          <p:cNvSpPr>
            <a:spLocks xmlns:a="http://schemas.openxmlformats.org/drawingml/2006/main" noGrp="1"/>
          </p:cNvSpPr>
          <p:nvPr/>
        </p:nvSpPr>
        <p:spPr>
          <a:xfrm xmlns:a="http://schemas.openxmlformats.org/drawingml/2006/main">
            <a:off x="590550" y="38576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Divide</a:t>
            </a:r>
          </a:p>
        </p:txBody>
      </p:sp>
      <p:sp>
        <p:nvSpPr>
          <p:cNvPr id="31" name="">
            <a:extLst xmlns:a="http://schemas.openxmlformats.org/drawingml/2006/main">
              <a:ext uri="{FF2B5EF4-FFF2-40B4-BE49-F238E27FC236}">
                <a16:creationId xmlns:a16="http://schemas.microsoft.com/office/drawing/2014/main" id="{7A024A3F-9389-486C-A976-A31CD60E13B8}"/>
              </a:ext>
            </a:extLst>
          </p:cNvPr>
          <p:cNvSpPr>
            <a:spLocks xmlns:a="http://schemas.openxmlformats.org/drawingml/2006/main" noGrp="1"/>
          </p:cNvSpPr>
          <p:nvPr/>
        </p:nvSpPr>
        <p:spPr>
          <a:xfrm xmlns:a="http://schemas.openxmlformats.org/drawingml/2006/main">
            <a:off x="2590800" y="3857625"/>
            <a:ext cx="2362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48-step restoring</a:t>
            </a:r>
          </a:p>
        </p:txBody>
      </p:sp>
      <p:sp>
        <p:nvSpPr>
          <p:cNvPr id="32" name="">
            <a:extLst xmlns:a="http://schemas.openxmlformats.org/drawingml/2006/main">
              <a:ext uri="{FF2B5EF4-FFF2-40B4-BE49-F238E27FC236}">
                <a16:creationId xmlns:a16="http://schemas.microsoft.com/office/drawing/2014/main" id="{FB10995F-4A4E-49C8-A532-F55D45BF42D4}"/>
              </a:ext>
            </a:extLst>
          </p:cNvPr>
          <p:cNvSpPr>
            <a:spLocks xmlns:a="http://schemas.openxmlformats.org/drawingml/2006/main" noGrp="1"/>
          </p:cNvSpPr>
          <p:nvPr/>
        </p:nvSpPr>
        <p:spPr>
          <a:xfrm xmlns:a="http://schemas.openxmlformats.org/drawingml/2006/main">
            <a:off x="5162550" y="3857625"/>
            <a:ext cx="1314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48</a:t>
            </a:r>
          </a:p>
        </p:txBody>
      </p:sp>
      <p:sp>
        <p:nvSpPr>
          <p:cNvPr id="33" name="">
            <a:extLst xmlns:a="http://schemas.openxmlformats.org/drawingml/2006/main">
              <a:ext uri="{FF2B5EF4-FFF2-40B4-BE49-F238E27FC236}">
                <a16:creationId xmlns:a16="http://schemas.microsoft.com/office/drawing/2014/main" id="{76799550-15BC-4353-9AC2-BCC4CCC57407}"/>
              </a:ext>
            </a:extLst>
          </p:cNvPr>
          <p:cNvSpPr>
            <a:spLocks xmlns:a="http://schemas.openxmlformats.org/drawingml/2006/main" noGrp="1"/>
          </p:cNvSpPr>
          <p:nvPr/>
        </p:nvSpPr>
        <p:spPr>
          <a:xfrm xmlns:a="http://schemas.openxmlformats.org/drawingml/2006/main">
            <a:off x="6858000" y="1619250"/>
            <a:ext cx="4876800" cy="1676400"/>
          </a:xfrm>
          <a:prstGeom xmlns:a="http://schemas.openxmlformats.org/drawingml/2006/main" prst="roundRect">
            <a:avLst>
              <a:gd name="adj" fmla="val 4545"/>
            </a:avLst>
          </a:prstGeom>
          <a:solidFill xmlns:a="http://schemas.openxmlformats.org/drawingml/2006/main">
            <a:srgbClr val="F8FA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5406967A-69D7-4A78-8D13-D20D65E1203A}"/>
              </a:ext>
            </a:extLst>
          </p:cNvPr>
          <p:cNvSpPr>
            <a:spLocks xmlns:a="http://schemas.openxmlformats.org/drawingml/2006/main" noGrp="1"/>
          </p:cNvSpPr>
          <p:nvPr/>
        </p:nvSpPr>
        <p:spPr>
          <a:xfrm xmlns:a="http://schemas.openxmlformats.org/drawingml/2006/main">
            <a:off x="6972300" y="1771650"/>
            <a:ext cx="46482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077A3"/>
                </a:solidFill>
                <a:latin typeface="Georgia"/>
                <a:ea typeface="Georgia"/>
                <a:cs typeface="Georgia"/>
              </a:defRPr>
            </a:pPr>
            <a:r>
              <a:t>~3,242 cycles</a:t>
            </a:r>
          </a:p>
        </p:txBody>
      </p:sp>
      <p:sp>
        <p:nvSpPr>
          <p:cNvPr id="35" name="">
            <a:extLst xmlns:a="http://schemas.openxmlformats.org/drawingml/2006/main">
              <a:ext uri="{FF2B5EF4-FFF2-40B4-BE49-F238E27FC236}">
                <a16:creationId xmlns:a16="http://schemas.microsoft.com/office/drawing/2014/main" id="{7C647CD0-DCC0-4AB6-B661-71A5D2F538C7}"/>
              </a:ext>
            </a:extLst>
          </p:cNvPr>
          <p:cNvSpPr>
            <a:spLocks xmlns:a="http://schemas.openxmlformats.org/drawingml/2006/main" noGrp="1"/>
          </p:cNvSpPr>
          <p:nvPr/>
        </p:nvSpPr>
        <p:spPr>
          <a:xfrm xmlns:a="http://schemas.openxmlformats.org/drawingml/2006/main">
            <a:off x="6972300" y="2333625"/>
            <a:ext cx="46482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PER QUERY ROW</a:t>
            </a:r>
          </a:p>
        </p:txBody>
      </p:sp>
      <p:sp>
        <p:nvSpPr>
          <p:cNvPr id="36" name="">
            <a:extLst xmlns:a="http://schemas.openxmlformats.org/drawingml/2006/main">
              <a:ext uri="{FF2B5EF4-FFF2-40B4-BE49-F238E27FC236}">
                <a16:creationId xmlns:a16="http://schemas.microsoft.com/office/drawing/2014/main" id="{8D1DE66A-911F-4579-B458-8EB3F93BBAC0}"/>
              </a:ext>
            </a:extLst>
          </p:cNvPr>
          <p:cNvSpPr>
            <a:spLocks xmlns:a="http://schemas.openxmlformats.org/drawingml/2006/main" noGrp="1"/>
          </p:cNvSpPr>
          <p:nvPr/>
        </p:nvSpPr>
        <p:spPr>
          <a:xfrm xmlns:a="http://schemas.openxmlformats.org/drawingml/2006/main">
            <a:off x="6991350" y="2581275"/>
            <a:ext cx="4610100" cy="657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Analytic; the steady-state bench measurement is a bring-up item</a:t>
            </a:r>
          </a:p>
        </p:txBody>
      </p:sp>
      <p:sp>
        <p:nvSpPr>
          <p:cNvPr id="37" name="">
            <a:extLst xmlns:a="http://schemas.openxmlformats.org/drawingml/2006/main">
              <a:ext uri="{FF2B5EF4-FFF2-40B4-BE49-F238E27FC236}">
                <a16:creationId xmlns:a16="http://schemas.microsoft.com/office/drawing/2014/main" id="{199D80B4-2186-4B6E-A944-9D1EAA2F042C}"/>
              </a:ext>
            </a:extLst>
          </p:cNvPr>
          <p:cNvSpPr>
            <a:spLocks xmlns:a="http://schemas.openxmlformats.org/drawingml/2006/main" noGrp="1"/>
          </p:cNvSpPr>
          <p:nvPr/>
        </p:nvSpPr>
        <p:spPr>
          <a:xfrm xmlns:a="http://schemas.openxmlformats.org/drawingml/2006/main">
            <a:off x="6858000" y="3486150"/>
            <a:ext cx="4876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C8E3B98A-75F1-4AD6-BE67-D4079D9C2A9E}"/>
              </a:ext>
            </a:extLst>
          </p:cNvPr>
          <p:cNvSpPr>
            <a:spLocks xmlns:a="http://schemas.openxmlformats.org/drawingml/2006/main" noGrp="1"/>
          </p:cNvSpPr>
          <p:nvPr/>
        </p:nvSpPr>
        <p:spPr>
          <a:xfrm xmlns:a="http://schemas.openxmlformats.org/drawingml/2006/main">
            <a:off x="6858000" y="34861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2A415797-28A8-4366-A4C3-0BF8FF7D806F}"/>
              </a:ext>
            </a:extLst>
          </p:cNvPr>
          <p:cNvSpPr>
            <a:spLocks xmlns:a="http://schemas.openxmlformats.org/drawingml/2006/main" noGrp="1"/>
          </p:cNvSpPr>
          <p:nvPr/>
        </p:nvSpPr>
        <p:spPr>
          <a:xfrm xmlns:a="http://schemas.openxmlformats.org/drawingml/2006/main">
            <a:off x="7086600" y="3676650"/>
            <a:ext cx="4457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The value pass dominates</a:t>
            </a:r>
          </a:p>
        </p:txBody>
      </p:sp>
      <p:sp>
        <p:nvSpPr>
          <p:cNvPr id="40" name="">
            <a:extLst xmlns:a="http://schemas.openxmlformats.org/drawingml/2006/main">
              <a:ext uri="{FF2B5EF4-FFF2-40B4-BE49-F238E27FC236}">
                <a16:creationId xmlns:a16="http://schemas.microsoft.com/office/drawing/2014/main" id="{88274376-7723-4156-81A4-CAED3BFA0B41}"/>
              </a:ext>
            </a:extLst>
          </p:cNvPr>
          <p:cNvSpPr>
            <a:spLocks xmlns:a="http://schemas.openxmlformats.org/drawingml/2006/main" noGrp="1"/>
          </p:cNvSpPr>
          <p:nvPr/>
        </p:nvSpPr>
        <p:spPr>
          <a:xfrm xmlns:a="http://schemas.openxmlformats.org/drawingml/2006/main">
            <a:off x="7086600" y="4038600"/>
            <a:ext cx="4419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Half of each row is the weighted sum over the values; the key pass is a quarter.</a:t>
            </a:r>
          </a:p>
        </p:txBody>
      </p:sp>
      <p:sp>
        <p:nvSpPr>
          <p:cNvPr id="41" name="">
            <a:extLst xmlns:a="http://schemas.openxmlformats.org/drawingml/2006/main">
              <a:ext uri="{FF2B5EF4-FFF2-40B4-BE49-F238E27FC236}">
                <a16:creationId xmlns:a16="http://schemas.microsoft.com/office/drawing/2014/main" id="{673374A6-8DA8-425B-A5AD-A1F86CB8EC60}"/>
              </a:ext>
            </a:extLst>
          </p:cNvPr>
          <p:cNvSpPr>
            <a:spLocks xmlns:a="http://schemas.openxmlformats.org/drawingml/2006/main" noGrp="1"/>
          </p:cNvSpPr>
          <p:nvPr/>
        </p:nvSpPr>
        <p:spPr>
          <a:xfrm xmlns:a="http://schemas.openxmlformats.org/drawingml/2006/main">
            <a:off x="457200" y="4876800"/>
            <a:ext cx="11277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ONE QUERY ROW, DRAWN TO SCALE (~3,242 CYCLES)</a:t>
            </a:r>
          </a:p>
        </p:txBody>
      </p:sp>
      <p:sp>
        <p:nvSpPr>
          <p:cNvPr id="42" name="">
            <a:extLst xmlns:a="http://schemas.openxmlformats.org/drawingml/2006/main">
              <a:ext uri="{FF2B5EF4-FFF2-40B4-BE49-F238E27FC236}">
                <a16:creationId xmlns:a16="http://schemas.microsoft.com/office/drawing/2014/main" id="{6B5094C9-89C7-4FE8-8101-619BA1CE528B}"/>
              </a:ext>
            </a:extLst>
          </p:cNvPr>
          <p:cNvSpPr>
            <a:spLocks xmlns:a="http://schemas.openxmlformats.org/drawingml/2006/main" noGrp="1"/>
          </p:cNvSpPr>
          <p:nvPr/>
        </p:nvSpPr>
        <p:spPr>
          <a:xfrm xmlns:a="http://schemas.openxmlformats.org/drawingml/2006/main">
            <a:off x="457200" y="5143500"/>
            <a:ext cx="5565750" cy="6096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E55958D-4B55-4EEB-B9DA-EA96E6A47657}"/>
              </a:ext>
            </a:extLst>
          </p:cNvPr>
          <p:cNvSpPr>
            <a:spLocks xmlns:a="http://schemas.openxmlformats.org/drawingml/2006/main" noGrp="1"/>
          </p:cNvSpPr>
          <p:nvPr/>
        </p:nvSpPr>
        <p:spPr>
          <a:xfrm xmlns:a="http://schemas.openxmlformats.org/drawingml/2006/main">
            <a:off x="571500" y="5334000"/>
            <a:ext cx="53752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Values 49%</a:t>
            </a:r>
          </a:p>
        </p:txBody>
      </p:sp>
      <p:sp>
        <p:nvSpPr>
          <p:cNvPr id="44" name="">
            <a:extLst xmlns:a="http://schemas.openxmlformats.org/drawingml/2006/main">
              <a:ext uri="{FF2B5EF4-FFF2-40B4-BE49-F238E27FC236}">
                <a16:creationId xmlns:a16="http://schemas.microsoft.com/office/drawing/2014/main" id="{AF24C5FD-A7D0-4233-90D0-5EA36810DEFA}"/>
              </a:ext>
            </a:extLst>
          </p:cNvPr>
          <p:cNvSpPr>
            <a:spLocks xmlns:a="http://schemas.openxmlformats.org/drawingml/2006/main" noGrp="1"/>
          </p:cNvSpPr>
          <p:nvPr/>
        </p:nvSpPr>
        <p:spPr>
          <a:xfrm xmlns:a="http://schemas.openxmlformats.org/drawingml/2006/main">
            <a:off x="6022950" y="5143500"/>
            <a:ext cx="2782875" cy="6096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3BFC649-0997-43B9-98F0-2AEC2EFEFD09}"/>
              </a:ext>
            </a:extLst>
          </p:cNvPr>
          <p:cNvSpPr>
            <a:spLocks xmlns:a="http://schemas.openxmlformats.org/drawingml/2006/main" noGrp="1"/>
          </p:cNvSpPr>
          <p:nvPr/>
        </p:nvSpPr>
        <p:spPr>
          <a:xfrm xmlns:a="http://schemas.openxmlformats.org/drawingml/2006/main">
            <a:off x="6137250" y="5334000"/>
            <a:ext cx="25923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Keys 25%</a:t>
            </a:r>
          </a:p>
        </p:txBody>
      </p:sp>
      <p:sp>
        <p:nvSpPr>
          <p:cNvPr id="46" name="">
            <a:extLst xmlns:a="http://schemas.openxmlformats.org/drawingml/2006/main">
              <a:ext uri="{FF2B5EF4-FFF2-40B4-BE49-F238E27FC236}">
                <a16:creationId xmlns:a16="http://schemas.microsoft.com/office/drawing/2014/main" id="{841D892D-E6B8-46E9-8A52-2B8E7F861BC8}"/>
              </a:ext>
            </a:extLst>
          </p:cNvPr>
          <p:cNvSpPr>
            <a:spLocks xmlns:a="http://schemas.openxmlformats.org/drawingml/2006/main" noGrp="1"/>
          </p:cNvSpPr>
          <p:nvPr/>
        </p:nvSpPr>
        <p:spPr>
          <a:xfrm xmlns:a="http://schemas.openxmlformats.org/drawingml/2006/main">
            <a:off x="8805824" y="5143500"/>
            <a:ext cx="2448930" cy="6096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B4C8B704-C378-4E97-9727-CC81BCEB922F}"/>
              </a:ext>
            </a:extLst>
          </p:cNvPr>
          <p:cNvSpPr>
            <a:spLocks xmlns:a="http://schemas.openxmlformats.org/drawingml/2006/main" noGrp="1"/>
          </p:cNvSpPr>
          <p:nvPr/>
        </p:nvSpPr>
        <p:spPr>
          <a:xfrm xmlns:a="http://schemas.openxmlformats.org/drawingml/2006/main">
            <a:off x="8920124" y="5334000"/>
            <a:ext cx="225843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Requantise 22%</a:t>
            </a:r>
          </a:p>
        </p:txBody>
      </p:sp>
      <p:sp>
        <p:nvSpPr>
          <p:cNvPr id="48" name="">
            <a:extLst xmlns:a="http://schemas.openxmlformats.org/drawingml/2006/main">
              <a:ext uri="{FF2B5EF4-FFF2-40B4-BE49-F238E27FC236}">
                <a16:creationId xmlns:a16="http://schemas.microsoft.com/office/drawing/2014/main" id="{08720B43-FDCA-4BE3-B739-7E7355A81C8E}"/>
              </a:ext>
            </a:extLst>
          </p:cNvPr>
          <p:cNvSpPr>
            <a:spLocks xmlns:a="http://schemas.openxmlformats.org/drawingml/2006/main" noGrp="1"/>
          </p:cNvSpPr>
          <p:nvPr/>
        </p:nvSpPr>
        <p:spPr>
          <a:xfrm xmlns:a="http://schemas.openxmlformats.org/drawingml/2006/main">
            <a:off x="11254754" y="5143500"/>
            <a:ext cx="480046" cy="609600"/>
          </a:xfrm>
          <a:prstGeom xmlns:a="http://schemas.openxmlformats.org/drawingml/2006/main" prst="rect">
            <a:avLst/>
          </a:prstGeom>
          <a:solidFill xmlns:a="http://schemas.openxmlformats.org/drawingml/2006/main">
            <a:srgbClr val="6B728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DF512C4C-33DE-4673-8FEA-B4CE671921B2}"/>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block architecture §4.18, analytic cost. Term split and shares derived; write back + drain = 3,242 − 3,152.</a:t>
            </a:r>
          </a:p>
        </p:txBody>
      </p:sp>
    </p:spTree>
    <p:extLst>
      <p:ext uri="{BB962C8B-B14F-4D97-AF65-F5344CB8AC3E}">
        <p14:creationId xmlns:p14="http://schemas.microsoft.com/office/powerpoint/2010/main" val="138607813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FDDA644-C735-4DDA-9947-72DB6EE565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53A7B8-1A79-4FBF-8F45-A620E141D0AB}"/>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11 · TIMING AND DIE</a:t>
            </a:r>
          </a:p>
        </p:txBody>
      </p:sp>
      <p:sp>
        <p:nvSpPr>
          <p:cNvPr id="3" name="">
            <a:extLst xmlns:a="http://schemas.openxmlformats.org/drawingml/2006/main">
              <a:ext uri="{FF2B5EF4-FFF2-40B4-BE49-F238E27FC236}">
                <a16:creationId xmlns:a16="http://schemas.microsoft.com/office/drawing/2014/main" id="{60931979-2A27-4FB8-952E-81B7FED0B687}"/>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Both clocks close timing on a larger die</a:t>
            </a:r>
          </a:p>
        </p:txBody>
      </p:sp>
      <p:sp>
        <p:nvSpPr>
          <p:cNvPr id="4" name="">
            <a:extLst xmlns:a="http://schemas.openxmlformats.org/drawingml/2006/main">
              <a:ext uri="{FF2B5EF4-FFF2-40B4-BE49-F238E27FC236}">
                <a16:creationId xmlns:a16="http://schemas.microsoft.com/office/drawing/2014/main" id="{6D418BFE-5521-4CC9-95A6-BE75583FCB7B}"/>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Post-route results on the 130 nm process; silicon measurements follow bring-up</a:t>
            </a:r>
          </a:p>
        </p:txBody>
      </p:sp>
      <p:sp>
        <p:nvSpPr>
          <p:cNvPr id="5" name="">
            <a:extLst xmlns:a="http://schemas.openxmlformats.org/drawingml/2006/main">
              <a:ext uri="{FF2B5EF4-FFF2-40B4-BE49-F238E27FC236}">
                <a16:creationId xmlns:a16="http://schemas.microsoft.com/office/drawing/2014/main" id="{D9B2872E-DF97-4D84-BB87-2B1EDAC3A474}"/>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ED68D34-E224-4291-BD3D-8F9B92A5AB44}"/>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D6D9B9A-31EE-484D-8B2A-6195B46A3F4B}"/>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7171B16B-7BCB-445F-9FD9-453E4DFAF27F}"/>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11</a:t>
            </a:r>
          </a:p>
        </p:txBody>
      </p:sp>
      <p:sp>
        <p:nvSpPr>
          <p:cNvPr id="9" name="">
            <a:extLst xmlns:a="http://schemas.openxmlformats.org/drawingml/2006/main">
              <a:ext uri="{FF2B5EF4-FFF2-40B4-BE49-F238E27FC236}">
                <a16:creationId xmlns:a16="http://schemas.microsoft.com/office/drawing/2014/main" id="{097B2D8A-29E9-4DFB-94E4-1C14564C27B9}"/>
              </a:ext>
            </a:extLst>
          </p:cNvPr>
          <p:cNvSpPr>
            <a:spLocks xmlns:a="http://schemas.openxmlformats.org/drawingml/2006/main" noGrp="1"/>
          </p:cNvSpPr>
          <p:nvPr/>
        </p:nvSpPr>
        <p:spPr>
          <a:xfrm xmlns:a="http://schemas.openxmlformats.org/drawingml/2006/main">
            <a:off x="457200" y="1676400"/>
            <a:ext cx="2667000" cy="18669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F7365591-F571-48A4-937E-FD3C2D67CD77}"/>
              </a:ext>
            </a:extLst>
          </p:cNvPr>
          <p:cNvSpPr>
            <a:spLocks xmlns:a="http://schemas.openxmlformats.org/drawingml/2006/main" noGrp="1"/>
          </p:cNvSpPr>
          <p:nvPr/>
        </p:nvSpPr>
        <p:spPr>
          <a:xfrm xmlns:a="http://schemas.openxmlformats.org/drawingml/2006/main">
            <a:off x="571500" y="1828800"/>
            <a:ext cx="2438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077A3"/>
                </a:solidFill>
                <a:latin typeface="Georgia"/>
                <a:ea typeface="Georgia"/>
                <a:cs typeface="Georgia"/>
              </a:defRPr>
            </a:pPr>
            <a:r>
              <a:t>+0.30 ns</a:t>
            </a:r>
          </a:p>
        </p:txBody>
      </p:sp>
      <p:sp>
        <p:nvSpPr>
          <p:cNvPr id="11" name="">
            <a:extLst xmlns:a="http://schemas.openxmlformats.org/drawingml/2006/main">
              <a:ext uri="{FF2B5EF4-FFF2-40B4-BE49-F238E27FC236}">
                <a16:creationId xmlns:a16="http://schemas.microsoft.com/office/drawing/2014/main" id="{966A8342-33F9-45D9-A35D-739B565E57ED}"/>
              </a:ext>
            </a:extLst>
          </p:cNvPr>
          <p:cNvSpPr>
            <a:spLocks xmlns:a="http://schemas.openxmlformats.org/drawingml/2006/main" noGrp="1"/>
          </p:cNvSpPr>
          <p:nvPr/>
        </p:nvSpPr>
        <p:spPr>
          <a:xfrm xmlns:a="http://schemas.openxmlformats.org/drawingml/2006/main">
            <a:off x="571500" y="2333625"/>
            <a:ext cx="24384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SLACK AT 50 MHZ</a:t>
            </a:r>
          </a:p>
        </p:txBody>
      </p:sp>
      <p:sp>
        <p:nvSpPr>
          <p:cNvPr id="12" name="">
            <a:extLst xmlns:a="http://schemas.openxmlformats.org/drawingml/2006/main">
              <a:ext uri="{FF2B5EF4-FFF2-40B4-BE49-F238E27FC236}">
                <a16:creationId xmlns:a16="http://schemas.microsoft.com/office/drawing/2014/main" id="{C2F0EF19-30F9-42AA-BF27-3FC7E8F78093}"/>
              </a:ext>
            </a:extLst>
          </p:cNvPr>
          <p:cNvSpPr>
            <a:spLocks xmlns:a="http://schemas.openxmlformats.org/drawingml/2006/main" noGrp="1"/>
          </p:cNvSpPr>
          <p:nvPr/>
        </p:nvSpPr>
        <p:spPr>
          <a:xfrm xmlns:a="http://schemas.openxmlformats.org/drawingml/2006/main">
            <a:off x="590550" y="2581275"/>
            <a:ext cx="24003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Control domain, post-route</a:t>
            </a:r>
          </a:p>
        </p:txBody>
      </p:sp>
      <p:sp>
        <p:nvSpPr>
          <p:cNvPr id="13" name="">
            <a:extLst xmlns:a="http://schemas.openxmlformats.org/drawingml/2006/main">
              <a:ext uri="{FF2B5EF4-FFF2-40B4-BE49-F238E27FC236}">
                <a16:creationId xmlns:a16="http://schemas.microsoft.com/office/drawing/2014/main" id="{FC62A57B-5B2C-4E20-9B9E-BB5A52DC507F}"/>
              </a:ext>
            </a:extLst>
          </p:cNvPr>
          <p:cNvSpPr>
            <a:spLocks xmlns:a="http://schemas.openxmlformats.org/drawingml/2006/main" noGrp="1"/>
          </p:cNvSpPr>
          <p:nvPr/>
        </p:nvSpPr>
        <p:spPr>
          <a:xfrm xmlns:a="http://schemas.openxmlformats.org/drawingml/2006/main">
            <a:off x="3324225" y="1676400"/>
            <a:ext cx="2667000" cy="18669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AC65583D-7C5B-46E1-8069-D461F9471809}"/>
              </a:ext>
            </a:extLst>
          </p:cNvPr>
          <p:cNvSpPr>
            <a:spLocks xmlns:a="http://schemas.openxmlformats.org/drawingml/2006/main" noGrp="1"/>
          </p:cNvSpPr>
          <p:nvPr/>
        </p:nvSpPr>
        <p:spPr>
          <a:xfrm xmlns:a="http://schemas.openxmlformats.org/drawingml/2006/main">
            <a:off x="3438525" y="1828800"/>
            <a:ext cx="2438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7686A"/>
                </a:solidFill>
                <a:latin typeface="Georgia"/>
                <a:ea typeface="Georgia"/>
                <a:cs typeface="Georgia"/>
              </a:defRPr>
            </a:pPr>
            <a:r>
              <a:t>+0.19 ns</a:t>
            </a:r>
          </a:p>
        </p:txBody>
      </p:sp>
      <p:sp>
        <p:nvSpPr>
          <p:cNvPr id="15" name="">
            <a:extLst xmlns:a="http://schemas.openxmlformats.org/drawingml/2006/main">
              <a:ext uri="{FF2B5EF4-FFF2-40B4-BE49-F238E27FC236}">
                <a16:creationId xmlns:a16="http://schemas.microsoft.com/office/drawing/2014/main" id="{742F9666-F93C-42CF-B258-DD3866FA3F32}"/>
              </a:ext>
            </a:extLst>
          </p:cNvPr>
          <p:cNvSpPr>
            <a:spLocks xmlns:a="http://schemas.openxmlformats.org/drawingml/2006/main" noGrp="1"/>
          </p:cNvSpPr>
          <p:nvPr/>
        </p:nvSpPr>
        <p:spPr>
          <a:xfrm xmlns:a="http://schemas.openxmlformats.org/drawingml/2006/main">
            <a:off x="3438525" y="2333625"/>
            <a:ext cx="24384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SLACK AT 114 MHZ</a:t>
            </a:r>
          </a:p>
        </p:txBody>
      </p:sp>
      <p:sp>
        <p:nvSpPr>
          <p:cNvPr id="16" name="">
            <a:extLst xmlns:a="http://schemas.openxmlformats.org/drawingml/2006/main">
              <a:ext uri="{FF2B5EF4-FFF2-40B4-BE49-F238E27FC236}">
                <a16:creationId xmlns:a16="http://schemas.microsoft.com/office/drawing/2014/main" id="{482D6701-9016-42C7-8448-531CD3751B12}"/>
              </a:ext>
            </a:extLst>
          </p:cNvPr>
          <p:cNvSpPr>
            <a:spLocks xmlns:a="http://schemas.openxmlformats.org/drawingml/2006/main" noGrp="1"/>
          </p:cNvSpPr>
          <p:nvPr/>
        </p:nvSpPr>
        <p:spPr>
          <a:xfrm xmlns:a="http://schemas.openxmlformats.org/drawingml/2006/main">
            <a:off x="3457575" y="2581275"/>
            <a:ext cx="24003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Compute domain, post-route</a:t>
            </a:r>
          </a:p>
        </p:txBody>
      </p:sp>
      <p:sp>
        <p:nvSpPr>
          <p:cNvPr id="17" name="">
            <a:extLst xmlns:a="http://schemas.openxmlformats.org/drawingml/2006/main">
              <a:ext uri="{FF2B5EF4-FFF2-40B4-BE49-F238E27FC236}">
                <a16:creationId xmlns:a16="http://schemas.microsoft.com/office/drawing/2014/main" id="{C3040C35-2ACE-4264-9299-A43683B81315}"/>
              </a:ext>
            </a:extLst>
          </p:cNvPr>
          <p:cNvSpPr>
            <a:spLocks xmlns:a="http://schemas.openxmlformats.org/drawingml/2006/main" noGrp="1"/>
          </p:cNvSpPr>
          <p:nvPr/>
        </p:nvSpPr>
        <p:spPr>
          <a:xfrm xmlns:a="http://schemas.openxmlformats.org/drawingml/2006/main">
            <a:off x="6191250" y="1676400"/>
            <a:ext cx="2667000" cy="18669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82AEFC05-C047-4684-8E1F-2D33D6F9690D}"/>
              </a:ext>
            </a:extLst>
          </p:cNvPr>
          <p:cNvSpPr>
            <a:spLocks xmlns:a="http://schemas.openxmlformats.org/drawingml/2006/main" noGrp="1"/>
          </p:cNvSpPr>
          <p:nvPr/>
        </p:nvSpPr>
        <p:spPr>
          <a:xfrm xmlns:a="http://schemas.openxmlformats.org/drawingml/2006/main">
            <a:off x="6305550" y="1828800"/>
            <a:ext cx="24384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a:solidFill>
                  <a:srgbClr val="07686A"/>
                </a:solidFill>
                <a:latin typeface="Georgia"/>
                <a:ea typeface="Georgia"/>
                <a:cs typeface="Georgia"/>
              </a:defRPr>
            </a:pPr>
            <a:r>
              <a:t>3.4 × 4.5 mm</a:t>
            </a:r>
          </a:p>
        </p:txBody>
      </p:sp>
      <p:sp>
        <p:nvSpPr>
          <p:cNvPr id="19" name="">
            <a:extLst xmlns:a="http://schemas.openxmlformats.org/drawingml/2006/main">
              <a:ext uri="{FF2B5EF4-FFF2-40B4-BE49-F238E27FC236}">
                <a16:creationId xmlns:a16="http://schemas.microsoft.com/office/drawing/2014/main" id="{303878FA-B3B9-45F7-8070-75980E836D0F}"/>
              </a:ext>
            </a:extLst>
          </p:cNvPr>
          <p:cNvSpPr>
            <a:spLocks xmlns:a="http://schemas.openxmlformats.org/drawingml/2006/main" noGrp="1"/>
          </p:cNvSpPr>
          <p:nvPr/>
        </p:nvSpPr>
        <p:spPr>
          <a:xfrm xmlns:a="http://schemas.openxmlformats.org/drawingml/2006/main">
            <a:off x="6305550" y="2286000"/>
            <a:ext cx="24384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DIE</a:t>
            </a:r>
          </a:p>
        </p:txBody>
      </p:sp>
      <p:sp>
        <p:nvSpPr>
          <p:cNvPr id="20" name="">
            <a:extLst xmlns:a="http://schemas.openxmlformats.org/drawingml/2006/main">
              <a:ext uri="{FF2B5EF4-FFF2-40B4-BE49-F238E27FC236}">
                <a16:creationId xmlns:a16="http://schemas.microsoft.com/office/drawing/2014/main" id="{B2153AD0-2236-40F0-AA49-D94FB5ECD4D0}"/>
              </a:ext>
            </a:extLst>
          </p:cNvPr>
          <p:cNvSpPr>
            <a:spLocks xmlns:a="http://schemas.openxmlformats.org/drawingml/2006/main" noGrp="1"/>
          </p:cNvSpPr>
          <p:nvPr/>
        </p:nvSpPr>
        <p:spPr>
          <a:xfrm xmlns:a="http://schemas.openxmlformats.org/drawingml/2006/main">
            <a:off x="6324600" y="2533650"/>
            <a:ext cx="24003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Its own die, not the DG32-LITE slot</a:t>
            </a:r>
          </a:p>
        </p:txBody>
      </p:sp>
      <p:sp>
        <p:nvSpPr>
          <p:cNvPr id="21" name="">
            <a:extLst xmlns:a="http://schemas.openxmlformats.org/drawingml/2006/main">
              <a:ext uri="{FF2B5EF4-FFF2-40B4-BE49-F238E27FC236}">
                <a16:creationId xmlns:a16="http://schemas.microsoft.com/office/drawing/2014/main" id="{A934F65D-EF03-4E16-AC59-67D881F5139E}"/>
              </a:ext>
            </a:extLst>
          </p:cNvPr>
          <p:cNvSpPr>
            <a:spLocks xmlns:a="http://schemas.openxmlformats.org/drawingml/2006/main" noGrp="1"/>
          </p:cNvSpPr>
          <p:nvPr/>
        </p:nvSpPr>
        <p:spPr>
          <a:xfrm xmlns:a="http://schemas.openxmlformats.org/drawingml/2006/main">
            <a:off x="9067800" y="1676400"/>
            <a:ext cx="2667000" cy="18669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55AFF66D-6045-4F4E-81E4-3780F90D0A03}"/>
              </a:ext>
            </a:extLst>
          </p:cNvPr>
          <p:cNvSpPr>
            <a:spLocks xmlns:a="http://schemas.openxmlformats.org/drawingml/2006/main" noGrp="1"/>
          </p:cNvSpPr>
          <p:nvPr/>
        </p:nvSpPr>
        <p:spPr>
          <a:xfrm xmlns:a="http://schemas.openxmlformats.org/drawingml/2006/main">
            <a:off x="9182100" y="1828800"/>
            <a:ext cx="24384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a:solidFill>
                  <a:srgbClr val="07686A"/>
                </a:solidFill>
                <a:latin typeface="Georgia"/>
                <a:ea typeface="Georgia"/>
                <a:cs typeface="Georgia"/>
              </a:defRPr>
            </a:pPr>
            <a:r>
              <a:t>55–62 MHz</a:t>
            </a:r>
          </a:p>
        </p:txBody>
      </p:sp>
      <p:sp>
        <p:nvSpPr>
          <p:cNvPr id="23" name="">
            <a:extLst xmlns:a="http://schemas.openxmlformats.org/drawingml/2006/main">
              <a:ext uri="{FF2B5EF4-FFF2-40B4-BE49-F238E27FC236}">
                <a16:creationId xmlns:a16="http://schemas.microsoft.com/office/drawing/2014/main" id="{517F81FA-BBF2-44C0-96D3-8F06B4ADB89A}"/>
              </a:ext>
            </a:extLst>
          </p:cNvPr>
          <p:cNvSpPr>
            <a:spLocks xmlns:a="http://schemas.openxmlformats.org/drawingml/2006/main" noGrp="1"/>
          </p:cNvSpPr>
          <p:nvPr/>
        </p:nvSpPr>
        <p:spPr>
          <a:xfrm xmlns:a="http://schemas.openxmlformats.org/drawingml/2006/main">
            <a:off x="9182100" y="2286000"/>
            <a:ext cx="24384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LOCKSTEP CORE FMAX</a:t>
            </a:r>
          </a:p>
        </p:txBody>
      </p:sp>
      <p:sp>
        <p:nvSpPr>
          <p:cNvPr id="24" name="">
            <a:extLst xmlns:a="http://schemas.openxmlformats.org/drawingml/2006/main">
              <a:ext uri="{FF2B5EF4-FFF2-40B4-BE49-F238E27FC236}">
                <a16:creationId xmlns:a16="http://schemas.microsoft.com/office/drawing/2014/main" id="{0826B0C4-6B72-47BE-857D-402DC8F0F304}"/>
              </a:ext>
            </a:extLst>
          </p:cNvPr>
          <p:cNvSpPr>
            <a:spLocks xmlns:a="http://schemas.openxmlformats.org/drawingml/2006/main" noGrp="1"/>
          </p:cNvSpPr>
          <p:nvPr/>
        </p:nvSpPr>
        <p:spPr>
          <a:xfrm xmlns:a="http://schemas.openxmlformats.org/drawingml/2006/main">
            <a:off x="9201150" y="2533650"/>
            <a:ext cx="24003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Why control stays at 50 MHz</a:t>
            </a:r>
          </a:p>
        </p:txBody>
      </p:sp>
      <p:sp>
        <p:nvSpPr>
          <p:cNvPr id="25" name="">
            <a:extLst xmlns:a="http://schemas.openxmlformats.org/drawingml/2006/main">
              <a:ext uri="{FF2B5EF4-FFF2-40B4-BE49-F238E27FC236}">
                <a16:creationId xmlns:a16="http://schemas.microsoft.com/office/drawing/2014/main" id="{40682649-64CF-4FA1-ACB3-38D9888AFA53}"/>
              </a:ext>
            </a:extLst>
          </p:cNvPr>
          <p:cNvSpPr>
            <a:spLocks xmlns:a="http://schemas.openxmlformats.org/drawingml/2006/main" noGrp="1"/>
          </p:cNvSpPr>
          <p:nvPr/>
        </p:nvSpPr>
        <p:spPr>
          <a:xfrm xmlns:a="http://schemas.openxmlformats.org/drawingml/2006/main">
            <a:off x="457200" y="377190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C82EC3B1-4F2B-475C-8D0C-285EACFA440A}"/>
              </a:ext>
            </a:extLst>
          </p:cNvPr>
          <p:cNvSpPr>
            <a:spLocks xmlns:a="http://schemas.openxmlformats.org/drawingml/2006/main" noGrp="1"/>
          </p:cNvSpPr>
          <p:nvPr/>
        </p:nvSpPr>
        <p:spPr>
          <a:xfrm xmlns:a="http://schemas.openxmlformats.org/drawingml/2006/main">
            <a:off x="457200" y="37719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E351C2D-60E8-473C-BC83-EF5A289B671E}"/>
              </a:ext>
            </a:extLst>
          </p:cNvPr>
          <p:cNvSpPr>
            <a:spLocks xmlns:a="http://schemas.openxmlformats.org/drawingml/2006/main" noGrp="1"/>
          </p:cNvSpPr>
          <p:nvPr/>
        </p:nvSpPr>
        <p:spPr>
          <a:xfrm xmlns:a="http://schemas.openxmlformats.org/drawingml/2006/main">
            <a:off x="685800" y="396240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is closed</a:t>
            </a:r>
          </a:p>
        </p:txBody>
      </p:sp>
      <p:sp>
        <p:nvSpPr>
          <p:cNvPr id="28" name="">
            <a:extLst xmlns:a="http://schemas.openxmlformats.org/drawingml/2006/main">
              <a:ext uri="{FF2B5EF4-FFF2-40B4-BE49-F238E27FC236}">
                <a16:creationId xmlns:a16="http://schemas.microsoft.com/office/drawing/2014/main" id="{094D936D-6295-458E-8528-CD22E00CC4BD}"/>
              </a:ext>
            </a:extLst>
          </p:cNvPr>
          <p:cNvSpPr>
            <a:spLocks xmlns:a="http://schemas.openxmlformats.org/drawingml/2006/main" noGrp="1"/>
          </p:cNvSpPr>
          <p:nvPr/>
        </p:nvSpPr>
        <p:spPr>
          <a:xfrm xmlns:a="http://schemas.openxmlformats.org/drawingml/2006/main">
            <a:off x="685800" y="432435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Post-route timing at both clocks, and an engine that is bit-exact against the software model.</a:t>
            </a:r>
          </a:p>
        </p:txBody>
      </p:sp>
      <p:sp>
        <p:nvSpPr>
          <p:cNvPr id="29" name="">
            <a:extLst xmlns:a="http://schemas.openxmlformats.org/drawingml/2006/main">
              <a:ext uri="{FF2B5EF4-FFF2-40B4-BE49-F238E27FC236}">
                <a16:creationId xmlns:a16="http://schemas.microsoft.com/office/drawing/2014/main" id="{1AD3672D-0AFB-44F4-83CE-C6632AF57CE8}"/>
              </a:ext>
            </a:extLst>
          </p:cNvPr>
          <p:cNvSpPr>
            <a:spLocks xmlns:a="http://schemas.openxmlformats.org/drawingml/2006/main" noGrp="1"/>
          </p:cNvSpPr>
          <p:nvPr/>
        </p:nvSpPr>
        <p:spPr>
          <a:xfrm xmlns:a="http://schemas.openxmlformats.org/drawingml/2006/main">
            <a:off x="6229350" y="377190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C8A86D14-5012-4E0D-B4AD-3CCBFC18A370}"/>
              </a:ext>
            </a:extLst>
          </p:cNvPr>
          <p:cNvSpPr>
            <a:spLocks xmlns:a="http://schemas.openxmlformats.org/drawingml/2006/main" noGrp="1"/>
          </p:cNvSpPr>
          <p:nvPr/>
        </p:nvSpPr>
        <p:spPr>
          <a:xfrm xmlns:a="http://schemas.openxmlformats.org/drawingml/2006/main">
            <a:off x="6229350" y="377190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5923A8C-F524-4222-BCAC-BB8C117D657E}"/>
              </a:ext>
            </a:extLst>
          </p:cNvPr>
          <p:cNvSpPr>
            <a:spLocks xmlns:a="http://schemas.openxmlformats.org/drawingml/2006/main" noGrp="1"/>
          </p:cNvSpPr>
          <p:nvPr/>
        </p:nvSpPr>
        <p:spPr>
          <a:xfrm xmlns:a="http://schemas.openxmlformats.org/drawingml/2006/main">
            <a:off x="6457950" y="396240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is still to measure</a:t>
            </a:r>
          </a:p>
        </p:txBody>
      </p:sp>
      <p:sp>
        <p:nvSpPr>
          <p:cNvPr id="32" name="">
            <a:extLst xmlns:a="http://schemas.openxmlformats.org/drawingml/2006/main">
              <a:ext uri="{FF2B5EF4-FFF2-40B4-BE49-F238E27FC236}">
                <a16:creationId xmlns:a16="http://schemas.microsoft.com/office/drawing/2014/main" id="{FAF1369F-773D-4B30-82DA-58AF7FA5A482}"/>
              </a:ext>
            </a:extLst>
          </p:cNvPr>
          <p:cNvSpPr>
            <a:spLocks xmlns:a="http://schemas.openxmlformats.org/drawingml/2006/main" noGrp="1"/>
          </p:cNvSpPr>
          <p:nvPr/>
        </p:nvSpPr>
        <p:spPr>
          <a:xfrm xmlns:a="http://schemas.openxmlformats.org/drawingml/2006/main">
            <a:off x="6457950" y="432435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Steady-state cycles per query row on a bench, and every figure on fabricated silicon.</a:t>
            </a:r>
          </a:p>
        </p:txBody>
      </p:sp>
      <p:sp>
        <p:nvSpPr>
          <p:cNvPr id="33" name="">
            <a:extLst xmlns:a="http://schemas.openxmlformats.org/drawingml/2006/main">
              <a:ext uri="{FF2B5EF4-FFF2-40B4-BE49-F238E27FC236}">
                <a16:creationId xmlns:a16="http://schemas.microsoft.com/office/drawing/2014/main" id="{B710E8EB-26F7-4023-A449-EF8645C6E013}"/>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block architecture §5.3; DG32-2DOM preliminary datasheet §10.</a:t>
            </a:r>
          </a:p>
        </p:txBody>
      </p:sp>
    </p:spTree>
    <p:extLst>
      <p:ext uri="{BB962C8B-B14F-4D97-AF65-F5344CB8AC3E}">
        <p14:creationId xmlns:p14="http://schemas.microsoft.com/office/powerpoint/2010/main" val="24721612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BE43A95D-F1E5-4A96-8245-3BEDD70934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EFEE41-15D6-47CB-A438-B8A19B30D486}"/>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12 · USE AND ROADMAP</a:t>
            </a:r>
          </a:p>
        </p:txBody>
      </p:sp>
      <p:sp>
        <p:nvSpPr>
          <p:cNvPr id="3" name="">
            <a:extLst xmlns:a="http://schemas.openxmlformats.org/drawingml/2006/main">
              <a:ext uri="{FF2B5EF4-FFF2-40B4-BE49-F238E27FC236}">
                <a16:creationId xmlns:a16="http://schemas.microsoft.com/office/drawing/2014/main" id="{8854B231-06F0-440A-B041-AF241D972D37}"/>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engine targets bearing faults in the drive</a:t>
            </a:r>
          </a:p>
        </p:txBody>
      </p:sp>
      <p:sp>
        <p:nvSpPr>
          <p:cNvPr id="4" name="">
            <a:extLst xmlns:a="http://schemas.openxmlformats.org/drawingml/2006/main">
              <a:ext uri="{FF2B5EF4-FFF2-40B4-BE49-F238E27FC236}">
                <a16:creationId xmlns:a16="http://schemas.microsoft.com/office/drawing/2014/main" id="{D2DA2B35-9C65-434C-B4DD-D65AF1E558B5}"/>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Condition monitoring on the chip that already turns the motor, and where it sits on the roadmap</a:t>
            </a:r>
          </a:p>
        </p:txBody>
      </p:sp>
      <p:sp>
        <p:nvSpPr>
          <p:cNvPr id="5" name="">
            <a:extLst xmlns:a="http://schemas.openxmlformats.org/drawingml/2006/main">
              <a:ext uri="{FF2B5EF4-FFF2-40B4-BE49-F238E27FC236}">
                <a16:creationId xmlns:a16="http://schemas.microsoft.com/office/drawing/2014/main" id="{53CF6966-97E3-4D3A-8946-3CAD322AE0B8}"/>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124A68A-3C42-4980-8AD5-C29340DD50E1}"/>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5F62FC-7542-4C42-816F-5B4D58F21907}"/>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692164B3-33AC-4A1D-A25E-768D867ABD80}"/>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12</a:t>
            </a:r>
          </a:p>
        </p:txBody>
      </p:sp>
      <p:sp>
        <p:nvSpPr>
          <p:cNvPr id="9" name="">
            <a:extLst xmlns:a="http://schemas.openxmlformats.org/drawingml/2006/main">
              <a:ext uri="{FF2B5EF4-FFF2-40B4-BE49-F238E27FC236}">
                <a16:creationId xmlns:a16="http://schemas.microsoft.com/office/drawing/2014/main" id="{3FC31ADB-AFB8-431D-A03E-71895C79D019}"/>
              </a:ext>
            </a:extLst>
          </p:cNvPr>
          <p:cNvSpPr>
            <a:spLocks xmlns:a="http://schemas.openxmlformats.org/drawingml/2006/main" noGrp="1"/>
          </p:cNvSpPr>
          <p:nvPr/>
        </p:nvSpPr>
        <p:spPr>
          <a:xfrm xmlns:a="http://schemas.openxmlformats.org/drawingml/2006/main">
            <a:off x="457200" y="163830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E8C3E005-2018-494F-A219-E49E4A2DE690}"/>
              </a:ext>
            </a:extLst>
          </p:cNvPr>
          <p:cNvSpPr>
            <a:spLocks xmlns:a="http://schemas.openxmlformats.org/drawingml/2006/main" noGrp="1"/>
          </p:cNvSpPr>
          <p:nvPr/>
        </p:nvSpPr>
        <p:spPr>
          <a:xfrm xmlns:a="http://schemas.openxmlformats.org/drawingml/2006/main">
            <a:off x="457200" y="16383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F887CC-31B6-4E9D-9364-CE44033AFB74}"/>
              </a:ext>
            </a:extLst>
          </p:cNvPr>
          <p:cNvSpPr>
            <a:spLocks xmlns:a="http://schemas.openxmlformats.org/drawingml/2006/main" noGrp="1"/>
          </p:cNvSpPr>
          <p:nvPr/>
        </p:nvSpPr>
        <p:spPr>
          <a:xfrm xmlns:a="http://schemas.openxmlformats.org/drawingml/2006/main">
            <a:off x="685800" y="182880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Bearing-fault detection</a:t>
            </a:r>
          </a:p>
        </p:txBody>
      </p:sp>
      <p:sp>
        <p:nvSpPr>
          <p:cNvPr id="12" name="">
            <a:extLst xmlns:a="http://schemas.openxmlformats.org/drawingml/2006/main">
              <a:ext uri="{FF2B5EF4-FFF2-40B4-BE49-F238E27FC236}">
                <a16:creationId xmlns:a16="http://schemas.microsoft.com/office/drawing/2014/main" id="{6AD6DD0A-16B6-45D5-A856-45F4EFB53B39}"/>
              </a:ext>
            </a:extLst>
          </p:cNvPr>
          <p:cNvSpPr>
            <a:spLocks xmlns:a="http://schemas.openxmlformats.org/drawingml/2006/main" noGrp="1"/>
          </p:cNvSpPr>
          <p:nvPr/>
        </p:nvSpPr>
        <p:spPr>
          <a:xfrm xmlns:a="http://schemas.openxmlformats.org/drawingml/2006/main">
            <a:off x="685800" y="219075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Runs in the drive itself, on the chip that already turns the motor.</a:t>
            </a:r>
          </a:p>
        </p:txBody>
      </p:sp>
      <p:sp>
        <p:nvSpPr>
          <p:cNvPr id="13" name="">
            <a:extLst xmlns:a="http://schemas.openxmlformats.org/drawingml/2006/main">
              <a:ext uri="{FF2B5EF4-FFF2-40B4-BE49-F238E27FC236}">
                <a16:creationId xmlns:a16="http://schemas.microsoft.com/office/drawing/2014/main" id="{A7442A88-B7F1-4D11-B2FE-F285C016BD91}"/>
              </a:ext>
            </a:extLst>
          </p:cNvPr>
          <p:cNvSpPr>
            <a:spLocks xmlns:a="http://schemas.openxmlformats.org/drawingml/2006/main" noGrp="1"/>
          </p:cNvSpPr>
          <p:nvPr/>
        </p:nvSpPr>
        <p:spPr>
          <a:xfrm xmlns:a="http://schemas.openxmlformats.org/drawingml/2006/main">
            <a:off x="457200" y="3019425"/>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FEB54046-6ACB-4DA7-8EC8-4AD77BC8C35A}"/>
              </a:ext>
            </a:extLst>
          </p:cNvPr>
          <p:cNvSpPr>
            <a:spLocks xmlns:a="http://schemas.openxmlformats.org/drawingml/2006/main" noGrp="1"/>
          </p:cNvSpPr>
          <p:nvPr/>
        </p:nvSpPr>
        <p:spPr>
          <a:xfrm xmlns:a="http://schemas.openxmlformats.org/drawingml/2006/main">
            <a:off x="457200" y="3019425"/>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1458ED5-88F5-47C0-9441-677606F05F94}"/>
              </a:ext>
            </a:extLst>
          </p:cNvPr>
          <p:cNvSpPr>
            <a:spLocks xmlns:a="http://schemas.openxmlformats.org/drawingml/2006/main" noGrp="1"/>
          </p:cNvSpPr>
          <p:nvPr/>
        </p:nvSpPr>
        <p:spPr>
          <a:xfrm xmlns:a="http://schemas.openxmlformats.org/drawingml/2006/main">
            <a:off x="685800" y="3209925"/>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Anomaly detection</a:t>
            </a:r>
          </a:p>
        </p:txBody>
      </p:sp>
      <p:sp>
        <p:nvSpPr>
          <p:cNvPr id="16" name="">
            <a:extLst xmlns:a="http://schemas.openxmlformats.org/drawingml/2006/main">
              <a:ext uri="{FF2B5EF4-FFF2-40B4-BE49-F238E27FC236}">
                <a16:creationId xmlns:a16="http://schemas.microsoft.com/office/drawing/2014/main" id="{CF778F3A-1470-47DB-AB0A-7C665E29A424}"/>
              </a:ext>
            </a:extLst>
          </p:cNvPr>
          <p:cNvSpPr>
            <a:spLocks xmlns:a="http://schemas.openxmlformats.org/drawingml/2006/main" noGrp="1"/>
          </p:cNvSpPr>
          <p:nvPr/>
        </p:nvSpPr>
        <p:spPr>
          <a:xfrm xmlns:a="http://schemas.openxmlformats.org/drawingml/2006/main">
            <a:off x="685800" y="3571875"/>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Flags abnormal drive behaviour without adding a second processor to the board.</a:t>
            </a:r>
          </a:p>
        </p:txBody>
      </p:sp>
      <p:sp>
        <p:nvSpPr>
          <p:cNvPr id="17" name="">
            <a:extLst xmlns:a="http://schemas.openxmlformats.org/drawingml/2006/main">
              <a:ext uri="{FF2B5EF4-FFF2-40B4-BE49-F238E27FC236}">
                <a16:creationId xmlns:a16="http://schemas.microsoft.com/office/drawing/2014/main" id="{5A1FB84C-E434-4E86-BB75-004BE33CA81E}"/>
              </a:ext>
            </a:extLst>
          </p:cNvPr>
          <p:cNvSpPr>
            <a:spLocks xmlns:a="http://schemas.openxmlformats.org/drawingml/2006/main" noGrp="1"/>
          </p:cNvSpPr>
          <p:nvPr/>
        </p:nvSpPr>
        <p:spPr>
          <a:xfrm xmlns:a="http://schemas.openxmlformats.org/drawingml/2006/main">
            <a:off x="6229350" y="1638300"/>
            <a:ext cx="550545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708D7E9-C158-4048-B2C4-866C1CE1DA61}"/>
              </a:ext>
            </a:extLst>
          </p:cNvPr>
          <p:cNvSpPr>
            <a:spLocks xmlns:a="http://schemas.openxmlformats.org/drawingml/2006/main" noGrp="1"/>
          </p:cNvSpPr>
          <p:nvPr/>
        </p:nvSpPr>
        <p:spPr>
          <a:xfrm xmlns:a="http://schemas.openxmlformats.org/drawingml/2006/main">
            <a:off x="6362700" y="1743075"/>
            <a:ext cx="1428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DIMENSION</a:t>
            </a:r>
          </a:p>
        </p:txBody>
      </p:sp>
      <p:sp>
        <p:nvSpPr>
          <p:cNvPr id="19" name="">
            <a:extLst xmlns:a="http://schemas.openxmlformats.org/drawingml/2006/main">
              <a:ext uri="{FF2B5EF4-FFF2-40B4-BE49-F238E27FC236}">
                <a16:creationId xmlns:a16="http://schemas.microsoft.com/office/drawing/2014/main" id="{119A5BC6-B4B1-4F73-9A0A-E95BC756D4C4}"/>
              </a:ext>
            </a:extLst>
          </p:cNvPr>
          <p:cNvSpPr>
            <a:spLocks xmlns:a="http://schemas.openxmlformats.org/drawingml/2006/main" noGrp="1"/>
          </p:cNvSpPr>
          <p:nvPr/>
        </p:nvSpPr>
        <p:spPr>
          <a:xfrm xmlns:a="http://schemas.openxmlformats.org/drawingml/2006/main">
            <a:off x="7848600" y="1638300"/>
            <a:ext cx="1943100" cy="3810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E23A51D-D105-4874-956B-15A62E7E7F17}"/>
              </a:ext>
            </a:extLst>
          </p:cNvPr>
          <p:cNvSpPr>
            <a:spLocks xmlns:a="http://schemas.openxmlformats.org/drawingml/2006/main" noGrp="1"/>
          </p:cNvSpPr>
          <p:nvPr/>
        </p:nvSpPr>
        <p:spPr>
          <a:xfrm xmlns:a="http://schemas.openxmlformats.org/drawingml/2006/main">
            <a:off x="7981950" y="1743075"/>
            <a:ext cx="1752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A1628"/>
                </a:solidFill>
                <a:latin typeface="Arial"/>
                <a:ea typeface="Arial"/>
                <a:cs typeface="Arial"/>
              </a:defRPr>
            </a:pPr>
            <a:r>
              <a:t>DG32-2DOM</a:t>
            </a:r>
          </a:p>
        </p:txBody>
      </p:sp>
      <p:sp>
        <p:nvSpPr>
          <p:cNvPr id="21" name="">
            <a:extLst xmlns:a="http://schemas.openxmlformats.org/drawingml/2006/main">
              <a:ext uri="{FF2B5EF4-FFF2-40B4-BE49-F238E27FC236}">
                <a16:creationId xmlns:a16="http://schemas.microsoft.com/office/drawing/2014/main" id="{0D0AA107-4E07-4FC1-9D2C-9DD7DC841DCC}"/>
              </a:ext>
            </a:extLst>
          </p:cNvPr>
          <p:cNvSpPr>
            <a:spLocks xmlns:a="http://schemas.openxmlformats.org/drawingml/2006/main" noGrp="1"/>
          </p:cNvSpPr>
          <p:nvPr/>
        </p:nvSpPr>
        <p:spPr>
          <a:xfrm xmlns:a="http://schemas.openxmlformats.org/drawingml/2006/main">
            <a:off x="9925050" y="1743075"/>
            <a:ext cx="1752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STM32G0</a:t>
            </a:r>
          </a:p>
        </p:txBody>
      </p:sp>
      <p:sp>
        <p:nvSpPr>
          <p:cNvPr id="22" name="">
            <a:extLst xmlns:a="http://schemas.openxmlformats.org/drawingml/2006/main">
              <a:ext uri="{FF2B5EF4-FFF2-40B4-BE49-F238E27FC236}">
                <a16:creationId xmlns:a16="http://schemas.microsoft.com/office/drawing/2014/main" id="{ED9A357F-CA79-4DEA-9B5F-7D6D80F849DA}"/>
              </a:ext>
            </a:extLst>
          </p:cNvPr>
          <p:cNvSpPr>
            <a:spLocks xmlns:a="http://schemas.openxmlformats.org/drawingml/2006/main" noGrp="1"/>
          </p:cNvSpPr>
          <p:nvPr/>
        </p:nvSpPr>
        <p:spPr>
          <a:xfrm xmlns:a="http://schemas.openxmlformats.org/drawingml/2006/main">
            <a:off x="6229350" y="2019300"/>
            <a:ext cx="55054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B70BBF21-7B86-4F4C-8197-BB905C88C195}"/>
              </a:ext>
            </a:extLst>
          </p:cNvPr>
          <p:cNvSpPr>
            <a:spLocks xmlns:a="http://schemas.openxmlformats.org/drawingml/2006/main" noGrp="1"/>
          </p:cNvSpPr>
          <p:nvPr/>
        </p:nvSpPr>
        <p:spPr>
          <a:xfrm xmlns:a="http://schemas.openxmlformats.org/drawingml/2006/main">
            <a:off x="6362700" y="2095500"/>
            <a:ext cx="140970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On-chip AI</a:t>
            </a:r>
          </a:p>
        </p:txBody>
      </p:sp>
      <p:sp>
        <p:nvSpPr>
          <p:cNvPr id="24" name="">
            <a:extLst xmlns:a="http://schemas.openxmlformats.org/drawingml/2006/main">
              <a:ext uri="{FF2B5EF4-FFF2-40B4-BE49-F238E27FC236}">
                <a16:creationId xmlns:a16="http://schemas.microsoft.com/office/drawing/2014/main" id="{F315B7E3-5F23-4BB2-B2C7-E25617BCABB8}"/>
              </a:ext>
            </a:extLst>
          </p:cNvPr>
          <p:cNvSpPr>
            <a:spLocks xmlns:a="http://schemas.openxmlformats.org/drawingml/2006/main" noGrp="1"/>
          </p:cNvSpPr>
          <p:nvPr/>
        </p:nvSpPr>
        <p:spPr>
          <a:xfrm xmlns:a="http://schemas.openxmlformats.org/drawingml/2006/main">
            <a:off x="7848600" y="2019300"/>
            <a:ext cx="1943100" cy="6858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25" name="">
            <a:extLst xmlns:a="http://schemas.openxmlformats.org/drawingml/2006/main">
              <a:ext uri="{FF2B5EF4-FFF2-40B4-BE49-F238E27FC236}">
                <a16:creationId xmlns:a16="http://schemas.microsoft.com/office/drawing/2014/main" id="{F5191B7D-8E7D-47D0-AA60-02BD1C7A2396}"/>
              </a:ext>
            </a:extLst>
          </p:cNvPr>
          <p:cNvSpPr>
            <a:spLocks xmlns:a="http://schemas.openxmlformats.org/drawingml/2006/main" noGrp="1"/>
          </p:cNvSpPr>
          <p:nvPr/>
        </p:nvSpPr>
        <p:spPr>
          <a:xfrm xmlns:a="http://schemas.openxmlformats.org/drawingml/2006/main">
            <a:off x="7981950" y="2095500"/>
            <a:ext cx="173355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INT8 attention engine in hardware</a:t>
            </a:r>
          </a:p>
        </p:txBody>
      </p:sp>
      <p:sp>
        <p:nvSpPr>
          <p:cNvPr id="26" name="">
            <a:extLst xmlns:a="http://schemas.openxmlformats.org/drawingml/2006/main">
              <a:ext uri="{FF2B5EF4-FFF2-40B4-BE49-F238E27FC236}">
                <a16:creationId xmlns:a16="http://schemas.microsoft.com/office/drawing/2014/main" id="{4B9CE1AA-2988-45CB-A47D-4BC793F46A26}"/>
              </a:ext>
            </a:extLst>
          </p:cNvPr>
          <p:cNvSpPr>
            <a:spLocks xmlns:a="http://schemas.openxmlformats.org/drawingml/2006/main" noGrp="1"/>
          </p:cNvSpPr>
          <p:nvPr/>
        </p:nvSpPr>
        <p:spPr>
          <a:xfrm xmlns:a="http://schemas.openxmlformats.org/drawingml/2006/main">
            <a:off x="9925050" y="2095500"/>
            <a:ext cx="173355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None; NanoEdge AI runs in software</a:t>
            </a:r>
          </a:p>
        </p:txBody>
      </p:sp>
      <p:sp>
        <p:nvSpPr>
          <p:cNvPr id="27" name="">
            <a:extLst xmlns:a="http://schemas.openxmlformats.org/drawingml/2006/main">
              <a:ext uri="{FF2B5EF4-FFF2-40B4-BE49-F238E27FC236}">
                <a16:creationId xmlns:a16="http://schemas.microsoft.com/office/drawing/2014/main" id="{398644C4-9A80-40C0-8261-A65FD1CCE03C}"/>
              </a:ext>
            </a:extLst>
          </p:cNvPr>
          <p:cNvSpPr>
            <a:spLocks xmlns:a="http://schemas.openxmlformats.org/drawingml/2006/main" noGrp="1"/>
          </p:cNvSpPr>
          <p:nvPr/>
        </p:nvSpPr>
        <p:spPr>
          <a:xfrm xmlns:a="http://schemas.openxmlformats.org/drawingml/2006/main">
            <a:off x="6229350" y="2705100"/>
            <a:ext cx="550545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4E93A68B-C0EB-4637-8014-73047C736C2C}"/>
              </a:ext>
            </a:extLst>
          </p:cNvPr>
          <p:cNvSpPr>
            <a:spLocks xmlns:a="http://schemas.openxmlformats.org/drawingml/2006/main" noGrp="1"/>
          </p:cNvSpPr>
          <p:nvPr/>
        </p:nvSpPr>
        <p:spPr>
          <a:xfrm xmlns:a="http://schemas.openxmlformats.org/drawingml/2006/main">
            <a:off x="6362700" y="2781300"/>
            <a:ext cx="140970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Control core</a:t>
            </a:r>
          </a:p>
        </p:txBody>
      </p:sp>
      <p:sp>
        <p:nvSpPr>
          <p:cNvPr id="29" name="">
            <a:extLst xmlns:a="http://schemas.openxmlformats.org/drawingml/2006/main">
              <a:ext uri="{FF2B5EF4-FFF2-40B4-BE49-F238E27FC236}">
                <a16:creationId xmlns:a16="http://schemas.microsoft.com/office/drawing/2014/main" id="{F28148EC-BBE6-4464-A6F6-6EE3061452EE}"/>
              </a:ext>
            </a:extLst>
          </p:cNvPr>
          <p:cNvSpPr>
            <a:spLocks xmlns:a="http://schemas.openxmlformats.org/drawingml/2006/main" noGrp="1"/>
          </p:cNvSpPr>
          <p:nvPr/>
        </p:nvSpPr>
        <p:spPr>
          <a:xfrm xmlns:a="http://schemas.openxmlformats.org/drawingml/2006/main">
            <a:off x="7848600" y="2705100"/>
            <a:ext cx="1943100" cy="6858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8C062945-6926-49DE-8E89-12A07CB43102}"/>
              </a:ext>
            </a:extLst>
          </p:cNvPr>
          <p:cNvSpPr>
            <a:spLocks xmlns:a="http://schemas.openxmlformats.org/drawingml/2006/main" noGrp="1"/>
          </p:cNvSpPr>
          <p:nvPr/>
        </p:nvSpPr>
        <p:spPr>
          <a:xfrm xmlns:a="http://schemas.openxmlformats.org/drawingml/2006/main">
            <a:off x="7981950" y="2781300"/>
            <a:ext cx="173355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RISC-V pair, untouched</a:t>
            </a:r>
          </a:p>
        </p:txBody>
      </p:sp>
      <p:sp>
        <p:nvSpPr>
          <p:cNvPr id="31" name="">
            <a:extLst xmlns:a="http://schemas.openxmlformats.org/drawingml/2006/main">
              <a:ext uri="{FF2B5EF4-FFF2-40B4-BE49-F238E27FC236}">
                <a16:creationId xmlns:a16="http://schemas.microsoft.com/office/drawing/2014/main" id="{7C846929-B37C-42BE-A568-E88A0A351071}"/>
              </a:ext>
            </a:extLst>
          </p:cNvPr>
          <p:cNvSpPr>
            <a:spLocks xmlns:a="http://schemas.openxmlformats.org/drawingml/2006/main" noGrp="1"/>
          </p:cNvSpPr>
          <p:nvPr/>
        </p:nvSpPr>
        <p:spPr>
          <a:xfrm xmlns:a="http://schemas.openxmlformats.org/drawingml/2006/main">
            <a:off x="9925050" y="2781300"/>
            <a:ext cx="173355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Single Cortex-M0+</a:t>
            </a:r>
          </a:p>
        </p:txBody>
      </p:sp>
      <p:sp>
        <p:nvSpPr>
          <p:cNvPr id="32" name="">
            <a:extLst xmlns:a="http://schemas.openxmlformats.org/drawingml/2006/main">
              <a:ext uri="{FF2B5EF4-FFF2-40B4-BE49-F238E27FC236}">
                <a16:creationId xmlns:a16="http://schemas.microsoft.com/office/drawing/2014/main" id="{FA6833F3-1D5C-43F5-9097-283C7E43F07C}"/>
              </a:ext>
            </a:extLst>
          </p:cNvPr>
          <p:cNvSpPr>
            <a:spLocks xmlns:a="http://schemas.openxmlformats.org/drawingml/2006/main" noGrp="1"/>
          </p:cNvSpPr>
          <p:nvPr/>
        </p:nvSpPr>
        <p:spPr>
          <a:xfrm xmlns:a="http://schemas.openxmlformats.org/drawingml/2006/main">
            <a:off x="647700" y="4895850"/>
            <a:ext cx="108966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1704980-9909-437B-9064-A331FCF76C04}"/>
              </a:ext>
            </a:extLst>
          </p:cNvPr>
          <p:cNvSpPr>
            <a:spLocks xmlns:a="http://schemas.openxmlformats.org/drawingml/2006/main" noGrp="1"/>
          </p:cNvSpPr>
          <p:nvPr/>
        </p:nvSpPr>
        <p:spPr>
          <a:xfrm xmlns:a="http://schemas.openxmlformats.org/drawingml/2006/main">
            <a:off x="457200" y="4400550"/>
            <a:ext cx="2628900" cy="285750"/>
          </a:xfrm>
          <a:prstGeom xmlns:a="http://schemas.openxmlformats.org/drawingml/2006/main" prst="rect">
            <a:avLst/>
          </a:prstGeom>
          <a:solidFill xmlns:a="http://schemas.openxmlformats.org/drawingml/2006/main">
            <a:srgbClr val="0077A3"/>
          </a:solidFill>
          <a:ln xmlns:a="http://schemas.openxmlformats.org/drawingml/2006/main" w="9525">
            <a:solidFill>
              <a:srgbClr val="0077A3"/>
            </a:solidFill>
            <a:prstDash val="solid"/>
          </a:ln>
        </p:spPr>
      </p:sp>
      <p:sp>
        <p:nvSpPr>
          <p:cNvPr id="34" name="">
            <a:extLst xmlns:a="http://schemas.openxmlformats.org/drawingml/2006/main">
              <a:ext uri="{FF2B5EF4-FFF2-40B4-BE49-F238E27FC236}">
                <a16:creationId xmlns:a16="http://schemas.microsoft.com/office/drawing/2014/main" id="{F0EBB745-691C-4227-8C13-05008E95B4E6}"/>
              </a:ext>
            </a:extLst>
          </p:cNvPr>
          <p:cNvSpPr>
            <a:spLocks xmlns:a="http://schemas.openxmlformats.org/drawingml/2006/main" noGrp="1"/>
          </p:cNvSpPr>
          <p:nvPr/>
        </p:nvSpPr>
        <p:spPr>
          <a:xfrm xmlns:a="http://schemas.openxmlformats.org/drawingml/2006/main">
            <a:off x="457200" y="446722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t>NOW</a:t>
            </a:r>
          </a:p>
        </p:txBody>
      </p:sp>
      <p:sp>
        <p:nvSpPr>
          <p:cNvPr id="35" name="">
            <a:extLst xmlns:a="http://schemas.openxmlformats.org/drawingml/2006/main">
              <a:ext uri="{FF2B5EF4-FFF2-40B4-BE49-F238E27FC236}">
                <a16:creationId xmlns:a16="http://schemas.microsoft.com/office/drawing/2014/main" id="{E7FBC511-3816-4698-8FC0-839BB9579A0D}"/>
              </a:ext>
            </a:extLst>
          </p:cNvPr>
          <p:cNvSpPr>
            <a:spLocks xmlns:a="http://schemas.openxmlformats.org/drawingml/2006/main" noGrp="1"/>
          </p:cNvSpPr>
          <p:nvPr/>
        </p:nvSpPr>
        <p:spPr>
          <a:xfrm xmlns:a="http://schemas.openxmlformats.org/drawingml/2006/main">
            <a:off x="1695450" y="4829175"/>
            <a:ext cx="152400" cy="152400"/>
          </a:xfrm>
          <a:prstGeom xmlns:a="http://schemas.openxmlformats.org/drawingml/2006/main" prst="ellipse">
            <a:avLst/>
          </a:prstGeom>
          <a:solidFill xmlns:a="http://schemas.openxmlformats.org/drawingml/2006/main">
            <a:srgbClr val="0077A3"/>
          </a:solidFill>
          <a:ln xmlns:a="http://schemas.openxmlformats.org/drawingml/2006/main" w="19050">
            <a:solidFill>
              <a:srgbClr val="0077A3"/>
            </a:solidFill>
            <a:prstDash val="solid"/>
          </a:ln>
        </p:spPr>
      </p:sp>
      <p:sp>
        <p:nvSpPr>
          <p:cNvPr id="36" name="">
            <a:extLst xmlns:a="http://schemas.openxmlformats.org/drawingml/2006/main">
              <a:ext uri="{FF2B5EF4-FFF2-40B4-BE49-F238E27FC236}">
                <a16:creationId xmlns:a16="http://schemas.microsoft.com/office/drawing/2014/main" id="{248499E6-E2FB-4C81-BB90-D289DCA3DF82}"/>
              </a:ext>
            </a:extLst>
          </p:cNvPr>
          <p:cNvSpPr>
            <a:spLocks xmlns:a="http://schemas.openxmlformats.org/drawingml/2006/main" noGrp="1"/>
          </p:cNvSpPr>
          <p:nvPr/>
        </p:nvSpPr>
        <p:spPr>
          <a:xfrm xmlns:a="http://schemas.openxmlformats.org/drawingml/2006/main">
            <a:off x="381000" y="510540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DG32-LITE first silicon</a:t>
            </a:r>
          </a:p>
        </p:txBody>
      </p:sp>
      <p:sp>
        <p:nvSpPr>
          <p:cNvPr id="37" name="">
            <a:extLst xmlns:a="http://schemas.openxmlformats.org/drawingml/2006/main">
              <a:ext uri="{FF2B5EF4-FFF2-40B4-BE49-F238E27FC236}">
                <a16:creationId xmlns:a16="http://schemas.microsoft.com/office/drawing/2014/main" id="{E65827B0-346C-4532-BAD6-B6046AE19FDA}"/>
              </a:ext>
            </a:extLst>
          </p:cNvPr>
          <p:cNvSpPr>
            <a:spLocks xmlns:a="http://schemas.openxmlformats.org/drawingml/2006/main" noGrp="1"/>
          </p:cNvSpPr>
          <p:nvPr/>
        </p:nvSpPr>
        <p:spPr>
          <a:xfrm xmlns:a="http://schemas.openxmlformats.org/drawingml/2006/main">
            <a:off x="381000" y="537210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September 2026 shuttle</a:t>
            </a:r>
          </a:p>
        </p:txBody>
      </p:sp>
      <p:sp>
        <p:nvSpPr>
          <p:cNvPr id="38" name="">
            <a:extLst xmlns:a="http://schemas.openxmlformats.org/drawingml/2006/main">
              <a:ext uri="{FF2B5EF4-FFF2-40B4-BE49-F238E27FC236}">
                <a16:creationId xmlns:a16="http://schemas.microsoft.com/office/drawing/2014/main" id="{2B876371-2E03-4106-BA2B-BD112EB1AF3D}"/>
              </a:ext>
            </a:extLst>
          </p:cNvPr>
          <p:cNvSpPr>
            <a:spLocks xmlns:a="http://schemas.openxmlformats.org/drawingml/2006/main" noGrp="1"/>
          </p:cNvSpPr>
          <p:nvPr/>
        </p:nvSpPr>
        <p:spPr>
          <a:xfrm xmlns:a="http://schemas.openxmlformats.org/drawingml/2006/main">
            <a:off x="3276600" y="4400550"/>
            <a:ext cx="2628900" cy="285750"/>
          </a:xfrm>
          <a:prstGeom xmlns:a="http://schemas.openxmlformats.org/drawingml/2006/main" prst="rect">
            <a:avLst/>
          </a:prstGeom>
          <a:solidFill xmlns:a="http://schemas.openxmlformats.org/drawingml/2006/main">
            <a:srgbClr val="07686A"/>
          </a:solidFill>
          <a:ln xmlns:a="http://schemas.openxmlformats.org/drawingml/2006/main" w="9525">
            <a:solidFill>
              <a:srgbClr val="07686A"/>
            </a:solidFill>
            <a:prstDash val="solid"/>
          </a:ln>
        </p:spPr>
      </p:sp>
      <p:sp>
        <p:nvSpPr>
          <p:cNvPr id="39" name="">
            <a:extLst xmlns:a="http://schemas.openxmlformats.org/drawingml/2006/main">
              <a:ext uri="{FF2B5EF4-FFF2-40B4-BE49-F238E27FC236}">
                <a16:creationId xmlns:a16="http://schemas.microsoft.com/office/drawing/2014/main" id="{DFB2F439-B7E7-44C9-BEB7-8D32099E0768}"/>
              </a:ext>
            </a:extLst>
          </p:cNvPr>
          <p:cNvSpPr>
            <a:spLocks xmlns:a="http://schemas.openxmlformats.org/drawingml/2006/main" noGrp="1"/>
          </p:cNvSpPr>
          <p:nvPr/>
        </p:nvSpPr>
        <p:spPr>
          <a:xfrm xmlns:a="http://schemas.openxmlformats.org/drawingml/2006/main">
            <a:off x="3276600" y="446722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t>NOW</a:t>
            </a:r>
          </a:p>
        </p:txBody>
      </p:sp>
      <p:sp>
        <p:nvSpPr>
          <p:cNvPr id="40" name="">
            <a:extLst xmlns:a="http://schemas.openxmlformats.org/drawingml/2006/main">
              <a:ext uri="{FF2B5EF4-FFF2-40B4-BE49-F238E27FC236}">
                <a16:creationId xmlns:a16="http://schemas.microsoft.com/office/drawing/2014/main" id="{99472E4A-74C2-43CA-B073-1BE36E401FD0}"/>
              </a:ext>
            </a:extLst>
          </p:cNvPr>
          <p:cNvSpPr>
            <a:spLocks xmlns:a="http://schemas.openxmlformats.org/drawingml/2006/main" noGrp="1"/>
          </p:cNvSpPr>
          <p:nvPr/>
        </p:nvSpPr>
        <p:spPr>
          <a:xfrm xmlns:a="http://schemas.openxmlformats.org/drawingml/2006/main">
            <a:off x="4514850" y="4829175"/>
            <a:ext cx="152400" cy="152400"/>
          </a:xfrm>
          <a:prstGeom xmlns:a="http://schemas.openxmlformats.org/drawingml/2006/main" prst="ellipse">
            <a:avLst/>
          </a:prstGeom>
          <a:solidFill xmlns:a="http://schemas.openxmlformats.org/drawingml/2006/main">
            <a:srgbClr val="07686A"/>
          </a:solidFill>
          <a:ln xmlns:a="http://schemas.openxmlformats.org/drawingml/2006/main" w="19050">
            <a:solidFill>
              <a:srgbClr val="07686A"/>
            </a:solidFill>
            <a:prstDash val="solid"/>
          </a:ln>
        </p:spPr>
      </p:sp>
      <p:sp>
        <p:nvSpPr>
          <p:cNvPr id="41" name="">
            <a:extLst xmlns:a="http://schemas.openxmlformats.org/drawingml/2006/main">
              <a:ext uri="{FF2B5EF4-FFF2-40B4-BE49-F238E27FC236}">
                <a16:creationId xmlns:a16="http://schemas.microsoft.com/office/drawing/2014/main" id="{D7C1E38F-8AF9-4373-9C05-2D89F60E5C1D}"/>
              </a:ext>
            </a:extLst>
          </p:cNvPr>
          <p:cNvSpPr>
            <a:spLocks xmlns:a="http://schemas.openxmlformats.org/drawingml/2006/main" noGrp="1"/>
          </p:cNvSpPr>
          <p:nvPr/>
        </p:nvSpPr>
        <p:spPr>
          <a:xfrm xmlns:a="http://schemas.openxmlformats.org/drawingml/2006/main">
            <a:off x="3200400" y="510540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DG32-2DOM</a:t>
            </a:r>
          </a:p>
        </p:txBody>
      </p:sp>
      <p:sp>
        <p:nvSpPr>
          <p:cNvPr id="42" name="">
            <a:extLst xmlns:a="http://schemas.openxmlformats.org/drawingml/2006/main">
              <a:ext uri="{FF2B5EF4-FFF2-40B4-BE49-F238E27FC236}">
                <a16:creationId xmlns:a16="http://schemas.microsoft.com/office/drawing/2014/main" id="{E418D422-E324-43B7-8DF3-25CD228A02EB}"/>
              </a:ext>
            </a:extLst>
          </p:cNvPr>
          <p:cNvSpPr>
            <a:spLocks xmlns:a="http://schemas.openxmlformats.org/drawingml/2006/main" noGrp="1"/>
          </p:cNvSpPr>
          <p:nvPr/>
        </p:nvSpPr>
        <p:spPr>
          <a:xfrm xmlns:a="http://schemas.openxmlformats.org/drawingml/2006/main">
            <a:off x="3200400" y="537210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Design complete, in physical trials</a:t>
            </a:r>
          </a:p>
        </p:txBody>
      </p:sp>
      <p:sp>
        <p:nvSpPr>
          <p:cNvPr id="43" name="">
            <a:extLst xmlns:a="http://schemas.openxmlformats.org/drawingml/2006/main">
              <a:ext uri="{FF2B5EF4-FFF2-40B4-BE49-F238E27FC236}">
                <a16:creationId xmlns:a16="http://schemas.microsoft.com/office/drawing/2014/main" id="{2A2B1E9B-4297-44FE-B1AE-488E35EE05CA}"/>
              </a:ext>
            </a:extLst>
          </p:cNvPr>
          <p:cNvSpPr>
            <a:spLocks xmlns:a="http://schemas.openxmlformats.org/drawingml/2006/main" noGrp="1"/>
          </p:cNvSpPr>
          <p:nvPr/>
        </p:nvSpPr>
        <p:spPr>
          <a:xfrm xmlns:a="http://schemas.openxmlformats.org/drawingml/2006/main">
            <a:off x="6096000" y="440055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44" name="">
            <a:extLst xmlns:a="http://schemas.openxmlformats.org/drawingml/2006/main">
              <a:ext uri="{FF2B5EF4-FFF2-40B4-BE49-F238E27FC236}">
                <a16:creationId xmlns:a16="http://schemas.microsoft.com/office/drawing/2014/main" id="{97401B67-BBC1-4560-BEF6-73F4297876D6}"/>
              </a:ext>
            </a:extLst>
          </p:cNvPr>
          <p:cNvSpPr>
            <a:spLocks xmlns:a="http://schemas.openxmlformats.org/drawingml/2006/main" noGrp="1"/>
          </p:cNvSpPr>
          <p:nvPr/>
        </p:nvSpPr>
        <p:spPr>
          <a:xfrm xmlns:a="http://schemas.openxmlformats.org/drawingml/2006/main">
            <a:off x="6096000" y="446722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AT BRING-UP</a:t>
            </a:r>
          </a:p>
        </p:txBody>
      </p:sp>
      <p:sp>
        <p:nvSpPr>
          <p:cNvPr id="45" name="">
            <a:extLst xmlns:a="http://schemas.openxmlformats.org/drawingml/2006/main">
              <a:ext uri="{FF2B5EF4-FFF2-40B4-BE49-F238E27FC236}">
                <a16:creationId xmlns:a16="http://schemas.microsoft.com/office/drawing/2014/main" id="{A6AE6499-4D5E-4620-98DB-9C12CA8B183A}"/>
              </a:ext>
            </a:extLst>
          </p:cNvPr>
          <p:cNvSpPr>
            <a:spLocks xmlns:a="http://schemas.openxmlformats.org/drawingml/2006/main" noGrp="1"/>
          </p:cNvSpPr>
          <p:nvPr/>
        </p:nvSpPr>
        <p:spPr>
          <a:xfrm xmlns:a="http://schemas.openxmlformats.org/drawingml/2006/main">
            <a:off x="7334250" y="482917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46" name="">
            <a:extLst xmlns:a="http://schemas.openxmlformats.org/drawingml/2006/main">
              <a:ext uri="{FF2B5EF4-FFF2-40B4-BE49-F238E27FC236}">
                <a16:creationId xmlns:a16="http://schemas.microsoft.com/office/drawing/2014/main" id="{8395CED4-70C2-414C-9D05-44D8A66AE58F}"/>
              </a:ext>
            </a:extLst>
          </p:cNvPr>
          <p:cNvSpPr>
            <a:spLocks xmlns:a="http://schemas.openxmlformats.org/drawingml/2006/main" noGrp="1"/>
          </p:cNvSpPr>
          <p:nvPr/>
        </p:nvSpPr>
        <p:spPr>
          <a:xfrm xmlns:a="http://schemas.openxmlformats.org/drawingml/2006/main">
            <a:off x="6019800" y="510540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Measure the engine</a:t>
            </a:r>
          </a:p>
        </p:txBody>
      </p:sp>
      <p:sp>
        <p:nvSpPr>
          <p:cNvPr id="47" name="">
            <a:extLst xmlns:a="http://schemas.openxmlformats.org/drawingml/2006/main">
              <a:ext uri="{FF2B5EF4-FFF2-40B4-BE49-F238E27FC236}">
                <a16:creationId xmlns:a16="http://schemas.microsoft.com/office/drawing/2014/main" id="{D775DEAC-B178-4B13-921D-8EEC5D43C039}"/>
              </a:ext>
            </a:extLst>
          </p:cNvPr>
          <p:cNvSpPr>
            <a:spLocks xmlns:a="http://schemas.openxmlformats.org/drawingml/2006/main" noGrp="1"/>
          </p:cNvSpPr>
          <p:nvPr/>
        </p:nvSpPr>
        <p:spPr>
          <a:xfrm xmlns:a="http://schemas.openxmlformats.org/drawingml/2006/main">
            <a:off x="6019800" y="537210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Cycles per query row on a bench</a:t>
            </a:r>
          </a:p>
        </p:txBody>
      </p:sp>
      <p:sp>
        <p:nvSpPr>
          <p:cNvPr id="48" name="">
            <a:extLst xmlns:a="http://schemas.openxmlformats.org/drawingml/2006/main">
              <a:ext uri="{FF2B5EF4-FFF2-40B4-BE49-F238E27FC236}">
                <a16:creationId xmlns:a16="http://schemas.microsoft.com/office/drawing/2014/main" id="{6220203B-C302-4FCA-AA68-DFB5B45CFA53}"/>
              </a:ext>
            </a:extLst>
          </p:cNvPr>
          <p:cNvSpPr>
            <a:spLocks xmlns:a="http://schemas.openxmlformats.org/drawingml/2006/main" noGrp="1"/>
          </p:cNvSpPr>
          <p:nvPr/>
        </p:nvSpPr>
        <p:spPr>
          <a:xfrm xmlns:a="http://schemas.openxmlformats.org/drawingml/2006/main">
            <a:off x="8915400" y="440055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49" name="">
            <a:extLst xmlns:a="http://schemas.openxmlformats.org/drawingml/2006/main">
              <a:ext uri="{FF2B5EF4-FFF2-40B4-BE49-F238E27FC236}">
                <a16:creationId xmlns:a16="http://schemas.microsoft.com/office/drawing/2014/main" id="{E874313E-7EFF-443D-A9EA-C034C3EF5088}"/>
              </a:ext>
            </a:extLst>
          </p:cNvPr>
          <p:cNvSpPr>
            <a:spLocks xmlns:a="http://schemas.openxmlformats.org/drawingml/2006/main" noGrp="1"/>
          </p:cNvSpPr>
          <p:nvPr/>
        </p:nvSpPr>
        <p:spPr>
          <a:xfrm xmlns:a="http://schemas.openxmlformats.org/drawingml/2006/main">
            <a:off x="8915400" y="446722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NEXT SPIN</a:t>
            </a:r>
          </a:p>
        </p:txBody>
      </p:sp>
      <p:sp>
        <p:nvSpPr>
          <p:cNvPr id="50" name="">
            <a:extLst xmlns:a="http://schemas.openxmlformats.org/drawingml/2006/main">
              <a:ext uri="{FF2B5EF4-FFF2-40B4-BE49-F238E27FC236}">
                <a16:creationId xmlns:a16="http://schemas.microsoft.com/office/drawing/2014/main" id="{1F32F9B1-4ACB-4A76-8399-F0500247EF3D}"/>
              </a:ext>
            </a:extLst>
          </p:cNvPr>
          <p:cNvSpPr>
            <a:spLocks xmlns:a="http://schemas.openxmlformats.org/drawingml/2006/main" noGrp="1"/>
          </p:cNvSpPr>
          <p:nvPr/>
        </p:nvSpPr>
        <p:spPr>
          <a:xfrm xmlns:a="http://schemas.openxmlformats.org/drawingml/2006/main">
            <a:off x="10153650" y="482917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51" name="">
            <a:extLst xmlns:a="http://schemas.openxmlformats.org/drawingml/2006/main">
              <a:ext uri="{FF2B5EF4-FFF2-40B4-BE49-F238E27FC236}">
                <a16:creationId xmlns:a16="http://schemas.microsoft.com/office/drawing/2014/main" id="{7D060E33-C3DC-4C67-89D0-7494996065A4}"/>
              </a:ext>
            </a:extLst>
          </p:cNvPr>
          <p:cNvSpPr>
            <a:spLocks xmlns:a="http://schemas.openxmlformats.org/drawingml/2006/main" noGrp="1"/>
          </p:cNvSpPr>
          <p:nvPr/>
        </p:nvSpPr>
        <p:spPr>
          <a:xfrm xmlns:a="http://schemas.openxmlformats.org/drawingml/2006/main">
            <a:off x="8839200" y="510540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Close the gaps</a:t>
            </a:r>
          </a:p>
        </p:txBody>
      </p:sp>
      <p:sp>
        <p:nvSpPr>
          <p:cNvPr id="52" name="">
            <a:extLst xmlns:a="http://schemas.openxmlformats.org/drawingml/2006/main">
              <a:ext uri="{FF2B5EF4-FFF2-40B4-BE49-F238E27FC236}">
                <a16:creationId xmlns:a16="http://schemas.microsoft.com/office/drawing/2014/main" id="{E58B861B-42BF-4086-8E5E-0EC3F7A0B755}"/>
              </a:ext>
            </a:extLst>
          </p:cNvPr>
          <p:cNvSpPr>
            <a:spLocks xmlns:a="http://schemas.openxmlformats.org/drawingml/2006/main" noGrp="1"/>
          </p:cNvSpPr>
          <p:nvPr/>
        </p:nvSpPr>
        <p:spPr>
          <a:xfrm xmlns:a="http://schemas.openxmlformats.org/drawingml/2006/main">
            <a:off x="8839200" y="537210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12-bit ADC and embedded flash</a:t>
            </a:r>
          </a:p>
        </p:txBody>
      </p:sp>
      <p:sp>
        <p:nvSpPr>
          <p:cNvPr id="53" name="">
            <a:extLst xmlns:a="http://schemas.openxmlformats.org/drawingml/2006/main">
              <a:ext uri="{FF2B5EF4-FFF2-40B4-BE49-F238E27FC236}">
                <a16:creationId xmlns:a16="http://schemas.microsoft.com/office/drawing/2014/main" id="{FBBD42DA-1629-4610-A6E1-4ABF914EAE1B}"/>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DG32-LITE investor block diagram p1–p2; DG32-2DOM block architecture §4.18.</a:t>
            </a:r>
          </a:p>
        </p:txBody>
      </p:sp>
    </p:spTree>
    <p:extLst>
      <p:ext uri="{BB962C8B-B14F-4D97-AF65-F5344CB8AC3E}">
        <p14:creationId xmlns:p14="http://schemas.microsoft.com/office/powerpoint/2010/main" val="57961010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84ED048-D29B-4CAA-BD18-DC81B10A51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E64EC2-00DA-4BCD-BFB7-14D4CEFB0FA3}"/>
              </a:ext>
            </a:extLst>
          </p:cNvPr>
          <p:cNvSpPr>
            <a:spLocks xmlns:a="http://schemas.openxmlformats.org/drawingml/2006/main" noGrp="1"/>
          </p:cNvSpPr>
          <p:nvPr/>
        </p:nvSpPr>
        <p:spPr>
          <a:xfrm xmlns:a="http://schemas.openxmlformats.org/drawingml/2006/main">
            <a:off x="0" y="0"/>
            <a:ext cx="48768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EB18406-BB18-41A5-8912-5E56436A10B0}"/>
              </a:ext>
            </a:extLst>
          </p:cNvPr>
          <p:cNvSpPr>
            <a:spLocks xmlns:a="http://schemas.openxmlformats.org/drawingml/2006/main" noGrp="1"/>
          </p:cNvSpPr>
          <p:nvPr/>
        </p:nvSpPr>
        <p:spPr>
          <a:xfrm xmlns:a="http://schemas.openxmlformats.org/drawingml/2006/main">
            <a:off x="457200" y="6096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13 · CLOSE</a:t>
            </a:r>
          </a:p>
        </p:txBody>
      </p:sp>
      <p:sp>
        <p:nvSpPr>
          <p:cNvPr id="4" name="">
            <a:extLst xmlns:a="http://schemas.openxmlformats.org/drawingml/2006/main">
              <a:ext uri="{FF2B5EF4-FFF2-40B4-BE49-F238E27FC236}">
                <a16:creationId xmlns:a16="http://schemas.microsoft.com/office/drawing/2014/main" id="{4D642EEC-E30A-4474-83AD-77A9CE9AEA64}"/>
              </a:ext>
            </a:extLst>
          </p:cNvPr>
          <p:cNvSpPr>
            <a:spLocks xmlns:a="http://schemas.openxmlformats.org/drawingml/2006/main" noGrp="1"/>
          </p:cNvSpPr>
          <p:nvPr/>
        </p:nvSpPr>
        <p:spPr>
          <a:xfrm xmlns:a="http://schemas.openxmlformats.org/drawingml/2006/main">
            <a:off x="457200" y="990600"/>
            <a:ext cx="40005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FFFFFF"/>
                </a:solidFill>
                <a:latin typeface="Georgia"/>
                <a:ea typeface="Georgia"/>
                <a:cs typeface="Georgia"/>
              </a:defRPr>
            </a:pPr>
            <a:r>
              <a:t>AI in the drive. Control left untouched.</a:t>
            </a:r>
          </a:p>
        </p:txBody>
      </p:sp>
      <p:sp>
        <p:nvSpPr>
          <p:cNvPr id="5" name="">
            <a:extLst xmlns:a="http://schemas.openxmlformats.org/drawingml/2006/main">
              <a:ext uri="{FF2B5EF4-FFF2-40B4-BE49-F238E27FC236}">
                <a16:creationId xmlns:a16="http://schemas.microsoft.com/office/drawing/2014/main" id="{F9106C77-85A0-41B3-816C-A808F05E7861}"/>
              </a:ext>
            </a:extLst>
          </p:cNvPr>
          <p:cNvSpPr>
            <a:spLocks xmlns:a="http://schemas.openxmlformats.org/drawingml/2006/main" noGrp="1"/>
          </p:cNvSpPr>
          <p:nvPr/>
        </p:nvSpPr>
        <p:spPr>
          <a:xfrm xmlns:a="http://schemas.openxmlformats.org/drawingml/2006/main">
            <a:off x="457200" y="302895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7A90890-08A8-4E82-9F33-055876B4EF67}"/>
              </a:ext>
            </a:extLst>
          </p:cNvPr>
          <p:cNvSpPr>
            <a:spLocks xmlns:a="http://schemas.openxmlformats.org/drawingml/2006/main" noGrp="1"/>
          </p:cNvSpPr>
          <p:nvPr/>
        </p:nvSpPr>
        <p:spPr>
          <a:xfrm xmlns:a="http://schemas.openxmlformats.org/drawingml/2006/main">
            <a:off x="457200" y="3276600"/>
            <a:ext cx="4000500" cy="1238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Next milestone: bring-up measures the engine’s cycles per query row and turns these design values into measurements.</a:t>
            </a:r>
          </a:p>
        </p:txBody>
      </p:sp>
      <p:sp>
        <p:nvSpPr>
          <p:cNvPr id="7" name="">
            <a:extLst xmlns:a="http://schemas.openxmlformats.org/drawingml/2006/main">
              <a:ext uri="{FF2B5EF4-FFF2-40B4-BE49-F238E27FC236}">
                <a16:creationId xmlns:a16="http://schemas.microsoft.com/office/drawing/2014/main" id="{E02EBA9B-C26E-40D5-ACE1-48D72C75FED0}"/>
              </a:ext>
            </a:extLst>
          </p:cNvPr>
          <p:cNvSpPr>
            <a:spLocks xmlns:a="http://schemas.openxmlformats.org/drawingml/2006/main" noGrp="1"/>
          </p:cNvSpPr>
          <p:nvPr/>
        </p:nvSpPr>
        <p:spPr>
          <a:xfrm xmlns:a="http://schemas.openxmlformats.org/drawingml/2006/main">
            <a:off x="5334000" y="609600"/>
            <a:ext cx="6400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THREE THINGS TO REMEMBER</a:t>
            </a:r>
          </a:p>
        </p:txBody>
      </p:sp>
      <p:sp>
        <p:nvSpPr>
          <p:cNvPr id="8" name="">
            <a:extLst xmlns:a="http://schemas.openxmlformats.org/drawingml/2006/main">
              <a:ext uri="{FF2B5EF4-FFF2-40B4-BE49-F238E27FC236}">
                <a16:creationId xmlns:a16="http://schemas.microsoft.com/office/drawing/2014/main" id="{BA076F86-75DF-482A-9F2C-673F661925EC}"/>
              </a:ext>
            </a:extLst>
          </p:cNvPr>
          <p:cNvSpPr>
            <a:spLocks xmlns:a="http://schemas.openxmlformats.org/drawingml/2006/main" noGrp="1"/>
          </p:cNvSpPr>
          <p:nvPr/>
        </p:nvSpPr>
        <p:spPr>
          <a:xfrm xmlns:a="http://schemas.openxmlformats.org/drawingml/2006/main">
            <a:off x="5334000" y="102870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927CF38F-73EB-4197-9B89-929B6CC9EE14}"/>
              </a:ext>
            </a:extLst>
          </p:cNvPr>
          <p:cNvSpPr>
            <a:spLocks xmlns:a="http://schemas.openxmlformats.org/drawingml/2006/main" noGrp="1"/>
          </p:cNvSpPr>
          <p:nvPr/>
        </p:nvSpPr>
        <p:spPr>
          <a:xfrm xmlns:a="http://schemas.openxmlformats.org/drawingml/2006/main">
            <a:off x="5334000" y="10287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D7868E4-4E00-4FB3-BD0B-0705EE063456}"/>
              </a:ext>
            </a:extLst>
          </p:cNvPr>
          <p:cNvSpPr>
            <a:spLocks xmlns:a="http://schemas.openxmlformats.org/drawingml/2006/main" noGrp="1"/>
          </p:cNvSpPr>
          <p:nvPr/>
        </p:nvSpPr>
        <p:spPr>
          <a:xfrm xmlns:a="http://schemas.openxmlformats.org/drawingml/2006/main">
            <a:off x="5562600" y="121920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1 · An addition, not a redesign</a:t>
            </a:r>
          </a:p>
        </p:txBody>
      </p:sp>
      <p:sp>
        <p:nvSpPr>
          <p:cNvPr id="11" name="">
            <a:extLst xmlns:a="http://schemas.openxmlformats.org/drawingml/2006/main">
              <a:ext uri="{FF2B5EF4-FFF2-40B4-BE49-F238E27FC236}">
                <a16:creationId xmlns:a16="http://schemas.microsoft.com/office/drawing/2014/main" id="{F372E55B-ACFC-4255-A2F9-EA846237DBAB}"/>
              </a:ext>
            </a:extLst>
          </p:cNvPr>
          <p:cNvSpPr>
            <a:spLocks xmlns:a="http://schemas.openxmlformats.org/drawingml/2006/main" noGrp="1"/>
          </p:cNvSpPr>
          <p:nvPr/>
        </p:nvSpPr>
        <p:spPr>
          <a:xfrm xmlns:a="http://schemas.openxmlformats.org/drawingml/2006/main">
            <a:off x="5562600" y="158115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engine and bridges are added around the frozen lockstep core, boot path and bus decode.</a:t>
            </a:r>
          </a:p>
        </p:txBody>
      </p:sp>
      <p:sp>
        <p:nvSpPr>
          <p:cNvPr id="12" name="">
            <a:extLst xmlns:a="http://schemas.openxmlformats.org/drawingml/2006/main">
              <a:ext uri="{FF2B5EF4-FFF2-40B4-BE49-F238E27FC236}">
                <a16:creationId xmlns:a16="http://schemas.microsoft.com/office/drawing/2014/main" id="{5327311B-9D44-43D1-9292-9EA7001D8C98}"/>
              </a:ext>
            </a:extLst>
          </p:cNvPr>
          <p:cNvSpPr>
            <a:spLocks xmlns:a="http://schemas.openxmlformats.org/drawingml/2006/main" noGrp="1"/>
          </p:cNvSpPr>
          <p:nvPr/>
        </p:nvSpPr>
        <p:spPr>
          <a:xfrm xmlns:a="http://schemas.openxmlformats.org/drawingml/2006/main">
            <a:off x="5334000" y="2428875"/>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7F774A05-752E-4815-98A4-6F6CAE884849}"/>
              </a:ext>
            </a:extLst>
          </p:cNvPr>
          <p:cNvSpPr>
            <a:spLocks xmlns:a="http://schemas.openxmlformats.org/drawingml/2006/main" noGrp="1"/>
          </p:cNvSpPr>
          <p:nvPr/>
        </p:nvSpPr>
        <p:spPr>
          <a:xfrm xmlns:a="http://schemas.openxmlformats.org/drawingml/2006/main">
            <a:off x="5334000" y="242887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53B74D7-8E62-4E8F-B9A6-31D3FE787A1B}"/>
              </a:ext>
            </a:extLst>
          </p:cNvPr>
          <p:cNvSpPr>
            <a:spLocks xmlns:a="http://schemas.openxmlformats.org/drawingml/2006/main" noGrp="1"/>
          </p:cNvSpPr>
          <p:nvPr/>
        </p:nvSpPr>
        <p:spPr>
          <a:xfrm xmlns:a="http://schemas.openxmlformats.org/drawingml/2006/main">
            <a:off x="5562600" y="2619375"/>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2 · Exact arithmetic</a:t>
            </a:r>
          </a:p>
        </p:txBody>
      </p:sp>
      <p:sp>
        <p:nvSpPr>
          <p:cNvPr id="15" name="">
            <a:extLst xmlns:a="http://schemas.openxmlformats.org/drawingml/2006/main">
              <a:ext uri="{FF2B5EF4-FFF2-40B4-BE49-F238E27FC236}">
                <a16:creationId xmlns:a16="http://schemas.microsoft.com/office/drawing/2014/main" id="{9DB99DF8-F140-46C6-BC4F-957F72AD6CF9}"/>
              </a:ext>
            </a:extLst>
          </p:cNvPr>
          <p:cNvSpPr>
            <a:spLocks xmlns:a="http://schemas.openxmlformats.org/drawingml/2006/main" noGrp="1"/>
          </p:cNvSpPr>
          <p:nvPr/>
        </p:nvSpPr>
        <p:spPr>
          <a:xfrm xmlns:a="http://schemas.openxmlformats.org/drawingml/2006/main">
            <a:off x="5562600" y="2981325"/>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INT8 output, bit-exact to the software model, with no weight rounded to zero.</a:t>
            </a:r>
          </a:p>
        </p:txBody>
      </p:sp>
      <p:sp>
        <p:nvSpPr>
          <p:cNvPr id="16" name="">
            <a:extLst xmlns:a="http://schemas.openxmlformats.org/drawingml/2006/main">
              <a:ext uri="{FF2B5EF4-FFF2-40B4-BE49-F238E27FC236}">
                <a16:creationId xmlns:a16="http://schemas.microsoft.com/office/drawing/2014/main" id="{2F68D204-5D10-41B0-A199-C886FACD54AC}"/>
              </a:ext>
            </a:extLst>
          </p:cNvPr>
          <p:cNvSpPr>
            <a:spLocks xmlns:a="http://schemas.openxmlformats.org/drawingml/2006/main" noGrp="1"/>
          </p:cNvSpPr>
          <p:nvPr/>
        </p:nvSpPr>
        <p:spPr>
          <a:xfrm xmlns:a="http://schemas.openxmlformats.org/drawingml/2006/main">
            <a:off x="5334000" y="382905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7725FBDA-1658-41AB-829F-A7B3AD5D5E97}"/>
              </a:ext>
            </a:extLst>
          </p:cNvPr>
          <p:cNvSpPr>
            <a:spLocks xmlns:a="http://schemas.openxmlformats.org/drawingml/2006/main" noGrp="1"/>
          </p:cNvSpPr>
          <p:nvPr/>
        </p:nvSpPr>
        <p:spPr>
          <a:xfrm xmlns:a="http://schemas.openxmlformats.org/drawingml/2006/main">
            <a:off x="5334000" y="38290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42B302A-B4C3-4172-A030-36C561E63880}"/>
              </a:ext>
            </a:extLst>
          </p:cNvPr>
          <p:cNvSpPr>
            <a:spLocks xmlns:a="http://schemas.openxmlformats.org/drawingml/2006/main" noGrp="1"/>
          </p:cNvSpPr>
          <p:nvPr/>
        </p:nvSpPr>
        <p:spPr>
          <a:xfrm xmlns:a="http://schemas.openxmlformats.org/drawingml/2006/main">
            <a:off x="5562600" y="401955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3 · Cost known before silicon</a:t>
            </a:r>
          </a:p>
        </p:txBody>
      </p:sp>
      <p:sp>
        <p:nvSpPr>
          <p:cNvPr id="19" name="">
            <a:extLst xmlns:a="http://schemas.openxmlformats.org/drawingml/2006/main">
              <a:ext uri="{FF2B5EF4-FFF2-40B4-BE49-F238E27FC236}">
                <a16:creationId xmlns:a16="http://schemas.microsoft.com/office/drawing/2014/main" id="{4F8BCF3B-2626-451E-AAF3-0FA192D08840}"/>
              </a:ext>
            </a:extLst>
          </p:cNvPr>
          <p:cNvSpPr>
            <a:spLocks xmlns:a="http://schemas.openxmlformats.org/drawingml/2006/main" noGrp="1"/>
          </p:cNvSpPr>
          <p:nvPr/>
        </p:nvSpPr>
        <p:spPr>
          <a:xfrm xmlns:a="http://schemas.openxmlformats.org/drawingml/2006/main">
            <a:off x="5562600" y="438150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About 3,242 cycles per query row by analysis, with timing closed at 50 MHz and 114 MHz.</a:t>
            </a:r>
          </a:p>
        </p:txBody>
      </p:sp>
      <p:sp>
        <p:nvSpPr>
          <p:cNvPr id="20" name="">
            <a:extLst xmlns:a="http://schemas.openxmlformats.org/drawingml/2006/main">
              <a:ext uri="{FF2B5EF4-FFF2-40B4-BE49-F238E27FC236}">
                <a16:creationId xmlns:a16="http://schemas.microsoft.com/office/drawing/2014/main" id="{B5ABD562-7369-4EBF-8021-B9402FA8E445}"/>
              </a:ext>
            </a:extLst>
          </p:cNvPr>
          <p:cNvSpPr>
            <a:spLocks xmlns:a="http://schemas.openxmlformats.org/drawingml/2006/main" noGrp="1"/>
          </p:cNvSpPr>
          <p:nvPr/>
        </p:nvSpPr>
        <p:spPr>
          <a:xfrm xmlns:a="http://schemas.openxmlformats.org/drawingml/2006/main">
            <a:off x="457200" y="6486525"/>
            <a:ext cx="40005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7BDE736-BC8F-463B-942F-8358E793F7A3}"/>
              </a:ext>
            </a:extLst>
          </p:cNvPr>
          <p:cNvSpPr>
            <a:spLocks xmlns:a="http://schemas.openxmlformats.org/drawingml/2006/main" noGrp="1"/>
          </p:cNvSpPr>
          <p:nvPr/>
        </p:nvSpPr>
        <p:spPr>
          <a:xfrm xmlns:a="http://schemas.openxmlformats.org/drawingml/2006/main">
            <a:off x="5334000" y="6486525"/>
            <a:ext cx="64008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D4D6F15-C706-44CB-9ECF-7FE47E79FD53}"/>
              </a:ext>
            </a:extLst>
          </p:cNvPr>
          <p:cNvSpPr>
            <a:spLocks xmlns:a="http://schemas.openxmlformats.org/drawingml/2006/main" noGrp="1"/>
          </p:cNvSpPr>
          <p:nvPr/>
        </p:nvSpPr>
        <p:spPr>
          <a:xfrm xmlns:a="http://schemas.openxmlformats.org/drawingml/2006/main">
            <a:off x="457200" y="6572250"/>
            <a:ext cx="4191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DG32-2DOM ARCHITECTURE</a:t>
            </a:r>
          </a:p>
        </p:txBody>
      </p:sp>
      <p:sp>
        <p:nvSpPr>
          <p:cNvPr id="23" name="">
            <a:extLst xmlns:a="http://schemas.openxmlformats.org/drawingml/2006/main">
              <a:ext uri="{FF2B5EF4-FFF2-40B4-BE49-F238E27FC236}">
                <a16:creationId xmlns:a16="http://schemas.microsoft.com/office/drawing/2014/main" id="{EA4DE4D3-0440-4CBD-97EA-2C5228451A2D}"/>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13</a:t>
            </a:r>
          </a:p>
        </p:txBody>
      </p:sp>
    </p:spTree>
    <p:extLst>
      <p:ext uri="{BB962C8B-B14F-4D97-AF65-F5344CB8AC3E}">
        <p14:creationId xmlns:p14="http://schemas.microsoft.com/office/powerpoint/2010/main" val="20846836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2026-09-13T13:30:31.6370000Z</dcterms:created>
  <dcterms:modified xsi:type="dcterms:W3CDTF">2026-09-13T13:30:31.6380000Z</dcterms:modified>
</coreProperties>
</file>