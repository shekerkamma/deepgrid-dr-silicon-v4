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DEEPGRID SEMI · SOVEREIGN FOUNDRY MIGRATION ROADMAP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One Method, Three Factories</a:t>
            </a:r>
            <a:br/>
            <a:r>
              <a:t>Sovereignty &amp; Foundry Portability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SkyWater (USA) Prototyping -&gt; IHP (Germany) 77 GHz Radar -&gt; SCL Mohali (India) Buy(Indian-IDDM) Defence Lock-in.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FACTORY 1: PROVEN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SkyWater 130nm (USA)</a:t>
            </a:r>
            <a:br/>
            <a:r>
              <a:t>Validated Silicon on MPW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FACTORY 2: DIFFERENTIATED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IHP SG13G2 SiGe (Germany)</a:t>
            </a:r>
            <a:br/>
            <a:r>
              <a:t>350 GHz fT mmWave Radar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FACTORY 3: SOVEREIGN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SCL Mohali 180nm (India)</a:t>
            </a:r>
            <a:br/>
            <a:r>
              <a:t>100% Domestic IDDM Defense Fab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PORTING BOUNDARY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Scripted Digital (.lib)</a:t>
            </a:r>
            <a:br/>
            <a:r>
              <a:t>Manual Analog Recalibration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GEOPOLITICAL SILICON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$9B Mature-Node Import Trap Demands Multi-Factory Portability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Relying solely on foreign fabs risks export embargoes, while waiting for domestic fab modernization stalls commercial 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Foreign Fab Single-Sourcing Risk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India imports $9B in mature-node chips (130nm–180nm) powering defense and aerospace.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Western fabs are bound by ITAR and potential sudden export license revocations.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Taiwanese fabs (TSMC/UMC) face severe geopolitical disruption risks across the Taiwan Strait.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Indian military programs cannot build sovereign defense on fragile foreign silicon.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The Domestic Fab Reality (SCL)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Semi-Conductor Laboratory (SCL) Mohali operates an operational 180nm CMOS/BCD line.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However, prototyping every early digital experiment solely at SCL slows iteration cycles.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Commercial fabless teams need fast, low-cost tapeouts to validate digital RTL quickly.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The answer is a sequential bridge: prove digital IP globally, transfer sovereignty domestically.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The DeepGrid 3-Factory Thesis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One standardized open-source design flow (OpenLane / Yosys / OpenROAD).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Factory 1 (SkyWater): Fast, $14.3K MPW digital proof of silicon.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Factory 2 (IHP Germany): World-class 350 GHz SiGe for 77 GHz radar.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Factory 3 (SCL Mohali): Complete sovereign defense lock-in under DAP-2020 Make-II.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THREE FOUNDRIES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Distinct Roles Across Prototyping, High-Frequency Radar, And Sovereign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Each foundry serves a specific economic and physical purpose in DeepGrid's long-term silicon compounding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SkyWater SKY130 (USA)</a:t>
            </a:r>
          </a:p>
          <a:p>
            <a:pPr>
              <a:spcAft>
                <a:spcPts val="600"/>
              </a:spcAft>
              <a:defRPr sz="900" b="1">
                <a:solidFill>
                  <a:srgbClr val="2563EB"/>
                </a:solidFill>
              </a:defRPr>
            </a:pPr>
            <a:r>
              <a:t>FOUNDRY STATUS: PROVEN (DONE)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Node: 130 nm Planar CMOS (5-Metal Stack).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Status: PROVEN SILICON — Physical working test chips fabricated &amp; validated.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Cost: $14,300 per MPW shuttle run; eliminates $1M EDA tool tax.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Procurement: Qualifies as DAP-2020 Buy (Indian) since RTL is Indian-owned.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Primary Role: Rapid commercial prototyping &amp; digital processor IP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IHP Leibniz SG13G2 (Germany)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FOUNDRY STATUS: DIFFERENTIATED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Node: 130 nm SiGe:C BiCMOS Heterojunction Bipolar.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Transistor Physics: Ultra-high speed fT = 350 GHz, fmax = 450 GHz.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Status: PLANNED — Target tapeout for SKU-7 77 GHz MIMO Radar.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Aerospace Profile: DO-160G airborne qualified high-frequency RF front-end.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Primary Role: 4D mmWave radar for drone &amp; automotive collision avoidance.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SCL Mohali (India)</a:t>
            </a:r>
          </a:p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</a:defRPr>
            </a:pPr>
            <a:r>
              <a:t>FOUNDRY STATUS: SOVEREIGN DEFENCE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Node: 180 nm Military-Qualified CMOS &amp; High-Voltage BCD.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Status: STRATEGIC TRANSFER — Dedicated domestic defense manufacturing.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Procurement: Unlocks DAP-2020 Buy (Indian-IDDM) absolute monopoly status.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Sovereignty: 100% domestic IP, fab, assembly, and test immune to sanctions.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Primary Role: Sovereign military production for Indian Army, BEL, and DRDO.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HONEST PORTING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Digital Logic Moves By Script; Analog Circuits Require Physical Re-Engineering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DeepGrid rejects false marketing claims of 'instant zero-cost analog migration': physics dictates the real engineering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71830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PORTABLE VIA SCRIPTING (AUTOMATED)</a:t>
            </a:r>
          </a:p>
          <a:p>
            <a:pPr>
              <a:spcAft>
                <a:spcPts val="600"/>
              </a:spcAft>
              <a:defRPr sz="900" b="1">
                <a:solidFill>
                  <a:srgbClr val="2563EB"/>
                </a:solidFill>
              </a:defRPr>
            </a:pPr>
            <a:r>
              <a:t>FOUNDRY STATUS: DIGITAL LOGIC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Verilog / SystemVerilog digital RTL codebases and synthesizable modules.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DGridRiscV processor core architecture (RV32IM_Safety).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AXI4 crossbar interconnect matrices, arbiters, and FIFO buffers.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UVM verification testbenches, assertions, and coverage closure plans.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Porting Mechanism: Automated Liberty (.lib) timing file swap + OpenROAD re-run.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Engineering Overhead: &lt;2 weeks of scripted timing closure per foundry retarget.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883664"/>
            <a:ext cx="471830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REQUIRES MANUAL RE-ENGINEERING (PHYSICS-BOUND)</a:t>
            </a:r>
          </a:p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</a:defRPr>
            </a:pPr>
            <a:r>
              <a:t>FOUNDRY STATUS: ANALOG &amp; BCD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Bandgap Voltage References: Brokaw cells require resistor trimming for 12 ppm/°C.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High-Voltage BCD Output Stages: 5V–120V LDMOS doping profiles differ per foundry.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Foundry Non-Volatile Memory (NVM / OTP / EEPROM): Proprietary hard macros.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ESD / EOS Pad Protection Rings: Must be redrawn and sized to meet ±15 kV HBM.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Porting Mechanism: 1 to 2 dedicated calibration shuttle cycles per new foundry node.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Engineering Overhead: 6–9 months of physical layout and silicon characterization.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OPEN-SOURCE EDA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OpenLane, Yosys, And OpenROAD Slashes NRE And Enables Frictionless Retargeting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Automated physical design flow removes the multi-million-dollar tool barrier and locks IP into reproducible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Zero Tooling License Tax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Proprietary EDA tool suites (Synopsys, Cadence) cost $1M–$2M per tapeout.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DeepGrid's physical design operates 100% on open-source Yosys and OpenROAD.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Eliminates per-seat licensing costs and legal export approval from US EDA vendors.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Complete GDSII generation executes on local workstations in Hyderabad.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Automated Liberty (.lib) Swap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When moving from SkyWater to SCL Mohali, the digital RTL remains completely untouched.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Tool scripts swap target technology LEF files and standard-cell timing libraries (.lib).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Floorplanning, clock-tree synthesis (CTS), and global routing execute deterministically.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Guarantees timing closure at target clock boundaries (200 MHz fixed).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Fast Shuttle Compounding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Multi-Project Wafer (MPW) shuttles allow rapid silicon validation at $14.3K per run.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DeepGrid executes a complete design-to-silicon shuttle loop every 198 days.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Validates 1,000 silicon-tested building blocks that compound into 50 approved SKUs.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De-risks complex SoC subsystems before committing to volume SCL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DEFENCE PROCUREMENT LAW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Buy (Indian-IDDM) Grants Unconditional Monopoly Priority In Indian Defence Tenders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Foreign chipmakers (TI, STMicro, ADI) are legally excluded from top-tier sovereign military procurement.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Buy (Indian) vs Buy (Indian-IDDM)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DAP-2020 establishes a rigid legal hierarchy for all Indian military procurement.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SkyWater &amp; IHP silicon qualifies as Buy (Indian) because design &amp; IP are 100% Indian.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SCL Mohali silicon unlocks Buy (Indian-IDDM): Indigenously Designed, Developed &amp; Manufactured.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Buy (Indian-IDDM) holds mandatory statutory priority over all other procurement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Positive Indigenisation Lists (PIL)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Ministry of Defence (MoD) has notified 5 Positive Indigenisation Lists banning imports.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Covers drone flight controllers, high-reliability PMICs, and tactical communications ICs.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Foreign suppliers cannot bid once a verified domestic IDDM alternative exists.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Guarantees a legally protected domestic market for DeepGrid's mature-node SKUs.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SCL Mohali Sovereign Lock-in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Domestic fabrication at SCL Mohali makes DeepGrid products completely sanction-proof.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Zero ITAR dependencies; immune to US, European, or Chinese geopolitical embargoes.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Secures long-term 15-to-20-year defense program availability.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Establishes DeepGrid as the default semiconductor provider to BEL, DRDO, and MCEME.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POST-SILICON PRODUCTIZATION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Fabrication Is Step One: Packaging, ATE Screening, And Qualification In Hyderabad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DeepGrid completes the semiconductor loop with in-house automated test equipment and domestic multi-die packaging.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Multi-Die Organic SiP Packaging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Standard 4-layer organic laminate substrate (FR4/BT core) BGA packaging.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Composes mature dies from SkyWater, IHP, and SCL into a single rugged module.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Deliberately rejects expensive UCIe / TSMC CoWoS silicon interposers.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Packaging NRE under $35,000 with &gt;99% assembly yield across domestic ATMP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Dedicated ₹1.2 Cr ATE Testing Line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High-throughput automated test equipment (ATE) production line in Hyderabad.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Automated wafer probe testing to ensure Known Good Die (KGD) before SiP assembly.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Thermal chamber screening across full aerospace range (-55°C to +125°C).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Eliminates reliance on foreign test houses and preserves design IP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Military Environmental Qualification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MIL-STD-883K: High/low temperature cycling, thermal shock, and hermetic seal tests.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MIL-STD-461G: Radiated emissions and electromagnetic interference shielding.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CEMILAC and JSS-55555 airworthiness certification for frontline defense flight.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Pre-ASIC live orders (MCEME ₹1.01 Cr, Infinis, Axitech) validate field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10-SKU FOUNDRY ALLOCATION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Matching Each Semiconductor SKU To Its Optimal Foundry Physics And Procurement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Every chip in DeepGrid's portfolio is mapped to a specific process node based on voltage, frequency, and market sovereignty.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SKU-1: BLDC MOTOR CONTROLLER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BCD -&gt; SCL 180nm BCD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5–120V Rail, FOC CORDIC PID (&lt;1 µs), BEE 5-Star Fans &amp; EV 2-Wheelers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105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SKU-2: SMART METER SOC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CMOS -&gt; SCL 180nm CMOS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24-bit Sigma-Delta ADC, &lt;2 µW RTC, 250M National Smart Meter Rollout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SKU-3: HI-REL PMIC (28V)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SCL Mohali 180nm BCD / SkyWater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Brokaw Bandgap (12 ppm/°C), DICE FSM, DO-160 &amp; SRIJAN Defense 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249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SKU-4: LOCKSTEP SAFETY MCU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-&gt; SCL 180nm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Dual DGridRiscV with 2-Cycle Skew, ISO 26262 ASIL-D, &lt;=2-cycle FAULTn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SKU-5: INTERFACE TRANSCEIVER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Thick-Oxide HV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5V LDMOS, CAN-FD (5 Mbps), RS-485, ±15 kV HBM ESD Protection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6393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SKU-6: VOLTAGE SUPERVISOR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SCL Mohali 180nm / SkyWater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Chopper-Stabilized Reference, 8 µs Deglitch, MIL-STD-883 Pathfinder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SKU-7: 77GHZ MIMO RADAR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IHP Leibniz SG13G2 (Germany)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SiGe:C BiCMOS 350 GHz fT, 3.75 cm Distance Res, 4D Imaging Automotive 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4805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5537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SKU-8: RUGGED DISPLAY DRIVER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HV -&gt; SCL 180nm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0–12V Column Amps, 1280x10b DACs, BEL 17" Rugged SXGA, PIL-5 Item #5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681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SKU-9: SDV ZONAL GATEWAY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+ SCL 180nm BCD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16x Smart Solid-State e-Fuses, Gigabit TSN Switch, 4x CAN-XL (20 Mbps)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3949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4681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TRACK B: D100 DRONE SOC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SkyWater 130nm + 28nm Compute SiP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Dual DGridRiscV Flight Loop + 30 Hz EKF VIO + Isolated Hardware Failsafe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SEQUENTIAL MIGRATION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De-Risking Execution: Commercial Validation Precedes Domestic Defence Fab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 disciplined, phased execution model ensures revenue generation begins while long-cycle military qualification matures.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Stage 1: Commercial Shuttles (Months 1–12)</a:t>
            </a:r>
          </a:p>
          <a:p>
            <a:pPr>
              <a:spcAft>
                <a:spcPts val="600"/>
              </a:spcAft>
              <a:defRPr sz="900" b="1">
                <a:solidFill>
                  <a:srgbClr val="2563EB"/>
                </a:solidFill>
              </a:defRPr>
            </a:pPr>
            <a:r>
              <a:t>FOUNDRY STATUS: PHASE 1: PROTOTYPE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Fabricate digital test chips on SkyWater 130nm MPW shuttles (CI2609 &amp; CI2612).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Validate DGridRiscV core and basic analog macros in physical silicon.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Fulfill live commercial pilot orders with MCEME (₹1.01 Cr), Infinis, and Axitech.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Establish automated testing scripts and baseline yield metrics in Hyderabad.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Stage 2: Radar &amp; High-Frequency (Months 10–24)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FOUNDRY STATUS: PHASE 2: DIFFERENTIATION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Execute IHP SG13G2 SiGe BiCMOS radar front-end tapeout (SKU-7).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Validate 77 GHz mmWave transceivers and 4D imaging MIMO antennas.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Assemble multi-die packaging prototypes combining digital compute with radar die.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Initiate automotive Tier-1 ADAS pilots and airborne UAV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Stage 3: SCL Mohali Defense Transfer (Months 18–36)</a:t>
            </a:r>
          </a:p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</a:defRPr>
            </a:pPr>
            <a:r>
              <a:t>FOUNDRY STATUS: PHASE 3: SOVEREIGN MONOPOLY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Transfer validated RTL and re-engineer analog BCD macros for SCL 180nm fab line.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Run initial pilot qualification shuttles at SCL Mohali under Make-II program.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Achieve formal Buy (Indian-IDDM) certification and Approved Vendor List (AVL) inclusion.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Scale to full multi-thousand-unit production for Indian armed forces.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FINANCIAL MODEL &amp; CAPITAL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₹10 Cr In Capital Unlocks A ₹1,000 Cr Sovereign Semiconductor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Capital allocation breakdown, Chinese price crash insulation, and the FY31 sovereign revenue buildup.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USE OF ₹10 CR FUNDS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Precision Allocation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₹3.6 Cr: Foundry fabrication and MPW shuttles across SkyWater, IHP, and SCL.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₹2.4 Cr: Core engineering team (12 senior physical design &amp; analog IC engineers).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₹1.8 Cr: Defense environmental qualification (MIL-STD-883, JSS-55555, CEMILAC).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₹1.2 Cr: Dedicated ATE testing line &amp; probe station in Hyderabad.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</a:defRPr>
            </a:pPr>
            <a:r>
              <a:t>CRASH RESILIENCE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Stop Rules S1–S4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Stress-tested against a 50% Chinese mature-node price dumping crash.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Gross margin remains resilient at 58% under extreme price competition.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Domestic defense buyers legally cannot buy Chinese silicon under PIL rules.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Strict stop rules enforce financial discipline before each tapeout commitment.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514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</a:defRPr>
            </a:pPr>
            <a:r>
              <a:t>SOVEREIGN MONOPOLY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DAP-2020 Make-II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Buy(Indian-IDDM) creates statutory insulation: foreign bids excluded by law.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Indian Army MCEME, BEL, and ideaForge anchor demand guarantees off-take.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Pre-ASIC contracted traction (₹2.88 Cr) proves demand before volume fab.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High customer switching costs once design is frozen into military avionics.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737360"/>
            <a:ext cx="251460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</a:defRPr>
            </a:pPr>
            <a:r>
              <a:t>REVENUE BUILDUP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₹1,000 Cr by FY31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FY27: ₹12 Cr (Commercial pilots &amp; initial defense delivery).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FY28: ₹65 Cr (Volume drone SoCs &amp; smart meter rollouts).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FY29: ₹240 Cr (Automotive zonal controllers &amp; radar adoption).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FY31: ₹1,000 Cr+ across 50 mature building blocks powering 10 SKUs.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