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a974c1bd7042ea" /><Relationship Type="http://schemas.openxmlformats.org/officeDocument/2006/relationships/extended-properties" Target="/docProps/app.xml" Id="Re67cef586f224672" /><Relationship Type="http://schemas.openxmlformats.org/officeDocument/2006/relationships/officeDocument" Target="/ppt/presentation.xml" Id="R1209617e34684f72" /></Relationships>
</file>

<file path=ppt/presentation.xml><?xml version="1.0" encoding="utf-8"?>
<p:presentation xmlns:p="http://schemas.openxmlformats.org/presentationml/2006/main">
  <p:sldMasterIdLst>
    <p:sldMasterId xmlns:r="http://schemas.openxmlformats.org/officeDocument/2006/relationships" id="2147483648" r:id="R4f66c7cb3a6842bb"/>
  </p:sldMasterIdLst>
  <p:notesMasterIdLst>
    <p:notesMasterId xmlns:r="http://schemas.openxmlformats.org/officeDocument/2006/relationships" r:id="R488b796f272746f6"/>
  </p:notesMasterIdLst>
  <p:sldIdLst>
    <p:sldId xmlns:r="http://schemas.openxmlformats.org/officeDocument/2006/relationships" id="256" r:id="R94d596965e9e4658"/>
    <p:sldId xmlns:r="http://schemas.openxmlformats.org/officeDocument/2006/relationships" id="257" r:id="Rcefff6fe401c49d4"/>
    <p:sldId xmlns:r="http://schemas.openxmlformats.org/officeDocument/2006/relationships" id="258" r:id="Race7cba3d0bf46c5"/>
    <p:sldId xmlns:r="http://schemas.openxmlformats.org/officeDocument/2006/relationships" id="259" r:id="R243229a902474682"/>
    <p:sldId xmlns:r="http://schemas.openxmlformats.org/officeDocument/2006/relationships" id="260" r:id="R205dd67548474658"/>
    <p:sldId xmlns:r="http://schemas.openxmlformats.org/officeDocument/2006/relationships" id="261" r:id="Rd254b3e34bfd4f41"/>
    <p:sldId xmlns:r="http://schemas.openxmlformats.org/officeDocument/2006/relationships" id="262" r:id="Rbb1ca81408984e40"/>
    <p:sldId xmlns:r="http://schemas.openxmlformats.org/officeDocument/2006/relationships" id="263" r:id="Rd9b5fa48da854a0a"/>
    <p:sldId xmlns:r="http://schemas.openxmlformats.org/officeDocument/2006/relationships" id="264" r:id="R587216043d2d447f"/>
    <p:sldId xmlns:r="http://schemas.openxmlformats.org/officeDocument/2006/relationships" id="265" r:id="R291259c3c1404b0e"/>
    <p:sldId xmlns:r="http://schemas.openxmlformats.org/officeDocument/2006/relationships" id="266" r:id="R91a267b144784b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c8ff9ce15341ef" /><Relationship Type="http://schemas.openxmlformats.org/officeDocument/2006/relationships/slideMaster" Target="/ppt/slideMasters/slideMaster1.xml" Id="R4f66c7cb3a6842bb" /><Relationship Type="http://schemas.openxmlformats.org/officeDocument/2006/relationships/notesMaster" Target="/ppt/notesMasters/notesMaster1.xml" Id="R488b796f272746f6" /><Relationship Type="http://schemas.openxmlformats.org/officeDocument/2006/relationships/presProps" Target="/ppt/presProps.xml" Id="Re75f089f97794b23" /><Relationship Type="http://schemas.openxmlformats.org/officeDocument/2006/relationships/tableStyles" Target="/ppt/tableStyles.xml" Id="Ra666c1ba5e1b44b4" /><Relationship Type="http://schemas.openxmlformats.org/officeDocument/2006/relationships/slide" Target="/ppt/slides/slide1.xml" Id="R94d596965e9e4658" /><Relationship Type="http://schemas.openxmlformats.org/officeDocument/2006/relationships/slide" Target="/ppt/slides/slide2.xml" Id="Rcefff6fe401c49d4" /><Relationship Type="http://schemas.openxmlformats.org/officeDocument/2006/relationships/slide" Target="/ppt/slides/slide3.xml" Id="Race7cba3d0bf46c5" /><Relationship Type="http://schemas.openxmlformats.org/officeDocument/2006/relationships/slide" Target="/ppt/slides/slide4.xml" Id="R243229a902474682" /><Relationship Type="http://schemas.openxmlformats.org/officeDocument/2006/relationships/slide" Target="/ppt/slides/slide5.xml" Id="R205dd67548474658" /><Relationship Type="http://schemas.openxmlformats.org/officeDocument/2006/relationships/slide" Target="/ppt/slides/slide6.xml" Id="Rd254b3e34bfd4f41" /><Relationship Type="http://schemas.openxmlformats.org/officeDocument/2006/relationships/slide" Target="/ppt/slides/slide7.xml" Id="Rbb1ca81408984e40" /><Relationship Type="http://schemas.openxmlformats.org/officeDocument/2006/relationships/slide" Target="/ppt/slides/slide8.xml" Id="Rd9b5fa48da854a0a" /><Relationship Type="http://schemas.openxmlformats.org/officeDocument/2006/relationships/slide" Target="/ppt/slides/slide9.xml" Id="R587216043d2d447f" /><Relationship Type="http://schemas.openxmlformats.org/officeDocument/2006/relationships/slide" Target="/ppt/slides/slide10.xml" Id="R291259c3c1404b0e" /><Relationship Type="http://schemas.openxmlformats.org/officeDocument/2006/relationships/slide" Target="/ppt/slides/slide11.xml" Id="R91a267b144784b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fcc06d9b9f46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f7d6a7ac744ff7" /><Relationship Type="http://schemas.openxmlformats.org/officeDocument/2006/relationships/notesMaster" Target="/ppt/notesMasters/notesMaster1.xml" Id="Rf0a10bfce68d4c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bd78345e734312" /><Relationship Type="http://schemas.openxmlformats.org/officeDocument/2006/relationships/notesMaster" Target="/ppt/notesMasters/notesMaster1.xml" Id="R793fe54d87bb4e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bb71b7a66c4f0b" /><Relationship Type="http://schemas.openxmlformats.org/officeDocument/2006/relationships/notesMaster" Target="/ppt/notesMasters/notesMaster1.xml" Id="R4a1bf0a4c33c4b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668865972f4211" /><Relationship Type="http://schemas.openxmlformats.org/officeDocument/2006/relationships/notesMaster" Target="/ppt/notesMasters/notesMaster1.xml" Id="Rd0894c556fa644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44ecfaf9f64e00" /><Relationship Type="http://schemas.openxmlformats.org/officeDocument/2006/relationships/notesMaster" Target="/ppt/notesMasters/notesMaster1.xml" Id="R09aea30b718a46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d751466a4341f6" /><Relationship Type="http://schemas.openxmlformats.org/officeDocument/2006/relationships/notesMaster" Target="/ppt/notesMasters/notesMaster1.xml" Id="R3159797734b147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35e69994214a09" /><Relationship Type="http://schemas.openxmlformats.org/officeDocument/2006/relationships/notesMaster" Target="/ppt/notesMasters/notesMaster1.xml" Id="Rc6c054cde1dd4c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38ec78ffff47dc" /><Relationship Type="http://schemas.openxmlformats.org/officeDocument/2006/relationships/notesMaster" Target="/ppt/notesMasters/notesMaster1.xml" Id="R15eab7989aed4f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2c79eb45504bf1" /><Relationship Type="http://schemas.openxmlformats.org/officeDocument/2006/relationships/notesMaster" Target="/ppt/notesMasters/notesMaster1.xml" Id="R52ee6d19127a4e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e9ea2b82b34112" /><Relationship Type="http://schemas.openxmlformats.org/officeDocument/2006/relationships/notesMaster" Target="/ppt/notesMasters/notesMaster1.xml" Id="Raa673b71993c44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a37c87db6f4149" /><Relationship Type="http://schemas.openxmlformats.org/officeDocument/2006/relationships/notesMaster" Target="/ppt/notesMasters/notesMaster1.xml" Id="R5cd26a9731e04c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a chip goes to the foundry, its block diagram is the most complete record of what will be built. This film walks DG32-LITE through that record: clocking and reset, the lockstep cores, memory, the bus and its peripherals, the pads, production test, and the checks that stand before tape-in. Everything here describes the intended die; nothing has yet been measured on silicon.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short version. One fifty megahertz clock domain, with the lockstep core measured at fifty-five to sixty-two megahertz after place-and-route. A checker that runs two cycles behind and sees the main core's bus responses. Forty-four wrapper pads, every one of them allocated. And four sign-off gates that must all pass on the final die.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starts simple on purpose. A single fifty megahertz input clocks everything, so there is no crossing between domains to verify. Software can shut off the clock to eight blocks it is not using, from the serial ports to the CORDIC, and in test mode all eight are forced on. Reset is asynchronous, a supervisor cleans up the supply-good signals, and the checker core leaves reset two cycles after the main 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hard part of lockstep is not comparing two cores; it is keeping them from disagreeing when nothing is wrong. Interrupts and peripheral reads are the usual culprits, because the second core would see them at a different moment. Here the checker gets a delayed copy of everything the main core saw, so normal code cannot split them. That behaviour has been checked in simulation, and a real mismatch trips the fault pin.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Instructions never compete with data. Each SRAM block has two ports: the processor fetches code through one while data moves through the other, so data traffic cannot stall execution. A fetch aimed anywhere but the ROM or that code port raises a fault instead of running whatever it finds. The ROM is hard-wired logic that checks the flash image, copies it into SRAM and hands over, or opens a serial monitor if the flash is blank.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 is built so that no access can hang the chip. Only two things can drive it, the processor and the DMA, and the processor wins any tie. Once a transfer starts, its destination is locked until the reply comes back. If software touches an address with nothing behind it, or a peripheral whose clock is switched off, it gets an error instead of a hang. Flash is visible only as data; code always runs from SRAM.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Eighteen blocks share that bus, in three groups of six. Six connect the chip to the outside world: the UARTs, SPI, I squared C, the QSPI window, GPIO and the timers. Six serve the motor: PWM, DShot, encoder and Hall, CORDIC, the ADC and interrupts. The last six are there so the chip can be trusted and tested: system control, the watchdog, the fault register, the error slave, scan and JTAG.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one of the forty-four wrapper pads has a job. Seven carry the QSPI flash, seven the PWM outputs and trigger, and six the encoder and Hall inputs. Four each go to the UARTs, SPI and JTAG. Three are GPIO. Two each carry I squared C, supply-good and the analog ADC inputs, and one each carry the clock, the reset and the fault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manufactured part needs a production test, and the JTAG port is how DG32-LITE gets one. A tester switches the chip into scan mode and shifts patterns through thirteen chains of flip-flops. Because test mode turns every gated clock back on, no block is hidden from those patterns. The same pins do not offer interactive CPU debugging yet; that is a later roadmap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Tape-in waits on four checks. The layout must obey every manufacturing rule. It must describe exactly the circuit that was designed, down to its pins. Every pad must be wired through to logic. And the routed netlist, simulated gate by gate, must boot and print its banner. The third check is there because a layout can clear the first two and still leave a pad unconnected. What this film states is the bar, not whether it has been cleared.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you keep three points from this, make them these. The die has one clock, so its timing has no domain crossings to go wrong. No access can hang it, and no pad is left without a job. And nothing goes to the foundry until four checks all pass. What comes next is first silicon, via the September twenty twenty-six shuttle, where these design records meet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acd552f54d49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4cbd017a154129" /><Relationship Type="http://schemas.openxmlformats.org/officeDocument/2006/relationships/slideLayout" Target="/ppt/slideLayouts/slideLayout1.xml" Id="R2232656115cc42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32656115cc42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d27c648dd048c1" /><Relationship Type="http://schemas.openxmlformats.org/officeDocument/2006/relationships/notesSlide" Target="/ppt/notesSlides/notesSlide1.xml" Id="R96a946f1973e4d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42e3428fb249b6" /><Relationship Type="http://schemas.openxmlformats.org/officeDocument/2006/relationships/notesSlide" Target="/ppt/notesSlides/notesSlide2.xml" Id="R683f52be50eb4b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0b1d43b71e40b6" /><Relationship Type="http://schemas.openxmlformats.org/officeDocument/2006/relationships/notesSlide" Target="/ppt/notesSlides/notesSlide3.xml" Id="Rb6df7414ef8f4b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1acc4a9ecb441e5" /><Relationship Type="http://schemas.openxmlformats.org/officeDocument/2006/relationships/notesSlide" Target="/ppt/notesSlides/notesSlide4.xml" Id="R884d57c8593d4a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faf074f5b7477b" /><Relationship Type="http://schemas.openxmlformats.org/officeDocument/2006/relationships/notesSlide" Target="/ppt/notesSlides/notesSlide5.xml" Id="Ra71c38f6b9df44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d9e1f1350848df" /><Relationship Type="http://schemas.openxmlformats.org/officeDocument/2006/relationships/notesSlide" Target="/ppt/notesSlides/notesSlide6.xml" Id="R0b9e86f2732b47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5d38d6a5774c19" /><Relationship Type="http://schemas.openxmlformats.org/officeDocument/2006/relationships/notesSlide" Target="/ppt/notesSlides/notesSlide7.xml" Id="Rfcf4a5ebe3d14c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612f0cc6404461" /><Relationship Type="http://schemas.openxmlformats.org/officeDocument/2006/relationships/notesSlide" Target="/ppt/notesSlides/notesSlide8.xml" Id="R1a0d6be059c041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09b21500a414032" /><Relationship Type="http://schemas.openxmlformats.org/officeDocument/2006/relationships/notesSlide" Target="/ppt/notesSlides/notesSlide9.xml" Id="R86ddce46c03f45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b992b36842f485d" /><Relationship Type="http://schemas.openxmlformats.org/officeDocument/2006/relationships/notesSlide" Target="/ppt/notesSlides/notesSlide10.xml" Id="R570b666aea994d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04d86c094243b8" /><Relationship Type="http://schemas.openxmlformats.org/officeDocument/2006/relationships/notesSlide" Target="/ppt/notesSlides/notesSlide11.xml" Id="R17320284d7484ed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07" name="">
            <a:extLst xmlns:a="http://schemas.openxmlformats.org/drawingml/2006/main">
              <a:ext uri="{FF2B5EF4-FFF2-40B4-BE49-F238E27FC236}">
                <a16:creationId xmlns:a16="http://schemas.microsoft.com/office/drawing/2014/main" id="{64D2EB16-3438-4792-80EF-4A238BDFFD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11C8F96-373F-49E4-A90A-C75AD2033E7B}"/>
              </a:ext>
            </a:extLst>
          </p:cNvPr>
          <p:cNvSpPr>
            <a:spLocks xmlns:a="http://schemas.openxmlformats.org/drawingml/2006/main" noGrp="1"/>
          </p:cNvSpPr>
          <p:nvPr/>
        </p:nvSpPr>
        <p:spPr>
          <a:xfrm xmlns:a="http://schemas.openxmlformats.org/drawingml/2006/main">
            <a:off x="457200" y="666750"/>
            <a:ext cx="7239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DEEPGRID SEMI  ·  DG32-LITE  ·  TAPE-IN BLOCK DIAGRAM</a:t>
            </a:r>
          </a:p>
        </p:txBody>
      </p:sp>
      <p:sp>
        <p:nvSpPr>
          <p:cNvPr id="3" name="">
            <a:extLst xmlns:a="http://schemas.openxmlformats.org/drawingml/2006/main">
              <a:ext uri="{FF2B5EF4-FFF2-40B4-BE49-F238E27FC236}">
                <a16:creationId xmlns:a16="http://schemas.microsoft.com/office/drawing/2014/main" id="{35C9D17A-3132-41B9-ADAF-CAF9BEAD553C}"/>
              </a:ext>
            </a:extLst>
          </p:cNvPr>
          <p:cNvSpPr>
            <a:spLocks xmlns:a="http://schemas.openxmlformats.org/drawingml/2006/main" noGrp="1"/>
          </p:cNvSpPr>
          <p:nvPr/>
        </p:nvSpPr>
        <p:spPr>
          <a:xfrm xmlns:a="http://schemas.openxmlformats.org/drawingml/2006/main">
            <a:off x="457200" y="1066800"/>
            <a:ext cx="7239000" cy="1619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75" b="1">
                <a:solidFill>
                  <a:srgbClr val="FFFFFF"/>
                </a:solidFill>
                <a:latin typeface="Georgia"/>
                <a:ea typeface="Georgia"/>
                <a:cs typeface="Georgia"/>
              </a:defRPr>
            </a:pPr>
            <a:r>
              <a:t>DG32-LITE as built for tape-in</a:t>
            </a:r>
          </a:p>
        </p:txBody>
      </p:sp>
      <p:sp>
        <p:nvSpPr>
          <p:cNvPr id="4" name="">
            <a:extLst xmlns:a="http://schemas.openxmlformats.org/drawingml/2006/main">
              <a:ext uri="{FF2B5EF4-FFF2-40B4-BE49-F238E27FC236}">
                <a16:creationId xmlns:a16="http://schemas.microsoft.com/office/drawing/2014/main" id="{DCCFCC35-BCBF-45BC-AE32-52F26FAEEBB1}"/>
              </a:ext>
            </a:extLst>
          </p:cNvPr>
          <p:cNvSpPr>
            <a:spLocks xmlns:a="http://schemas.openxmlformats.org/drawingml/2006/main" noGrp="1"/>
          </p:cNvSpPr>
          <p:nvPr/>
        </p:nvSpPr>
        <p:spPr>
          <a:xfrm xmlns:a="http://schemas.openxmlformats.org/drawingml/2006/main">
            <a:off x="457200" y="278130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1254A82-4F07-4E0F-988C-46533218780E}"/>
              </a:ext>
            </a:extLst>
          </p:cNvPr>
          <p:cNvSpPr>
            <a:spLocks xmlns:a="http://schemas.openxmlformats.org/drawingml/2006/main" noGrp="1"/>
          </p:cNvSpPr>
          <p:nvPr/>
        </p:nvSpPr>
        <p:spPr>
          <a:xfrm xmlns:a="http://schemas.openxmlformats.org/drawingml/2006/main">
            <a:off x="457200" y="2990850"/>
            <a:ext cx="66675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The die as recorded in its tape-in block diagram · one clock domain, 130 nm CMOS · a design record, not a measurement of silicon</a:t>
            </a:r>
          </a:p>
        </p:txBody>
      </p:sp>
      <p:sp>
        <p:nvSpPr>
          <p:cNvPr id="6" name="">
            <a:extLst xmlns:a="http://schemas.openxmlformats.org/drawingml/2006/main">
              <a:ext uri="{FF2B5EF4-FFF2-40B4-BE49-F238E27FC236}">
                <a16:creationId xmlns:a16="http://schemas.microsoft.com/office/drawing/2014/main" id="{FD6B436E-889E-45FB-89AB-3F5CE047C952}"/>
              </a:ext>
            </a:extLst>
          </p:cNvPr>
          <p:cNvSpPr>
            <a:spLocks xmlns:a="http://schemas.openxmlformats.org/drawingml/2006/main" noGrp="1"/>
          </p:cNvSpPr>
          <p:nvPr/>
        </p:nvSpPr>
        <p:spPr>
          <a:xfrm xmlns:a="http://schemas.openxmlformats.org/drawingml/2006/main">
            <a:off x="8096250" y="1123950"/>
            <a:ext cx="3048000" cy="3048000"/>
          </a:xfrm>
          <a:prstGeom xmlns:a="http://schemas.openxmlformats.org/drawingml/2006/main" prst="rect">
            <a:avLst/>
          </a:prstGeom>
          <a:solidFill xmlns:a="http://schemas.openxmlformats.org/drawingml/2006/main">
            <a:srgbClr val="12243A"/>
          </a:solidFill>
          <a:ln xmlns:a="http://schemas.openxmlformats.org/drawingml/2006/main" w="19050">
            <a:solidFill>
              <a:srgbClr val="00B4D8"/>
            </a:solidFill>
            <a:prstDash val="solid"/>
          </a:ln>
        </p:spPr>
      </p:sp>
      <p:sp>
        <p:nvSpPr>
          <p:cNvPr id="7" name="">
            <a:extLst xmlns:a="http://schemas.openxmlformats.org/drawingml/2006/main">
              <a:ext uri="{FF2B5EF4-FFF2-40B4-BE49-F238E27FC236}">
                <a16:creationId xmlns:a16="http://schemas.microsoft.com/office/drawing/2014/main" id="{79A48E26-2C62-4573-8950-DC42021B7C7B}"/>
              </a:ext>
            </a:extLst>
          </p:cNvPr>
          <p:cNvSpPr>
            <a:spLocks xmlns:a="http://schemas.openxmlformats.org/drawingml/2006/main" noGrp="1"/>
          </p:cNvSpPr>
          <p:nvPr/>
        </p:nvSpPr>
        <p:spPr>
          <a:xfrm xmlns:a="http://schemas.openxmlformats.org/drawingml/2006/main">
            <a:off x="794385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8CF08D4-3702-4DDF-8CA6-F693181F8AD1}"/>
              </a:ext>
            </a:extLst>
          </p:cNvPr>
          <p:cNvSpPr>
            <a:spLocks xmlns:a="http://schemas.openxmlformats.org/drawingml/2006/main" noGrp="1"/>
          </p:cNvSpPr>
          <p:nvPr/>
        </p:nvSpPr>
        <p:spPr>
          <a:xfrm xmlns:a="http://schemas.openxmlformats.org/drawingml/2006/main">
            <a:off x="1116330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9D8D59C-B625-4702-BB09-329266883BE1}"/>
              </a:ext>
            </a:extLst>
          </p:cNvPr>
          <p:cNvSpPr>
            <a:spLocks xmlns:a="http://schemas.openxmlformats.org/drawingml/2006/main" noGrp="1"/>
          </p:cNvSpPr>
          <p:nvPr/>
        </p:nvSpPr>
        <p:spPr>
          <a:xfrm xmlns:a="http://schemas.openxmlformats.org/drawingml/2006/main">
            <a:off x="82772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7D0D5AB-A468-4127-B85C-55DDF42C9C63}"/>
              </a:ext>
            </a:extLst>
          </p:cNvPr>
          <p:cNvSpPr>
            <a:spLocks xmlns:a="http://schemas.openxmlformats.org/drawingml/2006/main" noGrp="1"/>
          </p:cNvSpPr>
          <p:nvPr/>
        </p:nvSpPr>
        <p:spPr>
          <a:xfrm xmlns:a="http://schemas.openxmlformats.org/drawingml/2006/main">
            <a:off x="82772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BB1C1C1-CF4B-41C6-B03E-9649C18606D2}"/>
              </a:ext>
            </a:extLst>
          </p:cNvPr>
          <p:cNvSpPr>
            <a:spLocks xmlns:a="http://schemas.openxmlformats.org/drawingml/2006/main" noGrp="1"/>
          </p:cNvSpPr>
          <p:nvPr/>
        </p:nvSpPr>
        <p:spPr>
          <a:xfrm xmlns:a="http://schemas.openxmlformats.org/drawingml/2006/main">
            <a:off x="794385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08E272-A5CE-4AAA-9435-12C2939AF9B8}"/>
              </a:ext>
            </a:extLst>
          </p:cNvPr>
          <p:cNvSpPr>
            <a:spLocks xmlns:a="http://schemas.openxmlformats.org/drawingml/2006/main" noGrp="1"/>
          </p:cNvSpPr>
          <p:nvPr/>
        </p:nvSpPr>
        <p:spPr>
          <a:xfrm xmlns:a="http://schemas.openxmlformats.org/drawingml/2006/main">
            <a:off x="1116330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B27F635-3789-4A50-A50B-1D962D6DEE66}"/>
              </a:ext>
            </a:extLst>
          </p:cNvPr>
          <p:cNvSpPr>
            <a:spLocks xmlns:a="http://schemas.openxmlformats.org/drawingml/2006/main" noGrp="1"/>
          </p:cNvSpPr>
          <p:nvPr/>
        </p:nvSpPr>
        <p:spPr>
          <a:xfrm xmlns:a="http://schemas.openxmlformats.org/drawingml/2006/main">
            <a:off x="84499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A2B2EB4-A434-4221-91EE-79CC4BDB1733}"/>
              </a:ext>
            </a:extLst>
          </p:cNvPr>
          <p:cNvSpPr>
            <a:spLocks xmlns:a="http://schemas.openxmlformats.org/drawingml/2006/main" noGrp="1"/>
          </p:cNvSpPr>
          <p:nvPr/>
        </p:nvSpPr>
        <p:spPr>
          <a:xfrm xmlns:a="http://schemas.openxmlformats.org/drawingml/2006/main">
            <a:off x="84499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3394BDB-0E3A-49CB-B570-0D8498B02616}"/>
              </a:ext>
            </a:extLst>
          </p:cNvPr>
          <p:cNvSpPr>
            <a:spLocks xmlns:a="http://schemas.openxmlformats.org/drawingml/2006/main" noGrp="1"/>
          </p:cNvSpPr>
          <p:nvPr/>
        </p:nvSpPr>
        <p:spPr>
          <a:xfrm xmlns:a="http://schemas.openxmlformats.org/drawingml/2006/main">
            <a:off x="794385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707AE05-8A3C-4B19-995A-55B7CF264464}"/>
              </a:ext>
            </a:extLst>
          </p:cNvPr>
          <p:cNvSpPr>
            <a:spLocks xmlns:a="http://schemas.openxmlformats.org/drawingml/2006/main" noGrp="1"/>
          </p:cNvSpPr>
          <p:nvPr/>
        </p:nvSpPr>
        <p:spPr>
          <a:xfrm xmlns:a="http://schemas.openxmlformats.org/drawingml/2006/main">
            <a:off x="1116330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7D5F652-3FED-4A9A-98B9-415560B106D0}"/>
              </a:ext>
            </a:extLst>
          </p:cNvPr>
          <p:cNvSpPr>
            <a:spLocks xmlns:a="http://schemas.openxmlformats.org/drawingml/2006/main" noGrp="1"/>
          </p:cNvSpPr>
          <p:nvPr/>
        </p:nvSpPr>
        <p:spPr>
          <a:xfrm xmlns:a="http://schemas.openxmlformats.org/drawingml/2006/main">
            <a:off x="86226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8AD578A-5779-4FF7-8DD7-4D05EE385CEE}"/>
              </a:ext>
            </a:extLst>
          </p:cNvPr>
          <p:cNvSpPr>
            <a:spLocks xmlns:a="http://schemas.openxmlformats.org/drawingml/2006/main" noGrp="1"/>
          </p:cNvSpPr>
          <p:nvPr/>
        </p:nvSpPr>
        <p:spPr>
          <a:xfrm xmlns:a="http://schemas.openxmlformats.org/drawingml/2006/main">
            <a:off x="86226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5D64F60-A178-4E6D-A6D0-407134FB3E96}"/>
              </a:ext>
            </a:extLst>
          </p:cNvPr>
          <p:cNvSpPr>
            <a:spLocks xmlns:a="http://schemas.openxmlformats.org/drawingml/2006/main" noGrp="1"/>
          </p:cNvSpPr>
          <p:nvPr/>
        </p:nvSpPr>
        <p:spPr>
          <a:xfrm xmlns:a="http://schemas.openxmlformats.org/drawingml/2006/main">
            <a:off x="794385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6927D83-887B-4666-8A37-7E23DD79D22A}"/>
              </a:ext>
            </a:extLst>
          </p:cNvPr>
          <p:cNvSpPr>
            <a:spLocks xmlns:a="http://schemas.openxmlformats.org/drawingml/2006/main" noGrp="1"/>
          </p:cNvSpPr>
          <p:nvPr/>
        </p:nvSpPr>
        <p:spPr>
          <a:xfrm xmlns:a="http://schemas.openxmlformats.org/drawingml/2006/main">
            <a:off x="1116330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D480CDC-2CA3-407F-B785-018504092171}"/>
              </a:ext>
            </a:extLst>
          </p:cNvPr>
          <p:cNvSpPr>
            <a:spLocks xmlns:a="http://schemas.openxmlformats.org/drawingml/2006/main" noGrp="1"/>
          </p:cNvSpPr>
          <p:nvPr/>
        </p:nvSpPr>
        <p:spPr>
          <a:xfrm xmlns:a="http://schemas.openxmlformats.org/drawingml/2006/main">
            <a:off x="87953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6880BEA-E8FD-440E-9E30-F55FB125C14C}"/>
              </a:ext>
            </a:extLst>
          </p:cNvPr>
          <p:cNvSpPr>
            <a:spLocks xmlns:a="http://schemas.openxmlformats.org/drawingml/2006/main" noGrp="1"/>
          </p:cNvSpPr>
          <p:nvPr/>
        </p:nvSpPr>
        <p:spPr>
          <a:xfrm xmlns:a="http://schemas.openxmlformats.org/drawingml/2006/main">
            <a:off x="87953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C896D3E-B456-4572-AF9A-621B07ACE391}"/>
              </a:ext>
            </a:extLst>
          </p:cNvPr>
          <p:cNvSpPr>
            <a:spLocks xmlns:a="http://schemas.openxmlformats.org/drawingml/2006/main" noGrp="1"/>
          </p:cNvSpPr>
          <p:nvPr/>
        </p:nvSpPr>
        <p:spPr>
          <a:xfrm xmlns:a="http://schemas.openxmlformats.org/drawingml/2006/main">
            <a:off x="794385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88F7A1C-5A99-4513-A181-5011A131EC6D}"/>
              </a:ext>
            </a:extLst>
          </p:cNvPr>
          <p:cNvSpPr>
            <a:spLocks xmlns:a="http://schemas.openxmlformats.org/drawingml/2006/main" noGrp="1"/>
          </p:cNvSpPr>
          <p:nvPr/>
        </p:nvSpPr>
        <p:spPr>
          <a:xfrm xmlns:a="http://schemas.openxmlformats.org/drawingml/2006/main">
            <a:off x="1116330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1B478DC-D1D5-419C-B94D-3A18C046DD97}"/>
              </a:ext>
            </a:extLst>
          </p:cNvPr>
          <p:cNvSpPr>
            <a:spLocks xmlns:a="http://schemas.openxmlformats.org/drawingml/2006/main" noGrp="1"/>
          </p:cNvSpPr>
          <p:nvPr/>
        </p:nvSpPr>
        <p:spPr>
          <a:xfrm xmlns:a="http://schemas.openxmlformats.org/drawingml/2006/main">
            <a:off x="89681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BDD1B22-96F2-4FAB-A24D-BBBEEC6992AA}"/>
              </a:ext>
            </a:extLst>
          </p:cNvPr>
          <p:cNvSpPr>
            <a:spLocks xmlns:a="http://schemas.openxmlformats.org/drawingml/2006/main" noGrp="1"/>
          </p:cNvSpPr>
          <p:nvPr/>
        </p:nvSpPr>
        <p:spPr>
          <a:xfrm xmlns:a="http://schemas.openxmlformats.org/drawingml/2006/main">
            <a:off x="89681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824D10A-772C-4879-A135-7FDE8F2C660B}"/>
              </a:ext>
            </a:extLst>
          </p:cNvPr>
          <p:cNvSpPr>
            <a:spLocks xmlns:a="http://schemas.openxmlformats.org/drawingml/2006/main" noGrp="1"/>
          </p:cNvSpPr>
          <p:nvPr/>
        </p:nvSpPr>
        <p:spPr>
          <a:xfrm xmlns:a="http://schemas.openxmlformats.org/drawingml/2006/main">
            <a:off x="794385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D917C65-E149-4546-AB55-EB9BF52E8FF9}"/>
              </a:ext>
            </a:extLst>
          </p:cNvPr>
          <p:cNvSpPr>
            <a:spLocks xmlns:a="http://schemas.openxmlformats.org/drawingml/2006/main" noGrp="1"/>
          </p:cNvSpPr>
          <p:nvPr/>
        </p:nvSpPr>
        <p:spPr>
          <a:xfrm xmlns:a="http://schemas.openxmlformats.org/drawingml/2006/main">
            <a:off x="1116330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165FFD4-E65E-4186-B7D8-670D67AB9758}"/>
              </a:ext>
            </a:extLst>
          </p:cNvPr>
          <p:cNvSpPr>
            <a:spLocks xmlns:a="http://schemas.openxmlformats.org/drawingml/2006/main" noGrp="1"/>
          </p:cNvSpPr>
          <p:nvPr/>
        </p:nvSpPr>
        <p:spPr>
          <a:xfrm xmlns:a="http://schemas.openxmlformats.org/drawingml/2006/main">
            <a:off x="91408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3E217A5-3824-4BAB-A5D7-ABD37C54DC29}"/>
              </a:ext>
            </a:extLst>
          </p:cNvPr>
          <p:cNvSpPr>
            <a:spLocks xmlns:a="http://schemas.openxmlformats.org/drawingml/2006/main" noGrp="1"/>
          </p:cNvSpPr>
          <p:nvPr/>
        </p:nvSpPr>
        <p:spPr>
          <a:xfrm xmlns:a="http://schemas.openxmlformats.org/drawingml/2006/main">
            <a:off x="91408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F9EE96C-3E5C-4B3C-8CE2-6D769F542D80}"/>
              </a:ext>
            </a:extLst>
          </p:cNvPr>
          <p:cNvSpPr>
            <a:spLocks xmlns:a="http://schemas.openxmlformats.org/drawingml/2006/main" noGrp="1"/>
          </p:cNvSpPr>
          <p:nvPr/>
        </p:nvSpPr>
        <p:spPr>
          <a:xfrm xmlns:a="http://schemas.openxmlformats.org/drawingml/2006/main">
            <a:off x="794385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09E641E-8303-4B7A-B155-F73A9DD303AC}"/>
              </a:ext>
            </a:extLst>
          </p:cNvPr>
          <p:cNvSpPr>
            <a:spLocks xmlns:a="http://schemas.openxmlformats.org/drawingml/2006/main" noGrp="1"/>
          </p:cNvSpPr>
          <p:nvPr/>
        </p:nvSpPr>
        <p:spPr>
          <a:xfrm xmlns:a="http://schemas.openxmlformats.org/drawingml/2006/main">
            <a:off x="1116330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FE85E91-E510-46F6-8640-F3158C16BCCA}"/>
              </a:ext>
            </a:extLst>
          </p:cNvPr>
          <p:cNvSpPr>
            <a:spLocks xmlns:a="http://schemas.openxmlformats.org/drawingml/2006/main" noGrp="1"/>
          </p:cNvSpPr>
          <p:nvPr/>
        </p:nvSpPr>
        <p:spPr>
          <a:xfrm xmlns:a="http://schemas.openxmlformats.org/drawingml/2006/main">
            <a:off x="93135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E45479D-BB3B-41B9-8E0E-A4BA6B329785}"/>
              </a:ext>
            </a:extLst>
          </p:cNvPr>
          <p:cNvSpPr>
            <a:spLocks xmlns:a="http://schemas.openxmlformats.org/drawingml/2006/main" noGrp="1"/>
          </p:cNvSpPr>
          <p:nvPr/>
        </p:nvSpPr>
        <p:spPr>
          <a:xfrm xmlns:a="http://schemas.openxmlformats.org/drawingml/2006/main">
            <a:off x="93135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43208FF-7C3C-491A-8DC8-DD3B63908609}"/>
              </a:ext>
            </a:extLst>
          </p:cNvPr>
          <p:cNvSpPr>
            <a:spLocks xmlns:a="http://schemas.openxmlformats.org/drawingml/2006/main" noGrp="1"/>
          </p:cNvSpPr>
          <p:nvPr/>
        </p:nvSpPr>
        <p:spPr>
          <a:xfrm xmlns:a="http://schemas.openxmlformats.org/drawingml/2006/main">
            <a:off x="794385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B1C2AAD-A2BF-48B0-A066-796B1390B335}"/>
              </a:ext>
            </a:extLst>
          </p:cNvPr>
          <p:cNvSpPr>
            <a:spLocks xmlns:a="http://schemas.openxmlformats.org/drawingml/2006/main" noGrp="1"/>
          </p:cNvSpPr>
          <p:nvPr/>
        </p:nvSpPr>
        <p:spPr>
          <a:xfrm xmlns:a="http://schemas.openxmlformats.org/drawingml/2006/main">
            <a:off x="1116330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751D466-5298-4E1E-A753-3E977D12E102}"/>
              </a:ext>
            </a:extLst>
          </p:cNvPr>
          <p:cNvSpPr>
            <a:spLocks xmlns:a="http://schemas.openxmlformats.org/drawingml/2006/main" noGrp="1"/>
          </p:cNvSpPr>
          <p:nvPr/>
        </p:nvSpPr>
        <p:spPr>
          <a:xfrm xmlns:a="http://schemas.openxmlformats.org/drawingml/2006/main">
            <a:off x="94862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D71D67E-26E5-4275-8C62-234F60F0D236}"/>
              </a:ext>
            </a:extLst>
          </p:cNvPr>
          <p:cNvSpPr>
            <a:spLocks xmlns:a="http://schemas.openxmlformats.org/drawingml/2006/main" noGrp="1"/>
          </p:cNvSpPr>
          <p:nvPr/>
        </p:nvSpPr>
        <p:spPr>
          <a:xfrm xmlns:a="http://schemas.openxmlformats.org/drawingml/2006/main">
            <a:off x="94862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987F351E-3490-440F-B419-E6EAEA449CEC}"/>
              </a:ext>
            </a:extLst>
          </p:cNvPr>
          <p:cNvSpPr>
            <a:spLocks xmlns:a="http://schemas.openxmlformats.org/drawingml/2006/main" noGrp="1"/>
          </p:cNvSpPr>
          <p:nvPr/>
        </p:nvSpPr>
        <p:spPr>
          <a:xfrm xmlns:a="http://schemas.openxmlformats.org/drawingml/2006/main">
            <a:off x="794385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5102E447-83DB-4D46-92F4-3BD154767803}"/>
              </a:ext>
            </a:extLst>
          </p:cNvPr>
          <p:cNvSpPr>
            <a:spLocks xmlns:a="http://schemas.openxmlformats.org/drawingml/2006/main" noGrp="1"/>
          </p:cNvSpPr>
          <p:nvPr/>
        </p:nvSpPr>
        <p:spPr>
          <a:xfrm xmlns:a="http://schemas.openxmlformats.org/drawingml/2006/main">
            <a:off x="1116330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C7D86B6E-5373-4348-A1CF-D473C277DBC4}"/>
              </a:ext>
            </a:extLst>
          </p:cNvPr>
          <p:cNvSpPr>
            <a:spLocks xmlns:a="http://schemas.openxmlformats.org/drawingml/2006/main" noGrp="1"/>
          </p:cNvSpPr>
          <p:nvPr/>
        </p:nvSpPr>
        <p:spPr>
          <a:xfrm xmlns:a="http://schemas.openxmlformats.org/drawingml/2006/main">
            <a:off x="96589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287623D-7856-4BE2-8871-8A16085DC4C0}"/>
              </a:ext>
            </a:extLst>
          </p:cNvPr>
          <p:cNvSpPr>
            <a:spLocks xmlns:a="http://schemas.openxmlformats.org/drawingml/2006/main" noGrp="1"/>
          </p:cNvSpPr>
          <p:nvPr/>
        </p:nvSpPr>
        <p:spPr>
          <a:xfrm xmlns:a="http://schemas.openxmlformats.org/drawingml/2006/main">
            <a:off x="96589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73A4B5A7-7391-4342-82B8-C02D15804A95}"/>
              </a:ext>
            </a:extLst>
          </p:cNvPr>
          <p:cNvSpPr>
            <a:spLocks xmlns:a="http://schemas.openxmlformats.org/drawingml/2006/main" noGrp="1"/>
          </p:cNvSpPr>
          <p:nvPr/>
        </p:nvSpPr>
        <p:spPr>
          <a:xfrm xmlns:a="http://schemas.openxmlformats.org/drawingml/2006/main">
            <a:off x="794385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6489D947-97CF-468B-B9BC-B074F9223055}"/>
              </a:ext>
            </a:extLst>
          </p:cNvPr>
          <p:cNvSpPr>
            <a:spLocks xmlns:a="http://schemas.openxmlformats.org/drawingml/2006/main" noGrp="1"/>
          </p:cNvSpPr>
          <p:nvPr/>
        </p:nvSpPr>
        <p:spPr>
          <a:xfrm xmlns:a="http://schemas.openxmlformats.org/drawingml/2006/main">
            <a:off x="1116330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C8F36C76-6EDA-45AB-B506-8625DF592996}"/>
              </a:ext>
            </a:extLst>
          </p:cNvPr>
          <p:cNvSpPr>
            <a:spLocks xmlns:a="http://schemas.openxmlformats.org/drawingml/2006/main" noGrp="1"/>
          </p:cNvSpPr>
          <p:nvPr/>
        </p:nvSpPr>
        <p:spPr>
          <a:xfrm xmlns:a="http://schemas.openxmlformats.org/drawingml/2006/main">
            <a:off x="98317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F654384-9E85-45C5-AE67-F666C7775394}"/>
              </a:ext>
            </a:extLst>
          </p:cNvPr>
          <p:cNvSpPr>
            <a:spLocks xmlns:a="http://schemas.openxmlformats.org/drawingml/2006/main" noGrp="1"/>
          </p:cNvSpPr>
          <p:nvPr/>
        </p:nvSpPr>
        <p:spPr>
          <a:xfrm xmlns:a="http://schemas.openxmlformats.org/drawingml/2006/main">
            <a:off x="98317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341F16B2-AC0F-45AD-9029-B0DB77DBDBAB}"/>
              </a:ext>
            </a:extLst>
          </p:cNvPr>
          <p:cNvSpPr>
            <a:spLocks xmlns:a="http://schemas.openxmlformats.org/drawingml/2006/main" noGrp="1"/>
          </p:cNvSpPr>
          <p:nvPr/>
        </p:nvSpPr>
        <p:spPr>
          <a:xfrm xmlns:a="http://schemas.openxmlformats.org/drawingml/2006/main">
            <a:off x="794385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CE901E21-821E-4935-A3DF-E7C0AE51C3E7}"/>
              </a:ext>
            </a:extLst>
          </p:cNvPr>
          <p:cNvSpPr>
            <a:spLocks xmlns:a="http://schemas.openxmlformats.org/drawingml/2006/main" noGrp="1"/>
          </p:cNvSpPr>
          <p:nvPr/>
        </p:nvSpPr>
        <p:spPr>
          <a:xfrm xmlns:a="http://schemas.openxmlformats.org/drawingml/2006/main">
            <a:off x="1116330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47EF0EC6-23DB-4D48-B476-FAF768813CDE}"/>
              </a:ext>
            </a:extLst>
          </p:cNvPr>
          <p:cNvSpPr>
            <a:spLocks xmlns:a="http://schemas.openxmlformats.org/drawingml/2006/main" noGrp="1"/>
          </p:cNvSpPr>
          <p:nvPr/>
        </p:nvSpPr>
        <p:spPr>
          <a:xfrm xmlns:a="http://schemas.openxmlformats.org/drawingml/2006/main">
            <a:off x="100044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E7A388F5-4DC3-4182-9703-AE5876813AF9}"/>
              </a:ext>
            </a:extLst>
          </p:cNvPr>
          <p:cNvSpPr>
            <a:spLocks xmlns:a="http://schemas.openxmlformats.org/drawingml/2006/main" noGrp="1"/>
          </p:cNvSpPr>
          <p:nvPr/>
        </p:nvSpPr>
        <p:spPr>
          <a:xfrm xmlns:a="http://schemas.openxmlformats.org/drawingml/2006/main">
            <a:off x="100044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AD79ABE3-1718-4780-8023-FDE1F5E9C156}"/>
              </a:ext>
            </a:extLst>
          </p:cNvPr>
          <p:cNvSpPr>
            <a:spLocks xmlns:a="http://schemas.openxmlformats.org/drawingml/2006/main" noGrp="1"/>
          </p:cNvSpPr>
          <p:nvPr/>
        </p:nvSpPr>
        <p:spPr>
          <a:xfrm xmlns:a="http://schemas.openxmlformats.org/drawingml/2006/main">
            <a:off x="794385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B456B356-390B-4F40-82DC-44FE076A5917}"/>
              </a:ext>
            </a:extLst>
          </p:cNvPr>
          <p:cNvSpPr>
            <a:spLocks xmlns:a="http://schemas.openxmlformats.org/drawingml/2006/main" noGrp="1"/>
          </p:cNvSpPr>
          <p:nvPr/>
        </p:nvSpPr>
        <p:spPr>
          <a:xfrm xmlns:a="http://schemas.openxmlformats.org/drawingml/2006/main">
            <a:off x="1116330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5ECF484A-8584-4BCD-843C-AD69DD23FEF0}"/>
              </a:ext>
            </a:extLst>
          </p:cNvPr>
          <p:cNvSpPr>
            <a:spLocks xmlns:a="http://schemas.openxmlformats.org/drawingml/2006/main" noGrp="1"/>
          </p:cNvSpPr>
          <p:nvPr/>
        </p:nvSpPr>
        <p:spPr>
          <a:xfrm xmlns:a="http://schemas.openxmlformats.org/drawingml/2006/main">
            <a:off x="101771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9323D01C-4D4A-49BD-A659-79EFB8A2037F}"/>
              </a:ext>
            </a:extLst>
          </p:cNvPr>
          <p:cNvSpPr>
            <a:spLocks xmlns:a="http://schemas.openxmlformats.org/drawingml/2006/main" noGrp="1"/>
          </p:cNvSpPr>
          <p:nvPr/>
        </p:nvSpPr>
        <p:spPr>
          <a:xfrm xmlns:a="http://schemas.openxmlformats.org/drawingml/2006/main">
            <a:off x="101771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FECE7551-06BB-4E4A-BFC5-62D7DB7A5078}"/>
              </a:ext>
            </a:extLst>
          </p:cNvPr>
          <p:cNvSpPr>
            <a:spLocks xmlns:a="http://schemas.openxmlformats.org/drawingml/2006/main" noGrp="1"/>
          </p:cNvSpPr>
          <p:nvPr/>
        </p:nvSpPr>
        <p:spPr>
          <a:xfrm xmlns:a="http://schemas.openxmlformats.org/drawingml/2006/main">
            <a:off x="794385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7CEBFA1E-2BEB-4A9A-BEF3-B5EAD0B86638}"/>
              </a:ext>
            </a:extLst>
          </p:cNvPr>
          <p:cNvSpPr>
            <a:spLocks xmlns:a="http://schemas.openxmlformats.org/drawingml/2006/main" noGrp="1"/>
          </p:cNvSpPr>
          <p:nvPr/>
        </p:nvSpPr>
        <p:spPr>
          <a:xfrm xmlns:a="http://schemas.openxmlformats.org/drawingml/2006/main">
            <a:off x="1116330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EEC789CF-DDB8-43B7-9E37-4C092FEB6F47}"/>
              </a:ext>
            </a:extLst>
          </p:cNvPr>
          <p:cNvSpPr>
            <a:spLocks xmlns:a="http://schemas.openxmlformats.org/drawingml/2006/main" noGrp="1"/>
          </p:cNvSpPr>
          <p:nvPr/>
        </p:nvSpPr>
        <p:spPr>
          <a:xfrm xmlns:a="http://schemas.openxmlformats.org/drawingml/2006/main">
            <a:off x="103498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7B6EC176-F7BB-42CB-8F93-9B025E54343B}"/>
              </a:ext>
            </a:extLst>
          </p:cNvPr>
          <p:cNvSpPr>
            <a:spLocks xmlns:a="http://schemas.openxmlformats.org/drawingml/2006/main" noGrp="1"/>
          </p:cNvSpPr>
          <p:nvPr/>
        </p:nvSpPr>
        <p:spPr>
          <a:xfrm xmlns:a="http://schemas.openxmlformats.org/drawingml/2006/main">
            <a:off x="103498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403F217F-57DE-46B0-8DD4-26D5A0663B47}"/>
              </a:ext>
            </a:extLst>
          </p:cNvPr>
          <p:cNvSpPr>
            <a:spLocks xmlns:a="http://schemas.openxmlformats.org/drawingml/2006/main" noGrp="1"/>
          </p:cNvSpPr>
          <p:nvPr/>
        </p:nvSpPr>
        <p:spPr>
          <a:xfrm xmlns:a="http://schemas.openxmlformats.org/drawingml/2006/main">
            <a:off x="794385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7B1D4B86-1EC0-4DF7-9C3C-1CE3B3380F8F}"/>
              </a:ext>
            </a:extLst>
          </p:cNvPr>
          <p:cNvSpPr>
            <a:spLocks xmlns:a="http://schemas.openxmlformats.org/drawingml/2006/main" noGrp="1"/>
          </p:cNvSpPr>
          <p:nvPr/>
        </p:nvSpPr>
        <p:spPr>
          <a:xfrm xmlns:a="http://schemas.openxmlformats.org/drawingml/2006/main">
            <a:off x="1116330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E20669D6-A56B-4CD4-A97D-6AFB45D4FC84}"/>
              </a:ext>
            </a:extLst>
          </p:cNvPr>
          <p:cNvSpPr>
            <a:spLocks xmlns:a="http://schemas.openxmlformats.org/drawingml/2006/main" noGrp="1"/>
          </p:cNvSpPr>
          <p:nvPr/>
        </p:nvSpPr>
        <p:spPr>
          <a:xfrm xmlns:a="http://schemas.openxmlformats.org/drawingml/2006/main">
            <a:off x="105225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523E56EC-511E-4966-AC08-661D290BBE09}"/>
              </a:ext>
            </a:extLst>
          </p:cNvPr>
          <p:cNvSpPr>
            <a:spLocks xmlns:a="http://schemas.openxmlformats.org/drawingml/2006/main" noGrp="1"/>
          </p:cNvSpPr>
          <p:nvPr/>
        </p:nvSpPr>
        <p:spPr>
          <a:xfrm xmlns:a="http://schemas.openxmlformats.org/drawingml/2006/main">
            <a:off x="105225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6D325292-3219-40E3-9903-D07D29A46755}"/>
              </a:ext>
            </a:extLst>
          </p:cNvPr>
          <p:cNvSpPr>
            <a:spLocks xmlns:a="http://schemas.openxmlformats.org/drawingml/2006/main" noGrp="1"/>
          </p:cNvSpPr>
          <p:nvPr/>
        </p:nvSpPr>
        <p:spPr>
          <a:xfrm xmlns:a="http://schemas.openxmlformats.org/drawingml/2006/main">
            <a:off x="794385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2E745597-FFB7-433C-B5CB-D6C46F5EA099}"/>
              </a:ext>
            </a:extLst>
          </p:cNvPr>
          <p:cNvSpPr>
            <a:spLocks xmlns:a="http://schemas.openxmlformats.org/drawingml/2006/main" noGrp="1"/>
          </p:cNvSpPr>
          <p:nvPr/>
        </p:nvSpPr>
        <p:spPr>
          <a:xfrm xmlns:a="http://schemas.openxmlformats.org/drawingml/2006/main">
            <a:off x="1116330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3140D1E7-2DD9-40E4-973B-4328F166B475}"/>
              </a:ext>
            </a:extLst>
          </p:cNvPr>
          <p:cNvSpPr>
            <a:spLocks xmlns:a="http://schemas.openxmlformats.org/drawingml/2006/main" noGrp="1"/>
          </p:cNvSpPr>
          <p:nvPr/>
        </p:nvSpPr>
        <p:spPr>
          <a:xfrm xmlns:a="http://schemas.openxmlformats.org/drawingml/2006/main">
            <a:off x="106953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CC7BFD28-1BF5-43B5-AE65-D6DFDA8027C7}"/>
              </a:ext>
            </a:extLst>
          </p:cNvPr>
          <p:cNvSpPr>
            <a:spLocks xmlns:a="http://schemas.openxmlformats.org/drawingml/2006/main" noGrp="1"/>
          </p:cNvSpPr>
          <p:nvPr/>
        </p:nvSpPr>
        <p:spPr>
          <a:xfrm xmlns:a="http://schemas.openxmlformats.org/drawingml/2006/main">
            <a:off x="106953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BEA4D4C0-A69F-467C-BA73-CF51B23ECE4D}"/>
              </a:ext>
            </a:extLst>
          </p:cNvPr>
          <p:cNvSpPr>
            <a:spLocks xmlns:a="http://schemas.openxmlformats.org/drawingml/2006/main" noGrp="1"/>
          </p:cNvSpPr>
          <p:nvPr/>
        </p:nvSpPr>
        <p:spPr>
          <a:xfrm xmlns:a="http://schemas.openxmlformats.org/drawingml/2006/main">
            <a:off x="794385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E1FEC5EA-1383-43F9-B207-2F670FC3799E}"/>
              </a:ext>
            </a:extLst>
          </p:cNvPr>
          <p:cNvSpPr>
            <a:spLocks xmlns:a="http://schemas.openxmlformats.org/drawingml/2006/main" noGrp="1"/>
          </p:cNvSpPr>
          <p:nvPr/>
        </p:nvSpPr>
        <p:spPr>
          <a:xfrm xmlns:a="http://schemas.openxmlformats.org/drawingml/2006/main">
            <a:off x="1116330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DBB7FA5B-4A0F-4478-907C-443B6C94FA0B}"/>
              </a:ext>
            </a:extLst>
          </p:cNvPr>
          <p:cNvSpPr>
            <a:spLocks xmlns:a="http://schemas.openxmlformats.org/drawingml/2006/main" noGrp="1"/>
          </p:cNvSpPr>
          <p:nvPr/>
        </p:nvSpPr>
        <p:spPr>
          <a:xfrm xmlns:a="http://schemas.openxmlformats.org/drawingml/2006/main">
            <a:off x="108680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782DD976-1129-4BCC-881E-EBDCEAC53B88}"/>
              </a:ext>
            </a:extLst>
          </p:cNvPr>
          <p:cNvSpPr>
            <a:spLocks xmlns:a="http://schemas.openxmlformats.org/drawingml/2006/main" noGrp="1"/>
          </p:cNvSpPr>
          <p:nvPr/>
        </p:nvSpPr>
        <p:spPr>
          <a:xfrm xmlns:a="http://schemas.openxmlformats.org/drawingml/2006/main">
            <a:off x="108680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C7DA1F17-C66E-4862-8607-482BB65A37A2}"/>
              </a:ext>
            </a:extLst>
          </p:cNvPr>
          <p:cNvSpPr>
            <a:spLocks xmlns:a="http://schemas.openxmlformats.org/drawingml/2006/main" noGrp="1"/>
          </p:cNvSpPr>
          <p:nvPr/>
        </p:nvSpPr>
        <p:spPr>
          <a:xfrm xmlns:a="http://schemas.openxmlformats.org/drawingml/2006/main">
            <a:off x="8286750" y="1314450"/>
            <a:ext cx="133350" cy="133350"/>
          </a:xfrm>
          <a:prstGeom xmlns:a="http://schemas.openxmlformats.org/drawingml/2006/main" prst="ellipse">
            <a:avLst/>
          </a:prstGeom>
          <a:solidFill xmlns:a="http://schemas.openxmlformats.org/drawingml/2006/main">
            <a:srgbClr val="00B4D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5331E272-72B3-483A-8432-04661AEAA361}"/>
              </a:ext>
            </a:extLst>
          </p:cNvPr>
          <p:cNvSpPr>
            <a:spLocks xmlns:a="http://schemas.openxmlformats.org/drawingml/2006/main" noGrp="1"/>
          </p:cNvSpPr>
          <p:nvPr/>
        </p:nvSpPr>
        <p:spPr>
          <a:xfrm xmlns:a="http://schemas.openxmlformats.org/drawingml/2006/main">
            <a:off x="8991600" y="1671638"/>
            <a:ext cx="1257300" cy="1952625"/>
          </a:xfrm>
          <a:prstGeom xmlns:a="http://schemas.openxmlformats.org/drawingml/2006/main" prst="rect">
            <a:avLst/>
          </a:prstGeom>
          <a:solidFill xmlns:a="http://schemas.openxmlformats.org/drawingml/2006/main">
            <a:srgbClr val="1E3A55"/>
          </a:solidFill>
          <a:ln xmlns:a="http://schemas.openxmlformats.org/drawingml/2006/main" w="9525">
            <a:solidFill>
              <a:srgbClr val="8DB4D4"/>
            </a:solidFill>
            <a:prstDash val="solid"/>
          </a:ln>
        </p:spPr>
      </p:sp>
      <p:sp>
        <p:nvSpPr>
          <p:cNvPr id="73" name="">
            <a:extLst xmlns:a="http://schemas.openxmlformats.org/drawingml/2006/main">
              <a:ext uri="{FF2B5EF4-FFF2-40B4-BE49-F238E27FC236}">
                <a16:creationId xmlns:a16="http://schemas.microsoft.com/office/drawing/2014/main" id="{4CF4D0CF-6BCC-4433-BE4D-BB3135D6E38B}"/>
              </a:ext>
            </a:extLst>
          </p:cNvPr>
          <p:cNvSpPr>
            <a:spLocks xmlns:a="http://schemas.openxmlformats.org/drawingml/2006/main" noGrp="1"/>
          </p:cNvSpPr>
          <p:nvPr/>
        </p:nvSpPr>
        <p:spPr>
          <a:xfrm xmlns:a="http://schemas.openxmlformats.org/drawingml/2006/main">
            <a:off x="9105900" y="1804988"/>
            <a:ext cx="476250" cy="59055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1E1DCF25-A8EC-4BE9-B8F6-DB10046D038A}"/>
              </a:ext>
            </a:extLst>
          </p:cNvPr>
          <p:cNvSpPr>
            <a:spLocks xmlns:a="http://schemas.openxmlformats.org/drawingml/2006/main" noGrp="1"/>
          </p:cNvSpPr>
          <p:nvPr/>
        </p:nvSpPr>
        <p:spPr>
          <a:xfrm xmlns:a="http://schemas.openxmlformats.org/drawingml/2006/main">
            <a:off x="9658350" y="1804988"/>
            <a:ext cx="476250" cy="59055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85D2C9EF-A07D-4F0A-A66A-B12E6C7CA11F}"/>
              </a:ext>
            </a:extLst>
          </p:cNvPr>
          <p:cNvSpPr>
            <a:spLocks xmlns:a="http://schemas.openxmlformats.org/drawingml/2006/main" noGrp="1"/>
          </p:cNvSpPr>
          <p:nvPr/>
        </p:nvSpPr>
        <p:spPr>
          <a:xfrm xmlns:a="http://schemas.openxmlformats.org/drawingml/2006/main">
            <a:off x="9105900" y="2471738"/>
            <a:ext cx="1028700" cy="952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E0AB0BA3-D6BE-481D-B2CD-73715E7F872B}"/>
              </a:ext>
            </a:extLst>
          </p:cNvPr>
          <p:cNvSpPr>
            <a:spLocks xmlns:a="http://schemas.openxmlformats.org/drawingml/2006/main" noGrp="1"/>
          </p:cNvSpPr>
          <p:nvPr/>
        </p:nvSpPr>
        <p:spPr>
          <a:xfrm xmlns:a="http://schemas.openxmlformats.org/drawingml/2006/main">
            <a:off x="91059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B716C63B-D2E5-4BD1-9107-A6610A9C73CE}"/>
              </a:ext>
            </a:extLst>
          </p:cNvPr>
          <p:cNvSpPr>
            <a:spLocks xmlns:a="http://schemas.openxmlformats.org/drawingml/2006/main" noGrp="1"/>
          </p:cNvSpPr>
          <p:nvPr/>
        </p:nvSpPr>
        <p:spPr>
          <a:xfrm xmlns:a="http://schemas.openxmlformats.org/drawingml/2006/main">
            <a:off x="93726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1D5C0554-C29F-4D21-ACAA-ACFDE171A48C}"/>
              </a:ext>
            </a:extLst>
          </p:cNvPr>
          <p:cNvSpPr>
            <a:spLocks xmlns:a="http://schemas.openxmlformats.org/drawingml/2006/main" noGrp="1"/>
          </p:cNvSpPr>
          <p:nvPr/>
        </p:nvSpPr>
        <p:spPr>
          <a:xfrm xmlns:a="http://schemas.openxmlformats.org/drawingml/2006/main">
            <a:off x="96393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907D2859-8E68-4304-A77C-E99CDDFDF2DF}"/>
              </a:ext>
            </a:extLst>
          </p:cNvPr>
          <p:cNvSpPr>
            <a:spLocks xmlns:a="http://schemas.openxmlformats.org/drawingml/2006/main" noGrp="1"/>
          </p:cNvSpPr>
          <p:nvPr/>
        </p:nvSpPr>
        <p:spPr>
          <a:xfrm xmlns:a="http://schemas.openxmlformats.org/drawingml/2006/main">
            <a:off x="99060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E6B0261C-81EB-4E23-9055-87523FAA5A89}"/>
              </a:ext>
            </a:extLst>
          </p:cNvPr>
          <p:cNvSpPr>
            <a:spLocks xmlns:a="http://schemas.openxmlformats.org/drawingml/2006/main" noGrp="1"/>
          </p:cNvSpPr>
          <p:nvPr/>
        </p:nvSpPr>
        <p:spPr>
          <a:xfrm xmlns:a="http://schemas.openxmlformats.org/drawingml/2006/main">
            <a:off x="91059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AA2A7DF5-D167-40A9-8358-AF118FE81260}"/>
              </a:ext>
            </a:extLst>
          </p:cNvPr>
          <p:cNvSpPr>
            <a:spLocks xmlns:a="http://schemas.openxmlformats.org/drawingml/2006/main" noGrp="1"/>
          </p:cNvSpPr>
          <p:nvPr/>
        </p:nvSpPr>
        <p:spPr>
          <a:xfrm xmlns:a="http://schemas.openxmlformats.org/drawingml/2006/main">
            <a:off x="93726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7ED01C2D-A2A1-460E-9816-7A9B64313F86}"/>
              </a:ext>
            </a:extLst>
          </p:cNvPr>
          <p:cNvSpPr>
            <a:spLocks xmlns:a="http://schemas.openxmlformats.org/drawingml/2006/main" noGrp="1"/>
          </p:cNvSpPr>
          <p:nvPr/>
        </p:nvSpPr>
        <p:spPr>
          <a:xfrm xmlns:a="http://schemas.openxmlformats.org/drawingml/2006/main">
            <a:off x="96393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A24E6A54-2490-4D8E-B6C3-562E58E17F5D}"/>
              </a:ext>
            </a:extLst>
          </p:cNvPr>
          <p:cNvSpPr>
            <a:spLocks xmlns:a="http://schemas.openxmlformats.org/drawingml/2006/main" noGrp="1"/>
          </p:cNvSpPr>
          <p:nvPr/>
        </p:nvSpPr>
        <p:spPr>
          <a:xfrm xmlns:a="http://schemas.openxmlformats.org/drawingml/2006/main">
            <a:off x="99060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CB694148-E44A-4B5F-B22E-BE6B79D9707C}"/>
              </a:ext>
            </a:extLst>
          </p:cNvPr>
          <p:cNvSpPr>
            <a:spLocks xmlns:a="http://schemas.openxmlformats.org/drawingml/2006/main" noGrp="1"/>
          </p:cNvSpPr>
          <p:nvPr/>
        </p:nvSpPr>
        <p:spPr>
          <a:xfrm xmlns:a="http://schemas.openxmlformats.org/drawingml/2006/main">
            <a:off x="91059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C89FB4D1-E288-474A-BD41-94B114E428AE}"/>
              </a:ext>
            </a:extLst>
          </p:cNvPr>
          <p:cNvSpPr>
            <a:spLocks xmlns:a="http://schemas.openxmlformats.org/drawingml/2006/main" noGrp="1"/>
          </p:cNvSpPr>
          <p:nvPr/>
        </p:nvSpPr>
        <p:spPr>
          <a:xfrm xmlns:a="http://schemas.openxmlformats.org/drawingml/2006/main">
            <a:off x="93726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F1CF5BDE-B8F2-40D9-A7B2-EA027B7DB9A4}"/>
              </a:ext>
            </a:extLst>
          </p:cNvPr>
          <p:cNvSpPr>
            <a:spLocks xmlns:a="http://schemas.openxmlformats.org/drawingml/2006/main" noGrp="1"/>
          </p:cNvSpPr>
          <p:nvPr/>
        </p:nvSpPr>
        <p:spPr>
          <a:xfrm xmlns:a="http://schemas.openxmlformats.org/drawingml/2006/main">
            <a:off x="96393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BA0BFED6-1103-48D2-BA49-81A1A3B5A032}"/>
              </a:ext>
            </a:extLst>
          </p:cNvPr>
          <p:cNvSpPr>
            <a:spLocks xmlns:a="http://schemas.openxmlformats.org/drawingml/2006/main" noGrp="1"/>
          </p:cNvSpPr>
          <p:nvPr/>
        </p:nvSpPr>
        <p:spPr>
          <a:xfrm xmlns:a="http://schemas.openxmlformats.org/drawingml/2006/main">
            <a:off x="99060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C918359D-6534-431B-A951-1BE6A5DA471B}"/>
              </a:ext>
            </a:extLst>
          </p:cNvPr>
          <p:cNvSpPr>
            <a:spLocks xmlns:a="http://schemas.openxmlformats.org/drawingml/2006/main" noGrp="1"/>
          </p:cNvSpPr>
          <p:nvPr/>
        </p:nvSpPr>
        <p:spPr>
          <a:xfrm xmlns:a="http://schemas.openxmlformats.org/drawingml/2006/main">
            <a:off x="9105900" y="3328988"/>
            <a:ext cx="476250" cy="190500"/>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E1AEDEE6-D9DE-482E-8AF9-C00B630310F0}"/>
              </a:ext>
            </a:extLst>
          </p:cNvPr>
          <p:cNvSpPr>
            <a:spLocks xmlns:a="http://schemas.openxmlformats.org/drawingml/2006/main" noGrp="1"/>
          </p:cNvSpPr>
          <p:nvPr/>
        </p:nvSpPr>
        <p:spPr>
          <a:xfrm xmlns:a="http://schemas.openxmlformats.org/drawingml/2006/main">
            <a:off x="9658350" y="3328988"/>
            <a:ext cx="476250" cy="19050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99296C65-C415-4B98-8418-44973480D854}"/>
              </a:ext>
            </a:extLst>
          </p:cNvPr>
          <p:cNvSpPr>
            <a:spLocks xmlns:a="http://schemas.openxmlformats.org/drawingml/2006/main" noGrp="1"/>
          </p:cNvSpPr>
          <p:nvPr/>
        </p:nvSpPr>
        <p:spPr>
          <a:xfrm xmlns:a="http://schemas.openxmlformats.org/drawingml/2006/main">
            <a:off x="7905750" y="4457700"/>
            <a:ext cx="3429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A9BACD"/>
                </a:solidFill>
                <a:latin typeface="Arial"/>
                <a:ea typeface="Arial"/>
                <a:cs typeface="Arial"/>
              </a:defRPr>
            </a:pPr>
            <a:r>
              <a:t>QFN-64  ·  ILLUSTRATIVE</a:t>
            </a:r>
          </a:p>
        </p:txBody>
      </p:sp>
      <p:sp>
        <p:nvSpPr>
          <p:cNvPr id="91" name="">
            <a:extLst xmlns:a="http://schemas.openxmlformats.org/drawingml/2006/main">
              <a:ext uri="{FF2B5EF4-FFF2-40B4-BE49-F238E27FC236}">
                <a16:creationId xmlns:a16="http://schemas.microsoft.com/office/drawing/2014/main" id="{B567C515-8A1E-486E-AB61-C7BDB4EDA10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4E3C26CB-A634-4A49-84CD-BB1DFC8AFA2D}"/>
              </a:ext>
            </a:extLst>
          </p:cNvPr>
          <p:cNvSpPr>
            <a:spLocks xmlns:a="http://schemas.openxmlformats.org/drawingml/2006/main" noGrp="1"/>
          </p:cNvSpPr>
          <p:nvPr/>
        </p:nvSpPr>
        <p:spPr>
          <a:xfrm xmlns:a="http://schemas.openxmlformats.org/drawingml/2006/main">
            <a:off x="457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2.9 × 4.5</a:t>
            </a:r>
          </a:p>
        </p:txBody>
      </p:sp>
      <p:sp>
        <p:nvSpPr>
          <p:cNvPr id="93" name="">
            <a:extLst xmlns:a="http://schemas.openxmlformats.org/drawingml/2006/main">
              <a:ext uri="{FF2B5EF4-FFF2-40B4-BE49-F238E27FC236}">
                <a16:creationId xmlns:a16="http://schemas.microsoft.com/office/drawing/2014/main" id="{E03A33B3-52FE-4BDC-BF0D-ACF448CEF112}"/>
              </a:ext>
            </a:extLst>
          </p:cNvPr>
          <p:cNvSpPr>
            <a:spLocks xmlns:a="http://schemas.openxmlformats.org/drawingml/2006/main" noGrp="1"/>
          </p:cNvSpPr>
          <p:nvPr/>
        </p:nvSpPr>
        <p:spPr>
          <a:xfrm xmlns:a="http://schemas.openxmlformats.org/drawingml/2006/main">
            <a:off x="457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MM CORE BLOCK</a:t>
            </a:r>
          </a:p>
        </p:txBody>
      </p:sp>
      <p:sp>
        <p:nvSpPr>
          <p:cNvPr id="94" name="">
            <a:extLst xmlns:a="http://schemas.openxmlformats.org/drawingml/2006/main">
              <a:ext uri="{FF2B5EF4-FFF2-40B4-BE49-F238E27FC236}">
                <a16:creationId xmlns:a16="http://schemas.microsoft.com/office/drawing/2014/main" id="{64460E15-E538-45A8-8303-738B523F0551}"/>
              </a:ext>
            </a:extLst>
          </p:cNvPr>
          <p:cNvSpPr>
            <a:spLocks xmlns:a="http://schemas.openxmlformats.org/drawingml/2006/main" noGrp="1"/>
          </p:cNvSpPr>
          <p:nvPr/>
        </p:nvSpPr>
        <p:spPr>
          <a:xfrm xmlns:a="http://schemas.openxmlformats.org/drawingml/2006/main">
            <a:off x="32766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C6517B4B-033D-43EC-A07C-1E963A820B6A}"/>
              </a:ext>
            </a:extLst>
          </p:cNvPr>
          <p:cNvSpPr>
            <a:spLocks xmlns:a="http://schemas.openxmlformats.org/drawingml/2006/main" noGrp="1"/>
          </p:cNvSpPr>
          <p:nvPr/>
        </p:nvSpPr>
        <p:spPr>
          <a:xfrm xmlns:a="http://schemas.openxmlformats.org/drawingml/2006/main">
            <a:off x="3505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44</a:t>
            </a:r>
          </a:p>
        </p:txBody>
      </p:sp>
      <p:sp>
        <p:nvSpPr>
          <p:cNvPr id="96" name="">
            <a:extLst xmlns:a="http://schemas.openxmlformats.org/drawingml/2006/main">
              <a:ext uri="{FF2B5EF4-FFF2-40B4-BE49-F238E27FC236}">
                <a16:creationId xmlns:a16="http://schemas.microsoft.com/office/drawing/2014/main" id="{9F08D429-9636-45DA-96A2-F1EB96A9C3B8}"/>
              </a:ext>
            </a:extLst>
          </p:cNvPr>
          <p:cNvSpPr>
            <a:spLocks xmlns:a="http://schemas.openxmlformats.org/drawingml/2006/main" noGrp="1"/>
          </p:cNvSpPr>
          <p:nvPr/>
        </p:nvSpPr>
        <p:spPr>
          <a:xfrm xmlns:a="http://schemas.openxmlformats.org/drawingml/2006/main">
            <a:off x="3505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PADS, ALL ALLOCATED</a:t>
            </a:r>
          </a:p>
        </p:txBody>
      </p:sp>
      <p:sp>
        <p:nvSpPr>
          <p:cNvPr id="97" name="">
            <a:extLst xmlns:a="http://schemas.openxmlformats.org/drawingml/2006/main">
              <a:ext uri="{FF2B5EF4-FFF2-40B4-BE49-F238E27FC236}">
                <a16:creationId xmlns:a16="http://schemas.microsoft.com/office/drawing/2014/main" id="{A4976BC7-FEF4-4B09-ADD5-BC02865000F5}"/>
              </a:ext>
            </a:extLst>
          </p:cNvPr>
          <p:cNvSpPr>
            <a:spLocks xmlns:a="http://schemas.openxmlformats.org/drawingml/2006/main" noGrp="1"/>
          </p:cNvSpPr>
          <p:nvPr/>
        </p:nvSpPr>
        <p:spPr>
          <a:xfrm xmlns:a="http://schemas.openxmlformats.org/drawingml/2006/main">
            <a:off x="60960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11485A52-8D9E-4181-999D-BBBAB6654FAF}"/>
              </a:ext>
            </a:extLst>
          </p:cNvPr>
          <p:cNvSpPr>
            <a:spLocks xmlns:a="http://schemas.openxmlformats.org/drawingml/2006/main" noGrp="1"/>
          </p:cNvSpPr>
          <p:nvPr/>
        </p:nvSpPr>
        <p:spPr>
          <a:xfrm xmlns:a="http://schemas.openxmlformats.org/drawingml/2006/main">
            <a:off x="63246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18</a:t>
            </a:r>
          </a:p>
        </p:txBody>
      </p:sp>
      <p:sp>
        <p:nvSpPr>
          <p:cNvPr id="99" name="">
            <a:extLst xmlns:a="http://schemas.openxmlformats.org/drawingml/2006/main">
              <a:ext uri="{FF2B5EF4-FFF2-40B4-BE49-F238E27FC236}">
                <a16:creationId xmlns:a16="http://schemas.microsoft.com/office/drawing/2014/main" id="{A5A41BAB-9FCA-4BDA-A2FF-ADFA5E7C09D7}"/>
              </a:ext>
            </a:extLst>
          </p:cNvPr>
          <p:cNvSpPr>
            <a:spLocks xmlns:a="http://schemas.openxmlformats.org/drawingml/2006/main" noGrp="1"/>
          </p:cNvSpPr>
          <p:nvPr/>
        </p:nvSpPr>
        <p:spPr>
          <a:xfrm xmlns:a="http://schemas.openxmlformats.org/drawingml/2006/main">
            <a:off x="63246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BLOCKS ON THE BUS</a:t>
            </a:r>
          </a:p>
        </p:txBody>
      </p:sp>
      <p:sp>
        <p:nvSpPr>
          <p:cNvPr id="100" name="">
            <a:extLst xmlns:a="http://schemas.openxmlformats.org/drawingml/2006/main">
              <a:ext uri="{FF2B5EF4-FFF2-40B4-BE49-F238E27FC236}">
                <a16:creationId xmlns:a16="http://schemas.microsoft.com/office/drawing/2014/main" id="{E6D85157-743C-4D74-919C-FCBCBD581745}"/>
              </a:ext>
            </a:extLst>
          </p:cNvPr>
          <p:cNvSpPr>
            <a:spLocks xmlns:a="http://schemas.openxmlformats.org/drawingml/2006/main" noGrp="1"/>
          </p:cNvSpPr>
          <p:nvPr/>
        </p:nvSpPr>
        <p:spPr>
          <a:xfrm xmlns:a="http://schemas.openxmlformats.org/drawingml/2006/main">
            <a:off x="89154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7BC7063D-0830-4FA2-A49A-F3481B152B4A}"/>
              </a:ext>
            </a:extLst>
          </p:cNvPr>
          <p:cNvSpPr>
            <a:spLocks xmlns:a="http://schemas.openxmlformats.org/drawingml/2006/main" noGrp="1"/>
          </p:cNvSpPr>
          <p:nvPr/>
        </p:nvSpPr>
        <p:spPr>
          <a:xfrm xmlns:a="http://schemas.openxmlformats.org/drawingml/2006/main">
            <a:off x="91440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4</a:t>
            </a:r>
          </a:p>
        </p:txBody>
      </p:sp>
      <p:sp>
        <p:nvSpPr>
          <p:cNvPr id="102" name="">
            <a:extLst xmlns:a="http://schemas.openxmlformats.org/drawingml/2006/main">
              <a:ext uri="{FF2B5EF4-FFF2-40B4-BE49-F238E27FC236}">
                <a16:creationId xmlns:a16="http://schemas.microsoft.com/office/drawing/2014/main" id="{904C61FC-D4EB-46E8-B79B-2A9394F55B20}"/>
              </a:ext>
            </a:extLst>
          </p:cNvPr>
          <p:cNvSpPr>
            <a:spLocks xmlns:a="http://schemas.openxmlformats.org/drawingml/2006/main" noGrp="1"/>
          </p:cNvSpPr>
          <p:nvPr/>
        </p:nvSpPr>
        <p:spPr>
          <a:xfrm xmlns:a="http://schemas.openxmlformats.org/drawingml/2006/main">
            <a:off x="91440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SIGN-OFF GATES</a:t>
            </a:r>
          </a:p>
        </p:txBody>
      </p:sp>
      <p:sp>
        <p:nvSpPr>
          <p:cNvPr id="103" name="">
            <a:extLst xmlns:a="http://schemas.openxmlformats.org/drawingml/2006/main">
              <a:ext uri="{FF2B5EF4-FFF2-40B4-BE49-F238E27FC236}">
                <a16:creationId xmlns:a16="http://schemas.microsoft.com/office/drawing/2014/main" id="{20CA75ED-5497-4E80-8E05-66B76E35619E}"/>
              </a:ext>
            </a:extLst>
          </p:cNvPr>
          <p:cNvSpPr>
            <a:spLocks xmlns:a="http://schemas.openxmlformats.org/drawingml/2006/main" noGrp="1"/>
          </p:cNvSpPr>
          <p:nvPr/>
        </p:nvSpPr>
        <p:spPr>
          <a:xfrm xmlns:a="http://schemas.openxmlformats.org/drawingml/2006/main">
            <a:off x="457200" y="6096000"/>
            <a:ext cx="104775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A9BACD"/>
                </a:solidFill>
                <a:latin typeface="Arial"/>
                <a:ea typeface="Arial"/>
                <a:cs typeface="Arial"/>
              </a:defRPr>
            </a:pPr>
            <a:r>
              <a:t>Design state September 2026. This deck lists the sign-off gates; it makes no claim that they have passed.</a:t>
            </a:r>
          </a:p>
        </p:txBody>
      </p:sp>
      <p:sp>
        <p:nvSpPr>
          <p:cNvPr id="104" name="">
            <a:extLst xmlns:a="http://schemas.openxmlformats.org/drawingml/2006/main">
              <a:ext uri="{FF2B5EF4-FFF2-40B4-BE49-F238E27FC236}">
                <a16:creationId xmlns:a16="http://schemas.microsoft.com/office/drawing/2014/main" id="{1940C8DE-0234-40B2-B226-D156DDA1D9AE}"/>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7CBDD006-1104-4142-A5D4-780E746AE207}"/>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DG32-LITE TAPE-IN BLOCK DIAGRAM  ·  SEPTEMBER 2026  ·  PRE-SILICON</a:t>
            </a:r>
          </a:p>
        </p:txBody>
      </p:sp>
      <p:sp>
        <p:nvSpPr>
          <p:cNvPr id="106" name="">
            <a:extLst xmlns:a="http://schemas.openxmlformats.org/drawingml/2006/main">
              <a:ext uri="{FF2B5EF4-FFF2-40B4-BE49-F238E27FC236}">
                <a16:creationId xmlns:a16="http://schemas.microsoft.com/office/drawing/2014/main" id="{03631FD1-BFB7-4FC2-A4B1-DA45B1CC6F90}"/>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8FA2B7"/>
                </a:solidFill>
                <a:latin typeface="Arial"/>
                <a:ea typeface="Arial"/>
                <a:cs typeface="Arial"/>
              </a:defRPr>
            </a:pPr>
            <a:r>
              <a:t>01</a:t>
            </a:r>
          </a:p>
        </p:txBody>
      </p:sp>
    </p:spTree>
    <p:extLst>
      <p:ext uri="{BB962C8B-B14F-4D97-AF65-F5344CB8AC3E}">
        <p14:creationId xmlns:p14="http://schemas.microsoft.com/office/powerpoint/2010/main" val="104055731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722D2183-BCBE-46B8-8F3A-EDEF45EF59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054AEB-614A-4BCF-B104-D5592687466A}"/>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02 · EXECUTIVE SUMMARY</a:t>
            </a:r>
          </a:p>
        </p:txBody>
      </p:sp>
      <p:sp>
        <p:nvSpPr>
          <p:cNvPr id="3" name="">
            <a:extLst xmlns:a="http://schemas.openxmlformats.org/drawingml/2006/main">
              <a:ext uri="{FF2B5EF4-FFF2-40B4-BE49-F238E27FC236}">
                <a16:creationId xmlns:a16="http://schemas.microsoft.com/office/drawing/2014/main" id="{E007CE29-85AC-4F7D-955F-0B69DDCF4109}"/>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One clock, 44 pads, and four gates before tape-in</a:t>
            </a:r>
          </a:p>
        </p:txBody>
      </p:sp>
      <p:sp>
        <p:nvSpPr>
          <p:cNvPr id="4" name="">
            <a:extLst xmlns:a="http://schemas.openxmlformats.org/drawingml/2006/main">
              <a:ext uri="{FF2B5EF4-FFF2-40B4-BE49-F238E27FC236}">
                <a16:creationId xmlns:a16="http://schemas.microsoft.com/office/drawing/2014/main" id="{EBF9EE78-BA8C-4FAF-AF79-4B821380A8D2}"/>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What the tape-in diagram records about the die as built</a:t>
            </a:r>
          </a:p>
        </p:txBody>
      </p:sp>
      <p:sp>
        <p:nvSpPr>
          <p:cNvPr id="5" name="">
            <a:extLst xmlns:a="http://schemas.openxmlformats.org/drawingml/2006/main">
              <a:ext uri="{FF2B5EF4-FFF2-40B4-BE49-F238E27FC236}">
                <a16:creationId xmlns:a16="http://schemas.microsoft.com/office/drawing/2014/main" id="{8DFEC397-4378-44D5-8400-6F2EEA9AFC0D}"/>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8696CE8-F107-4287-8306-6571EF0D5B0E}"/>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EE5444A-4811-427D-92C5-93ABF08CFD98}"/>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F5D2A983-07FC-4FB9-B236-38E95389B7F5}"/>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02</a:t>
            </a:r>
          </a:p>
        </p:txBody>
      </p:sp>
      <p:sp>
        <p:nvSpPr>
          <p:cNvPr id="9" name="">
            <a:extLst xmlns:a="http://schemas.openxmlformats.org/drawingml/2006/main">
              <a:ext uri="{FF2B5EF4-FFF2-40B4-BE49-F238E27FC236}">
                <a16:creationId xmlns:a16="http://schemas.microsoft.com/office/drawing/2014/main" id="{367F5420-A96D-45BD-A70E-0AC36E5E5D90}"/>
              </a:ext>
            </a:extLst>
          </p:cNvPr>
          <p:cNvSpPr>
            <a:spLocks xmlns:a="http://schemas.openxmlformats.org/drawingml/2006/main" noGrp="1"/>
          </p:cNvSpPr>
          <p:nvPr/>
        </p:nvSpPr>
        <p:spPr>
          <a:xfrm xmlns:a="http://schemas.openxmlformats.org/drawingml/2006/main">
            <a:off x="457200" y="1638300"/>
            <a:ext cx="26479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862EA78D-CC74-49B9-8B01-69AE2D3C62B6}"/>
              </a:ext>
            </a:extLst>
          </p:cNvPr>
          <p:cNvSpPr>
            <a:spLocks xmlns:a="http://schemas.openxmlformats.org/drawingml/2006/main" noGrp="1"/>
          </p:cNvSpPr>
          <p:nvPr/>
        </p:nvSpPr>
        <p:spPr>
          <a:xfrm xmlns:a="http://schemas.openxmlformats.org/drawingml/2006/main">
            <a:off x="571500" y="1790700"/>
            <a:ext cx="241935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1">
                <a:solidFill>
                  <a:srgbClr val="0077A3"/>
                </a:solidFill>
                <a:latin typeface="Georgia"/>
                <a:ea typeface="Georgia"/>
                <a:cs typeface="Georgia"/>
              </a:defRPr>
            </a:pPr>
            <a:r>
              <a:t>50 MHz</a:t>
            </a:r>
          </a:p>
        </p:txBody>
      </p:sp>
      <p:sp>
        <p:nvSpPr>
          <p:cNvPr id="11" name="">
            <a:extLst xmlns:a="http://schemas.openxmlformats.org/drawingml/2006/main">
              <a:ext uri="{FF2B5EF4-FFF2-40B4-BE49-F238E27FC236}">
                <a16:creationId xmlns:a16="http://schemas.microsoft.com/office/drawing/2014/main" id="{6D6CBA69-9091-40ED-A26D-B8B16512FD41}"/>
              </a:ext>
            </a:extLst>
          </p:cNvPr>
          <p:cNvSpPr>
            <a:spLocks xmlns:a="http://schemas.openxmlformats.org/drawingml/2006/main" noGrp="1"/>
          </p:cNvSpPr>
          <p:nvPr/>
        </p:nvSpPr>
        <p:spPr>
          <a:xfrm xmlns:a="http://schemas.openxmlformats.org/drawingml/2006/main">
            <a:off x="571500" y="2324100"/>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ONE CLOCK DOMAIN</a:t>
            </a:r>
          </a:p>
        </p:txBody>
      </p:sp>
      <p:sp>
        <p:nvSpPr>
          <p:cNvPr id="12" name="">
            <a:extLst xmlns:a="http://schemas.openxmlformats.org/drawingml/2006/main">
              <a:ext uri="{FF2B5EF4-FFF2-40B4-BE49-F238E27FC236}">
                <a16:creationId xmlns:a16="http://schemas.microsoft.com/office/drawing/2014/main" id="{869D5E8E-16B5-4CEE-8537-71C0A0D5D22B}"/>
              </a:ext>
            </a:extLst>
          </p:cNvPr>
          <p:cNvSpPr>
            <a:spLocks xmlns:a="http://schemas.openxmlformats.org/drawingml/2006/main" noGrp="1"/>
          </p:cNvSpPr>
          <p:nvPr/>
        </p:nvSpPr>
        <p:spPr>
          <a:xfrm xmlns:a="http://schemas.openxmlformats.org/drawingml/2006/main">
            <a:off x="590550" y="2571750"/>
            <a:ext cx="238125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Core ceiling ~55–62 MHz, post-route</a:t>
            </a:r>
          </a:p>
        </p:txBody>
      </p:sp>
      <p:sp>
        <p:nvSpPr>
          <p:cNvPr id="13" name="">
            <a:extLst xmlns:a="http://schemas.openxmlformats.org/drawingml/2006/main">
              <a:ext uri="{FF2B5EF4-FFF2-40B4-BE49-F238E27FC236}">
                <a16:creationId xmlns:a16="http://schemas.microsoft.com/office/drawing/2014/main" id="{20A5E1CF-35B9-4AC7-8679-84CE77C4BBFD}"/>
              </a:ext>
            </a:extLst>
          </p:cNvPr>
          <p:cNvSpPr>
            <a:spLocks xmlns:a="http://schemas.openxmlformats.org/drawingml/2006/main" noGrp="1"/>
          </p:cNvSpPr>
          <p:nvPr/>
        </p:nvSpPr>
        <p:spPr>
          <a:xfrm xmlns:a="http://schemas.openxmlformats.org/drawingml/2006/main">
            <a:off x="3333750" y="1638300"/>
            <a:ext cx="26479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D4BDA9E3-1054-4D05-B14B-4D149F5D4A17}"/>
              </a:ext>
            </a:extLst>
          </p:cNvPr>
          <p:cNvSpPr>
            <a:spLocks xmlns:a="http://schemas.openxmlformats.org/drawingml/2006/main" noGrp="1"/>
          </p:cNvSpPr>
          <p:nvPr/>
        </p:nvSpPr>
        <p:spPr>
          <a:xfrm xmlns:a="http://schemas.openxmlformats.org/drawingml/2006/main">
            <a:off x="3448050" y="1790700"/>
            <a:ext cx="241935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1">
                <a:solidFill>
                  <a:srgbClr val="07686A"/>
                </a:solidFill>
                <a:latin typeface="Georgia"/>
                <a:ea typeface="Georgia"/>
                <a:cs typeface="Georgia"/>
              </a:defRPr>
            </a:pPr>
            <a:r>
              <a:t>2 cycles</a:t>
            </a:r>
          </a:p>
        </p:txBody>
      </p:sp>
      <p:sp>
        <p:nvSpPr>
          <p:cNvPr id="15" name="">
            <a:extLst xmlns:a="http://schemas.openxmlformats.org/drawingml/2006/main">
              <a:ext uri="{FF2B5EF4-FFF2-40B4-BE49-F238E27FC236}">
                <a16:creationId xmlns:a16="http://schemas.microsoft.com/office/drawing/2014/main" id="{346C6A5E-4FB0-4521-B3C5-133D04627281}"/>
              </a:ext>
            </a:extLst>
          </p:cNvPr>
          <p:cNvSpPr>
            <a:spLocks xmlns:a="http://schemas.openxmlformats.org/drawingml/2006/main" noGrp="1"/>
          </p:cNvSpPr>
          <p:nvPr/>
        </p:nvSpPr>
        <p:spPr>
          <a:xfrm xmlns:a="http://schemas.openxmlformats.org/drawingml/2006/main">
            <a:off x="3448050" y="2324100"/>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CHECKER DELAY</a:t>
            </a:r>
          </a:p>
        </p:txBody>
      </p:sp>
      <p:sp>
        <p:nvSpPr>
          <p:cNvPr id="16" name="">
            <a:extLst xmlns:a="http://schemas.openxmlformats.org/drawingml/2006/main">
              <a:ext uri="{FF2B5EF4-FFF2-40B4-BE49-F238E27FC236}">
                <a16:creationId xmlns:a16="http://schemas.microsoft.com/office/drawing/2014/main" id="{4052BAAE-90B9-4810-9BF8-5992D35F8F2D}"/>
              </a:ext>
            </a:extLst>
          </p:cNvPr>
          <p:cNvSpPr>
            <a:spLocks xmlns:a="http://schemas.openxmlformats.org/drawingml/2006/main" noGrp="1"/>
          </p:cNvSpPr>
          <p:nvPr/>
        </p:nvSpPr>
        <p:spPr>
          <a:xfrm xmlns:a="http://schemas.openxmlformats.org/drawingml/2006/main">
            <a:off x="3467100" y="2571750"/>
            <a:ext cx="238125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CHECKER sees MAIN’s bus responses</a:t>
            </a:r>
          </a:p>
        </p:txBody>
      </p:sp>
      <p:sp>
        <p:nvSpPr>
          <p:cNvPr id="17" name="">
            <a:extLst xmlns:a="http://schemas.openxmlformats.org/drawingml/2006/main">
              <a:ext uri="{FF2B5EF4-FFF2-40B4-BE49-F238E27FC236}">
                <a16:creationId xmlns:a16="http://schemas.microsoft.com/office/drawing/2014/main" id="{D5064E4C-BB00-441F-BA4F-79401DAC222D}"/>
              </a:ext>
            </a:extLst>
          </p:cNvPr>
          <p:cNvSpPr>
            <a:spLocks xmlns:a="http://schemas.openxmlformats.org/drawingml/2006/main" noGrp="1"/>
          </p:cNvSpPr>
          <p:nvPr/>
        </p:nvSpPr>
        <p:spPr>
          <a:xfrm xmlns:a="http://schemas.openxmlformats.org/drawingml/2006/main">
            <a:off x="6210300" y="1638300"/>
            <a:ext cx="26479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D71015FC-4A40-4C0B-9654-DEC66FEDEBE1}"/>
              </a:ext>
            </a:extLst>
          </p:cNvPr>
          <p:cNvSpPr>
            <a:spLocks xmlns:a="http://schemas.openxmlformats.org/drawingml/2006/main" noGrp="1"/>
          </p:cNvSpPr>
          <p:nvPr/>
        </p:nvSpPr>
        <p:spPr>
          <a:xfrm xmlns:a="http://schemas.openxmlformats.org/drawingml/2006/main">
            <a:off x="6324600" y="1790700"/>
            <a:ext cx="241935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1">
                <a:solidFill>
                  <a:srgbClr val="07686A"/>
                </a:solidFill>
                <a:latin typeface="Georgia"/>
                <a:ea typeface="Georgia"/>
                <a:cs typeface="Georgia"/>
              </a:defRPr>
            </a:pPr>
            <a:r>
              <a:t>44 / 44</a:t>
            </a:r>
          </a:p>
        </p:txBody>
      </p:sp>
      <p:sp>
        <p:nvSpPr>
          <p:cNvPr id="19" name="">
            <a:extLst xmlns:a="http://schemas.openxmlformats.org/drawingml/2006/main">
              <a:ext uri="{FF2B5EF4-FFF2-40B4-BE49-F238E27FC236}">
                <a16:creationId xmlns:a16="http://schemas.microsoft.com/office/drawing/2014/main" id="{46C87BDD-9C81-42BC-BEB0-C9768A201809}"/>
              </a:ext>
            </a:extLst>
          </p:cNvPr>
          <p:cNvSpPr>
            <a:spLocks xmlns:a="http://schemas.openxmlformats.org/drawingml/2006/main" noGrp="1"/>
          </p:cNvSpPr>
          <p:nvPr/>
        </p:nvSpPr>
        <p:spPr>
          <a:xfrm xmlns:a="http://schemas.openxmlformats.org/drawingml/2006/main">
            <a:off x="6324600" y="2324100"/>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PADS ALLOCATED</a:t>
            </a:r>
          </a:p>
        </p:txBody>
      </p:sp>
      <p:sp>
        <p:nvSpPr>
          <p:cNvPr id="20" name="">
            <a:extLst xmlns:a="http://schemas.openxmlformats.org/drawingml/2006/main">
              <a:ext uri="{FF2B5EF4-FFF2-40B4-BE49-F238E27FC236}">
                <a16:creationId xmlns:a16="http://schemas.microsoft.com/office/drawing/2014/main" id="{A90694C7-F401-4EB6-8DC2-A77BFCAFF31A}"/>
              </a:ext>
            </a:extLst>
          </p:cNvPr>
          <p:cNvSpPr>
            <a:spLocks xmlns:a="http://schemas.openxmlformats.org/drawingml/2006/main" noGrp="1"/>
          </p:cNvSpPr>
          <p:nvPr/>
        </p:nvSpPr>
        <p:spPr>
          <a:xfrm xmlns:a="http://schemas.openxmlformats.org/drawingml/2006/main">
            <a:off x="6343650" y="2571750"/>
            <a:ext cx="238125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Every wrapper pad has a job</a:t>
            </a:r>
          </a:p>
        </p:txBody>
      </p:sp>
      <p:sp>
        <p:nvSpPr>
          <p:cNvPr id="21" name="">
            <a:extLst xmlns:a="http://schemas.openxmlformats.org/drawingml/2006/main">
              <a:ext uri="{FF2B5EF4-FFF2-40B4-BE49-F238E27FC236}">
                <a16:creationId xmlns:a16="http://schemas.microsoft.com/office/drawing/2014/main" id="{C9FA824A-5891-4857-B6AA-8901C91AC3E9}"/>
              </a:ext>
            </a:extLst>
          </p:cNvPr>
          <p:cNvSpPr>
            <a:spLocks xmlns:a="http://schemas.openxmlformats.org/drawingml/2006/main" noGrp="1"/>
          </p:cNvSpPr>
          <p:nvPr/>
        </p:nvSpPr>
        <p:spPr>
          <a:xfrm xmlns:a="http://schemas.openxmlformats.org/drawingml/2006/main">
            <a:off x="9086850" y="1638300"/>
            <a:ext cx="26479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2E9BD7B7-3DED-4280-A15D-85844B530369}"/>
              </a:ext>
            </a:extLst>
          </p:cNvPr>
          <p:cNvSpPr>
            <a:spLocks xmlns:a="http://schemas.openxmlformats.org/drawingml/2006/main" noGrp="1"/>
          </p:cNvSpPr>
          <p:nvPr/>
        </p:nvSpPr>
        <p:spPr>
          <a:xfrm xmlns:a="http://schemas.openxmlformats.org/drawingml/2006/main">
            <a:off x="9201150" y="1790700"/>
            <a:ext cx="241935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1">
                <a:solidFill>
                  <a:srgbClr val="07686A"/>
                </a:solidFill>
                <a:latin typeface="Georgia"/>
                <a:ea typeface="Georgia"/>
                <a:cs typeface="Georgia"/>
              </a:defRPr>
            </a:pPr>
            <a:r>
              <a:t>4</a:t>
            </a:r>
          </a:p>
        </p:txBody>
      </p:sp>
      <p:sp>
        <p:nvSpPr>
          <p:cNvPr id="23" name="">
            <a:extLst xmlns:a="http://schemas.openxmlformats.org/drawingml/2006/main">
              <a:ext uri="{FF2B5EF4-FFF2-40B4-BE49-F238E27FC236}">
                <a16:creationId xmlns:a16="http://schemas.microsoft.com/office/drawing/2014/main" id="{D0AFAA17-1E1C-450E-A474-B8B3529136E6}"/>
              </a:ext>
            </a:extLst>
          </p:cNvPr>
          <p:cNvSpPr>
            <a:spLocks xmlns:a="http://schemas.openxmlformats.org/drawingml/2006/main" noGrp="1"/>
          </p:cNvSpPr>
          <p:nvPr/>
        </p:nvSpPr>
        <p:spPr>
          <a:xfrm xmlns:a="http://schemas.openxmlformats.org/drawingml/2006/main">
            <a:off x="9201150" y="2324100"/>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SIGN-OFF GATES</a:t>
            </a:r>
          </a:p>
        </p:txBody>
      </p:sp>
      <p:sp>
        <p:nvSpPr>
          <p:cNvPr id="24" name="">
            <a:extLst xmlns:a="http://schemas.openxmlformats.org/drawingml/2006/main">
              <a:ext uri="{FF2B5EF4-FFF2-40B4-BE49-F238E27FC236}">
                <a16:creationId xmlns:a16="http://schemas.microsoft.com/office/drawing/2014/main" id="{01E3650C-5D46-481E-94AD-7F11B6568BEA}"/>
              </a:ext>
            </a:extLst>
          </p:cNvPr>
          <p:cNvSpPr>
            <a:spLocks xmlns:a="http://schemas.openxmlformats.org/drawingml/2006/main" noGrp="1"/>
          </p:cNvSpPr>
          <p:nvPr/>
        </p:nvSpPr>
        <p:spPr>
          <a:xfrm xmlns:a="http://schemas.openxmlformats.org/drawingml/2006/main">
            <a:off x="9220200" y="2571750"/>
            <a:ext cx="238125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All must pass on the final die</a:t>
            </a:r>
          </a:p>
        </p:txBody>
      </p:sp>
      <p:sp>
        <p:nvSpPr>
          <p:cNvPr id="25" name="">
            <a:extLst xmlns:a="http://schemas.openxmlformats.org/drawingml/2006/main">
              <a:ext uri="{FF2B5EF4-FFF2-40B4-BE49-F238E27FC236}">
                <a16:creationId xmlns:a16="http://schemas.microsoft.com/office/drawing/2014/main" id="{4ED410F1-807A-49FD-8D03-E86F4A82BAD4}"/>
              </a:ext>
            </a:extLst>
          </p:cNvPr>
          <p:cNvSpPr>
            <a:spLocks xmlns:a="http://schemas.openxmlformats.org/drawingml/2006/main" noGrp="1"/>
          </p:cNvSpPr>
          <p:nvPr/>
        </p:nvSpPr>
        <p:spPr>
          <a:xfrm xmlns:a="http://schemas.openxmlformats.org/drawingml/2006/main">
            <a:off x="457200" y="4781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EBC82BB9-A982-4C77-B26E-08451BEAB246}"/>
              </a:ext>
            </a:extLst>
          </p:cNvPr>
          <p:cNvSpPr>
            <a:spLocks xmlns:a="http://schemas.openxmlformats.org/drawingml/2006/main" noGrp="1"/>
          </p:cNvSpPr>
          <p:nvPr/>
        </p:nvSpPr>
        <p:spPr>
          <a:xfrm xmlns:a="http://schemas.openxmlformats.org/drawingml/2006/main">
            <a:off x="457200" y="47815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C79863E-3E34-45E5-89BE-066E2F392163}"/>
              </a:ext>
            </a:extLst>
          </p:cNvPr>
          <p:cNvSpPr>
            <a:spLocks xmlns:a="http://schemas.openxmlformats.org/drawingml/2006/main" noGrp="1"/>
          </p:cNvSpPr>
          <p:nvPr/>
        </p:nvSpPr>
        <p:spPr>
          <a:xfrm xmlns:a="http://schemas.openxmlformats.org/drawingml/2006/main">
            <a:off x="685800" y="4972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Safety</a:t>
            </a:r>
          </a:p>
        </p:txBody>
      </p:sp>
      <p:sp>
        <p:nvSpPr>
          <p:cNvPr id="28" name="">
            <a:extLst xmlns:a="http://schemas.openxmlformats.org/drawingml/2006/main">
              <a:ext uri="{FF2B5EF4-FFF2-40B4-BE49-F238E27FC236}">
                <a16:creationId xmlns:a16="http://schemas.microsoft.com/office/drawing/2014/main" id="{CCE37CF9-6803-4CF2-B0EE-7BBF1CE7AAFD}"/>
              </a:ext>
            </a:extLst>
          </p:cNvPr>
          <p:cNvSpPr>
            <a:spLocks xmlns:a="http://schemas.openxmlformats.org/drawingml/2006/main" noGrp="1"/>
          </p:cNvSpPr>
          <p:nvPr/>
        </p:nvSpPr>
        <p:spPr>
          <a:xfrm xmlns:a="http://schemas.openxmlformats.org/drawingml/2006/main">
            <a:off x="685800" y="5334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Lockstep pair with mirrored bus responses and a fault pad.</a:t>
            </a:r>
          </a:p>
        </p:txBody>
      </p:sp>
      <p:sp>
        <p:nvSpPr>
          <p:cNvPr id="29" name="">
            <a:extLst xmlns:a="http://schemas.openxmlformats.org/drawingml/2006/main">
              <a:ext uri="{FF2B5EF4-FFF2-40B4-BE49-F238E27FC236}">
                <a16:creationId xmlns:a16="http://schemas.microsoft.com/office/drawing/2014/main" id="{7D827CCC-8AA2-426C-9506-6E62B16BD337}"/>
              </a:ext>
            </a:extLst>
          </p:cNvPr>
          <p:cNvSpPr>
            <a:spLocks xmlns:a="http://schemas.openxmlformats.org/drawingml/2006/main" noGrp="1"/>
          </p:cNvSpPr>
          <p:nvPr/>
        </p:nvSpPr>
        <p:spPr>
          <a:xfrm xmlns:a="http://schemas.openxmlformats.org/drawingml/2006/main">
            <a:off x="4305300" y="4781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8B8E78F4-1F53-47B5-95ED-BAEBF33B8D39}"/>
              </a:ext>
            </a:extLst>
          </p:cNvPr>
          <p:cNvSpPr>
            <a:spLocks xmlns:a="http://schemas.openxmlformats.org/drawingml/2006/main" noGrp="1"/>
          </p:cNvSpPr>
          <p:nvPr/>
        </p:nvSpPr>
        <p:spPr>
          <a:xfrm xmlns:a="http://schemas.openxmlformats.org/drawingml/2006/main">
            <a:off x="4305300" y="47815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2EF4FF1-CDDD-4F29-B40A-383C5AF244F3}"/>
              </a:ext>
            </a:extLst>
          </p:cNvPr>
          <p:cNvSpPr>
            <a:spLocks xmlns:a="http://schemas.openxmlformats.org/drawingml/2006/main" noGrp="1"/>
          </p:cNvSpPr>
          <p:nvPr/>
        </p:nvSpPr>
        <p:spPr>
          <a:xfrm xmlns:a="http://schemas.openxmlformats.org/drawingml/2006/main">
            <a:off x="4533900" y="4972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Bus</a:t>
            </a:r>
          </a:p>
        </p:txBody>
      </p:sp>
      <p:sp>
        <p:nvSpPr>
          <p:cNvPr id="32" name="">
            <a:extLst xmlns:a="http://schemas.openxmlformats.org/drawingml/2006/main">
              <a:ext uri="{FF2B5EF4-FFF2-40B4-BE49-F238E27FC236}">
                <a16:creationId xmlns:a16="http://schemas.microsoft.com/office/drawing/2014/main" id="{49D746BC-A3CD-427F-BB96-DE843341548C}"/>
              </a:ext>
            </a:extLst>
          </p:cNvPr>
          <p:cNvSpPr>
            <a:spLocks xmlns:a="http://schemas.openxmlformats.org/drawingml/2006/main" noGrp="1"/>
          </p:cNvSpPr>
          <p:nvPr/>
        </p:nvSpPr>
        <p:spPr>
          <a:xfrm xmlns:a="http://schemas.openxmlformats.org/drawingml/2006/main">
            <a:off x="4533900" y="5334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Two masters; gated or undecoded slots answer with an error.</a:t>
            </a:r>
          </a:p>
        </p:txBody>
      </p:sp>
      <p:sp>
        <p:nvSpPr>
          <p:cNvPr id="33" name="">
            <a:extLst xmlns:a="http://schemas.openxmlformats.org/drawingml/2006/main">
              <a:ext uri="{FF2B5EF4-FFF2-40B4-BE49-F238E27FC236}">
                <a16:creationId xmlns:a16="http://schemas.microsoft.com/office/drawing/2014/main" id="{4EA58737-02CC-4397-9810-A952A7F7877D}"/>
              </a:ext>
            </a:extLst>
          </p:cNvPr>
          <p:cNvSpPr>
            <a:spLocks xmlns:a="http://schemas.openxmlformats.org/drawingml/2006/main" noGrp="1"/>
          </p:cNvSpPr>
          <p:nvPr/>
        </p:nvSpPr>
        <p:spPr>
          <a:xfrm xmlns:a="http://schemas.openxmlformats.org/drawingml/2006/main">
            <a:off x="8153400" y="4781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0970F6C6-22F9-4323-A007-681C7FD93A6E}"/>
              </a:ext>
            </a:extLst>
          </p:cNvPr>
          <p:cNvSpPr>
            <a:spLocks xmlns:a="http://schemas.openxmlformats.org/drawingml/2006/main" noGrp="1"/>
          </p:cNvSpPr>
          <p:nvPr/>
        </p:nvSpPr>
        <p:spPr>
          <a:xfrm xmlns:a="http://schemas.openxmlformats.org/drawingml/2006/main">
            <a:off x="8153400" y="47815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2CE9912-4BF0-464F-B874-4EF99EBD3C3E}"/>
              </a:ext>
            </a:extLst>
          </p:cNvPr>
          <p:cNvSpPr>
            <a:spLocks xmlns:a="http://schemas.openxmlformats.org/drawingml/2006/main" noGrp="1"/>
          </p:cNvSpPr>
          <p:nvPr/>
        </p:nvSpPr>
        <p:spPr>
          <a:xfrm xmlns:a="http://schemas.openxmlformats.org/drawingml/2006/main">
            <a:off x="8382000" y="4972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Test</a:t>
            </a:r>
          </a:p>
        </p:txBody>
      </p:sp>
      <p:sp>
        <p:nvSpPr>
          <p:cNvPr id="36" name="">
            <a:extLst xmlns:a="http://schemas.openxmlformats.org/drawingml/2006/main">
              <a:ext uri="{FF2B5EF4-FFF2-40B4-BE49-F238E27FC236}">
                <a16:creationId xmlns:a16="http://schemas.microsoft.com/office/drawing/2014/main" id="{9865B634-32A9-45D0-930D-92309B73D4B4}"/>
              </a:ext>
            </a:extLst>
          </p:cNvPr>
          <p:cNvSpPr>
            <a:spLocks xmlns:a="http://schemas.openxmlformats.org/drawingml/2006/main" noGrp="1"/>
          </p:cNvSpPr>
          <p:nvPr/>
        </p:nvSpPr>
        <p:spPr>
          <a:xfrm xmlns:a="http://schemas.openxmlformats.org/drawingml/2006/main">
            <a:off x="8382000" y="5334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13 scan chains through JTAG; four gates before tape-in.</a:t>
            </a:r>
          </a:p>
        </p:txBody>
      </p:sp>
      <p:sp>
        <p:nvSpPr>
          <p:cNvPr id="37" name="">
            <a:extLst xmlns:a="http://schemas.openxmlformats.org/drawingml/2006/main">
              <a:ext uri="{FF2B5EF4-FFF2-40B4-BE49-F238E27FC236}">
                <a16:creationId xmlns:a16="http://schemas.microsoft.com/office/drawing/2014/main" id="{99E55A0E-1453-4DDF-8852-C2F9C288364F}"/>
              </a:ext>
            </a:extLst>
          </p:cNvPr>
          <p:cNvSpPr>
            <a:spLocks xmlns:a="http://schemas.openxmlformats.org/drawingml/2006/main" noGrp="1"/>
          </p:cNvSpPr>
          <p:nvPr/>
        </p:nvSpPr>
        <p:spPr>
          <a:xfrm xmlns:a="http://schemas.openxmlformats.org/drawingml/2006/main">
            <a:off x="457200" y="3352800"/>
            <a:ext cx="11277600" cy="12382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707D5CC-100C-444E-AD27-74908E9A6EAB}"/>
              </a:ext>
            </a:extLst>
          </p:cNvPr>
          <p:cNvSpPr>
            <a:spLocks xmlns:a="http://schemas.openxmlformats.org/drawingml/2006/main" noGrp="1"/>
          </p:cNvSpPr>
          <p:nvPr/>
        </p:nvSpPr>
        <p:spPr>
          <a:xfrm xmlns:a="http://schemas.openxmlformats.org/drawingml/2006/main">
            <a:off x="457200" y="3352800"/>
            <a:ext cx="57150" cy="12382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8A4F850-1EF5-4704-9816-D02855BB1C6A}"/>
              </a:ext>
            </a:extLst>
          </p:cNvPr>
          <p:cNvSpPr>
            <a:spLocks xmlns:a="http://schemas.openxmlformats.org/drawingml/2006/main" noGrp="1"/>
          </p:cNvSpPr>
          <p:nvPr/>
        </p:nvSpPr>
        <p:spPr>
          <a:xfrm xmlns:a="http://schemas.openxmlformats.org/drawingml/2006/main">
            <a:off x="762000" y="3562350"/>
            <a:ext cx="10668000" cy="8572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FFFFFF"/>
                </a:solidFill>
                <a:latin typeface="Georgia"/>
                <a:ea typeface="Georgia"/>
                <a:cs typeface="Georgia"/>
              </a:defRPr>
            </a:pPr>
            <a:r>
              <a:t>A single clock and reset, a lockstep pair that tolerates interrupts and peripheral reads, a two-master bus where nothing hangs, and a pad plan with no spare pin.</a:t>
            </a:r>
          </a:p>
        </p:txBody>
      </p:sp>
      <p:sp>
        <p:nvSpPr>
          <p:cNvPr id="40" name="">
            <a:extLst xmlns:a="http://schemas.openxmlformats.org/drawingml/2006/main">
              <a:ext uri="{FF2B5EF4-FFF2-40B4-BE49-F238E27FC236}">
                <a16:creationId xmlns:a16="http://schemas.microsoft.com/office/drawing/2014/main" id="{8E02B628-EFB6-4138-830D-F952D1C973F9}"/>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(state 2026-09-10).</a:t>
            </a:r>
          </a:p>
        </p:txBody>
      </p:sp>
    </p:spTree>
    <p:extLst>
      <p:ext uri="{BB962C8B-B14F-4D97-AF65-F5344CB8AC3E}">
        <p14:creationId xmlns:p14="http://schemas.microsoft.com/office/powerpoint/2010/main" val="75734199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D5582181-3087-4839-9C20-8E44D41216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842596-ECA8-4963-B238-3B49ECE8B1B5}"/>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03 · CLOCKS AND RESET</a:t>
            </a:r>
          </a:p>
        </p:txBody>
      </p:sp>
      <p:sp>
        <p:nvSpPr>
          <p:cNvPr id="3" name="">
            <a:extLst xmlns:a="http://schemas.openxmlformats.org/drawingml/2006/main">
              <a:ext uri="{FF2B5EF4-FFF2-40B4-BE49-F238E27FC236}">
                <a16:creationId xmlns:a16="http://schemas.microsoft.com/office/drawing/2014/main" id="{1944E0AF-B80C-418A-96B4-54DDA4C353A9}"/>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One clock and one reset drive the whole block</a:t>
            </a:r>
          </a:p>
        </p:txBody>
      </p:sp>
      <p:sp>
        <p:nvSpPr>
          <p:cNvPr id="4" name="">
            <a:extLst xmlns:a="http://schemas.openxmlformats.org/drawingml/2006/main">
              <a:ext uri="{FF2B5EF4-FFF2-40B4-BE49-F238E27FC236}">
                <a16:creationId xmlns:a16="http://schemas.microsoft.com/office/drawing/2014/main" id="{4955FE97-0CCE-4A98-AB83-81E33FA75B5B}"/>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Eight clock gates idle unused peripherals; test mode overrides them all</a:t>
            </a:r>
          </a:p>
        </p:txBody>
      </p:sp>
      <p:sp>
        <p:nvSpPr>
          <p:cNvPr id="5" name="">
            <a:extLst xmlns:a="http://schemas.openxmlformats.org/drawingml/2006/main">
              <a:ext uri="{FF2B5EF4-FFF2-40B4-BE49-F238E27FC236}">
                <a16:creationId xmlns:a16="http://schemas.microsoft.com/office/drawing/2014/main" id="{CF0DFE3D-1663-437A-943D-6290037FD7F8}"/>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BAA4A88-C4DE-4754-8A93-E3DE261C3463}"/>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0E17962-0D30-4B5D-ACDA-B1438D3BF6B3}"/>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468AC256-E8D8-4AD5-96B6-0C3675ADF79D}"/>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03</a:t>
            </a:r>
          </a:p>
        </p:txBody>
      </p:sp>
      <p:sp>
        <p:nvSpPr>
          <p:cNvPr id="9" name="">
            <a:extLst xmlns:a="http://schemas.openxmlformats.org/drawingml/2006/main">
              <a:ext uri="{FF2B5EF4-FFF2-40B4-BE49-F238E27FC236}">
                <a16:creationId xmlns:a16="http://schemas.microsoft.com/office/drawing/2014/main" id="{433CC9DA-F277-4684-9CD3-386F59CDF559}"/>
              </a:ext>
            </a:extLst>
          </p:cNvPr>
          <p:cNvSpPr>
            <a:spLocks xmlns:a="http://schemas.openxmlformats.org/drawingml/2006/main" noGrp="1"/>
          </p:cNvSpPr>
          <p:nvPr/>
        </p:nvSpPr>
        <p:spPr>
          <a:xfrm xmlns:a="http://schemas.openxmlformats.org/drawingml/2006/main">
            <a:off x="457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02E4C5E9-3460-485E-84EF-7DAA3E6E9F3E}"/>
              </a:ext>
            </a:extLst>
          </p:cNvPr>
          <p:cNvSpPr>
            <a:spLocks xmlns:a="http://schemas.openxmlformats.org/drawingml/2006/main" noGrp="1"/>
          </p:cNvSpPr>
          <p:nvPr/>
        </p:nvSpPr>
        <p:spPr>
          <a:xfrm xmlns:a="http://schemas.openxmlformats.org/drawingml/2006/main">
            <a:off x="457200" y="1695450"/>
            <a:ext cx="34036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5F43283-C59D-4787-9572-58ED79CF4801}"/>
              </a:ext>
            </a:extLst>
          </p:cNvPr>
          <p:cNvSpPr>
            <a:spLocks xmlns:a="http://schemas.openxmlformats.org/drawingml/2006/main" noGrp="1"/>
          </p:cNvSpPr>
          <p:nvPr/>
        </p:nvSpPr>
        <p:spPr>
          <a:xfrm xmlns:a="http://schemas.openxmlformats.org/drawingml/2006/main">
            <a:off x="590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Clock pad</a:t>
            </a:r>
          </a:p>
        </p:txBody>
      </p:sp>
      <p:sp>
        <p:nvSpPr>
          <p:cNvPr id="12" name="">
            <a:extLst xmlns:a="http://schemas.openxmlformats.org/drawingml/2006/main">
              <a:ext uri="{FF2B5EF4-FFF2-40B4-BE49-F238E27FC236}">
                <a16:creationId xmlns:a16="http://schemas.microsoft.com/office/drawing/2014/main" id="{369F6638-30E5-428D-8D1A-1857218FBEA8}"/>
              </a:ext>
            </a:extLst>
          </p:cNvPr>
          <p:cNvSpPr>
            <a:spLocks xmlns:a="http://schemas.openxmlformats.org/drawingml/2006/main" noGrp="1"/>
          </p:cNvSpPr>
          <p:nvPr/>
        </p:nvSpPr>
        <p:spPr>
          <a:xfrm xmlns:a="http://schemas.openxmlformats.org/drawingml/2006/main">
            <a:off x="590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50 MHz, one domain</a:t>
            </a:r>
          </a:p>
        </p:txBody>
      </p:sp>
      <p:sp>
        <p:nvSpPr>
          <p:cNvPr id="13" name="">
            <a:extLst xmlns:a="http://schemas.openxmlformats.org/drawingml/2006/main">
              <a:ext uri="{FF2B5EF4-FFF2-40B4-BE49-F238E27FC236}">
                <a16:creationId xmlns:a16="http://schemas.microsoft.com/office/drawing/2014/main" id="{236F4B84-32FA-4D21-B73C-A1D9B958684F}"/>
              </a:ext>
            </a:extLst>
          </p:cNvPr>
          <p:cNvSpPr>
            <a:spLocks xmlns:a="http://schemas.openxmlformats.org/drawingml/2006/main" noGrp="1"/>
          </p:cNvSpPr>
          <p:nvPr/>
        </p:nvSpPr>
        <p:spPr>
          <a:xfrm xmlns:a="http://schemas.openxmlformats.org/drawingml/2006/main">
            <a:off x="3965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1FD0C464-4299-46B0-BC24-0D6526C35CCA}"/>
              </a:ext>
            </a:extLst>
          </p:cNvPr>
          <p:cNvSpPr>
            <a:spLocks xmlns:a="http://schemas.openxmlformats.org/drawingml/2006/main" noGrp="1"/>
          </p:cNvSpPr>
          <p:nvPr/>
        </p:nvSpPr>
        <p:spPr>
          <a:xfrm xmlns:a="http://schemas.openxmlformats.org/drawingml/2006/main">
            <a:off x="4394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9ECDC127-FF35-4741-BE02-6BC4A1E38E71}"/>
              </a:ext>
            </a:extLst>
          </p:cNvPr>
          <p:cNvSpPr>
            <a:spLocks xmlns:a="http://schemas.openxmlformats.org/drawingml/2006/main" noGrp="1"/>
          </p:cNvSpPr>
          <p:nvPr/>
        </p:nvSpPr>
        <p:spPr>
          <a:xfrm xmlns:a="http://schemas.openxmlformats.org/drawingml/2006/main">
            <a:off x="4394200" y="16954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32CA0C3-8E45-421A-AE5F-C9FDF9141BA7}"/>
              </a:ext>
            </a:extLst>
          </p:cNvPr>
          <p:cNvSpPr>
            <a:spLocks xmlns:a="http://schemas.openxmlformats.org/drawingml/2006/main" noGrp="1"/>
          </p:cNvSpPr>
          <p:nvPr/>
        </p:nvSpPr>
        <p:spPr>
          <a:xfrm xmlns:a="http://schemas.openxmlformats.org/drawingml/2006/main">
            <a:off x="4527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Eight clock gates</a:t>
            </a:r>
          </a:p>
        </p:txBody>
      </p:sp>
      <p:sp>
        <p:nvSpPr>
          <p:cNvPr id="17" name="">
            <a:extLst xmlns:a="http://schemas.openxmlformats.org/drawingml/2006/main">
              <a:ext uri="{FF2B5EF4-FFF2-40B4-BE49-F238E27FC236}">
                <a16:creationId xmlns:a16="http://schemas.microsoft.com/office/drawing/2014/main" id="{CB750033-8B98-4588-9DBA-DB52A97FDA84}"/>
              </a:ext>
            </a:extLst>
          </p:cNvPr>
          <p:cNvSpPr>
            <a:spLocks xmlns:a="http://schemas.openxmlformats.org/drawingml/2006/main" noGrp="1"/>
          </p:cNvSpPr>
          <p:nvPr/>
        </p:nvSpPr>
        <p:spPr>
          <a:xfrm xmlns:a="http://schemas.openxmlformats.org/drawingml/2006/main">
            <a:off x="4527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Idle peripherals switched off</a:t>
            </a:r>
          </a:p>
        </p:txBody>
      </p:sp>
      <p:sp>
        <p:nvSpPr>
          <p:cNvPr id="18" name="">
            <a:extLst xmlns:a="http://schemas.openxmlformats.org/drawingml/2006/main">
              <a:ext uri="{FF2B5EF4-FFF2-40B4-BE49-F238E27FC236}">
                <a16:creationId xmlns:a16="http://schemas.microsoft.com/office/drawing/2014/main" id="{697BFE5C-0E15-4E3B-8109-8CA45056D65E}"/>
              </a:ext>
            </a:extLst>
          </p:cNvPr>
          <p:cNvSpPr>
            <a:spLocks xmlns:a="http://schemas.openxmlformats.org/drawingml/2006/main" noGrp="1"/>
          </p:cNvSpPr>
          <p:nvPr/>
        </p:nvSpPr>
        <p:spPr>
          <a:xfrm xmlns:a="http://schemas.openxmlformats.org/drawingml/2006/main">
            <a:off x="7902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98369047-1B6C-401F-9673-C76EB42B27A6}"/>
              </a:ext>
            </a:extLst>
          </p:cNvPr>
          <p:cNvSpPr>
            <a:spLocks xmlns:a="http://schemas.openxmlformats.org/drawingml/2006/main" noGrp="1"/>
          </p:cNvSpPr>
          <p:nvPr/>
        </p:nvSpPr>
        <p:spPr>
          <a:xfrm xmlns:a="http://schemas.openxmlformats.org/drawingml/2006/main">
            <a:off x="8331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0" name="">
            <a:extLst xmlns:a="http://schemas.openxmlformats.org/drawingml/2006/main">
              <a:ext uri="{FF2B5EF4-FFF2-40B4-BE49-F238E27FC236}">
                <a16:creationId xmlns:a16="http://schemas.microsoft.com/office/drawing/2014/main" id="{156900B8-0A3A-4F97-83FA-4770B9FD397E}"/>
              </a:ext>
            </a:extLst>
          </p:cNvPr>
          <p:cNvSpPr>
            <a:spLocks xmlns:a="http://schemas.openxmlformats.org/drawingml/2006/main" noGrp="1"/>
          </p:cNvSpPr>
          <p:nvPr/>
        </p:nvSpPr>
        <p:spPr>
          <a:xfrm xmlns:a="http://schemas.openxmlformats.org/drawingml/2006/main">
            <a:off x="8331200" y="16954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977AB3E-C086-4A33-A3C6-B7B5108FFBF6}"/>
              </a:ext>
            </a:extLst>
          </p:cNvPr>
          <p:cNvSpPr>
            <a:spLocks xmlns:a="http://schemas.openxmlformats.org/drawingml/2006/main" noGrp="1"/>
          </p:cNvSpPr>
          <p:nvPr/>
        </p:nvSpPr>
        <p:spPr>
          <a:xfrm xmlns:a="http://schemas.openxmlformats.org/drawingml/2006/main">
            <a:off x="8464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Test mode</a:t>
            </a:r>
          </a:p>
        </p:txBody>
      </p:sp>
      <p:sp>
        <p:nvSpPr>
          <p:cNvPr id="22" name="">
            <a:extLst xmlns:a="http://schemas.openxmlformats.org/drawingml/2006/main">
              <a:ext uri="{FF2B5EF4-FFF2-40B4-BE49-F238E27FC236}">
                <a16:creationId xmlns:a16="http://schemas.microsoft.com/office/drawing/2014/main" id="{20FC7D77-3FEF-4311-B859-23A491BC61F8}"/>
              </a:ext>
            </a:extLst>
          </p:cNvPr>
          <p:cNvSpPr>
            <a:spLocks xmlns:a="http://schemas.openxmlformats.org/drawingml/2006/main" noGrp="1"/>
          </p:cNvSpPr>
          <p:nvPr/>
        </p:nvSpPr>
        <p:spPr>
          <a:xfrm xmlns:a="http://schemas.openxmlformats.org/drawingml/2006/main">
            <a:off x="8464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Forces every gate open</a:t>
            </a:r>
          </a:p>
        </p:txBody>
      </p:sp>
      <p:sp>
        <p:nvSpPr>
          <p:cNvPr id="23" name="">
            <a:extLst xmlns:a="http://schemas.openxmlformats.org/drawingml/2006/main">
              <a:ext uri="{FF2B5EF4-FFF2-40B4-BE49-F238E27FC236}">
                <a16:creationId xmlns:a16="http://schemas.microsoft.com/office/drawing/2014/main" id="{4C0C42EE-61C3-4546-898D-98CA55BD1E8C}"/>
              </a:ext>
            </a:extLst>
          </p:cNvPr>
          <p:cNvSpPr>
            <a:spLocks xmlns:a="http://schemas.openxmlformats.org/drawingml/2006/main" noGrp="1"/>
          </p:cNvSpPr>
          <p:nvPr/>
        </p:nvSpPr>
        <p:spPr>
          <a:xfrm xmlns:a="http://schemas.openxmlformats.org/drawingml/2006/main">
            <a:off x="457200" y="30670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4" name="">
            <a:extLst xmlns:a="http://schemas.openxmlformats.org/drawingml/2006/main">
              <a:ext uri="{FF2B5EF4-FFF2-40B4-BE49-F238E27FC236}">
                <a16:creationId xmlns:a16="http://schemas.microsoft.com/office/drawing/2014/main" id="{C369F4D6-6FFC-483E-863F-8D99FAF2AF71}"/>
              </a:ext>
            </a:extLst>
          </p:cNvPr>
          <p:cNvSpPr>
            <a:spLocks xmlns:a="http://schemas.openxmlformats.org/drawingml/2006/main" noGrp="1"/>
          </p:cNvSpPr>
          <p:nvPr/>
        </p:nvSpPr>
        <p:spPr>
          <a:xfrm xmlns:a="http://schemas.openxmlformats.org/drawingml/2006/main">
            <a:off x="457200" y="3067050"/>
            <a:ext cx="34036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4BF0EF8-A3A1-42FC-A464-55F796285F5E}"/>
              </a:ext>
            </a:extLst>
          </p:cNvPr>
          <p:cNvSpPr>
            <a:spLocks xmlns:a="http://schemas.openxmlformats.org/drawingml/2006/main" noGrp="1"/>
          </p:cNvSpPr>
          <p:nvPr/>
        </p:nvSpPr>
        <p:spPr>
          <a:xfrm xmlns:a="http://schemas.openxmlformats.org/drawingml/2006/main">
            <a:off x="590550" y="32575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Reset pad</a:t>
            </a:r>
          </a:p>
        </p:txBody>
      </p:sp>
      <p:sp>
        <p:nvSpPr>
          <p:cNvPr id="26" name="">
            <a:extLst xmlns:a="http://schemas.openxmlformats.org/drawingml/2006/main">
              <a:ext uri="{FF2B5EF4-FFF2-40B4-BE49-F238E27FC236}">
                <a16:creationId xmlns:a16="http://schemas.microsoft.com/office/drawing/2014/main" id="{056CE229-CEDE-4D96-8A8C-9DA5FA3D1CE0}"/>
              </a:ext>
            </a:extLst>
          </p:cNvPr>
          <p:cNvSpPr>
            <a:spLocks xmlns:a="http://schemas.openxmlformats.org/drawingml/2006/main" noGrp="1"/>
          </p:cNvSpPr>
          <p:nvPr/>
        </p:nvSpPr>
        <p:spPr>
          <a:xfrm xmlns:a="http://schemas.openxmlformats.org/drawingml/2006/main">
            <a:off x="590550" y="35433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Asynchronous, active low</a:t>
            </a:r>
          </a:p>
        </p:txBody>
      </p:sp>
      <p:sp>
        <p:nvSpPr>
          <p:cNvPr id="27" name="">
            <a:extLst xmlns:a="http://schemas.openxmlformats.org/drawingml/2006/main">
              <a:ext uri="{FF2B5EF4-FFF2-40B4-BE49-F238E27FC236}">
                <a16:creationId xmlns:a16="http://schemas.microsoft.com/office/drawing/2014/main" id="{3A132890-EB9B-4902-B64C-CBB1A8F6532A}"/>
              </a:ext>
            </a:extLst>
          </p:cNvPr>
          <p:cNvSpPr>
            <a:spLocks xmlns:a="http://schemas.openxmlformats.org/drawingml/2006/main" noGrp="1"/>
          </p:cNvSpPr>
          <p:nvPr/>
        </p:nvSpPr>
        <p:spPr>
          <a:xfrm xmlns:a="http://schemas.openxmlformats.org/drawingml/2006/main">
            <a:off x="3965575" y="34575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8" name="">
            <a:extLst xmlns:a="http://schemas.openxmlformats.org/drawingml/2006/main">
              <a:ext uri="{FF2B5EF4-FFF2-40B4-BE49-F238E27FC236}">
                <a16:creationId xmlns:a16="http://schemas.microsoft.com/office/drawing/2014/main" id="{4838A68C-7E3D-455B-9E9A-70A0CB396D53}"/>
              </a:ext>
            </a:extLst>
          </p:cNvPr>
          <p:cNvSpPr>
            <a:spLocks xmlns:a="http://schemas.openxmlformats.org/drawingml/2006/main" noGrp="1"/>
          </p:cNvSpPr>
          <p:nvPr/>
        </p:nvSpPr>
        <p:spPr>
          <a:xfrm xmlns:a="http://schemas.openxmlformats.org/drawingml/2006/main">
            <a:off x="4394200" y="30670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9" name="">
            <a:extLst xmlns:a="http://schemas.openxmlformats.org/drawingml/2006/main">
              <a:ext uri="{FF2B5EF4-FFF2-40B4-BE49-F238E27FC236}">
                <a16:creationId xmlns:a16="http://schemas.microsoft.com/office/drawing/2014/main" id="{6884EC25-E1BF-4C2B-B03E-8B1D027326DE}"/>
              </a:ext>
            </a:extLst>
          </p:cNvPr>
          <p:cNvSpPr>
            <a:spLocks xmlns:a="http://schemas.openxmlformats.org/drawingml/2006/main" noGrp="1"/>
          </p:cNvSpPr>
          <p:nvPr/>
        </p:nvSpPr>
        <p:spPr>
          <a:xfrm xmlns:a="http://schemas.openxmlformats.org/drawingml/2006/main">
            <a:off x="4394200" y="30670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FDCD06E-6C95-4AE5-BD4B-1807724E7EEB}"/>
              </a:ext>
            </a:extLst>
          </p:cNvPr>
          <p:cNvSpPr>
            <a:spLocks xmlns:a="http://schemas.openxmlformats.org/drawingml/2006/main" noGrp="1"/>
          </p:cNvSpPr>
          <p:nvPr/>
        </p:nvSpPr>
        <p:spPr>
          <a:xfrm xmlns:a="http://schemas.openxmlformats.org/drawingml/2006/main">
            <a:off x="4527550" y="32575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Supervisor</a:t>
            </a:r>
          </a:p>
        </p:txBody>
      </p:sp>
      <p:sp>
        <p:nvSpPr>
          <p:cNvPr id="31" name="">
            <a:extLst xmlns:a="http://schemas.openxmlformats.org/drawingml/2006/main">
              <a:ext uri="{FF2B5EF4-FFF2-40B4-BE49-F238E27FC236}">
                <a16:creationId xmlns:a16="http://schemas.microsoft.com/office/drawing/2014/main" id="{52DCE57A-05A9-4A0C-9BE0-A6585D88CDE0}"/>
              </a:ext>
            </a:extLst>
          </p:cNvPr>
          <p:cNvSpPr>
            <a:spLocks xmlns:a="http://schemas.openxmlformats.org/drawingml/2006/main" noGrp="1"/>
          </p:cNvSpPr>
          <p:nvPr/>
        </p:nvSpPr>
        <p:spPr>
          <a:xfrm xmlns:a="http://schemas.openxmlformats.org/drawingml/2006/main">
            <a:off x="4527550" y="35433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Deglitches supply-good inputs</a:t>
            </a:r>
          </a:p>
        </p:txBody>
      </p:sp>
      <p:sp>
        <p:nvSpPr>
          <p:cNvPr id="32" name="">
            <a:extLst xmlns:a="http://schemas.openxmlformats.org/drawingml/2006/main">
              <a:ext uri="{FF2B5EF4-FFF2-40B4-BE49-F238E27FC236}">
                <a16:creationId xmlns:a16="http://schemas.microsoft.com/office/drawing/2014/main" id="{44C0A407-ACCF-49CF-A234-16AFFC824C66}"/>
              </a:ext>
            </a:extLst>
          </p:cNvPr>
          <p:cNvSpPr>
            <a:spLocks xmlns:a="http://schemas.openxmlformats.org/drawingml/2006/main" noGrp="1"/>
          </p:cNvSpPr>
          <p:nvPr/>
        </p:nvSpPr>
        <p:spPr>
          <a:xfrm xmlns:a="http://schemas.openxmlformats.org/drawingml/2006/main">
            <a:off x="7902575" y="34575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33" name="">
            <a:extLst xmlns:a="http://schemas.openxmlformats.org/drawingml/2006/main">
              <a:ext uri="{FF2B5EF4-FFF2-40B4-BE49-F238E27FC236}">
                <a16:creationId xmlns:a16="http://schemas.microsoft.com/office/drawing/2014/main" id="{1F238B0C-D7ED-4427-96F5-4801022A9C7C}"/>
              </a:ext>
            </a:extLst>
          </p:cNvPr>
          <p:cNvSpPr>
            <a:spLocks xmlns:a="http://schemas.openxmlformats.org/drawingml/2006/main" noGrp="1"/>
          </p:cNvSpPr>
          <p:nvPr/>
        </p:nvSpPr>
        <p:spPr>
          <a:xfrm xmlns:a="http://schemas.openxmlformats.org/drawingml/2006/main">
            <a:off x="8331200" y="30670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34" name="">
            <a:extLst xmlns:a="http://schemas.openxmlformats.org/drawingml/2006/main">
              <a:ext uri="{FF2B5EF4-FFF2-40B4-BE49-F238E27FC236}">
                <a16:creationId xmlns:a16="http://schemas.microsoft.com/office/drawing/2014/main" id="{EADF8444-7F24-464E-958C-535C6C711932}"/>
              </a:ext>
            </a:extLst>
          </p:cNvPr>
          <p:cNvSpPr>
            <a:spLocks xmlns:a="http://schemas.openxmlformats.org/drawingml/2006/main" noGrp="1"/>
          </p:cNvSpPr>
          <p:nvPr/>
        </p:nvSpPr>
        <p:spPr>
          <a:xfrm xmlns:a="http://schemas.openxmlformats.org/drawingml/2006/main">
            <a:off x="8331200" y="30670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10065EF-7665-4214-8265-722232626D8D}"/>
              </a:ext>
            </a:extLst>
          </p:cNvPr>
          <p:cNvSpPr>
            <a:spLocks xmlns:a="http://schemas.openxmlformats.org/drawingml/2006/main" noGrp="1"/>
          </p:cNvSpPr>
          <p:nvPr/>
        </p:nvSpPr>
        <p:spPr>
          <a:xfrm xmlns:a="http://schemas.openxmlformats.org/drawingml/2006/main">
            <a:off x="8464550" y="32575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MAIN, then CHECKER</a:t>
            </a:r>
          </a:p>
        </p:txBody>
      </p:sp>
      <p:sp>
        <p:nvSpPr>
          <p:cNvPr id="36" name="">
            <a:extLst xmlns:a="http://schemas.openxmlformats.org/drawingml/2006/main">
              <a:ext uri="{FF2B5EF4-FFF2-40B4-BE49-F238E27FC236}">
                <a16:creationId xmlns:a16="http://schemas.microsoft.com/office/drawing/2014/main" id="{FAF3767A-E970-485E-97BA-5E7C10EE7C83}"/>
              </a:ext>
            </a:extLst>
          </p:cNvPr>
          <p:cNvSpPr>
            <a:spLocks xmlns:a="http://schemas.openxmlformats.org/drawingml/2006/main" noGrp="1"/>
          </p:cNvSpPr>
          <p:nvPr/>
        </p:nvSpPr>
        <p:spPr>
          <a:xfrm xmlns:a="http://schemas.openxmlformats.org/drawingml/2006/main">
            <a:off x="8464550" y="35433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Checker released two cycles later</a:t>
            </a:r>
          </a:p>
        </p:txBody>
      </p:sp>
      <p:sp>
        <p:nvSpPr>
          <p:cNvPr id="37" name="">
            <a:extLst xmlns:a="http://schemas.openxmlformats.org/drawingml/2006/main">
              <a:ext uri="{FF2B5EF4-FFF2-40B4-BE49-F238E27FC236}">
                <a16:creationId xmlns:a16="http://schemas.microsoft.com/office/drawing/2014/main" id="{9C643CC6-39DE-4560-B6E1-B1E5AC5B2EDE}"/>
              </a:ext>
            </a:extLst>
          </p:cNvPr>
          <p:cNvSpPr>
            <a:spLocks xmlns:a="http://schemas.openxmlformats.org/drawingml/2006/main" noGrp="1"/>
          </p:cNvSpPr>
          <p:nvPr/>
        </p:nvSpPr>
        <p:spPr>
          <a:xfrm xmlns:a="http://schemas.openxmlformats.org/drawingml/2006/main">
            <a:off x="457200" y="4438650"/>
            <a:ext cx="1127760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A66AC627-169C-48E2-80C9-F7A875EC4FF6}"/>
              </a:ext>
            </a:extLst>
          </p:cNvPr>
          <p:cNvSpPr>
            <a:spLocks xmlns:a="http://schemas.openxmlformats.org/drawingml/2006/main" noGrp="1"/>
          </p:cNvSpPr>
          <p:nvPr/>
        </p:nvSpPr>
        <p:spPr>
          <a:xfrm xmlns:a="http://schemas.openxmlformats.org/drawingml/2006/main">
            <a:off x="457200" y="4438650"/>
            <a:ext cx="57150" cy="10096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71098C3-4EAD-404B-8551-E5A06DA70034}"/>
              </a:ext>
            </a:extLst>
          </p:cNvPr>
          <p:cNvSpPr>
            <a:spLocks xmlns:a="http://schemas.openxmlformats.org/drawingml/2006/main" noGrp="1"/>
          </p:cNvSpPr>
          <p:nvPr/>
        </p:nvSpPr>
        <p:spPr>
          <a:xfrm xmlns:a="http://schemas.openxmlformats.org/drawingml/2006/main">
            <a:off x="685800" y="4629150"/>
            <a:ext cx="10858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Which peripherals can be gated</a:t>
            </a:r>
          </a:p>
        </p:txBody>
      </p:sp>
      <p:sp>
        <p:nvSpPr>
          <p:cNvPr id="40" name="">
            <a:extLst xmlns:a="http://schemas.openxmlformats.org/drawingml/2006/main">
              <a:ext uri="{FF2B5EF4-FFF2-40B4-BE49-F238E27FC236}">
                <a16:creationId xmlns:a16="http://schemas.microsoft.com/office/drawing/2014/main" id="{B5EA994C-9748-46FE-9400-3C9A67FCB4C8}"/>
              </a:ext>
            </a:extLst>
          </p:cNvPr>
          <p:cNvSpPr>
            <a:spLocks xmlns:a="http://schemas.openxmlformats.org/drawingml/2006/main" noGrp="1"/>
          </p:cNvSpPr>
          <p:nvPr/>
        </p:nvSpPr>
        <p:spPr>
          <a:xfrm xmlns:a="http://schemas.openxmlformats.org/drawingml/2006/main">
            <a:off x="685800" y="4991100"/>
            <a:ext cx="108204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UART0, UART1, SPI, I²C, PWM, the timers, the DMA and the CORDIC.</a:t>
            </a:r>
          </a:p>
        </p:txBody>
      </p:sp>
      <p:sp>
        <p:nvSpPr>
          <p:cNvPr id="41" name="">
            <a:extLst xmlns:a="http://schemas.openxmlformats.org/drawingml/2006/main">
              <a:ext uri="{FF2B5EF4-FFF2-40B4-BE49-F238E27FC236}">
                <a16:creationId xmlns:a16="http://schemas.microsoft.com/office/drawing/2014/main" id="{C2C07DE8-4115-4AF9-BBF9-F06769CB6D03}"/>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clocks and reset.</a:t>
            </a:r>
          </a:p>
        </p:txBody>
      </p:sp>
    </p:spTree>
    <p:extLst>
      <p:ext uri="{BB962C8B-B14F-4D97-AF65-F5344CB8AC3E}">
        <p14:creationId xmlns:p14="http://schemas.microsoft.com/office/powerpoint/2010/main" val="131066949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0A9796AC-1A95-4B34-9D98-67C6BA1197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3A199F-C09D-4EDE-A66E-1666B3D9016B}"/>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04 · DUAL-CORE LOCKSTEP</a:t>
            </a:r>
          </a:p>
        </p:txBody>
      </p:sp>
      <p:sp>
        <p:nvSpPr>
          <p:cNvPr id="3" name="">
            <a:extLst xmlns:a="http://schemas.openxmlformats.org/drawingml/2006/main">
              <a:ext uri="{FF2B5EF4-FFF2-40B4-BE49-F238E27FC236}">
                <a16:creationId xmlns:a16="http://schemas.microsoft.com/office/drawing/2014/main" id="{9D58D5E0-8BE5-4B41-AAA6-DE35EF8AF702}"/>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checker trails MAIN and sees its bus responses</a:t>
            </a:r>
          </a:p>
        </p:txBody>
      </p:sp>
      <p:sp>
        <p:nvSpPr>
          <p:cNvPr id="4" name="">
            <a:extLst xmlns:a="http://schemas.openxmlformats.org/drawingml/2006/main">
              <a:ext uri="{FF2B5EF4-FFF2-40B4-BE49-F238E27FC236}">
                <a16:creationId xmlns:a16="http://schemas.microsoft.com/office/drawing/2014/main" id="{C5E2DA30-1F38-4378-A36A-1D1123B0B3B2}"/>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pair is arranged so ordinary firmware cannot make the two cores disagree</a:t>
            </a:r>
          </a:p>
        </p:txBody>
      </p:sp>
      <p:sp>
        <p:nvSpPr>
          <p:cNvPr id="5" name="">
            <a:extLst xmlns:a="http://schemas.openxmlformats.org/drawingml/2006/main">
              <a:ext uri="{FF2B5EF4-FFF2-40B4-BE49-F238E27FC236}">
                <a16:creationId xmlns:a16="http://schemas.microsoft.com/office/drawing/2014/main" id="{7E543981-1D85-4C36-8CBD-03E568414340}"/>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A3202A9-3CB4-4C8F-8256-8D63AA19694F}"/>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E0CDABB-726A-4820-AD7C-ED72C2D332C3}"/>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4A1EC8EF-6589-4326-A4EA-EEB870D893B3}"/>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04</a:t>
            </a:r>
          </a:p>
        </p:txBody>
      </p:sp>
      <p:sp>
        <p:nvSpPr>
          <p:cNvPr id="9" name="">
            <a:extLst xmlns:a="http://schemas.openxmlformats.org/drawingml/2006/main">
              <a:ext uri="{FF2B5EF4-FFF2-40B4-BE49-F238E27FC236}">
                <a16:creationId xmlns:a16="http://schemas.microsoft.com/office/drawing/2014/main" id="{B5FB561F-4238-4CE4-B3B3-C3A8F99571D3}"/>
              </a:ext>
            </a:extLst>
          </p:cNvPr>
          <p:cNvSpPr>
            <a:spLocks xmlns:a="http://schemas.openxmlformats.org/drawingml/2006/main" noGrp="1"/>
          </p:cNvSpPr>
          <p:nvPr/>
        </p:nvSpPr>
        <p:spPr>
          <a:xfrm xmlns:a="http://schemas.openxmlformats.org/drawingml/2006/main">
            <a:off x="4572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D2FE2EE6-5A32-4DDD-8832-553B9791F73D}"/>
              </a:ext>
            </a:extLst>
          </p:cNvPr>
          <p:cNvSpPr>
            <a:spLocks xmlns:a="http://schemas.openxmlformats.org/drawingml/2006/main" noGrp="1"/>
          </p:cNvSpPr>
          <p:nvPr/>
        </p:nvSpPr>
        <p:spPr>
          <a:xfrm xmlns:a="http://schemas.openxmlformats.org/drawingml/2006/main">
            <a:off x="457200" y="169545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C96BC6E-BA91-4DE5-BF42-B8FD2A889CEF}"/>
              </a:ext>
            </a:extLst>
          </p:cNvPr>
          <p:cNvSpPr>
            <a:spLocks xmlns:a="http://schemas.openxmlformats.org/drawingml/2006/main" noGrp="1"/>
          </p:cNvSpPr>
          <p:nvPr/>
        </p:nvSpPr>
        <p:spPr>
          <a:xfrm xmlns:a="http://schemas.openxmlformats.org/drawingml/2006/main">
            <a:off x="5905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MAIN</a:t>
            </a:r>
          </a:p>
        </p:txBody>
      </p:sp>
      <p:sp>
        <p:nvSpPr>
          <p:cNvPr id="12" name="">
            <a:extLst xmlns:a="http://schemas.openxmlformats.org/drawingml/2006/main">
              <a:ext uri="{FF2B5EF4-FFF2-40B4-BE49-F238E27FC236}">
                <a16:creationId xmlns:a16="http://schemas.microsoft.com/office/drawing/2014/main" id="{E044C809-9C32-4E18-AC66-D28C89BD9A74}"/>
              </a:ext>
            </a:extLst>
          </p:cNvPr>
          <p:cNvSpPr>
            <a:spLocks xmlns:a="http://schemas.openxmlformats.org/drawingml/2006/main" noGrp="1"/>
          </p:cNvSpPr>
          <p:nvPr/>
        </p:nvSpPr>
        <p:spPr>
          <a:xfrm xmlns:a="http://schemas.openxmlformats.org/drawingml/2006/main">
            <a:off x="5905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Runs firmware, owns the bus</a:t>
            </a:r>
          </a:p>
        </p:txBody>
      </p:sp>
      <p:sp>
        <p:nvSpPr>
          <p:cNvPr id="13" name="">
            <a:extLst xmlns:a="http://schemas.openxmlformats.org/drawingml/2006/main">
              <a:ext uri="{FF2B5EF4-FFF2-40B4-BE49-F238E27FC236}">
                <a16:creationId xmlns:a16="http://schemas.microsoft.com/office/drawing/2014/main" id="{5A88D64E-B786-457E-AE6F-F62943F7BC67}"/>
              </a:ext>
            </a:extLst>
          </p:cNvPr>
          <p:cNvSpPr>
            <a:spLocks xmlns:a="http://schemas.openxmlformats.org/drawingml/2006/main" noGrp="1"/>
          </p:cNvSpPr>
          <p:nvPr/>
        </p:nvSpPr>
        <p:spPr>
          <a:xfrm xmlns:a="http://schemas.openxmlformats.org/drawingml/2006/main">
            <a:off x="29813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A4A70335-6CC7-4B33-AD78-8B33672C612D}"/>
              </a:ext>
            </a:extLst>
          </p:cNvPr>
          <p:cNvSpPr>
            <a:spLocks xmlns:a="http://schemas.openxmlformats.org/drawingml/2006/main" noGrp="1"/>
          </p:cNvSpPr>
          <p:nvPr/>
        </p:nvSpPr>
        <p:spPr>
          <a:xfrm xmlns:a="http://schemas.openxmlformats.org/drawingml/2006/main">
            <a:off x="34099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44742AEC-5680-47D5-9502-05D1A0651445}"/>
              </a:ext>
            </a:extLst>
          </p:cNvPr>
          <p:cNvSpPr>
            <a:spLocks xmlns:a="http://schemas.openxmlformats.org/drawingml/2006/main" noGrp="1"/>
          </p:cNvSpPr>
          <p:nvPr/>
        </p:nvSpPr>
        <p:spPr>
          <a:xfrm xmlns:a="http://schemas.openxmlformats.org/drawingml/2006/main">
            <a:off x="340995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E46E2A2-DC8F-4D9B-A8C0-9EF8019F8F7C}"/>
              </a:ext>
            </a:extLst>
          </p:cNvPr>
          <p:cNvSpPr>
            <a:spLocks xmlns:a="http://schemas.openxmlformats.org/drawingml/2006/main" noGrp="1"/>
          </p:cNvSpPr>
          <p:nvPr/>
        </p:nvSpPr>
        <p:spPr>
          <a:xfrm xmlns:a="http://schemas.openxmlformats.org/drawingml/2006/main">
            <a:off x="35433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Two-cycle delay</a:t>
            </a:r>
          </a:p>
        </p:txBody>
      </p:sp>
      <p:sp>
        <p:nvSpPr>
          <p:cNvPr id="17" name="">
            <a:extLst xmlns:a="http://schemas.openxmlformats.org/drawingml/2006/main">
              <a:ext uri="{FF2B5EF4-FFF2-40B4-BE49-F238E27FC236}">
                <a16:creationId xmlns:a16="http://schemas.microsoft.com/office/drawing/2014/main" id="{5548019C-C62B-48AF-9DAF-FBE644E90C07}"/>
              </a:ext>
            </a:extLst>
          </p:cNvPr>
          <p:cNvSpPr>
            <a:spLocks xmlns:a="http://schemas.openxmlformats.org/drawingml/2006/main" noGrp="1"/>
          </p:cNvSpPr>
          <p:nvPr/>
        </p:nvSpPr>
        <p:spPr>
          <a:xfrm xmlns:a="http://schemas.openxmlformats.org/drawingml/2006/main">
            <a:off x="35433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Inputs and bus responses mirrored</a:t>
            </a:r>
          </a:p>
        </p:txBody>
      </p:sp>
      <p:sp>
        <p:nvSpPr>
          <p:cNvPr id="18" name="">
            <a:extLst xmlns:a="http://schemas.openxmlformats.org/drawingml/2006/main">
              <a:ext uri="{FF2B5EF4-FFF2-40B4-BE49-F238E27FC236}">
                <a16:creationId xmlns:a16="http://schemas.microsoft.com/office/drawing/2014/main" id="{8AFA6063-94E0-4197-8728-50A3EBC3D0B9}"/>
              </a:ext>
            </a:extLst>
          </p:cNvPr>
          <p:cNvSpPr>
            <a:spLocks xmlns:a="http://schemas.openxmlformats.org/drawingml/2006/main" noGrp="1"/>
          </p:cNvSpPr>
          <p:nvPr/>
        </p:nvSpPr>
        <p:spPr>
          <a:xfrm xmlns:a="http://schemas.openxmlformats.org/drawingml/2006/main">
            <a:off x="59340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29479934-D3F0-40DB-8E60-0E3CD19D374C}"/>
              </a:ext>
            </a:extLst>
          </p:cNvPr>
          <p:cNvSpPr>
            <a:spLocks xmlns:a="http://schemas.openxmlformats.org/drawingml/2006/main" noGrp="1"/>
          </p:cNvSpPr>
          <p:nvPr/>
        </p:nvSpPr>
        <p:spPr>
          <a:xfrm xmlns:a="http://schemas.openxmlformats.org/drawingml/2006/main">
            <a:off x="63627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0" name="">
            <a:extLst xmlns:a="http://schemas.openxmlformats.org/drawingml/2006/main">
              <a:ext uri="{FF2B5EF4-FFF2-40B4-BE49-F238E27FC236}">
                <a16:creationId xmlns:a16="http://schemas.microsoft.com/office/drawing/2014/main" id="{7C3F152B-9F2F-4193-A3B3-35D4CA012701}"/>
              </a:ext>
            </a:extLst>
          </p:cNvPr>
          <p:cNvSpPr>
            <a:spLocks xmlns:a="http://schemas.openxmlformats.org/drawingml/2006/main" noGrp="1"/>
          </p:cNvSpPr>
          <p:nvPr/>
        </p:nvSpPr>
        <p:spPr>
          <a:xfrm xmlns:a="http://schemas.openxmlformats.org/drawingml/2006/main">
            <a:off x="6362700" y="169545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B871B4C-D036-4043-8D7D-731D3FA11582}"/>
              </a:ext>
            </a:extLst>
          </p:cNvPr>
          <p:cNvSpPr>
            <a:spLocks xmlns:a="http://schemas.openxmlformats.org/drawingml/2006/main" noGrp="1"/>
          </p:cNvSpPr>
          <p:nvPr/>
        </p:nvSpPr>
        <p:spPr>
          <a:xfrm xmlns:a="http://schemas.openxmlformats.org/drawingml/2006/main">
            <a:off x="64960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CHECKER</a:t>
            </a:r>
          </a:p>
        </p:txBody>
      </p:sp>
      <p:sp>
        <p:nvSpPr>
          <p:cNvPr id="22" name="">
            <a:extLst xmlns:a="http://schemas.openxmlformats.org/drawingml/2006/main">
              <a:ext uri="{FF2B5EF4-FFF2-40B4-BE49-F238E27FC236}">
                <a16:creationId xmlns:a16="http://schemas.microsoft.com/office/drawing/2014/main" id="{5CC20D15-5D61-448A-B720-BFB2FA458B04}"/>
              </a:ext>
            </a:extLst>
          </p:cNvPr>
          <p:cNvSpPr>
            <a:spLocks xmlns:a="http://schemas.openxmlformats.org/drawingml/2006/main" noGrp="1"/>
          </p:cNvSpPr>
          <p:nvPr/>
        </p:nvSpPr>
        <p:spPr>
          <a:xfrm xmlns:a="http://schemas.openxmlformats.org/drawingml/2006/main">
            <a:off x="64960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Replays the same work</a:t>
            </a:r>
          </a:p>
        </p:txBody>
      </p:sp>
      <p:sp>
        <p:nvSpPr>
          <p:cNvPr id="23" name="">
            <a:extLst xmlns:a="http://schemas.openxmlformats.org/drawingml/2006/main">
              <a:ext uri="{FF2B5EF4-FFF2-40B4-BE49-F238E27FC236}">
                <a16:creationId xmlns:a16="http://schemas.microsoft.com/office/drawing/2014/main" id="{B80AA10F-5B27-4EE5-AE68-D2CE527412E7}"/>
              </a:ext>
            </a:extLst>
          </p:cNvPr>
          <p:cNvSpPr>
            <a:spLocks xmlns:a="http://schemas.openxmlformats.org/drawingml/2006/main" noGrp="1"/>
          </p:cNvSpPr>
          <p:nvPr/>
        </p:nvSpPr>
        <p:spPr>
          <a:xfrm xmlns:a="http://schemas.openxmlformats.org/drawingml/2006/main">
            <a:off x="88868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F1E3EB35-6E04-493A-9819-2F1D5269D914}"/>
              </a:ext>
            </a:extLst>
          </p:cNvPr>
          <p:cNvSpPr>
            <a:spLocks xmlns:a="http://schemas.openxmlformats.org/drawingml/2006/main" noGrp="1"/>
          </p:cNvSpPr>
          <p:nvPr/>
        </p:nvSpPr>
        <p:spPr>
          <a:xfrm xmlns:a="http://schemas.openxmlformats.org/drawingml/2006/main">
            <a:off x="93154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B42318"/>
            </a:solidFill>
            <a:prstDash val="solid"/>
          </a:ln>
        </p:spPr>
      </p:sp>
      <p:sp>
        <p:nvSpPr>
          <p:cNvPr id="25" name="">
            <a:extLst xmlns:a="http://schemas.openxmlformats.org/drawingml/2006/main">
              <a:ext uri="{FF2B5EF4-FFF2-40B4-BE49-F238E27FC236}">
                <a16:creationId xmlns:a16="http://schemas.microsoft.com/office/drawing/2014/main" id="{F33C5CC0-A52A-4AD5-A2E5-610C73151C7F}"/>
              </a:ext>
            </a:extLst>
          </p:cNvPr>
          <p:cNvSpPr>
            <a:spLocks xmlns:a="http://schemas.openxmlformats.org/drawingml/2006/main" noGrp="1"/>
          </p:cNvSpPr>
          <p:nvPr/>
        </p:nvSpPr>
        <p:spPr>
          <a:xfrm xmlns:a="http://schemas.openxmlformats.org/drawingml/2006/main">
            <a:off x="9315450" y="1695450"/>
            <a:ext cx="2419350" cy="47625"/>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9119046-F43D-4EFE-A3E0-55D5CA256B08}"/>
              </a:ext>
            </a:extLst>
          </p:cNvPr>
          <p:cNvSpPr>
            <a:spLocks xmlns:a="http://schemas.openxmlformats.org/drawingml/2006/main" noGrp="1"/>
          </p:cNvSpPr>
          <p:nvPr/>
        </p:nvSpPr>
        <p:spPr>
          <a:xfrm xmlns:a="http://schemas.openxmlformats.org/drawingml/2006/main">
            <a:off x="94488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Compare stores</a:t>
            </a:r>
          </a:p>
        </p:txBody>
      </p:sp>
      <p:sp>
        <p:nvSpPr>
          <p:cNvPr id="27" name="">
            <a:extLst xmlns:a="http://schemas.openxmlformats.org/drawingml/2006/main">
              <a:ext uri="{FF2B5EF4-FFF2-40B4-BE49-F238E27FC236}">
                <a16:creationId xmlns:a16="http://schemas.microsoft.com/office/drawing/2014/main" id="{AA4C8356-F199-4BE8-9381-64EAADB49903}"/>
              </a:ext>
            </a:extLst>
          </p:cNvPr>
          <p:cNvSpPr>
            <a:spLocks xmlns:a="http://schemas.openxmlformats.org/drawingml/2006/main" noGrp="1"/>
          </p:cNvSpPr>
          <p:nvPr/>
        </p:nvSpPr>
        <p:spPr>
          <a:xfrm xmlns:a="http://schemas.openxmlformats.org/drawingml/2006/main">
            <a:off x="94488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 mismatch sets a sticky fault</a:t>
            </a:r>
          </a:p>
        </p:txBody>
      </p:sp>
      <p:sp>
        <p:nvSpPr>
          <p:cNvPr id="28" name="">
            <a:extLst xmlns:a="http://schemas.openxmlformats.org/drawingml/2006/main">
              <a:ext uri="{FF2B5EF4-FFF2-40B4-BE49-F238E27FC236}">
                <a16:creationId xmlns:a16="http://schemas.microsoft.com/office/drawing/2014/main" id="{93B5FF56-6648-4FFB-AEF7-A7DD975AE900}"/>
              </a:ext>
            </a:extLst>
          </p:cNvPr>
          <p:cNvSpPr>
            <a:spLocks xmlns:a="http://schemas.openxmlformats.org/drawingml/2006/main" noGrp="1"/>
          </p:cNvSpPr>
          <p:nvPr/>
        </p:nvSpPr>
        <p:spPr>
          <a:xfrm xmlns:a="http://schemas.openxmlformats.org/drawingml/2006/main">
            <a:off x="457200" y="3143250"/>
            <a:ext cx="35814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77734C92-6CCC-409D-A8C3-B3CC93072CE7}"/>
              </a:ext>
            </a:extLst>
          </p:cNvPr>
          <p:cNvSpPr>
            <a:spLocks xmlns:a="http://schemas.openxmlformats.org/drawingml/2006/main" noGrp="1"/>
          </p:cNvSpPr>
          <p:nvPr/>
        </p:nvSpPr>
        <p:spPr>
          <a:xfrm xmlns:a="http://schemas.openxmlformats.org/drawingml/2006/main">
            <a:off x="457200" y="3143250"/>
            <a:ext cx="57150" cy="14954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5304F49-E63F-4CA0-8B12-3EA4D5BB6113}"/>
              </a:ext>
            </a:extLst>
          </p:cNvPr>
          <p:cNvSpPr>
            <a:spLocks xmlns:a="http://schemas.openxmlformats.org/drawingml/2006/main" noGrp="1"/>
          </p:cNvSpPr>
          <p:nvPr/>
        </p:nvSpPr>
        <p:spPr>
          <a:xfrm xmlns:a="http://schemas.openxmlformats.org/drawingml/2006/main">
            <a:off x="6858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Interrupts are safe</a:t>
            </a:r>
          </a:p>
        </p:txBody>
      </p:sp>
      <p:sp>
        <p:nvSpPr>
          <p:cNvPr id="31" name="">
            <a:extLst xmlns:a="http://schemas.openxmlformats.org/drawingml/2006/main">
              <a:ext uri="{FF2B5EF4-FFF2-40B4-BE49-F238E27FC236}">
                <a16:creationId xmlns:a16="http://schemas.microsoft.com/office/drawing/2014/main" id="{35A2202C-EC74-4562-9F7C-5C2EE077C90C}"/>
              </a:ext>
            </a:extLst>
          </p:cNvPr>
          <p:cNvSpPr>
            <a:spLocks xmlns:a="http://schemas.openxmlformats.org/drawingml/2006/main" noGrp="1"/>
          </p:cNvSpPr>
          <p:nvPr/>
        </p:nvSpPr>
        <p:spPr>
          <a:xfrm xmlns:a="http://schemas.openxmlformats.org/drawingml/2006/main">
            <a:off x="685800" y="3695700"/>
            <a:ext cx="31242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One interrupt register feeds both cores, with the checker’s inputs delayed to match.</a:t>
            </a:r>
          </a:p>
        </p:txBody>
      </p:sp>
      <p:sp>
        <p:nvSpPr>
          <p:cNvPr id="32" name="">
            <a:extLst xmlns:a="http://schemas.openxmlformats.org/drawingml/2006/main">
              <a:ext uri="{FF2B5EF4-FFF2-40B4-BE49-F238E27FC236}">
                <a16:creationId xmlns:a16="http://schemas.microsoft.com/office/drawing/2014/main" id="{6B537809-A0DC-4665-BCE1-18DAC94867FD}"/>
              </a:ext>
            </a:extLst>
          </p:cNvPr>
          <p:cNvSpPr>
            <a:spLocks xmlns:a="http://schemas.openxmlformats.org/drawingml/2006/main" noGrp="1"/>
          </p:cNvSpPr>
          <p:nvPr/>
        </p:nvSpPr>
        <p:spPr>
          <a:xfrm xmlns:a="http://schemas.openxmlformats.org/drawingml/2006/main">
            <a:off x="4305300" y="3143250"/>
            <a:ext cx="35814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FEF07323-D57F-494E-BD4E-E9700CC55722}"/>
              </a:ext>
            </a:extLst>
          </p:cNvPr>
          <p:cNvSpPr>
            <a:spLocks xmlns:a="http://schemas.openxmlformats.org/drawingml/2006/main" noGrp="1"/>
          </p:cNvSpPr>
          <p:nvPr/>
        </p:nvSpPr>
        <p:spPr>
          <a:xfrm xmlns:a="http://schemas.openxmlformats.org/drawingml/2006/main">
            <a:off x="4305300" y="314325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8B603C6-9D0B-4D18-8457-86124CFDE6EF}"/>
              </a:ext>
            </a:extLst>
          </p:cNvPr>
          <p:cNvSpPr>
            <a:spLocks xmlns:a="http://schemas.openxmlformats.org/drawingml/2006/main" noGrp="1"/>
          </p:cNvSpPr>
          <p:nvPr/>
        </p:nvSpPr>
        <p:spPr>
          <a:xfrm xmlns:a="http://schemas.openxmlformats.org/drawingml/2006/main">
            <a:off x="45339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Peripheral reads are safe</a:t>
            </a:r>
          </a:p>
        </p:txBody>
      </p:sp>
      <p:sp>
        <p:nvSpPr>
          <p:cNvPr id="35" name="">
            <a:extLst xmlns:a="http://schemas.openxmlformats.org/drawingml/2006/main">
              <a:ext uri="{FF2B5EF4-FFF2-40B4-BE49-F238E27FC236}">
                <a16:creationId xmlns:a16="http://schemas.microsoft.com/office/drawing/2014/main" id="{354C1DA7-3DFC-456D-9C08-E474AC8E0DD1}"/>
              </a:ext>
            </a:extLst>
          </p:cNvPr>
          <p:cNvSpPr>
            <a:spLocks xmlns:a="http://schemas.openxmlformats.org/drawingml/2006/main" noGrp="1"/>
          </p:cNvSpPr>
          <p:nvPr/>
        </p:nvSpPr>
        <p:spPr>
          <a:xfrm xmlns:a="http://schemas.openxmlformats.org/drawingml/2006/main">
            <a:off x="4533900" y="3695700"/>
            <a:ext cx="31242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Firmware may branch on a peripheral read; the checker sees the same response.</a:t>
            </a:r>
          </a:p>
        </p:txBody>
      </p:sp>
      <p:sp>
        <p:nvSpPr>
          <p:cNvPr id="36" name="">
            <a:extLst xmlns:a="http://schemas.openxmlformats.org/drawingml/2006/main">
              <a:ext uri="{FF2B5EF4-FFF2-40B4-BE49-F238E27FC236}">
                <a16:creationId xmlns:a16="http://schemas.microsoft.com/office/drawing/2014/main" id="{6E96E9CB-DFDB-4C6F-BA75-91706FBD514D}"/>
              </a:ext>
            </a:extLst>
          </p:cNvPr>
          <p:cNvSpPr>
            <a:spLocks xmlns:a="http://schemas.openxmlformats.org/drawingml/2006/main" noGrp="1"/>
          </p:cNvSpPr>
          <p:nvPr/>
        </p:nvSpPr>
        <p:spPr>
          <a:xfrm xmlns:a="http://schemas.openxmlformats.org/drawingml/2006/main">
            <a:off x="8153400" y="31432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7" name="">
            <a:extLst xmlns:a="http://schemas.openxmlformats.org/drawingml/2006/main">
              <a:ext uri="{FF2B5EF4-FFF2-40B4-BE49-F238E27FC236}">
                <a16:creationId xmlns:a16="http://schemas.microsoft.com/office/drawing/2014/main" id="{7F22D439-FF4B-4350-A778-4F5C19CB167F}"/>
              </a:ext>
            </a:extLst>
          </p:cNvPr>
          <p:cNvSpPr>
            <a:spLocks xmlns:a="http://schemas.openxmlformats.org/drawingml/2006/main" noGrp="1"/>
          </p:cNvSpPr>
          <p:nvPr/>
        </p:nvSpPr>
        <p:spPr>
          <a:xfrm xmlns:a="http://schemas.openxmlformats.org/drawingml/2006/main">
            <a:off x="8153400" y="31432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7CE7672-C570-43BD-8DFA-3C20936C231B}"/>
              </a:ext>
            </a:extLst>
          </p:cNvPr>
          <p:cNvSpPr>
            <a:spLocks xmlns:a="http://schemas.openxmlformats.org/drawingml/2006/main" noGrp="1"/>
          </p:cNvSpPr>
          <p:nvPr/>
        </p:nvSpPr>
        <p:spPr>
          <a:xfrm xmlns:a="http://schemas.openxmlformats.org/drawingml/2006/main">
            <a:off x="83820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Verified in simulation</a:t>
            </a:r>
          </a:p>
        </p:txBody>
      </p:sp>
      <p:sp>
        <p:nvSpPr>
          <p:cNvPr id="39" name="">
            <a:extLst xmlns:a="http://schemas.openxmlformats.org/drawingml/2006/main">
              <a:ext uri="{FF2B5EF4-FFF2-40B4-BE49-F238E27FC236}">
                <a16:creationId xmlns:a16="http://schemas.microsoft.com/office/drawing/2014/main" id="{FD54EFE3-66A6-4FDF-A150-09C8681448BD}"/>
              </a:ext>
            </a:extLst>
          </p:cNvPr>
          <p:cNvSpPr>
            <a:spLocks xmlns:a="http://schemas.openxmlformats.org/drawingml/2006/main" noGrp="1"/>
          </p:cNvSpPr>
          <p:nvPr/>
        </p:nvSpPr>
        <p:spPr>
          <a:xfrm xmlns:a="http://schemas.openxmlformats.org/drawingml/2006/main">
            <a:off x="8382000" y="36957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lockstep pair is verified under interrupts in simulation.</a:t>
            </a:r>
          </a:p>
        </p:txBody>
      </p:sp>
      <p:sp>
        <p:nvSpPr>
          <p:cNvPr id="40" name="">
            <a:extLst xmlns:a="http://schemas.openxmlformats.org/drawingml/2006/main">
              <a:ext uri="{FF2B5EF4-FFF2-40B4-BE49-F238E27FC236}">
                <a16:creationId xmlns:a16="http://schemas.microsoft.com/office/drawing/2014/main" id="{05EA2FFA-00B0-428D-B534-F33DD24441D1}"/>
              </a:ext>
            </a:extLst>
          </p:cNvPr>
          <p:cNvSpPr>
            <a:spLocks xmlns:a="http://schemas.openxmlformats.org/drawingml/2006/main" noGrp="1"/>
          </p:cNvSpPr>
          <p:nvPr/>
        </p:nvSpPr>
        <p:spPr>
          <a:xfrm xmlns:a="http://schemas.openxmlformats.org/drawingml/2006/main">
            <a:off x="457200" y="5334000"/>
            <a:ext cx="112776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A mismatch drives the FAULTn pad, so the fault reaches the board without firmware.</a:t>
            </a:r>
          </a:p>
        </p:txBody>
      </p:sp>
      <p:sp>
        <p:nvSpPr>
          <p:cNvPr id="41" name="">
            <a:extLst xmlns:a="http://schemas.openxmlformats.org/drawingml/2006/main">
              <a:ext uri="{FF2B5EF4-FFF2-40B4-BE49-F238E27FC236}">
                <a16:creationId xmlns:a16="http://schemas.microsoft.com/office/drawing/2014/main" id="{3FECD52D-6ED6-44DD-A4E1-F59DE811B948}"/>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dual-core lockstep.</a:t>
            </a:r>
          </a:p>
        </p:txBody>
      </p:sp>
    </p:spTree>
    <p:extLst>
      <p:ext uri="{BB962C8B-B14F-4D97-AF65-F5344CB8AC3E}">
        <p14:creationId xmlns:p14="http://schemas.microsoft.com/office/powerpoint/2010/main" val="74860995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02CBA9F-487D-49F9-9BC3-A6C3D20F0E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A0AA924-74E5-4EAA-BE48-3F993A7F9D2F}"/>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05 · MEMORY AND FETCH</a:t>
            </a:r>
          </a:p>
        </p:txBody>
      </p:sp>
      <p:sp>
        <p:nvSpPr>
          <p:cNvPr id="3" name="">
            <a:extLst xmlns:a="http://schemas.openxmlformats.org/drawingml/2006/main">
              <a:ext uri="{FF2B5EF4-FFF2-40B4-BE49-F238E27FC236}">
                <a16:creationId xmlns:a16="http://schemas.microsoft.com/office/drawing/2014/main" id="{B2D8F589-0231-4F2B-B9F7-33FE875A4680}"/>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Code runs from SRAM through a dedicated fetch port</a:t>
            </a:r>
          </a:p>
        </p:txBody>
      </p:sp>
      <p:sp>
        <p:nvSpPr>
          <p:cNvPr id="4" name="">
            <a:extLst xmlns:a="http://schemas.openxmlformats.org/drawingml/2006/main">
              <a:ext uri="{FF2B5EF4-FFF2-40B4-BE49-F238E27FC236}">
                <a16:creationId xmlns:a16="http://schemas.microsoft.com/office/drawing/2014/main" id="{7F06FCFB-2E00-4ACC-83A8-7DE96461A961}"/>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fetch path is separate from the data bus, so fetch never waits on data traffic</a:t>
            </a:r>
          </a:p>
        </p:txBody>
      </p:sp>
      <p:sp>
        <p:nvSpPr>
          <p:cNvPr id="5" name="">
            <a:extLst xmlns:a="http://schemas.openxmlformats.org/drawingml/2006/main">
              <a:ext uri="{FF2B5EF4-FFF2-40B4-BE49-F238E27FC236}">
                <a16:creationId xmlns:a16="http://schemas.microsoft.com/office/drawing/2014/main" id="{55FD81B5-4423-4820-9310-7C988F0EE8D9}"/>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4B9A2B7-3A58-4587-99D0-D91FD4C5516C}"/>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AB02C3B-E086-4D34-BCEE-DF51FBBCE8C4}"/>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2DB9C14E-3E25-43A5-82B5-67B01885B04D}"/>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05</a:t>
            </a:r>
          </a:p>
        </p:txBody>
      </p:sp>
      <p:sp>
        <p:nvSpPr>
          <p:cNvPr id="9" name="">
            <a:extLst xmlns:a="http://schemas.openxmlformats.org/drawingml/2006/main">
              <a:ext uri="{FF2B5EF4-FFF2-40B4-BE49-F238E27FC236}">
                <a16:creationId xmlns:a16="http://schemas.microsoft.com/office/drawing/2014/main" id="{B4743CCC-77B0-46E8-BE18-AA536CF481CD}"/>
              </a:ext>
            </a:extLst>
          </p:cNvPr>
          <p:cNvSpPr>
            <a:spLocks xmlns:a="http://schemas.openxmlformats.org/drawingml/2006/main" noGrp="1"/>
          </p:cNvSpPr>
          <p:nvPr/>
        </p:nvSpPr>
        <p:spPr>
          <a:xfrm xmlns:a="http://schemas.openxmlformats.org/drawingml/2006/main">
            <a:off x="457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584805F7-A50A-4AB3-B8AF-AD27ABCA097F}"/>
              </a:ext>
            </a:extLst>
          </p:cNvPr>
          <p:cNvSpPr>
            <a:spLocks xmlns:a="http://schemas.openxmlformats.org/drawingml/2006/main" noGrp="1"/>
          </p:cNvSpPr>
          <p:nvPr/>
        </p:nvSpPr>
        <p:spPr>
          <a:xfrm xmlns:a="http://schemas.openxmlformats.org/drawingml/2006/main">
            <a:off x="457200" y="1695450"/>
            <a:ext cx="34036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0C92D1F-9E9D-47F8-98A1-B0209751C98D}"/>
              </a:ext>
            </a:extLst>
          </p:cNvPr>
          <p:cNvSpPr>
            <a:spLocks xmlns:a="http://schemas.openxmlformats.org/drawingml/2006/main" noGrp="1"/>
          </p:cNvSpPr>
          <p:nvPr/>
        </p:nvSpPr>
        <p:spPr>
          <a:xfrm xmlns:a="http://schemas.openxmlformats.org/drawingml/2006/main">
            <a:off x="590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Fetch decoder</a:t>
            </a:r>
          </a:p>
        </p:txBody>
      </p:sp>
      <p:sp>
        <p:nvSpPr>
          <p:cNvPr id="12" name="">
            <a:extLst xmlns:a="http://schemas.openxmlformats.org/drawingml/2006/main">
              <a:ext uri="{FF2B5EF4-FFF2-40B4-BE49-F238E27FC236}">
                <a16:creationId xmlns:a16="http://schemas.microsoft.com/office/drawing/2014/main" id="{BC235C52-4207-474E-A251-791008FEACEC}"/>
              </a:ext>
            </a:extLst>
          </p:cNvPr>
          <p:cNvSpPr>
            <a:spLocks xmlns:a="http://schemas.openxmlformats.org/drawingml/2006/main" noGrp="1"/>
          </p:cNvSpPr>
          <p:nvPr/>
        </p:nvSpPr>
        <p:spPr>
          <a:xfrm xmlns:a="http://schemas.openxmlformats.org/drawingml/2006/main">
            <a:off x="590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Routes each fetch by region</a:t>
            </a:r>
          </a:p>
        </p:txBody>
      </p:sp>
      <p:sp>
        <p:nvSpPr>
          <p:cNvPr id="13" name="">
            <a:extLst xmlns:a="http://schemas.openxmlformats.org/drawingml/2006/main">
              <a:ext uri="{FF2B5EF4-FFF2-40B4-BE49-F238E27FC236}">
                <a16:creationId xmlns:a16="http://schemas.microsoft.com/office/drawing/2014/main" id="{F53E66C6-86CC-4BC6-A98F-1A8527053113}"/>
              </a:ext>
            </a:extLst>
          </p:cNvPr>
          <p:cNvSpPr>
            <a:spLocks xmlns:a="http://schemas.openxmlformats.org/drawingml/2006/main" noGrp="1"/>
          </p:cNvSpPr>
          <p:nvPr/>
        </p:nvSpPr>
        <p:spPr>
          <a:xfrm xmlns:a="http://schemas.openxmlformats.org/drawingml/2006/main">
            <a:off x="3965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36ADBFF9-E4BC-49B8-949F-BE815CAB2B5B}"/>
              </a:ext>
            </a:extLst>
          </p:cNvPr>
          <p:cNvSpPr>
            <a:spLocks xmlns:a="http://schemas.openxmlformats.org/drawingml/2006/main" noGrp="1"/>
          </p:cNvSpPr>
          <p:nvPr/>
        </p:nvSpPr>
        <p:spPr>
          <a:xfrm xmlns:a="http://schemas.openxmlformats.org/drawingml/2006/main">
            <a:off x="4394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1CAA3CB4-BA60-4535-B8E9-2D1818C52F43}"/>
              </a:ext>
            </a:extLst>
          </p:cNvPr>
          <p:cNvSpPr>
            <a:spLocks xmlns:a="http://schemas.openxmlformats.org/drawingml/2006/main" noGrp="1"/>
          </p:cNvSpPr>
          <p:nvPr/>
        </p:nvSpPr>
        <p:spPr>
          <a:xfrm xmlns:a="http://schemas.openxmlformats.org/drawingml/2006/main">
            <a:off x="4394200" y="16954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5222977-709C-4B0C-8616-D358A64DCE97}"/>
              </a:ext>
            </a:extLst>
          </p:cNvPr>
          <p:cNvSpPr>
            <a:spLocks xmlns:a="http://schemas.openxmlformats.org/drawingml/2006/main" noGrp="1"/>
          </p:cNvSpPr>
          <p:nvPr/>
        </p:nvSpPr>
        <p:spPr>
          <a:xfrm xmlns:a="http://schemas.openxmlformats.org/drawingml/2006/main">
            <a:off x="4527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ROM or SRAM</a:t>
            </a:r>
          </a:p>
        </p:txBody>
      </p:sp>
      <p:sp>
        <p:nvSpPr>
          <p:cNvPr id="17" name="">
            <a:extLst xmlns:a="http://schemas.openxmlformats.org/drawingml/2006/main">
              <a:ext uri="{FF2B5EF4-FFF2-40B4-BE49-F238E27FC236}">
                <a16:creationId xmlns:a16="http://schemas.microsoft.com/office/drawing/2014/main" id="{0119644A-4C1B-4DE7-957C-E7196338E64D}"/>
              </a:ext>
            </a:extLst>
          </p:cNvPr>
          <p:cNvSpPr>
            <a:spLocks xmlns:a="http://schemas.openxmlformats.org/drawingml/2006/main" noGrp="1"/>
          </p:cNvSpPr>
          <p:nvPr/>
        </p:nvSpPr>
        <p:spPr>
          <a:xfrm xmlns:a="http://schemas.openxmlformats.org/drawingml/2006/main">
            <a:off x="4527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Boot to ROM; application to SRAM port 1</a:t>
            </a:r>
          </a:p>
        </p:txBody>
      </p:sp>
      <p:sp>
        <p:nvSpPr>
          <p:cNvPr id="18" name="">
            <a:extLst xmlns:a="http://schemas.openxmlformats.org/drawingml/2006/main">
              <a:ext uri="{FF2B5EF4-FFF2-40B4-BE49-F238E27FC236}">
                <a16:creationId xmlns:a16="http://schemas.microsoft.com/office/drawing/2014/main" id="{5D383456-C08A-4CD6-9764-E76C209D8C81}"/>
              </a:ext>
            </a:extLst>
          </p:cNvPr>
          <p:cNvSpPr>
            <a:spLocks xmlns:a="http://schemas.openxmlformats.org/drawingml/2006/main" noGrp="1"/>
          </p:cNvSpPr>
          <p:nvPr/>
        </p:nvSpPr>
        <p:spPr>
          <a:xfrm xmlns:a="http://schemas.openxmlformats.org/drawingml/2006/main">
            <a:off x="7902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53F10321-6873-4E11-98FD-675AEB0CDA99}"/>
              </a:ext>
            </a:extLst>
          </p:cNvPr>
          <p:cNvSpPr>
            <a:spLocks xmlns:a="http://schemas.openxmlformats.org/drawingml/2006/main" noGrp="1"/>
          </p:cNvSpPr>
          <p:nvPr/>
        </p:nvSpPr>
        <p:spPr>
          <a:xfrm xmlns:a="http://schemas.openxmlformats.org/drawingml/2006/main">
            <a:off x="8331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B42318"/>
            </a:solidFill>
            <a:prstDash val="solid"/>
          </a:ln>
        </p:spPr>
      </p:sp>
      <p:sp>
        <p:nvSpPr>
          <p:cNvPr id="20" name="">
            <a:extLst xmlns:a="http://schemas.openxmlformats.org/drawingml/2006/main">
              <a:ext uri="{FF2B5EF4-FFF2-40B4-BE49-F238E27FC236}">
                <a16:creationId xmlns:a16="http://schemas.microsoft.com/office/drawing/2014/main" id="{40ABA13D-752D-4373-AC31-462596006556}"/>
              </a:ext>
            </a:extLst>
          </p:cNvPr>
          <p:cNvSpPr>
            <a:spLocks xmlns:a="http://schemas.openxmlformats.org/drawingml/2006/main" noGrp="1"/>
          </p:cNvSpPr>
          <p:nvPr/>
        </p:nvSpPr>
        <p:spPr>
          <a:xfrm xmlns:a="http://schemas.openxmlformats.org/drawingml/2006/main">
            <a:off x="8331200" y="1695450"/>
            <a:ext cx="3403600" cy="47625"/>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F74E0BF-B58D-40A6-9786-E9F47EC869E2}"/>
              </a:ext>
            </a:extLst>
          </p:cNvPr>
          <p:cNvSpPr>
            <a:spLocks xmlns:a="http://schemas.openxmlformats.org/drawingml/2006/main" noGrp="1"/>
          </p:cNvSpPr>
          <p:nvPr/>
        </p:nvSpPr>
        <p:spPr>
          <a:xfrm xmlns:a="http://schemas.openxmlformats.org/drawingml/2006/main">
            <a:off x="8464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Anything else</a:t>
            </a:r>
          </a:p>
        </p:txBody>
      </p:sp>
      <p:sp>
        <p:nvSpPr>
          <p:cNvPr id="22" name="">
            <a:extLst xmlns:a="http://schemas.openxmlformats.org/drawingml/2006/main">
              <a:ext uri="{FF2B5EF4-FFF2-40B4-BE49-F238E27FC236}">
                <a16:creationId xmlns:a16="http://schemas.microsoft.com/office/drawing/2014/main" id="{1C30986B-DFF9-41A5-817A-30286EB6E9B6}"/>
              </a:ext>
            </a:extLst>
          </p:cNvPr>
          <p:cNvSpPr>
            <a:spLocks xmlns:a="http://schemas.openxmlformats.org/drawingml/2006/main" noGrp="1"/>
          </p:cNvSpPr>
          <p:nvPr/>
        </p:nvSpPr>
        <p:spPr>
          <a:xfrm xmlns:a="http://schemas.openxmlformats.org/drawingml/2006/main">
            <a:off x="8464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Bus error, then instruction fault</a:t>
            </a:r>
          </a:p>
        </p:txBody>
      </p:sp>
      <p:sp>
        <p:nvSpPr>
          <p:cNvPr id="23" name="">
            <a:extLst xmlns:a="http://schemas.openxmlformats.org/drawingml/2006/main">
              <a:ext uri="{FF2B5EF4-FFF2-40B4-BE49-F238E27FC236}">
                <a16:creationId xmlns:a16="http://schemas.microsoft.com/office/drawing/2014/main" id="{6EC39D4F-B372-45B1-A993-B6A8B44299CF}"/>
              </a:ext>
            </a:extLst>
          </p:cNvPr>
          <p:cNvSpPr>
            <a:spLocks xmlns:a="http://schemas.openxmlformats.org/drawingml/2006/main" noGrp="1"/>
          </p:cNvSpPr>
          <p:nvPr/>
        </p:nvSpPr>
        <p:spPr>
          <a:xfrm xmlns:a="http://schemas.openxmlformats.org/drawingml/2006/main">
            <a:off x="457200" y="3143250"/>
            <a:ext cx="550545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24" name="">
            <a:extLst xmlns:a="http://schemas.openxmlformats.org/drawingml/2006/main">
              <a:ext uri="{FF2B5EF4-FFF2-40B4-BE49-F238E27FC236}">
                <a16:creationId xmlns:a16="http://schemas.microsoft.com/office/drawing/2014/main" id="{618A1D7B-B6E5-4FC9-924C-CD3FD464C17A}"/>
              </a:ext>
            </a:extLst>
          </p:cNvPr>
          <p:cNvSpPr>
            <a:spLocks xmlns:a="http://schemas.openxmlformats.org/drawingml/2006/main" noGrp="1"/>
          </p:cNvSpPr>
          <p:nvPr/>
        </p:nvSpPr>
        <p:spPr>
          <a:xfrm xmlns:a="http://schemas.openxmlformats.org/drawingml/2006/main">
            <a:off x="457200" y="314325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5F9D61F-BF42-42AB-8222-86E97185A79F}"/>
              </a:ext>
            </a:extLst>
          </p:cNvPr>
          <p:cNvSpPr>
            <a:spLocks xmlns:a="http://schemas.openxmlformats.org/drawingml/2006/main" noGrp="1"/>
          </p:cNvSpPr>
          <p:nvPr/>
        </p:nvSpPr>
        <p:spPr>
          <a:xfrm xmlns:a="http://schemas.openxmlformats.org/drawingml/2006/main">
            <a:off x="68580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Boot ROM</a:t>
            </a:r>
          </a:p>
        </p:txBody>
      </p:sp>
      <p:sp>
        <p:nvSpPr>
          <p:cNvPr id="26" name="">
            <a:extLst xmlns:a="http://schemas.openxmlformats.org/drawingml/2006/main">
              <a:ext uri="{FF2B5EF4-FFF2-40B4-BE49-F238E27FC236}">
                <a16:creationId xmlns:a16="http://schemas.microsoft.com/office/drawing/2014/main" id="{C3560E15-576C-4EF9-9708-00B84DF5ACC0}"/>
              </a:ext>
            </a:extLst>
          </p:cNvPr>
          <p:cNvSpPr>
            <a:spLocks xmlns:a="http://schemas.openxmlformats.org/drawingml/2006/main" noGrp="1"/>
          </p:cNvSpPr>
          <p:nvPr/>
        </p:nvSpPr>
        <p:spPr>
          <a:xfrm xmlns:a="http://schemas.openxmlformats.org/drawingml/2006/main">
            <a:off x="685800" y="3695700"/>
            <a:ext cx="504825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16,384 words of mask-programmed logic. Prints the banner, checks the flash header, copies the application and jumps.</a:t>
            </a:r>
          </a:p>
        </p:txBody>
      </p:sp>
      <p:sp>
        <p:nvSpPr>
          <p:cNvPr id="27" name="">
            <a:extLst xmlns:a="http://schemas.openxmlformats.org/drawingml/2006/main">
              <a:ext uri="{FF2B5EF4-FFF2-40B4-BE49-F238E27FC236}">
                <a16:creationId xmlns:a16="http://schemas.microsoft.com/office/drawing/2014/main" id="{7664F48F-6C46-457E-82A0-92946E294F65}"/>
              </a:ext>
            </a:extLst>
          </p:cNvPr>
          <p:cNvSpPr>
            <a:spLocks xmlns:a="http://schemas.openxmlformats.org/drawingml/2006/main" noGrp="1"/>
          </p:cNvSpPr>
          <p:nvPr/>
        </p:nvSpPr>
        <p:spPr>
          <a:xfrm xmlns:a="http://schemas.openxmlformats.org/drawingml/2006/main">
            <a:off x="622935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7B09B3C1-1DDB-4327-B829-D66861AA7D00}"/>
              </a:ext>
            </a:extLst>
          </p:cNvPr>
          <p:cNvSpPr>
            <a:spLocks xmlns:a="http://schemas.openxmlformats.org/drawingml/2006/main" noGrp="1"/>
          </p:cNvSpPr>
          <p:nvPr/>
        </p:nvSpPr>
        <p:spPr>
          <a:xfrm xmlns:a="http://schemas.openxmlformats.org/drawingml/2006/main">
            <a:off x="6229350" y="31432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380D936-4815-4668-B02B-FF1AAFF9DD78}"/>
              </a:ext>
            </a:extLst>
          </p:cNvPr>
          <p:cNvSpPr>
            <a:spLocks xmlns:a="http://schemas.openxmlformats.org/drawingml/2006/main" noGrp="1"/>
          </p:cNvSpPr>
          <p:nvPr/>
        </p:nvSpPr>
        <p:spPr>
          <a:xfrm xmlns:a="http://schemas.openxmlformats.org/drawingml/2006/main">
            <a:off x="645795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SRAM, 32 KB</a:t>
            </a:r>
          </a:p>
        </p:txBody>
      </p:sp>
      <p:sp>
        <p:nvSpPr>
          <p:cNvPr id="30" name="">
            <a:extLst xmlns:a="http://schemas.openxmlformats.org/drawingml/2006/main">
              <a:ext uri="{FF2B5EF4-FFF2-40B4-BE49-F238E27FC236}">
                <a16:creationId xmlns:a16="http://schemas.microsoft.com/office/drawing/2014/main" id="{67447541-A9BC-48EF-A71D-91B3454DFF1A}"/>
              </a:ext>
            </a:extLst>
          </p:cNvPr>
          <p:cNvSpPr>
            <a:spLocks xmlns:a="http://schemas.openxmlformats.org/drawingml/2006/main" noGrp="1"/>
          </p:cNvSpPr>
          <p:nvPr/>
        </p:nvSpPr>
        <p:spPr>
          <a:xfrm xmlns:a="http://schemas.openxmlformats.org/drawingml/2006/main">
            <a:off x="645795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16 × 2 KB dual-port macros: port 0 for CPU and DMA data, port 1 for instruction fetch.</a:t>
            </a:r>
          </a:p>
        </p:txBody>
      </p:sp>
      <p:sp>
        <p:nvSpPr>
          <p:cNvPr id="31" name="">
            <a:extLst xmlns:a="http://schemas.openxmlformats.org/drawingml/2006/main">
              <a:ext uri="{FF2B5EF4-FFF2-40B4-BE49-F238E27FC236}">
                <a16:creationId xmlns:a16="http://schemas.microsoft.com/office/drawing/2014/main" id="{89FC491A-B6B9-4E26-9167-D422ECCCF8FE}"/>
              </a:ext>
            </a:extLst>
          </p:cNvPr>
          <p:cNvSpPr>
            <a:spLocks xmlns:a="http://schemas.openxmlformats.org/drawingml/2006/main" noGrp="1"/>
          </p:cNvSpPr>
          <p:nvPr/>
        </p:nvSpPr>
        <p:spPr>
          <a:xfrm xmlns:a="http://schemas.openxmlformats.org/drawingml/2006/main">
            <a:off x="457200" y="4953000"/>
            <a:ext cx="112776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No valid flash header opens a UART monitor. The application installs its trap vector and enables interrupts.</a:t>
            </a:r>
          </a:p>
        </p:txBody>
      </p:sp>
      <p:sp>
        <p:nvSpPr>
          <p:cNvPr id="32" name="">
            <a:extLst xmlns:a="http://schemas.openxmlformats.org/drawingml/2006/main">
              <a:ext uri="{FF2B5EF4-FFF2-40B4-BE49-F238E27FC236}">
                <a16:creationId xmlns:a16="http://schemas.microsoft.com/office/drawing/2014/main" id="{937752EB-0C84-4F0E-8D5F-8D3707D30028}"/>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fetch decoder, boot ROM, SRAM and boot flow.</a:t>
            </a:r>
          </a:p>
        </p:txBody>
      </p:sp>
    </p:spTree>
    <p:extLst>
      <p:ext uri="{BB962C8B-B14F-4D97-AF65-F5344CB8AC3E}">
        <p14:creationId xmlns:p14="http://schemas.microsoft.com/office/powerpoint/2010/main" val="142334807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E87C0F73-0367-4947-BF05-4BB8DE508C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34B567-9729-4B97-ABB0-7FD9C22209F9}"/>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06 · ON-CHIP BUS</a:t>
            </a:r>
          </a:p>
        </p:txBody>
      </p:sp>
      <p:sp>
        <p:nvSpPr>
          <p:cNvPr id="3" name="">
            <a:extLst xmlns:a="http://schemas.openxmlformats.org/drawingml/2006/main">
              <a:ext uri="{FF2B5EF4-FFF2-40B4-BE49-F238E27FC236}">
                <a16:creationId xmlns:a16="http://schemas.microsoft.com/office/drawing/2014/main" id="{D1F47C1C-B998-430D-96EC-2B551C8C98BE}"/>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One requester at a time, and no access hangs</a:t>
            </a:r>
          </a:p>
        </p:txBody>
      </p:sp>
      <p:sp>
        <p:nvSpPr>
          <p:cNvPr id="4" name="">
            <a:extLst xmlns:a="http://schemas.openxmlformats.org/drawingml/2006/main">
              <a:ext uri="{FF2B5EF4-FFF2-40B4-BE49-F238E27FC236}">
                <a16:creationId xmlns:a16="http://schemas.microsoft.com/office/drawing/2014/main" id="{ED696EB2-2AF8-4015-83C4-3C370143C89C}"/>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An AXI-lite bus with two masters and an error slave for every unanswered address</a:t>
            </a:r>
          </a:p>
        </p:txBody>
      </p:sp>
      <p:sp>
        <p:nvSpPr>
          <p:cNvPr id="5" name="">
            <a:extLst xmlns:a="http://schemas.openxmlformats.org/drawingml/2006/main">
              <a:ext uri="{FF2B5EF4-FFF2-40B4-BE49-F238E27FC236}">
                <a16:creationId xmlns:a16="http://schemas.microsoft.com/office/drawing/2014/main" id="{D0CC2629-6B0E-45D9-A807-2BC26E8A3F68}"/>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E5FC1EA-0E6B-433C-9719-A0C094A114C1}"/>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6578C68-4DC1-4AAE-ABE9-126C15BC6068}"/>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48C2527E-6962-4B86-B77E-1A00B24740AB}"/>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06</a:t>
            </a:r>
          </a:p>
        </p:txBody>
      </p:sp>
      <p:sp>
        <p:nvSpPr>
          <p:cNvPr id="9" name="">
            <a:extLst xmlns:a="http://schemas.openxmlformats.org/drawingml/2006/main">
              <a:ext uri="{FF2B5EF4-FFF2-40B4-BE49-F238E27FC236}">
                <a16:creationId xmlns:a16="http://schemas.microsoft.com/office/drawing/2014/main" id="{B951DEF7-0748-4155-818D-E31DE0ABBDF7}"/>
              </a:ext>
            </a:extLst>
          </p:cNvPr>
          <p:cNvSpPr>
            <a:spLocks xmlns:a="http://schemas.openxmlformats.org/drawingml/2006/main" noGrp="1"/>
          </p:cNvSpPr>
          <p:nvPr/>
        </p:nvSpPr>
        <p:spPr>
          <a:xfrm xmlns:a="http://schemas.openxmlformats.org/drawingml/2006/main">
            <a:off x="4572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B420B4F2-5B7E-4093-8513-826865FC4B2B}"/>
              </a:ext>
            </a:extLst>
          </p:cNvPr>
          <p:cNvSpPr>
            <a:spLocks xmlns:a="http://schemas.openxmlformats.org/drawingml/2006/main" noGrp="1"/>
          </p:cNvSpPr>
          <p:nvPr/>
        </p:nvSpPr>
        <p:spPr>
          <a:xfrm xmlns:a="http://schemas.openxmlformats.org/drawingml/2006/main">
            <a:off x="457200" y="169545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C000D30-451C-406D-90E3-6D7CC5363070}"/>
              </a:ext>
            </a:extLst>
          </p:cNvPr>
          <p:cNvSpPr>
            <a:spLocks xmlns:a="http://schemas.openxmlformats.org/drawingml/2006/main" noGrp="1"/>
          </p:cNvSpPr>
          <p:nvPr/>
        </p:nvSpPr>
        <p:spPr>
          <a:xfrm xmlns:a="http://schemas.openxmlformats.org/drawingml/2006/main">
            <a:off x="5905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Two masters</a:t>
            </a:r>
          </a:p>
        </p:txBody>
      </p:sp>
      <p:sp>
        <p:nvSpPr>
          <p:cNvPr id="12" name="">
            <a:extLst xmlns:a="http://schemas.openxmlformats.org/drawingml/2006/main">
              <a:ext uri="{FF2B5EF4-FFF2-40B4-BE49-F238E27FC236}">
                <a16:creationId xmlns:a16="http://schemas.microsoft.com/office/drawing/2014/main" id="{CDABE479-6F2D-453D-AF1B-7274F248C90E}"/>
              </a:ext>
            </a:extLst>
          </p:cNvPr>
          <p:cNvSpPr>
            <a:spLocks xmlns:a="http://schemas.openxmlformats.org/drawingml/2006/main" noGrp="1"/>
          </p:cNvSpPr>
          <p:nvPr/>
        </p:nvSpPr>
        <p:spPr>
          <a:xfrm xmlns:a="http://schemas.openxmlformats.org/drawingml/2006/main">
            <a:off x="5905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CPU first, DMA second</a:t>
            </a:r>
          </a:p>
        </p:txBody>
      </p:sp>
      <p:sp>
        <p:nvSpPr>
          <p:cNvPr id="13" name="">
            <a:extLst xmlns:a="http://schemas.openxmlformats.org/drawingml/2006/main">
              <a:ext uri="{FF2B5EF4-FFF2-40B4-BE49-F238E27FC236}">
                <a16:creationId xmlns:a16="http://schemas.microsoft.com/office/drawing/2014/main" id="{95CEF463-23A5-431B-8003-EC1CCB46A789}"/>
              </a:ext>
            </a:extLst>
          </p:cNvPr>
          <p:cNvSpPr>
            <a:spLocks xmlns:a="http://schemas.openxmlformats.org/drawingml/2006/main" noGrp="1"/>
          </p:cNvSpPr>
          <p:nvPr/>
        </p:nvSpPr>
        <p:spPr>
          <a:xfrm xmlns:a="http://schemas.openxmlformats.org/drawingml/2006/main">
            <a:off x="29813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822A4347-8EA9-4881-B2B6-9BE7C73CDEB4}"/>
              </a:ext>
            </a:extLst>
          </p:cNvPr>
          <p:cNvSpPr>
            <a:spLocks xmlns:a="http://schemas.openxmlformats.org/drawingml/2006/main" noGrp="1"/>
          </p:cNvSpPr>
          <p:nvPr/>
        </p:nvSpPr>
        <p:spPr>
          <a:xfrm xmlns:a="http://schemas.openxmlformats.org/drawingml/2006/main">
            <a:off x="34099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A7FB73EB-B414-4E82-ADA7-7987BC41FE5C}"/>
              </a:ext>
            </a:extLst>
          </p:cNvPr>
          <p:cNvSpPr>
            <a:spLocks xmlns:a="http://schemas.openxmlformats.org/drawingml/2006/main" noGrp="1"/>
          </p:cNvSpPr>
          <p:nvPr/>
        </p:nvSpPr>
        <p:spPr>
          <a:xfrm xmlns:a="http://schemas.openxmlformats.org/drawingml/2006/main">
            <a:off x="340995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B24B5AF-89D7-46A2-BEC3-F1E9E32DB202}"/>
              </a:ext>
            </a:extLst>
          </p:cNvPr>
          <p:cNvSpPr>
            <a:spLocks xmlns:a="http://schemas.openxmlformats.org/drawingml/2006/main" noGrp="1"/>
          </p:cNvSpPr>
          <p:nvPr/>
        </p:nvSpPr>
        <p:spPr>
          <a:xfrm xmlns:a="http://schemas.openxmlformats.org/drawingml/2006/main">
            <a:off x="35433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Target latched</a:t>
            </a:r>
          </a:p>
        </p:txBody>
      </p:sp>
      <p:sp>
        <p:nvSpPr>
          <p:cNvPr id="17" name="">
            <a:extLst xmlns:a="http://schemas.openxmlformats.org/drawingml/2006/main">
              <a:ext uri="{FF2B5EF4-FFF2-40B4-BE49-F238E27FC236}">
                <a16:creationId xmlns:a16="http://schemas.microsoft.com/office/drawing/2014/main" id="{6CC84E6F-FE78-47B3-AD1A-452FFC0CD073}"/>
              </a:ext>
            </a:extLst>
          </p:cNvPr>
          <p:cNvSpPr>
            <a:spLocks xmlns:a="http://schemas.openxmlformats.org/drawingml/2006/main" noGrp="1"/>
          </p:cNvSpPr>
          <p:nvPr/>
        </p:nvSpPr>
        <p:spPr>
          <a:xfrm xmlns:a="http://schemas.openxmlformats.org/drawingml/2006/main">
            <a:off x="35433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Held from request to response</a:t>
            </a:r>
          </a:p>
        </p:txBody>
      </p:sp>
      <p:sp>
        <p:nvSpPr>
          <p:cNvPr id="18" name="">
            <a:extLst xmlns:a="http://schemas.openxmlformats.org/drawingml/2006/main">
              <a:ext uri="{FF2B5EF4-FFF2-40B4-BE49-F238E27FC236}">
                <a16:creationId xmlns:a16="http://schemas.microsoft.com/office/drawing/2014/main" id="{C52FA09E-875B-40A1-81E6-2DAAB8C92E99}"/>
              </a:ext>
            </a:extLst>
          </p:cNvPr>
          <p:cNvSpPr>
            <a:spLocks xmlns:a="http://schemas.openxmlformats.org/drawingml/2006/main" noGrp="1"/>
          </p:cNvSpPr>
          <p:nvPr/>
        </p:nvSpPr>
        <p:spPr>
          <a:xfrm xmlns:a="http://schemas.openxmlformats.org/drawingml/2006/main">
            <a:off x="59340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D1917973-2A60-41C3-9753-12F860D2DA63}"/>
              </a:ext>
            </a:extLst>
          </p:cNvPr>
          <p:cNvSpPr>
            <a:spLocks xmlns:a="http://schemas.openxmlformats.org/drawingml/2006/main" noGrp="1"/>
          </p:cNvSpPr>
          <p:nvPr/>
        </p:nvSpPr>
        <p:spPr>
          <a:xfrm xmlns:a="http://schemas.openxmlformats.org/drawingml/2006/main">
            <a:off x="63627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0" name="">
            <a:extLst xmlns:a="http://schemas.openxmlformats.org/drawingml/2006/main">
              <a:ext uri="{FF2B5EF4-FFF2-40B4-BE49-F238E27FC236}">
                <a16:creationId xmlns:a16="http://schemas.microsoft.com/office/drawing/2014/main" id="{2D7E8271-C8EC-41FC-A7AE-9FAFC62CED4E}"/>
              </a:ext>
            </a:extLst>
          </p:cNvPr>
          <p:cNvSpPr>
            <a:spLocks xmlns:a="http://schemas.openxmlformats.org/drawingml/2006/main" noGrp="1"/>
          </p:cNvSpPr>
          <p:nvPr/>
        </p:nvSpPr>
        <p:spPr>
          <a:xfrm xmlns:a="http://schemas.openxmlformats.org/drawingml/2006/main">
            <a:off x="636270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01BF20A-E302-4FFB-A78C-1BDA28DEC376}"/>
              </a:ext>
            </a:extLst>
          </p:cNvPr>
          <p:cNvSpPr>
            <a:spLocks xmlns:a="http://schemas.openxmlformats.org/drawingml/2006/main" noGrp="1"/>
          </p:cNvSpPr>
          <p:nvPr/>
        </p:nvSpPr>
        <p:spPr>
          <a:xfrm xmlns:a="http://schemas.openxmlformats.org/drawingml/2006/main">
            <a:off x="64960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32-bit slaves</a:t>
            </a:r>
          </a:p>
        </p:txBody>
      </p:sp>
      <p:sp>
        <p:nvSpPr>
          <p:cNvPr id="22" name="">
            <a:extLst xmlns:a="http://schemas.openxmlformats.org/drawingml/2006/main">
              <a:ext uri="{FF2B5EF4-FFF2-40B4-BE49-F238E27FC236}">
                <a16:creationId xmlns:a16="http://schemas.microsoft.com/office/drawing/2014/main" id="{E84E94BB-11D3-4463-909C-9DA05CF63B41}"/>
              </a:ext>
            </a:extLst>
          </p:cNvPr>
          <p:cNvSpPr>
            <a:spLocks xmlns:a="http://schemas.openxmlformats.org/drawingml/2006/main" noGrp="1"/>
          </p:cNvSpPr>
          <p:nvPr/>
        </p:nvSpPr>
        <p:spPr>
          <a:xfrm xmlns:a="http://schemas.openxmlformats.org/drawingml/2006/main">
            <a:off x="64960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Every block is a register slave</a:t>
            </a:r>
          </a:p>
        </p:txBody>
      </p:sp>
      <p:sp>
        <p:nvSpPr>
          <p:cNvPr id="23" name="">
            <a:extLst xmlns:a="http://schemas.openxmlformats.org/drawingml/2006/main">
              <a:ext uri="{FF2B5EF4-FFF2-40B4-BE49-F238E27FC236}">
                <a16:creationId xmlns:a16="http://schemas.microsoft.com/office/drawing/2014/main" id="{CE09C399-77C9-4DEE-B5F6-BC0B09A1E7BC}"/>
              </a:ext>
            </a:extLst>
          </p:cNvPr>
          <p:cNvSpPr>
            <a:spLocks xmlns:a="http://schemas.openxmlformats.org/drawingml/2006/main" noGrp="1"/>
          </p:cNvSpPr>
          <p:nvPr/>
        </p:nvSpPr>
        <p:spPr>
          <a:xfrm xmlns:a="http://schemas.openxmlformats.org/drawingml/2006/main">
            <a:off x="88868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AFC4D2FD-1E57-4A0B-9363-7C22839525BB}"/>
              </a:ext>
            </a:extLst>
          </p:cNvPr>
          <p:cNvSpPr>
            <a:spLocks xmlns:a="http://schemas.openxmlformats.org/drawingml/2006/main" noGrp="1"/>
          </p:cNvSpPr>
          <p:nvPr/>
        </p:nvSpPr>
        <p:spPr>
          <a:xfrm xmlns:a="http://schemas.openxmlformats.org/drawingml/2006/main">
            <a:off x="93154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B42318"/>
            </a:solidFill>
            <a:prstDash val="solid"/>
          </a:ln>
        </p:spPr>
      </p:sp>
      <p:sp>
        <p:nvSpPr>
          <p:cNvPr id="25" name="">
            <a:extLst xmlns:a="http://schemas.openxmlformats.org/drawingml/2006/main">
              <a:ext uri="{FF2B5EF4-FFF2-40B4-BE49-F238E27FC236}">
                <a16:creationId xmlns:a16="http://schemas.microsoft.com/office/drawing/2014/main" id="{18C6F97B-83DA-46C8-8B3D-251623DA28F0}"/>
              </a:ext>
            </a:extLst>
          </p:cNvPr>
          <p:cNvSpPr>
            <a:spLocks xmlns:a="http://schemas.openxmlformats.org/drawingml/2006/main" noGrp="1"/>
          </p:cNvSpPr>
          <p:nvPr/>
        </p:nvSpPr>
        <p:spPr>
          <a:xfrm xmlns:a="http://schemas.openxmlformats.org/drawingml/2006/main">
            <a:off x="9315450" y="1695450"/>
            <a:ext cx="2419350" cy="47625"/>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B05B059-15E5-4292-8C72-BF8D69EA56E9}"/>
              </a:ext>
            </a:extLst>
          </p:cNvPr>
          <p:cNvSpPr>
            <a:spLocks xmlns:a="http://schemas.openxmlformats.org/drawingml/2006/main" noGrp="1"/>
          </p:cNvSpPr>
          <p:nvPr/>
        </p:nvSpPr>
        <p:spPr>
          <a:xfrm xmlns:a="http://schemas.openxmlformats.org/drawingml/2006/main">
            <a:off x="94488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Error slave</a:t>
            </a:r>
          </a:p>
        </p:txBody>
      </p:sp>
      <p:sp>
        <p:nvSpPr>
          <p:cNvPr id="27" name="">
            <a:extLst xmlns:a="http://schemas.openxmlformats.org/drawingml/2006/main">
              <a:ext uri="{FF2B5EF4-FFF2-40B4-BE49-F238E27FC236}">
                <a16:creationId xmlns:a16="http://schemas.microsoft.com/office/drawing/2014/main" id="{FC2E260E-DC10-4A0F-BF74-7FC4813B3977}"/>
              </a:ext>
            </a:extLst>
          </p:cNvPr>
          <p:cNvSpPr>
            <a:spLocks xmlns:a="http://schemas.openxmlformats.org/drawingml/2006/main" noGrp="1"/>
          </p:cNvSpPr>
          <p:nvPr/>
        </p:nvSpPr>
        <p:spPr>
          <a:xfrm xmlns:a="http://schemas.openxmlformats.org/drawingml/2006/main">
            <a:off x="94488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Answers gated or undecoded slots</a:t>
            </a:r>
          </a:p>
        </p:txBody>
      </p:sp>
      <p:sp>
        <p:nvSpPr>
          <p:cNvPr id="28" name="">
            <a:extLst xmlns:a="http://schemas.openxmlformats.org/drawingml/2006/main">
              <a:ext uri="{FF2B5EF4-FFF2-40B4-BE49-F238E27FC236}">
                <a16:creationId xmlns:a16="http://schemas.microsoft.com/office/drawing/2014/main" id="{FDE2212C-E1CB-4A9C-A1D3-F5DC935FE33A}"/>
              </a:ext>
            </a:extLst>
          </p:cNvPr>
          <p:cNvSpPr>
            <a:spLocks xmlns:a="http://schemas.openxmlformats.org/drawingml/2006/main" noGrp="1"/>
          </p:cNvSpPr>
          <p:nvPr/>
        </p:nvSpPr>
        <p:spPr>
          <a:xfrm xmlns:a="http://schemas.openxmlformats.org/drawingml/2006/main">
            <a:off x="45720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D378532F-94BF-4D50-8864-6129FDF87BB7}"/>
              </a:ext>
            </a:extLst>
          </p:cNvPr>
          <p:cNvSpPr>
            <a:spLocks xmlns:a="http://schemas.openxmlformats.org/drawingml/2006/main" noGrp="1"/>
          </p:cNvSpPr>
          <p:nvPr/>
        </p:nvSpPr>
        <p:spPr>
          <a:xfrm xmlns:a="http://schemas.openxmlformats.org/drawingml/2006/main">
            <a:off x="457200" y="31432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C999DD0-4300-4A59-9169-7DC68ABB12FC}"/>
              </a:ext>
            </a:extLst>
          </p:cNvPr>
          <p:cNvSpPr>
            <a:spLocks xmlns:a="http://schemas.openxmlformats.org/drawingml/2006/main" noGrp="1"/>
          </p:cNvSpPr>
          <p:nvPr/>
        </p:nvSpPr>
        <p:spPr>
          <a:xfrm xmlns:a="http://schemas.openxmlformats.org/drawingml/2006/main">
            <a:off x="68580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Gated means absent</a:t>
            </a:r>
          </a:p>
        </p:txBody>
      </p:sp>
      <p:sp>
        <p:nvSpPr>
          <p:cNvPr id="31" name="">
            <a:extLst xmlns:a="http://schemas.openxmlformats.org/drawingml/2006/main">
              <a:ext uri="{FF2B5EF4-FFF2-40B4-BE49-F238E27FC236}">
                <a16:creationId xmlns:a16="http://schemas.microsoft.com/office/drawing/2014/main" id="{2A650A3C-F51D-4202-9E60-D08528D8F71E}"/>
              </a:ext>
            </a:extLst>
          </p:cNvPr>
          <p:cNvSpPr>
            <a:spLocks xmlns:a="http://schemas.openxmlformats.org/drawingml/2006/main" noGrp="1"/>
          </p:cNvSpPr>
          <p:nvPr/>
        </p:nvSpPr>
        <p:spPr>
          <a:xfrm xmlns:a="http://schemas.openxmlformats.org/drawingml/2006/main">
            <a:off x="68580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clock-gated peripheral decodes to the error slave, except in test mode.</a:t>
            </a:r>
          </a:p>
        </p:txBody>
      </p:sp>
      <p:sp>
        <p:nvSpPr>
          <p:cNvPr id="32" name="">
            <a:extLst xmlns:a="http://schemas.openxmlformats.org/drawingml/2006/main">
              <a:ext uri="{FF2B5EF4-FFF2-40B4-BE49-F238E27FC236}">
                <a16:creationId xmlns:a16="http://schemas.microsoft.com/office/drawing/2014/main" id="{62E46621-6906-4880-930C-B7D49D4A4A56}"/>
              </a:ext>
            </a:extLst>
          </p:cNvPr>
          <p:cNvSpPr>
            <a:spLocks xmlns:a="http://schemas.openxmlformats.org/drawingml/2006/main" noGrp="1"/>
          </p:cNvSpPr>
          <p:nvPr/>
        </p:nvSpPr>
        <p:spPr>
          <a:xfrm xmlns:a="http://schemas.openxmlformats.org/drawingml/2006/main">
            <a:off x="622935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45B4444B-116E-468E-B7AC-48199B2D98B4}"/>
              </a:ext>
            </a:extLst>
          </p:cNvPr>
          <p:cNvSpPr>
            <a:spLocks xmlns:a="http://schemas.openxmlformats.org/drawingml/2006/main" noGrp="1"/>
          </p:cNvSpPr>
          <p:nvPr/>
        </p:nvSpPr>
        <p:spPr>
          <a:xfrm xmlns:a="http://schemas.openxmlformats.org/drawingml/2006/main">
            <a:off x="6229350" y="31432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2937A6A-4FA2-4CEE-96A5-1B9DB408B399}"/>
              </a:ext>
            </a:extLst>
          </p:cNvPr>
          <p:cNvSpPr>
            <a:spLocks xmlns:a="http://schemas.openxmlformats.org/drawingml/2006/main" noGrp="1"/>
          </p:cNvSpPr>
          <p:nvPr/>
        </p:nvSpPr>
        <p:spPr>
          <a:xfrm xmlns:a="http://schemas.openxmlformats.org/drawingml/2006/main">
            <a:off x="645795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Flash is a data window</a:t>
            </a:r>
          </a:p>
        </p:txBody>
      </p:sp>
      <p:sp>
        <p:nvSpPr>
          <p:cNvPr id="35" name="">
            <a:extLst xmlns:a="http://schemas.openxmlformats.org/drawingml/2006/main">
              <a:ext uri="{FF2B5EF4-FFF2-40B4-BE49-F238E27FC236}">
                <a16:creationId xmlns:a16="http://schemas.microsoft.com/office/drawing/2014/main" id="{CE2401C5-47C8-40C9-AFB8-033FA89FC214}"/>
              </a:ext>
            </a:extLst>
          </p:cNvPr>
          <p:cNvSpPr>
            <a:spLocks xmlns:a="http://schemas.openxmlformats.org/drawingml/2006/main" noGrp="1"/>
          </p:cNvSpPr>
          <p:nvPr/>
        </p:nvSpPr>
        <p:spPr>
          <a:xfrm xmlns:a="http://schemas.openxmlformats.org/drawingml/2006/main">
            <a:off x="645795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QSPI window serves data; the ROM copies code into SRAM.</a:t>
            </a:r>
          </a:p>
        </p:txBody>
      </p:sp>
      <p:sp>
        <p:nvSpPr>
          <p:cNvPr id="36" name="">
            <a:extLst xmlns:a="http://schemas.openxmlformats.org/drawingml/2006/main">
              <a:ext uri="{FF2B5EF4-FFF2-40B4-BE49-F238E27FC236}">
                <a16:creationId xmlns:a16="http://schemas.microsoft.com/office/drawing/2014/main" id="{6F7050B5-E69B-40DD-8520-BD8498E20FBE}"/>
              </a:ext>
            </a:extLst>
          </p:cNvPr>
          <p:cNvSpPr>
            <a:spLocks xmlns:a="http://schemas.openxmlformats.org/drawingml/2006/main" noGrp="1"/>
          </p:cNvSpPr>
          <p:nvPr/>
        </p:nvSpPr>
        <p:spPr>
          <a:xfrm xmlns:a="http://schemas.openxmlformats.org/drawingml/2006/main">
            <a:off x="457200" y="470535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37" name="">
            <a:extLst xmlns:a="http://schemas.openxmlformats.org/drawingml/2006/main">
              <a:ext uri="{FF2B5EF4-FFF2-40B4-BE49-F238E27FC236}">
                <a16:creationId xmlns:a16="http://schemas.microsoft.com/office/drawing/2014/main" id="{128CDE39-99DD-462F-AB4E-DF0135345092}"/>
              </a:ext>
            </a:extLst>
          </p:cNvPr>
          <p:cNvSpPr>
            <a:spLocks xmlns:a="http://schemas.openxmlformats.org/drawingml/2006/main" noGrp="1"/>
          </p:cNvSpPr>
          <p:nvPr/>
        </p:nvSpPr>
        <p:spPr>
          <a:xfrm xmlns:a="http://schemas.openxmlformats.org/drawingml/2006/main">
            <a:off x="5715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077A3"/>
                </a:solidFill>
                <a:latin typeface="Georgia"/>
                <a:ea typeface="Georgia"/>
                <a:cs typeface="Georgia"/>
              </a:defRPr>
            </a:pPr>
            <a:r>
              <a:t>2</a:t>
            </a:r>
          </a:p>
        </p:txBody>
      </p:sp>
      <p:sp>
        <p:nvSpPr>
          <p:cNvPr id="38" name="">
            <a:extLst xmlns:a="http://schemas.openxmlformats.org/drawingml/2006/main">
              <a:ext uri="{FF2B5EF4-FFF2-40B4-BE49-F238E27FC236}">
                <a16:creationId xmlns:a16="http://schemas.microsoft.com/office/drawing/2014/main" id="{3059BDD4-8626-4EA8-AAFF-A082E72B4BBF}"/>
              </a:ext>
            </a:extLst>
          </p:cNvPr>
          <p:cNvSpPr>
            <a:spLocks xmlns:a="http://schemas.openxmlformats.org/drawingml/2006/main" noGrp="1"/>
          </p:cNvSpPr>
          <p:nvPr/>
        </p:nvSpPr>
        <p:spPr>
          <a:xfrm xmlns:a="http://schemas.openxmlformats.org/drawingml/2006/main">
            <a:off x="5715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BUS MASTERS</a:t>
            </a:r>
          </a:p>
        </p:txBody>
      </p:sp>
      <p:sp>
        <p:nvSpPr>
          <p:cNvPr id="39" name="">
            <a:extLst xmlns:a="http://schemas.openxmlformats.org/drawingml/2006/main">
              <a:ext uri="{FF2B5EF4-FFF2-40B4-BE49-F238E27FC236}">
                <a16:creationId xmlns:a16="http://schemas.microsoft.com/office/drawing/2014/main" id="{C68C8445-60B3-4C2E-8BE8-A933F1A59CA0}"/>
              </a:ext>
            </a:extLst>
          </p:cNvPr>
          <p:cNvSpPr>
            <a:spLocks xmlns:a="http://schemas.openxmlformats.org/drawingml/2006/main" noGrp="1"/>
          </p:cNvSpPr>
          <p:nvPr/>
        </p:nvSpPr>
        <p:spPr>
          <a:xfrm xmlns:a="http://schemas.openxmlformats.org/drawingml/2006/main">
            <a:off x="590550" y="5591175"/>
            <a:ext cx="33147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The CPU has priority over the DMA</a:t>
            </a:r>
          </a:p>
        </p:txBody>
      </p:sp>
      <p:sp>
        <p:nvSpPr>
          <p:cNvPr id="40" name="">
            <a:extLst xmlns:a="http://schemas.openxmlformats.org/drawingml/2006/main">
              <a:ext uri="{FF2B5EF4-FFF2-40B4-BE49-F238E27FC236}">
                <a16:creationId xmlns:a16="http://schemas.microsoft.com/office/drawing/2014/main" id="{77728D96-1606-47C5-97AE-D3C7B57B3233}"/>
              </a:ext>
            </a:extLst>
          </p:cNvPr>
          <p:cNvSpPr>
            <a:spLocks xmlns:a="http://schemas.openxmlformats.org/drawingml/2006/main" noGrp="1"/>
          </p:cNvSpPr>
          <p:nvPr/>
        </p:nvSpPr>
        <p:spPr>
          <a:xfrm xmlns:a="http://schemas.openxmlformats.org/drawingml/2006/main">
            <a:off x="4305300" y="470535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41" name="">
            <a:extLst xmlns:a="http://schemas.openxmlformats.org/drawingml/2006/main">
              <a:ext uri="{FF2B5EF4-FFF2-40B4-BE49-F238E27FC236}">
                <a16:creationId xmlns:a16="http://schemas.microsoft.com/office/drawing/2014/main" id="{8BA29EB9-975A-42B0-AF08-D421E627CEC2}"/>
              </a:ext>
            </a:extLst>
          </p:cNvPr>
          <p:cNvSpPr>
            <a:spLocks xmlns:a="http://schemas.openxmlformats.org/drawingml/2006/main" noGrp="1"/>
          </p:cNvSpPr>
          <p:nvPr/>
        </p:nvSpPr>
        <p:spPr>
          <a:xfrm xmlns:a="http://schemas.openxmlformats.org/drawingml/2006/main">
            <a:off x="44196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32-bit</a:t>
            </a:r>
          </a:p>
        </p:txBody>
      </p:sp>
      <p:sp>
        <p:nvSpPr>
          <p:cNvPr id="42" name="">
            <a:extLst xmlns:a="http://schemas.openxmlformats.org/drawingml/2006/main">
              <a:ext uri="{FF2B5EF4-FFF2-40B4-BE49-F238E27FC236}">
                <a16:creationId xmlns:a16="http://schemas.microsoft.com/office/drawing/2014/main" id="{C81C5C77-110E-4E35-A9CB-CFE555CA42CF}"/>
              </a:ext>
            </a:extLst>
          </p:cNvPr>
          <p:cNvSpPr>
            <a:spLocks xmlns:a="http://schemas.openxmlformats.org/drawingml/2006/main" noGrp="1"/>
          </p:cNvSpPr>
          <p:nvPr/>
        </p:nvSpPr>
        <p:spPr>
          <a:xfrm xmlns:a="http://schemas.openxmlformats.org/drawingml/2006/main">
            <a:off x="44196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REGISTER SLAVES</a:t>
            </a:r>
          </a:p>
        </p:txBody>
      </p:sp>
      <p:sp>
        <p:nvSpPr>
          <p:cNvPr id="43" name="">
            <a:extLst xmlns:a="http://schemas.openxmlformats.org/drawingml/2006/main">
              <a:ext uri="{FF2B5EF4-FFF2-40B4-BE49-F238E27FC236}">
                <a16:creationId xmlns:a16="http://schemas.microsoft.com/office/drawing/2014/main" id="{58DDE99F-46CA-405B-B2E2-7C2502D234B1}"/>
              </a:ext>
            </a:extLst>
          </p:cNvPr>
          <p:cNvSpPr>
            <a:spLocks xmlns:a="http://schemas.openxmlformats.org/drawingml/2006/main" noGrp="1"/>
          </p:cNvSpPr>
          <p:nvPr/>
        </p:nvSpPr>
        <p:spPr>
          <a:xfrm xmlns:a="http://schemas.openxmlformats.org/drawingml/2006/main">
            <a:off x="4438650" y="5591175"/>
            <a:ext cx="33147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Every peripheral on the bus</a:t>
            </a:r>
          </a:p>
        </p:txBody>
      </p:sp>
      <p:sp>
        <p:nvSpPr>
          <p:cNvPr id="44" name="">
            <a:extLst xmlns:a="http://schemas.openxmlformats.org/drawingml/2006/main">
              <a:ext uri="{FF2B5EF4-FFF2-40B4-BE49-F238E27FC236}">
                <a16:creationId xmlns:a16="http://schemas.microsoft.com/office/drawing/2014/main" id="{6410E078-7AFE-43CE-8B73-BA960E7BAE5E}"/>
              </a:ext>
            </a:extLst>
          </p:cNvPr>
          <p:cNvSpPr>
            <a:spLocks xmlns:a="http://schemas.openxmlformats.org/drawingml/2006/main" noGrp="1"/>
          </p:cNvSpPr>
          <p:nvPr/>
        </p:nvSpPr>
        <p:spPr>
          <a:xfrm xmlns:a="http://schemas.openxmlformats.org/drawingml/2006/main">
            <a:off x="8153400" y="470535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45" name="">
            <a:extLst xmlns:a="http://schemas.openxmlformats.org/drawingml/2006/main">
              <a:ext uri="{FF2B5EF4-FFF2-40B4-BE49-F238E27FC236}">
                <a16:creationId xmlns:a16="http://schemas.microsoft.com/office/drawing/2014/main" id="{91D8B5A7-2B56-472A-BD52-B98EF8E09753}"/>
              </a:ext>
            </a:extLst>
          </p:cNvPr>
          <p:cNvSpPr>
            <a:spLocks xmlns:a="http://schemas.openxmlformats.org/drawingml/2006/main" noGrp="1"/>
          </p:cNvSpPr>
          <p:nvPr/>
        </p:nvSpPr>
        <p:spPr>
          <a:xfrm xmlns:a="http://schemas.openxmlformats.org/drawingml/2006/main">
            <a:off x="82677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Error</a:t>
            </a:r>
          </a:p>
        </p:txBody>
      </p:sp>
      <p:sp>
        <p:nvSpPr>
          <p:cNvPr id="46" name="">
            <a:extLst xmlns:a="http://schemas.openxmlformats.org/drawingml/2006/main">
              <a:ext uri="{FF2B5EF4-FFF2-40B4-BE49-F238E27FC236}">
                <a16:creationId xmlns:a16="http://schemas.microsoft.com/office/drawing/2014/main" id="{3313B3B4-012C-4654-A032-2BE2F11CDDD0}"/>
              </a:ext>
            </a:extLst>
          </p:cNvPr>
          <p:cNvSpPr>
            <a:spLocks xmlns:a="http://schemas.openxmlformats.org/drawingml/2006/main" noGrp="1"/>
          </p:cNvSpPr>
          <p:nvPr/>
        </p:nvSpPr>
        <p:spPr>
          <a:xfrm xmlns:a="http://schemas.openxmlformats.org/drawingml/2006/main">
            <a:off x="82677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FOR UNANSWERED SLOTS</a:t>
            </a:r>
          </a:p>
        </p:txBody>
      </p:sp>
      <p:sp>
        <p:nvSpPr>
          <p:cNvPr id="47" name="">
            <a:extLst xmlns:a="http://schemas.openxmlformats.org/drawingml/2006/main">
              <a:ext uri="{FF2B5EF4-FFF2-40B4-BE49-F238E27FC236}">
                <a16:creationId xmlns:a16="http://schemas.microsoft.com/office/drawing/2014/main" id="{B7F961C3-059F-4969-9E48-E20D4B4D80E9}"/>
              </a:ext>
            </a:extLst>
          </p:cNvPr>
          <p:cNvSpPr>
            <a:spLocks xmlns:a="http://schemas.openxmlformats.org/drawingml/2006/main" noGrp="1"/>
          </p:cNvSpPr>
          <p:nvPr/>
        </p:nvSpPr>
        <p:spPr>
          <a:xfrm xmlns:a="http://schemas.openxmlformats.org/drawingml/2006/main">
            <a:off x="8286750" y="5591175"/>
            <a:ext cx="33147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By design, no access hangs</a:t>
            </a:r>
          </a:p>
        </p:txBody>
      </p:sp>
      <p:sp>
        <p:nvSpPr>
          <p:cNvPr id="48" name="">
            <a:extLst xmlns:a="http://schemas.openxmlformats.org/drawingml/2006/main">
              <a:ext uri="{FF2B5EF4-FFF2-40B4-BE49-F238E27FC236}">
                <a16:creationId xmlns:a16="http://schemas.microsoft.com/office/drawing/2014/main" id="{C79FD192-6988-43C9-913E-54D72EE4BF2D}"/>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AXI-lite bus.</a:t>
            </a:r>
          </a:p>
        </p:txBody>
      </p:sp>
    </p:spTree>
    <p:extLst>
      <p:ext uri="{BB962C8B-B14F-4D97-AF65-F5344CB8AC3E}">
        <p14:creationId xmlns:p14="http://schemas.microsoft.com/office/powerpoint/2010/main" val="27621806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8" name="">
            <a:extLst xmlns:a="http://schemas.openxmlformats.org/drawingml/2006/main">
              <a:ext uri="{FF2B5EF4-FFF2-40B4-BE49-F238E27FC236}">
                <a16:creationId xmlns:a16="http://schemas.microsoft.com/office/drawing/2014/main" id="{517B12F0-E537-4F59-943B-B5AA29D5CB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E6AB6A2-CB23-49C6-A2A8-692E097EE655}"/>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07 · BLOCKS ON THE BUS</a:t>
            </a:r>
          </a:p>
        </p:txBody>
      </p:sp>
      <p:sp>
        <p:nvSpPr>
          <p:cNvPr id="3" name="">
            <a:extLst xmlns:a="http://schemas.openxmlformats.org/drawingml/2006/main">
              <a:ext uri="{FF2B5EF4-FFF2-40B4-BE49-F238E27FC236}">
                <a16:creationId xmlns:a16="http://schemas.microsoft.com/office/drawing/2014/main" id="{5BF1AE0F-D235-4E2A-B2E0-62F667CA47BB}"/>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Eighteen blocks sit around the bus</a:t>
            </a:r>
          </a:p>
        </p:txBody>
      </p:sp>
      <p:sp>
        <p:nvSpPr>
          <p:cNvPr id="4" name="">
            <a:extLst xmlns:a="http://schemas.openxmlformats.org/drawingml/2006/main">
              <a:ext uri="{FF2B5EF4-FFF2-40B4-BE49-F238E27FC236}">
                <a16:creationId xmlns:a16="http://schemas.microsoft.com/office/drawing/2014/main" id="{89ABC0CB-7E77-462F-8120-CC90C1C0A8F2}"/>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 peripheral is a 32-bit register slave on the same AXI-lite bus</a:t>
            </a:r>
          </a:p>
        </p:txBody>
      </p:sp>
      <p:sp>
        <p:nvSpPr>
          <p:cNvPr id="5" name="">
            <a:extLst xmlns:a="http://schemas.openxmlformats.org/drawingml/2006/main">
              <a:ext uri="{FF2B5EF4-FFF2-40B4-BE49-F238E27FC236}">
                <a16:creationId xmlns:a16="http://schemas.microsoft.com/office/drawing/2014/main" id="{9BC6FE89-1188-4773-B29E-9A1C0D9E5A49}"/>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EA62CDA-48F0-433F-AA8A-1A3881D82871}"/>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1DD5E90-1C62-4C66-9FE9-3CA2FA8F7534}"/>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25B0D169-6434-487A-A365-4F9713593A52}"/>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07</a:t>
            </a:r>
          </a:p>
        </p:txBody>
      </p:sp>
      <p:sp>
        <p:nvSpPr>
          <p:cNvPr id="9" name="">
            <a:extLst xmlns:a="http://schemas.openxmlformats.org/drawingml/2006/main">
              <a:ext uri="{FF2B5EF4-FFF2-40B4-BE49-F238E27FC236}">
                <a16:creationId xmlns:a16="http://schemas.microsoft.com/office/drawing/2014/main" id="{791EFC07-376E-4944-83E8-95C78A3FB326}"/>
              </a:ext>
            </a:extLst>
          </p:cNvPr>
          <p:cNvSpPr>
            <a:spLocks xmlns:a="http://schemas.openxmlformats.org/drawingml/2006/main" noGrp="1"/>
          </p:cNvSpPr>
          <p:nvPr/>
        </p:nvSpPr>
        <p:spPr>
          <a:xfrm xmlns:a="http://schemas.openxmlformats.org/drawingml/2006/main">
            <a:off x="457200" y="16383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A3355BBA-D6A1-419D-8B24-4940FFE32E7B}"/>
              </a:ext>
            </a:extLst>
          </p:cNvPr>
          <p:cNvSpPr>
            <a:spLocks xmlns:a="http://schemas.openxmlformats.org/drawingml/2006/main" noGrp="1"/>
          </p:cNvSpPr>
          <p:nvPr/>
        </p:nvSpPr>
        <p:spPr>
          <a:xfrm xmlns:a="http://schemas.openxmlformats.org/drawingml/2006/main">
            <a:off x="457200" y="1638300"/>
            <a:ext cx="177165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28363BD-4272-4128-B12A-A09269564F96}"/>
              </a:ext>
            </a:extLst>
          </p:cNvPr>
          <p:cNvSpPr>
            <a:spLocks xmlns:a="http://schemas.openxmlformats.org/drawingml/2006/main" noGrp="1"/>
          </p:cNvSpPr>
          <p:nvPr/>
        </p:nvSpPr>
        <p:spPr>
          <a:xfrm xmlns:a="http://schemas.openxmlformats.org/drawingml/2006/main">
            <a:off x="571500" y="17907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UART0 · UART1</a:t>
            </a:r>
          </a:p>
        </p:txBody>
      </p:sp>
      <p:sp>
        <p:nvSpPr>
          <p:cNvPr id="12" name="">
            <a:extLst xmlns:a="http://schemas.openxmlformats.org/drawingml/2006/main">
              <a:ext uri="{FF2B5EF4-FFF2-40B4-BE49-F238E27FC236}">
                <a16:creationId xmlns:a16="http://schemas.microsoft.com/office/drawing/2014/main" id="{2FCCC6A2-F902-4F04-924B-515DCE1EF310}"/>
              </a:ext>
            </a:extLst>
          </p:cNvPr>
          <p:cNvSpPr>
            <a:spLocks xmlns:a="http://schemas.openxmlformats.org/drawingml/2006/main" noGrp="1"/>
          </p:cNvSpPr>
          <p:nvPr/>
        </p:nvSpPr>
        <p:spPr>
          <a:xfrm xmlns:a="http://schemas.openxmlformats.org/drawingml/2006/main">
            <a:off x="571500" y="20764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115,200 baud; UART0 is the console</a:t>
            </a:r>
          </a:p>
        </p:txBody>
      </p:sp>
      <p:sp>
        <p:nvSpPr>
          <p:cNvPr id="13" name="">
            <a:extLst xmlns:a="http://schemas.openxmlformats.org/drawingml/2006/main">
              <a:ext uri="{FF2B5EF4-FFF2-40B4-BE49-F238E27FC236}">
                <a16:creationId xmlns:a16="http://schemas.microsoft.com/office/drawing/2014/main" id="{B1194D24-84C3-4A35-BE81-BE38C85BF7E5}"/>
              </a:ext>
            </a:extLst>
          </p:cNvPr>
          <p:cNvSpPr>
            <a:spLocks xmlns:a="http://schemas.openxmlformats.org/drawingml/2006/main" noGrp="1"/>
          </p:cNvSpPr>
          <p:nvPr/>
        </p:nvSpPr>
        <p:spPr>
          <a:xfrm xmlns:a="http://schemas.openxmlformats.org/drawingml/2006/main">
            <a:off x="2358390" y="16383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28125E38-2D51-4214-A68A-D6E92D0FAA32}"/>
              </a:ext>
            </a:extLst>
          </p:cNvPr>
          <p:cNvSpPr>
            <a:spLocks xmlns:a="http://schemas.openxmlformats.org/drawingml/2006/main" noGrp="1"/>
          </p:cNvSpPr>
          <p:nvPr/>
        </p:nvSpPr>
        <p:spPr>
          <a:xfrm xmlns:a="http://schemas.openxmlformats.org/drawingml/2006/main">
            <a:off x="2358390" y="1638300"/>
            <a:ext cx="177165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75B6BC7-BAD9-421C-84B4-3F441B9612D2}"/>
              </a:ext>
            </a:extLst>
          </p:cNvPr>
          <p:cNvSpPr>
            <a:spLocks xmlns:a="http://schemas.openxmlformats.org/drawingml/2006/main" noGrp="1"/>
          </p:cNvSpPr>
          <p:nvPr/>
        </p:nvSpPr>
        <p:spPr>
          <a:xfrm xmlns:a="http://schemas.openxmlformats.org/drawingml/2006/main">
            <a:off x="2472690" y="17907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SPI master</a:t>
            </a:r>
          </a:p>
        </p:txBody>
      </p:sp>
      <p:sp>
        <p:nvSpPr>
          <p:cNvPr id="16" name="">
            <a:extLst xmlns:a="http://schemas.openxmlformats.org/drawingml/2006/main">
              <a:ext uri="{FF2B5EF4-FFF2-40B4-BE49-F238E27FC236}">
                <a16:creationId xmlns:a16="http://schemas.microsoft.com/office/drawing/2014/main" id="{F3701C71-613C-49AD-A51D-C8040AE2706A}"/>
              </a:ext>
            </a:extLst>
          </p:cNvPr>
          <p:cNvSpPr>
            <a:spLocks xmlns:a="http://schemas.openxmlformats.org/drawingml/2006/main" noGrp="1"/>
          </p:cNvSpPr>
          <p:nvPr/>
        </p:nvSpPr>
        <p:spPr>
          <a:xfrm xmlns:a="http://schemas.openxmlformats.org/drawingml/2006/main">
            <a:off x="2472690" y="20764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Up to 25 MHz</a:t>
            </a:r>
          </a:p>
        </p:txBody>
      </p:sp>
      <p:sp>
        <p:nvSpPr>
          <p:cNvPr id="17" name="">
            <a:extLst xmlns:a="http://schemas.openxmlformats.org/drawingml/2006/main">
              <a:ext uri="{FF2B5EF4-FFF2-40B4-BE49-F238E27FC236}">
                <a16:creationId xmlns:a16="http://schemas.microsoft.com/office/drawing/2014/main" id="{7540780F-4687-4914-8191-15E12BA6CB95}"/>
              </a:ext>
            </a:extLst>
          </p:cNvPr>
          <p:cNvSpPr>
            <a:spLocks xmlns:a="http://schemas.openxmlformats.org/drawingml/2006/main" noGrp="1"/>
          </p:cNvSpPr>
          <p:nvPr/>
        </p:nvSpPr>
        <p:spPr>
          <a:xfrm xmlns:a="http://schemas.openxmlformats.org/drawingml/2006/main">
            <a:off x="4259580" y="16383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D1188944-A557-47FC-82F0-85FA4FF5B677}"/>
              </a:ext>
            </a:extLst>
          </p:cNvPr>
          <p:cNvSpPr>
            <a:spLocks xmlns:a="http://schemas.openxmlformats.org/drawingml/2006/main" noGrp="1"/>
          </p:cNvSpPr>
          <p:nvPr/>
        </p:nvSpPr>
        <p:spPr>
          <a:xfrm xmlns:a="http://schemas.openxmlformats.org/drawingml/2006/main">
            <a:off x="4259580" y="1638300"/>
            <a:ext cx="177165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5A54255-6ABE-46FC-8D32-B60F4DA1C3DA}"/>
              </a:ext>
            </a:extLst>
          </p:cNvPr>
          <p:cNvSpPr>
            <a:spLocks xmlns:a="http://schemas.openxmlformats.org/drawingml/2006/main" noGrp="1"/>
          </p:cNvSpPr>
          <p:nvPr/>
        </p:nvSpPr>
        <p:spPr>
          <a:xfrm xmlns:a="http://schemas.openxmlformats.org/drawingml/2006/main">
            <a:off x="4373880" y="17907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I²C master</a:t>
            </a:r>
          </a:p>
        </p:txBody>
      </p:sp>
      <p:sp>
        <p:nvSpPr>
          <p:cNvPr id="20" name="">
            <a:extLst xmlns:a="http://schemas.openxmlformats.org/drawingml/2006/main">
              <a:ext uri="{FF2B5EF4-FFF2-40B4-BE49-F238E27FC236}">
                <a16:creationId xmlns:a16="http://schemas.microsoft.com/office/drawing/2014/main" id="{91B3DD3B-0302-4E1C-9C0E-F1E2FC2FA9C4}"/>
              </a:ext>
            </a:extLst>
          </p:cNvPr>
          <p:cNvSpPr>
            <a:spLocks xmlns:a="http://schemas.openxmlformats.org/drawingml/2006/main" noGrp="1"/>
          </p:cNvSpPr>
          <p:nvPr/>
        </p:nvSpPr>
        <p:spPr>
          <a:xfrm xmlns:a="http://schemas.openxmlformats.org/drawingml/2006/main">
            <a:off x="4373880" y="20764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100 / 400 kHz, 1–4 bytes</a:t>
            </a:r>
          </a:p>
        </p:txBody>
      </p:sp>
      <p:sp>
        <p:nvSpPr>
          <p:cNvPr id="21" name="">
            <a:extLst xmlns:a="http://schemas.openxmlformats.org/drawingml/2006/main">
              <a:ext uri="{FF2B5EF4-FFF2-40B4-BE49-F238E27FC236}">
                <a16:creationId xmlns:a16="http://schemas.microsoft.com/office/drawing/2014/main" id="{4C609D6B-D3BD-44A5-9E9D-36EC85D6C354}"/>
              </a:ext>
            </a:extLst>
          </p:cNvPr>
          <p:cNvSpPr>
            <a:spLocks xmlns:a="http://schemas.openxmlformats.org/drawingml/2006/main" noGrp="1"/>
          </p:cNvSpPr>
          <p:nvPr/>
        </p:nvSpPr>
        <p:spPr>
          <a:xfrm xmlns:a="http://schemas.openxmlformats.org/drawingml/2006/main">
            <a:off x="6160770" y="16383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01944CE6-ADD2-48C3-8813-721A65D8C284}"/>
              </a:ext>
            </a:extLst>
          </p:cNvPr>
          <p:cNvSpPr>
            <a:spLocks xmlns:a="http://schemas.openxmlformats.org/drawingml/2006/main" noGrp="1"/>
          </p:cNvSpPr>
          <p:nvPr/>
        </p:nvSpPr>
        <p:spPr>
          <a:xfrm xmlns:a="http://schemas.openxmlformats.org/drawingml/2006/main">
            <a:off x="6160770" y="1638300"/>
            <a:ext cx="177165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190A39B-A70E-4999-9E4C-63A20D4F511B}"/>
              </a:ext>
            </a:extLst>
          </p:cNvPr>
          <p:cNvSpPr>
            <a:spLocks xmlns:a="http://schemas.openxmlformats.org/drawingml/2006/main" noGrp="1"/>
          </p:cNvSpPr>
          <p:nvPr/>
        </p:nvSpPr>
        <p:spPr>
          <a:xfrm xmlns:a="http://schemas.openxmlformats.org/drawingml/2006/main">
            <a:off x="6275070" y="17907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QSPI + window</a:t>
            </a:r>
          </a:p>
        </p:txBody>
      </p:sp>
      <p:sp>
        <p:nvSpPr>
          <p:cNvPr id="24" name="">
            <a:extLst xmlns:a="http://schemas.openxmlformats.org/drawingml/2006/main">
              <a:ext uri="{FF2B5EF4-FFF2-40B4-BE49-F238E27FC236}">
                <a16:creationId xmlns:a16="http://schemas.microsoft.com/office/drawing/2014/main" id="{D7E225BC-863D-42DA-B30B-5E0CD3A76F16}"/>
              </a:ext>
            </a:extLst>
          </p:cNvPr>
          <p:cNvSpPr>
            <a:spLocks xmlns:a="http://schemas.openxmlformats.org/drawingml/2006/main" noGrp="1"/>
          </p:cNvSpPr>
          <p:nvPr/>
        </p:nvSpPr>
        <p:spPr>
          <a:xfrm xmlns:a="http://schemas.openxmlformats.org/drawingml/2006/main">
            <a:off x="6275070" y="20764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NOR flash and PSRAM</a:t>
            </a:r>
          </a:p>
        </p:txBody>
      </p:sp>
      <p:sp>
        <p:nvSpPr>
          <p:cNvPr id="25" name="">
            <a:extLst xmlns:a="http://schemas.openxmlformats.org/drawingml/2006/main">
              <a:ext uri="{FF2B5EF4-FFF2-40B4-BE49-F238E27FC236}">
                <a16:creationId xmlns:a16="http://schemas.microsoft.com/office/drawing/2014/main" id="{D0283AE9-257A-450F-B4BF-232410FA0BA8}"/>
              </a:ext>
            </a:extLst>
          </p:cNvPr>
          <p:cNvSpPr>
            <a:spLocks xmlns:a="http://schemas.openxmlformats.org/drawingml/2006/main" noGrp="1"/>
          </p:cNvSpPr>
          <p:nvPr/>
        </p:nvSpPr>
        <p:spPr>
          <a:xfrm xmlns:a="http://schemas.openxmlformats.org/drawingml/2006/main">
            <a:off x="8061960" y="16383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ED7625F8-DA8E-44F5-BC4A-D83632C2E8D7}"/>
              </a:ext>
            </a:extLst>
          </p:cNvPr>
          <p:cNvSpPr>
            <a:spLocks xmlns:a="http://schemas.openxmlformats.org/drawingml/2006/main" noGrp="1"/>
          </p:cNvSpPr>
          <p:nvPr/>
        </p:nvSpPr>
        <p:spPr>
          <a:xfrm xmlns:a="http://schemas.openxmlformats.org/drawingml/2006/main">
            <a:off x="8061960" y="1638300"/>
            <a:ext cx="177165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FBF37E3-F893-48AA-8A11-AAE04C9B3154}"/>
              </a:ext>
            </a:extLst>
          </p:cNvPr>
          <p:cNvSpPr>
            <a:spLocks xmlns:a="http://schemas.openxmlformats.org/drawingml/2006/main" noGrp="1"/>
          </p:cNvSpPr>
          <p:nvPr/>
        </p:nvSpPr>
        <p:spPr>
          <a:xfrm xmlns:a="http://schemas.openxmlformats.org/drawingml/2006/main">
            <a:off x="8176260" y="17907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GPIO × 3</a:t>
            </a:r>
          </a:p>
        </p:txBody>
      </p:sp>
      <p:sp>
        <p:nvSpPr>
          <p:cNvPr id="28" name="">
            <a:extLst xmlns:a="http://schemas.openxmlformats.org/drawingml/2006/main">
              <a:ext uri="{FF2B5EF4-FFF2-40B4-BE49-F238E27FC236}">
                <a16:creationId xmlns:a16="http://schemas.microsoft.com/office/drawing/2014/main" id="{41037466-DC3D-43C8-AE54-F777BED524A8}"/>
              </a:ext>
            </a:extLst>
          </p:cNvPr>
          <p:cNvSpPr>
            <a:spLocks xmlns:a="http://schemas.openxmlformats.org/drawingml/2006/main" noGrp="1"/>
          </p:cNvSpPr>
          <p:nvPr/>
        </p:nvSpPr>
        <p:spPr>
          <a:xfrm xmlns:a="http://schemas.openxmlformats.org/drawingml/2006/main">
            <a:off x="8176260" y="20764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In, out and enable per pin</a:t>
            </a:r>
          </a:p>
        </p:txBody>
      </p:sp>
      <p:sp>
        <p:nvSpPr>
          <p:cNvPr id="29" name="">
            <a:extLst xmlns:a="http://schemas.openxmlformats.org/drawingml/2006/main">
              <a:ext uri="{FF2B5EF4-FFF2-40B4-BE49-F238E27FC236}">
                <a16:creationId xmlns:a16="http://schemas.microsoft.com/office/drawing/2014/main" id="{38271FF1-C7CD-4AF2-9DB4-D565D43EDA29}"/>
              </a:ext>
            </a:extLst>
          </p:cNvPr>
          <p:cNvSpPr>
            <a:spLocks xmlns:a="http://schemas.openxmlformats.org/drawingml/2006/main" noGrp="1"/>
          </p:cNvSpPr>
          <p:nvPr/>
        </p:nvSpPr>
        <p:spPr>
          <a:xfrm xmlns:a="http://schemas.openxmlformats.org/drawingml/2006/main">
            <a:off x="9963150" y="16383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416A69FD-DDFA-4DBE-A36F-1AACCBDFE254}"/>
              </a:ext>
            </a:extLst>
          </p:cNvPr>
          <p:cNvSpPr>
            <a:spLocks xmlns:a="http://schemas.openxmlformats.org/drawingml/2006/main" noGrp="1"/>
          </p:cNvSpPr>
          <p:nvPr/>
        </p:nvSpPr>
        <p:spPr>
          <a:xfrm xmlns:a="http://schemas.openxmlformats.org/drawingml/2006/main">
            <a:off x="9963150" y="1638300"/>
            <a:ext cx="177165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1B3ABA7-521C-4EB9-A058-A441BA85A626}"/>
              </a:ext>
            </a:extLst>
          </p:cNvPr>
          <p:cNvSpPr>
            <a:spLocks xmlns:a="http://schemas.openxmlformats.org/drawingml/2006/main" noGrp="1"/>
          </p:cNvSpPr>
          <p:nvPr/>
        </p:nvSpPr>
        <p:spPr>
          <a:xfrm xmlns:a="http://schemas.openxmlformats.org/drawingml/2006/main">
            <a:off x="10077450" y="17907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Timers × 2</a:t>
            </a:r>
          </a:p>
        </p:txBody>
      </p:sp>
      <p:sp>
        <p:nvSpPr>
          <p:cNvPr id="32" name="">
            <a:extLst xmlns:a="http://schemas.openxmlformats.org/drawingml/2006/main">
              <a:ext uri="{FF2B5EF4-FFF2-40B4-BE49-F238E27FC236}">
                <a16:creationId xmlns:a16="http://schemas.microsoft.com/office/drawing/2014/main" id="{B8CFE137-199A-4146-B552-BAAF4D4B0A4A}"/>
              </a:ext>
            </a:extLst>
          </p:cNvPr>
          <p:cNvSpPr>
            <a:spLocks xmlns:a="http://schemas.openxmlformats.org/drawingml/2006/main" noGrp="1"/>
          </p:cNvSpPr>
          <p:nvPr/>
        </p:nvSpPr>
        <p:spPr>
          <a:xfrm xmlns:a="http://schemas.openxmlformats.org/drawingml/2006/main">
            <a:off x="10077450" y="20764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32-bit, compare interrupt</a:t>
            </a:r>
          </a:p>
        </p:txBody>
      </p:sp>
      <p:sp>
        <p:nvSpPr>
          <p:cNvPr id="33" name="">
            <a:extLst xmlns:a="http://schemas.openxmlformats.org/drawingml/2006/main">
              <a:ext uri="{FF2B5EF4-FFF2-40B4-BE49-F238E27FC236}">
                <a16:creationId xmlns:a16="http://schemas.microsoft.com/office/drawing/2014/main" id="{582B60E5-88D6-4587-8CA3-3A0839C42D21}"/>
              </a:ext>
            </a:extLst>
          </p:cNvPr>
          <p:cNvSpPr>
            <a:spLocks xmlns:a="http://schemas.openxmlformats.org/drawingml/2006/main" noGrp="1"/>
          </p:cNvSpPr>
          <p:nvPr/>
        </p:nvSpPr>
        <p:spPr>
          <a:xfrm xmlns:a="http://schemas.openxmlformats.org/drawingml/2006/main">
            <a:off x="457200" y="28575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E64F3EDD-EA44-40AE-81E7-0C6FDEF98C3A}"/>
              </a:ext>
            </a:extLst>
          </p:cNvPr>
          <p:cNvSpPr>
            <a:spLocks xmlns:a="http://schemas.openxmlformats.org/drawingml/2006/main" noGrp="1"/>
          </p:cNvSpPr>
          <p:nvPr/>
        </p:nvSpPr>
        <p:spPr>
          <a:xfrm xmlns:a="http://schemas.openxmlformats.org/drawingml/2006/main">
            <a:off x="457200" y="2857500"/>
            <a:ext cx="1771650" cy="47625"/>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B43903B-4FEF-4ABA-B599-E4BB1344571B}"/>
              </a:ext>
            </a:extLst>
          </p:cNvPr>
          <p:cNvSpPr>
            <a:spLocks xmlns:a="http://schemas.openxmlformats.org/drawingml/2006/main" noGrp="1"/>
          </p:cNvSpPr>
          <p:nvPr/>
        </p:nvSpPr>
        <p:spPr>
          <a:xfrm xmlns:a="http://schemas.openxmlformats.org/drawingml/2006/main">
            <a:off x="571500" y="30099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3-phase PWM</a:t>
            </a:r>
          </a:p>
        </p:txBody>
      </p:sp>
      <p:sp>
        <p:nvSpPr>
          <p:cNvPr id="36" name="">
            <a:extLst xmlns:a="http://schemas.openxmlformats.org/drawingml/2006/main">
              <a:ext uri="{FF2B5EF4-FFF2-40B4-BE49-F238E27FC236}">
                <a16:creationId xmlns:a16="http://schemas.microsoft.com/office/drawing/2014/main" id="{78FB70D4-3EDB-4BEE-86A1-CB543B561579}"/>
              </a:ext>
            </a:extLst>
          </p:cNvPr>
          <p:cNvSpPr>
            <a:spLocks xmlns:a="http://schemas.openxmlformats.org/drawingml/2006/main" noGrp="1"/>
          </p:cNvSpPr>
          <p:nvPr/>
        </p:nvSpPr>
        <p:spPr>
          <a:xfrm xmlns:a="http://schemas.openxmlformats.org/drawingml/2006/main">
            <a:off x="571500" y="32956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Dead-time, sample trigger, brake</a:t>
            </a:r>
          </a:p>
        </p:txBody>
      </p:sp>
      <p:sp>
        <p:nvSpPr>
          <p:cNvPr id="37" name="">
            <a:extLst xmlns:a="http://schemas.openxmlformats.org/drawingml/2006/main">
              <a:ext uri="{FF2B5EF4-FFF2-40B4-BE49-F238E27FC236}">
                <a16:creationId xmlns:a16="http://schemas.microsoft.com/office/drawing/2014/main" id="{869BF569-B298-4551-A503-86CAA4702DB4}"/>
              </a:ext>
            </a:extLst>
          </p:cNvPr>
          <p:cNvSpPr>
            <a:spLocks xmlns:a="http://schemas.openxmlformats.org/drawingml/2006/main" noGrp="1"/>
          </p:cNvSpPr>
          <p:nvPr/>
        </p:nvSpPr>
        <p:spPr>
          <a:xfrm xmlns:a="http://schemas.openxmlformats.org/drawingml/2006/main">
            <a:off x="2358390" y="28575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A5A052F8-7DE7-4163-8527-3CB7DE6422F3}"/>
              </a:ext>
            </a:extLst>
          </p:cNvPr>
          <p:cNvSpPr>
            <a:spLocks xmlns:a="http://schemas.openxmlformats.org/drawingml/2006/main" noGrp="1"/>
          </p:cNvSpPr>
          <p:nvPr/>
        </p:nvSpPr>
        <p:spPr>
          <a:xfrm xmlns:a="http://schemas.openxmlformats.org/drawingml/2006/main">
            <a:off x="2358390" y="2857500"/>
            <a:ext cx="1771650" cy="47625"/>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A40727A-6875-462C-BB0A-3CCA26EEA3E8}"/>
              </a:ext>
            </a:extLst>
          </p:cNvPr>
          <p:cNvSpPr>
            <a:spLocks xmlns:a="http://schemas.openxmlformats.org/drawingml/2006/main" noGrp="1"/>
          </p:cNvSpPr>
          <p:nvPr/>
        </p:nvSpPr>
        <p:spPr>
          <a:xfrm xmlns:a="http://schemas.openxmlformats.org/drawingml/2006/main">
            <a:off x="2472690" y="30099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DShot × 4</a:t>
            </a:r>
          </a:p>
        </p:txBody>
      </p:sp>
      <p:sp>
        <p:nvSpPr>
          <p:cNvPr id="40" name="">
            <a:extLst xmlns:a="http://schemas.openxmlformats.org/drawingml/2006/main">
              <a:ext uri="{FF2B5EF4-FFF2-40B4-BE49-F238E27FC236}">
                <a16:creationId xmlns:a16="http://schemas.microsoft.com/office/drawing/2014/main" id="{AC672F3B-080F-42F0-8E99-60A7B83E5F42}"/>
              </a:ext>
            </a:extLst>
          </p:cNvPr>
          <p:cNvSpPr>
            <a:spLocks xmlns:a="http://schemas.openxmlformats.org/drawingml/2006/main" noGrp="1"/>
          </p:cNvSpPr>
          <p:nvPr/>
        </p:nvSpPr>
        <p:spPr>
          <a:xfrm xmlns:a="http://schemas.openxmlformats.org/drawingml/2006/main">
            <a:off x="2472690" y="32956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Steered onto the PWM pads</a:t>
            </a:r>
          </a:p>
        </p:txBody>
      </p:sp>
      <p:sp>
        <p:nvSpPr>
          <p:cNvPr id="41" name="">
            <a:extLst xmlns:a="http://schemas.openxmlformats.org/drawingml/2006/main">
              <a:ext uri="{FF2B5EF4-FFF2-40B4-BE49-F238E27FC236}">
                <a16:creationId xmlns:a16="http://schemas.microsoft.com/office/drawing/2014/main" id="{A57B19A4-7C09-4EA6-8A68-B9795F639BF5}"/>
              </a:ext>
            </a:extLst>
          </p:cNvPr>
          <p:cNvSpPr>
            <a:spLocks xmlns:a="http://schemas.openxmlformats.org/drawingml/2006/main" noGrp="1"/>
          </p:cNvSpPr>
          <p:nvPr/>
        </p:nvSpPr>
        <p:spPr>
          <a:xfrm xmlns:a="http://schemas.openxmlformats.org/drawingml/2006/main">
            <a:off x="4259580" y="28575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42" name="">
            <a:extLst xmlns:a="http://schemas.openxmlformats.org/drawingml/2006/main">
              <a:ext uri="{FF2B5EF4-FFF2-40B4-BE49-F238E27FC236}">
                <a16:creationId xmlns:a16="http://schemas.microsoft.com/office/drawing/2014/main" id="{4B30C7BF-98C3-4C4D-B84A-E787113A13AC}"/>
              </a:ext>
            </a:extLst>
          </p:cNvPr>
          <p:cNvSpPr>
            <a:spLocks xmlns:a="http://schemas.openxmlformats.org/drawingml/2006/main" noGrp="1"/>
          </p:cNvSpPr>
          <p:nvPr/>
        </p:nvSpPr>
        <p:spPr>
          <a:xfrm xmlns:a="http://schemas.openxmlformats.org/drawingml/2006/main">
            <a:off x="4259580" y="2857500"/>
            <a:ext cx="1771650" cy="47625"/>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71146FB-6C6C-45B0-B424-9EEDF03E9157}"/>
              </a:ext>
            </a:extLst>
          </p:cNvPr>
          <p:cNvSpPr>
            <a:spLocks xmlns:a="http://schemas.openxmlformats.org/drawingml/2006/main" noGrp="1"/>
          </p:cNvSpPr>
          <p:nvPr/>
        </p:nvSpPr>
        <p:spPr>
          <a:xfrm xmlns:a="http://schemas.openxmlformats.org/drawingml/2006/main">
            <a:off x="4373880" y="30099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Encoder + Hall</a:t>
            </a:r>
          </a:p>
        </p:txBody>
      </p:sp>
      <p:sp>
        <p:nvSpPr>
          <p:cNvPr id="44" name="">
            <a:extLst xmlns:a="http://schemas.openxmlformats.org/drawingml/2006/main">
              <a:ext uri="{FF2B5EF4-FFF2-40B4-BE49-F238E27FC236}">
                <a16:creationId xmlns:a16="http://schemas.microsoft.com/office/drawing/2014/main" id="{4663129A-7E8B-49E9-AEF0-C8B139686DFC}"/>
              </a:ext>
            </a:extLst>
          </p:cNvPr>
          <p:cNvSpPr>
            <a:spLocks xmlns:a="http://schemas.openxmlformats.org/drawingml/2006/main" noGrp="1"/>
          </p:cNvSpPr>
          <p:nvPr/>
        </p:nvSpPr>
        <p:spPr>
          <a:xfrm xmlns:a="http://schemas.openxmlformats.org/drawingml/2006/main">
            <a:off x="4373880" y="32956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4× quadrature, index, 3 Hall</a:t>
            </a:r>
          </a:p>
        </p:txBody>
      </p:sp>
      <p:sp>
        <p:nvSpPr>
          <p:cNvPr id="45" name="">
            <a:extLst xmlns:a="http://schemas.openxmlformats.org/drawingml/2006/main">
              <a:ext uri="{FF2B5EF4-FFF2-40B4-BE49-F238E27FC236}">
                <a16:creationId xmlns:a16="http://schemas.microsoft.com/office/drawing/2014/main" id="{0450CA3F-BD3B-472D-9D23-E4EF522F29E2}"/>
              </a:ext>
            </a:extLst>
          </p:cNvPr>
          <p:cNvSpPr>
            <a:spLocks xmlns:a="http://schemas.openxmlformats.org/drawingml/2006/main" noGrp="1"/>
          </p:cNvSpPr>
          <p:nvPr/>
        </p:nvSpPr>
        <p:spPr>
          <a:xfrm xmlns:a="http://schemas.openxmlformats.org/drawingml/2006/main">
            <a:off x="6160770" y="28575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46" name="">
            <a:extLst xmlns:a="http://schemas.openxmlformats.org/drawingml/2006/main">
              <a:ext uri="{FF2B5EF4-FFF2-40B4-BE49-F238E27FC236}">
                <a16:creationId xmlns:a16="http://schemas.microsoft.com/office/drawing/2014/main" id="{3A0E6EFF-4741-4231-B844-44D916991893}"/>
              </a:ext>
            </a:extLst>
          </p:cNvPr>
          <p:cNvSpPr>
            <a:spLocks xmlns:a="http://schemas.openxmlformats.org/drawingml/2006/main" noGrp="1"/>
          </p:cNvSpPr>
          <p:nvPr/>
        </p:nvSpPr>
        <p:spPr>
          <a:xfrm xmlns:a="http://schemas.openxmlformats.org/drawingml/2006/main">
            <a:off x="6160770" y="2857500"/>
            <a:ext cx="1771650" cy="47625"/>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24F8E122-21B7-4EB3-AB64-1F642AC78B81}"/>
              </a:ext>
            </a:extLst>
          </p:cNvPr>
          <p:cNvSpPr>
            <a:spLocks xmlns:a="http://schemas.openxmlformats.org/drawingml/2006/main" noGrp="1"/>
          </p:cNvSpPr>
          <p:nvPr/>
        </p:nvSpPr>
        <p:spPr>
          <a:xfrm xmlns:a="http://schemas.openxmlformats.org/drawingml/2006/main">
            <a:off x="6275070" y="30099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CORDIC</a:t>
            </a:r>
          </a:p>
        </p:txBody>
      </p:sp>
      <p:sp>
        <p:nvSpPr>
          <p:cNvPr id="48" name="">
            <a:extLst xmlns:a="http://schemas.openxmlformats.org/drawingml/2006/main">
              <a:ext uri="{FF2B5EF4-FFF2-40B4-BE49-F238E27FC236}">
                <a16:creationId xmlns:a16="http://schemas.microsoft.com/office/drawing/2014/main" id="{36FF801D-5AA2-4927-A53C-649A6E7DAD59}"/>
              </a:ext>
            </a:extLst>
          </p:cNvPr>
          <p:cNvSpPr>
            <a:spLocks xmlns:a="http://schemas.openxmlformats.org/drawingml/2006/main" noGrp="1"/>
          </p:cNvSpPr>
          <p:nvPr/>
        </p:nvSpPr>
        <p:spPr>
          <a:xfrm xmlns:a="http://schemas.openxmlformats.org/drawingml/2006/main">
            <a:off x="6275070" y="32956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20 iterations, Q1.31</a:t>
            </a:r>
          </a:p>
        </p:txBody>
      </p:sp>
      <p:sp>
        <p:nvSpPr>
          <p:cNvPr id="49" name="">
            <a:extLst xmlns:a="http://schemas.openxmlformats.org/drawingml/2006/main">
              <a:ext uri="{FF2B5EF4-FFF2-40B4-BE49-F238E27FC236}">
                <a16:creationId xmlns:a16="http://schemas.microsoft.com/office/drawing/2014/main" id="{21539016-1169-4E00-82E5-E8B6272C9291}"/>
              </a:ext>
            </a:extLst>
          </p:cNvPr>
          <p:cNvSpPr>
            <a:spLocks xmlns:a="http://schemas.openxmlformats.org/drawingml/2006/main" noGrp="1"/>
          </p:cNvSpPr>
          <p:nvPr/>
        </p:nvSpPr>
        <p:spPr>
          <a:xfrm xmlns:a="http://schemas.openxmlformats.org/drawingml/2006/main">
            <a:off x="8061960" y="28575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50" name="">
            <a:extLst xmlns:a="http://schemas.openxmlformats.org/drawingml/2006/main">
              <a:ext uri="{FF2B5EF4-FFF2-40B4-BE49-F238E27FC236}">
                <a16:creationId xmlns:a16="http://schemas.microsoft.com/office/drawing/2014/main" id="{9214E148-DA90-422D-BCE4-4CB08B10A4DB}"/>
              </a:ext>
            </a:extLst>
          </p:cNvPr>
          <p:cNvSpPr>
            <a:spLocks xmlns:a="http://schemas.openxmlformats.org/drawingml/2006/main" noGrp="1"/>
          </p:cNvSpPr>
          <p:nvPr/>
        </p:nvSpPr>
        <p:spPr>
          <a:xfrm xmlns:a="http://schemas.openxmlformats.org/drawingml/2006/main">
            <a:off x="8061960" y="2857500"/>
            <a:ext cx="1771650" cy="47625"/>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06F8226D-61D8-41B5-82E3-8352D8FEF0D4}"/>
              </a:ext>
            </a:extLst>
          </p:cNvPr>
          <p:cNvSpPr>
            <a:spLocks xmlns:a="http://schemas.openxmlformats.org/drawingml/2006/main" noGrp="1"/>
          </p:cNvSpPr>
          <p:nvPr/>
        </p:nvSpPr>
        <p:spPr>
          <a:xfrm xmlns:a="http://schemas.openxmlformats.org/drawingml/2006/main">
            <a:off x="8176260" y="30099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ADC → SAR</a:t>
            </a:r>
          </a:p>
        </p:txBody>
      </p:sp>
      <p:sp>
        <p:nvSpPr>
          <p:cNvPr id="52" name="">
            <a:extLst xmlns:a="http://schemas.openxmlformats.org/drawingml/2006/main">
              <a:ext uri="{FF2B5EF4-FFF2-40B4-BE49-F238E27FC236}">
                <a16:creationId xmlns:a16="http://schemas.microsoft.com/office/drawing/2014/main" id="{BED05500-D9A0-408B-99C6-53A39A876B63}"/>
              </a:ext>
            </a:extLst>
          </p:cNvPr>
          <p:cNvSpPr>
            <a:spLocks xmlns:a="http://schemas.openxmlformats.org/drawingml/2006/main" noGrp="1"/>
          </p:cNvSpPr>
          <p:nvPr/>
        </p:nvSpPr>
        <p:spPr>
          <a:xfrm xmlns:a="http://schemas.openxmlformats.org/drawingml/2006/main">
            <a:off x="8176260" y="32956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8-bit differential, ~200 kSa/s</a:t>
            </a:r>
          </a:p>
        </p:txBody>
      </p:sp>
      <p:sp>
        <p:nvSpPr>
          <p:cNvPr id="53" name="">
            <a:extLst xmlns:a="http://schemas.openxmlformats.org/drawingml/2006/main">
              <a:ext uri="{FF2B5EF4-FFF2-40B4-BE49-F238E27FC236}">
                <a16:creationId xmlns:a16="http://schemas.microsoft.com/office/drawing/2014/main" id="{69FB3979-21E2-4AEB-91B1-01535E402425}"/>
              </a:ext>
            </a:extLst>
          </p:cNvPr>
          <p:cNvSpPr>
            <a:spLocks xmlns:a="http://schemas.openxmlformats.org/drawingml/2006/main" noGrp="1"/>
          </p:cNvSpPr>
          <p:nvPr/>
        </p:nvSpPr>
        <p:spPr>
          <a:xfrm xmlns:a="http://schemas.openxmlformats.org/drawingml/2006/main">
            <a:off x="9963150" y="28575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54" name="">
            <a:extLst xmlns:a="http://schemas.openxmlformats.org/drawingml/2006/main">
              <a:ext uri="{FF2B5EF4-FFF2-40B4-BE49-F238E27FC236}">
                <a16:creationId xmlns:a16="http://schemas.microsoft.com/office/drawing/2014/main" id="{1C989230-CA7E-4FD7-A24F-6D6700CA106C}"/>
              </a:ext>
            </a:extLst>
          </p:cNvPr>
          <p:cNvSpPr>
            <a:spLocks xmlns:a="http://schemas.openxmlformats.org/drawingml/2006/main" noGrp="1"/>
          </p:cNvSpPr>
          <p:nvPr/>
        </p:nvSpPr>
        <p:spPr>
          <a:xfrm xmlns:a="http://schemas.openxmlformats.org/drawingml/2006/main">
            <a:off x="9963150" y="2857500"/>
            <a:ext cx="1771650" cy="47625"/>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4586A64F-BA6E-4637-8CCE-EDF8569530AE}"/>
              </a:ext>
            </a:extLst>
          </p:cNvPr>
          <p:cNvSpPr>
            <a:spLocks xmlns:a="http://schemas.openxmlformats.org/drawingml/2006/main" noGrp="1"/>
          </p:cNvSpPr>
          <p:nvPr/>
        </p:nvSpPr>
        <p:spPr>
          <a:xfrm xmlns:a="http://schemas.openxmlformats.org/drawingml/2006/main">
            <a:off x="10077450" y="30099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Interrupts</a:t>
            </a:r>
          </a:p>
        </p:txBody>
      </p:sp>
      <p:sp>
        <p:nvSpPr>
          <p:cNvPr id="56" name="">
            <a:extLst xmlns:a="http://schemas.openxmlformats.org/drawingml/2006/main">
              <a:ext uri="{FF2B5EF4-FFF2-40B4-BE49-F238E27FC236}">
                <a16:creationId xmlns:a16="http://schemas.microsoft.com/office/drawing/2014/main" id="{8160E1A4-3091-47F3-B2DF-5847F7721DE6}"/>
              </a:ext>
            </a:extLst>
          </p:cNvPr>
          <p:cNvSpPr>
            <a:spLocks xmlns:a="http://schemas.openxmlformats.org/drawingml/2006/main" noGrp="1"/>
          </p:cNvSpPr>
          <p:nvPr/>
        </p:nvSpPr>
        <p:spPr>
          <a:xfrm xmlns:a="http://schemas.openxmlformats.org/drawingml/2006/main">
            <a:off x="10077450" y="32956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16 sources, software interrupt</a:t>
            </a:r>
          </a:p>
        </p:txBody>
      </p:sp>
      <p:sp>
        <p:nvSpPr>
          <p:cNvPr id="57" name="">
            <a:extLst xmlns:a="http://schemas.openxmlformats.org/drawingml/2006/main">
              <a:ext uri="{FF2B5EF4-FFF2-40B4-BE49-F238E27FC236}">
                <a16:creationId xmlns:a16="http://schemas.microsoft.com/office/drawing/2014/main" id="{74224AD5-91FC-4A20-9476-379B66F4AFEB}"/>
              </a:ext>
            </a:extLst>
          </p:cNvPr>
          <p:cNvSpPr>
            <a:spLocks xmlns:a="http://schemas.openxmlformats.org/drawingml/2006/main" noGrp="1"/>
          </p:cNvSpPr>
          <p:nvPr/>
        </p:nvSpPr>
        <p:spPr>
          <a:xfrm xmlns:a="http://schemas.openxmlformats.org/drawingml/2006/main">
            <a:off x="457200" y="40767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58" name="">
            <a:extLst xmlns:a="http://schemas.openxmlformats.org/drawingml/2006/main">
              <a:ext uri="{FF2B5EF4-FFF2-40B4-BE49-F238E27FC236}">
                <a16:creationId xmlns:a16="http://schemas.microsoft.com/office/drawing/2014/main" id="{4079F23F-E967-4EE4-8C02-081D0931345E}"/>
              </a:ext>
            </a:extLst>
          </p:cNvPr>
          <p:cNvSpPr>
            <a:spLocks xmlns:a="http://schemas.openxmlformats.org/drawingml/2006/main" noGrp="1"/>
          </p:cNvSpPr>
          <p:nvPr/>
        </p:nvSpPr>
        <p:spPr>
          <a:xfrm xmlns:a="http://schemas.openxmlformats.org/drawingml/2006/main">
            <a:off x="457200" y="4076700"/>
            <a:ext cx="1771650" cy="4762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600ED5A2-C4F5-4385-9AB9-83B3430CAACA}"/>
              </a:ext>
            </a:extLst>
          </p:cNvPr>
          <p:cNvSpPr>
            <a:spLocks xmlns:a="http://schemas.openxmlformats.org/drawingml/2006/main" noGrp="1"/>
          </p:cNvSpPr>
          <p:nvPr/>
        </p:nvSpPr>
        <p:spPr>
          <a:xfrm xmlns:a="http://schemas.openxmlformats.org/drawingml/2006/main">
            <a:off x="571500" y="42291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System control</a:t>
            </a:r>
          </a:p>
        </p:txBody>
      </p:sp>
      <p:sp>
        <p:nvSpPr>
          <p:cNvPr id="60" name="">
            <a:extLst xmlns:a="http://schemas.openxmlformats.org/drawingml/2006/main">
              <a:ext uri="{FF2B5EF4-FFF2-40B4-BE49-F238E27FC236}">
                <a16:creationId xmlns:a16="http://schemas.microsoft.com/office/drawing/2014/main" id="{E7A750C1-3FBB-44BA-8EA5-F2174419E575}"/>
              </a:ext>
            </a:extLst>
          </p:cNvPr>
          <p:cNvSpPr>
            <a:spLocks xmlns:a="http://schemas.openxmlformats.org/drawingml/2006/main" noGrp="1"/>
          </p:cNvSpPr>
          <p:nvPr/>
        </p:nvSpPr>
        <p:spPr>
          <a:xfrm xmlns:a="http://schemas.openxmlformats.org/drawingml/2006/main">
            <a:off x="571500" y="45148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Part ID, 8 clock gates, pin mux</a:t>
            </a:r>
          </a:p>
        </p:txBody>
      </p:sp>
      <p:sp>
        <p:nvSpPr>
          <p:cNvPr id="61" name="">
            <a:extLst xmlns:a="http://schemas.openxmlformats.org/drawingml/2006/main">
              <a:ext uri="{FF2B5EF4-FFF2-40B4-BE49-F238E27FC236}">
                <a16:creationId xmlns:a16="http://schemas.microsoft.com/office/drawing/2014/main" id="{670E8F45-5109-412F-B093-68867BD868B6}"/>
              </a:ext>
            </a:extLst>
          </p:cNvPr>
          <p:cNvSpPr>
            <a:spLocks xmlns:a="http://schemas.openxmlformats.org/drawingml/2006/main" noGrp="1"/>
          </p:cNvSpPr>
          <p:nvPr/>
        </p:nvSpPr>
        <p:spPr>
          <a:xfrm xmlns:a="http://schemas.openxmlformats.org/drawingml/2006/main">
            <a:off x="2358390" y="40767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62" name="">
            <a:extLst xmlns:a="http://schemas.openxmlformats.org/drawingml/2006/main">
              <a:ext uri="{FF2B5EF4-FFF2-40B4-BE49-F238E27FC236}">
                <a16:creationId xmlns:a16="http://schemas.microsoft.com/office/drawing/2014/main" id="{33D51AAD-CAA8-45DD-A180-1566B45664B5}"/>
              </a:ext>
            </a:extLst>
          </p:cNvPr>
          <p:cNvSpPr>
            <a:spLocks xmlns:a="http://schemas.openxmlformats.org/drawingml/2006/main" noGrp="1"/>
          </p:cNvSpPr>
          <p:nvPr/>
        </p:nvSpPr>
        <p:spPr>
          <a:xfrm xmlns:a="http://schemas.openxmlformats.org/drawingml/2006/main">
            <a:off x="2358390" y="4076700"/>
            <a:ext cx="1771650" cy="4762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9676FB67-3F15-4401-9F94-EEF00B993A98}"/>
              </a:ext>
            </a:extLst>
          </p:cNvPr>
          <p:cNvSpPr>
            <a:spLocks xmlns:a="http://schemas.openxmlformats.org/drawingml/2006/main" noGrp="1"/>
          </p:cNvSpPr>
          <p:nvPr/>
        </p:nvSpPr>
        <p:spPr>
          <a:xfrm xmlns:a="http://schemas.openxmlformats.org/drawingml/2006/main">
            <a:off x="2472690" y="42291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Watchdog</a:t>
            </a:r>
          </a:p>
        </p:txBody>
      </p:sp>
      <p:sp>
        <p:nvSpPr>
          <p:cNvPr id="64" name="">
            <a:extLst xmlns:a="http://schemas.openxmlformats.org/drawingml/2006/main">
              <a:ext uri="{FF2B5EF4-FFF2-40B4-BE49-F238E27FC236}">
                <a16:creationId xmlns:a16="http://schemas.microsoft.com/office/drawing/2014/main" id="{CABBC908-17B3-4CC3-9050-964E4688BB7F}"/>
              </a:ext>
            </a:extLst>
          </p:cNvPr>
          <p:cNvSpPr>
            <a:spLocks xmlns:a="http://schemas.openxmlformats.org/drawingml/2006/main" noGrp="1"/>
          </p:cNvSpPr>
          <p:nvPr/>
        </p:nvSpPr>
        <p:spPr>
          <a:xfrm xmlns:a="http://schemas.openxmlformats.org/drawingml/2006/main">
            <a:off x="2472690" y="45148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Windowed; supply-good deglitch</a:t>
            </a:r>
          </a:p>
        </p:txBody>
      </p:sp>
      <p:sp>
        <p:nvSpPr>
          <p:cNvPr id="65" name="">
            <a:extLst xmlns:a="http://schemas.openxmlformats.org/drawingml/2006/main">
              <a:ext uri="{FF2B5EF4-FFF2-40B4-BE49-F238E27FC236}">
                <a16:creationId xmlns:a16="http://schemas.microsoft.com/office/drawing/2014/main" id="{CF6E4E39-9678-43C1-AB4B-D0ABA31A795F}"/>
              </a:ext>
            </a:extLst>
          </p:cNvPr>
          <p:cNvSpPr>
            <a:spLocks xmlns:a="http://schemas.openxmlformats.org/drawingml/2006/main" noGrp="1"/>
          </p:cNvSpPr>
          <p:nvPr/>
        </p:nvSpPr>
        <p:spPr>
          <a:xfrm xmlns:a="http://schemas.openxmlformats.org/drawingml/2006/main">
            <a:off x="4259580" y="40767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66" name="">
            <a:extLst xmlns:a="http://schemas.openxmlformats.org/drawingml/2006/main">
              <a:ext uri="{FF2B5EF4-FFF2-40B4-BE49-F238E27FC236}">
                <a16:creationId xmlns:a16="http://schemas.microsoft.com/office/drawing/2014/main" id="{5B8D3067-C310-44E6-B766-2C02CFB68F55}"/>
              </a:ext>
            </a:extLst>
          </p:cNvPr>
          <p:cNvSpPr>
            <a:spLocks xmlns:a="http://schemas.openxmlformats.org/drawingml/2006/main" noGrp="1"/>
          </p:cNvSpPr>
          <p:nvPr/>
        </p:nvSpPr>
        <p:spPr>
          <a:xfrm xmlns:a="http://schemas.openxmlformats.org/drawingml/2006/main">
            <a:off x="4259580" y="4076700"/>
            <a:ext cx="1771650" cy="4762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3FCB3A83-4A31-4627-BF59-9440C68DBD5D}"/>
              </a:ext>
            </a:extLst>
          </p:cNvPr>
          <p:cNvSpPr>
            <a:spLocks xmlns:a="http://schemas.openxmlformats.org/drawingml/2006/main" noGrp="1"/>
          </p:cNvSpPr>
          <p:nvPr/>
        </p:nvSpPr>
        <p:spPr>
          <a:xfrm xmlns:a="http://schemas.openxmlformats.org/drawingml/2006/main">
            <a:off x="4373880" y="42291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Fault register</a:t>
            </a:r>
          </a:p>
        </p:txBody>
      </p:sp>
      <p:sp>
        <p:nvSpPr>
          <p:cNvPr id="68" name="">
            <a:extLst xmlns:a="http://schemas.openxmlformats.org/drawingml/2006/main">
              <a:ext uri="{FF2B5EF4-FFF2-40B4-BE49-F238E27FC236}">
                <a16:creationId xmlns:a16="http://schemas.microsoft.com/office/drawing/2014/main" id="{D5E37685-0463-423D-A242-F70EC3B8FD2A}"/>
              </a:ext>
            </a:extLst>
          </p:cNvPr>
          <p:cNvSpPr>
            <a:spLocks xmlns:a="http://schemas.openxmlformats.org/drawingml/2006/main" noGrp="1"/>
          </p:cNvSpPr>
          <p:nvPr/>
        </p:nvSpPr>
        <p:spPr>
          <a:xfrm xmlns:a="http://schemas.openxmlformats.org/drawingml/2006/main">
            <a:off x="4373880" y="45148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Lockstep fault to FAULTn</a:t>
            </a:r>
          </a:p>
        </p:txBody>
      </p:sp>
      <p:sp>
        <p:nvSpPr>
          <p:cNvPr id="69" name="">
            <a:extLst xmlns:a="http://schemas.openxmlformats.org/drawingml/2006/main">
              <a:ext uri="{FF2B5EF4-FFF2-40B4-BE49-F238E27FC236}">
                <a16:creationId xmlns:a16="http://schemas.microsoft.com/office/drawing/2014/main" id="{4AD50D7B-1D86-4AC2-ADCE-C2B1A43DE401}"/>
              </a:ext>
            </a:extLst>
          </p:cNvPr>
          <p:cNvSpPr>
            <a:spLocks xmlns:a="http://schemas.openxmlformats.org/drawingml/2006/main" noGrp="1"/>
          </p:cNvSpPr>
          <p:nvPr/>
        </p:nvSpPr>
        <p:spPr>
          <a:xfrm xmlns:a="http://schemas.openxmlformats.org/drawingml/2006/main">
            <a:off x="6160770" y="40767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70" name="">
            <a:extLst xmlns:a="http://schemas.openxmlformats.org/drawingml/2006/main">
              <a:ext uri="{FF2B5EF4-FFF2-40B4-BE49-F238E27FC236}">
                <a16:creationId xmlns:a16="http://schemas.microsoft.com/office/drawing/2014/main" id="{89CC665D-85CA-44EE-8319-12CE200E3665}"/>
              </a:ext>
            </a:extLst>
          </p:cNvPr>
          <p:cNvSpPr>
            <a:spLocks xmlns:a="http://schemas.openxmlformats.org/drawingml/2006/main" noGrp="1"/>
          </p:cNvSpPr>
          <p:nvPr/>
        </p:nvSpPr>
        <p:spPr>
          <a:xfrm xmlns:a="http://schemas.openxmlformats.org/drawingml/2006/main">
            <a:off x="6160770" y="4076700"/>
            <a:ext cx="1771650" cy="4762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86BC0B82-2FE7-49AE-9E3E-1A52AA2E0E7D}"/>
              </a:ext>
            </a:extLst>
          </p:cNvPr>
          <p:cNvSpPr>
            <a:spLocks xmlns:a="http://schemas.openxmlformats.org/drawingml/2006/main" noGrp="1"/>
          </p:cNvSpPr>
          <p:nvPr/>
        </p:nvSpPr>
        <p:spPr>
          <a:xfrm xmlns:a="http://schemas.openxmlformats.org/drawingml/2006/main">
            <a:off x="6275070" y="42291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Error slave</a:t>
            </a:r>
          </a:p>
        </p:txBody>
      </p:sp>
      <p:sp>
        <p:nvSpPr>
          <p:cNvPr id="72" name="">
            <a:extLst xmlns:a="http://schemas.openxmlformats.org/drawingml/2006/main">
              <a:ext uri="{FF2B5EF4-FFF2-40B4-BE49-F238E27FC236}">
                <a16:creationId xmlns:a16="http://schemas.microsoft.com/office/drawing/2014/main" id="{674B19BF-808E-43F4-963C-139570BB5DC6}"/>
              </a:ext>
            </a:extLst>
          </p:cNvPr>
          <p:cNvSpPr>
            <a:spLocks xmlns:a="http://schemas.openxmlformats.org/drawingml/2006/main" noGrp="1"/>
          </p:cNvSpPr>
          <p:nvPr/>
        </p:nvSpPr>
        <p:spPr>
          <a:xfrm xmlns:a="http://schemas.openxmlformats.org/drawingml/2006/main">
            <a:off x="6275070" y="45148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Undecoded or gated slots</a:t>
            </a:r>
          </a:p>
        </p:txBody>
      </p:sp>
      <p:sp>
        <p:nvSpPr>
          <p:cNvPr id="73" name="">
            <a:extLst xmlns:a="http://schemas.openxmlformats.org/drawingml/2006/main">
              <a:ext uri="{FF2B5EF4-FFF2-40B4-BE49-F238E27FC236}">
                <a16:creationId xmlns:a16="http://schemas.microsoft.com/office/drawing/2014/main" id="{B6471F4A-B354-4EF0-BBE9-3354ABE754D4}"/>
              </a:ext>
            </a:extLst>
          </p:cNvPr>
          <p:cNvSpPr>
            <a:spLocks xmlns:a="http://schemas.openxmlformats.org/drawingml/2006/main" noGrp="1"/>
          </p:cNvSpPr>
          <p:nvPr/>
        </p:nvSpPr>
        <p:spPr>
          <a:xfrm xmlns:a="http://schemas.openxmlformats.org/drawingml/2006/main">
            <a:off x="8061960" y="40767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74" name="">
            <a:extLst xmlns:a="http://schemas.openxmlformats.org/drawingml/2006/main">
              <a:ext uri="{FF2B5EF4-FFF2-40B4-BE49-F238E27FC236}">
                <a16:creationId xmlns:a16="http://schemas.microsoft.com/office/drawing/2014/main" id="{92FE6509-F2E6-4761-96E9-6955FFEE49B2}"/>
              </a:ext>
            </a:extLst>
          </p:cNvPr>
          <p:cNvSpPr>
            <a:spLocks xmlns:a="http://schemas.openxmlformats.org/drawingml/2006/main" noGrp="1"/>
          </p:cNvSpPr>
          <p:nvPr/>
        </p:nvSpPr>
        <p:spPr>
          <a:xfrm xmlns:a="http://schemas.openxmlformats.org/drawingml/2006/main">
            <a:off x="8061960" y="4076700"/>
            <a:ext cx="1771650" cy="4762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18CA6537-3831-47E3-977A-C748FFC53F11}"/>
              </a:ext>
            </a:extLst>
          </p:cNvPr>
          <p:cNvSpPr>
            <a:spLocks xmlns:a="http://schemas.openxmlformats.org/drawingml/2006/main" noGrp="1"/>
          </p:cNvSpPr>
          <p:nvPr/>
        </p:nvSpPr>
        <p:spPr>
          <a:xfrm xmlns:a="http://schemas.openxmlformats.org/drawingml/2006/main">
            <a:off x="8176260" y="42291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Scan / DFT</a:t>
            </a:r>
          </a:p>
        </p:txBody>
      </p:sp>
      <p:sp>
        <p:nvSpPr>
          <p:cNvPr id="76" name="">
            <a:extLst xmlns:a="http://schemas.openxmlformats.org/drawingml/2006/main">
              <a:ext uri="{FF2B5EF4-FFF2-40B4-BE49-F238E27FC236}">
                <a16:creationId xmlns:a16="http://schemas.microsoft.com/office/drawing/2014/main" id="{73F16A3B-2EDF-420C-9A8F-612A2069CEFD}"/>
              </a:ext>
            </a:extLst>
          </p:cNvPr>
          <p:cNvSpPr>
            <a:spLocks xmlns:a="http://schemas.openxmlformats.org/drawingml/2006/main" noGrp="1"/>
          </p:cNvSpPr>
          <p:nvPr/>
        </p:nvSpPr>
        <p:spPr>
          <a:xfrm xmlns:a="http://schemas.openxmlformats.org/drawingml/2006/main">
            <a:off x="8176260" y="45148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13 scan chains</a:t>
            </a:r>
          </a:p>
        </p:txBody>
      </p:sp>
      <p:sp>
        <p:nvSpPr>
          <p:cNvPr id="77" name="">
            <a:extLst xmlns:a="http://schemas.openxmlformats.org/drawingml/2006/main">
              <a:ext uri="{FF2B5EF4-FFF2-40B4-BE49-F238E27FC236}">
                <a16:creationId xmlns:a16="http://schemas.microsoft.com/office/drawing/2014/main" id="{67FA4765-71F3-4793-9E19-F817EEE280D2}"/>
              </a:ext>
            </a:extLst>
          </p:cNvPr>
          <p:cNvSpPr>
            <a:spLocks xmlns:a="http://schemas.openxmlformats.org/drawingml/2006/main" noGrp="1"/>
          </p:cNvSpPr>
          <p:nvPr/>
        </p:nvSpPr>
        <p:spPr>
          <a:xfrm xmlns:a="http://schemas.openxmlformats.org/drawingml/2006/main">
            <a:off x="9963150" y="40767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78" name="">
            <a:extLst xmlns:a="http://schemas.openxmlformats.org/drawingml/2006/main">
              <a:ext uri="{FF2B5EF4-FFF2-40B4-BE49-F238E27FC236}">
                <a16:creationId xmlns:a16="http://schemas.microsoft.com/office/drawing/2014/main" id="{E50263CA-A7EE-422B-8415-4BC419EE2446}"/>
              </a:ext>
            </a:extLst>
          </p:cNvPr>
          <p:cNvSpPr>
            <a:spLocks xmlns:a="http://schemas.openxmlformats.org/drawingml/2006/main" noGrp="1"/>
          </p:cNvSpPr>
          <p:nvPr/>
        </p:nvSpPr>
        <p:spPr>
          <a:xfrm xmlns:a="http://schemas.openxmlformats.org/drawingml/2006/main">
            <a:off x="9963150" y="4076700"/>
            <a:ext cx="1771650" cy="4762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370C1D33-10C0-46FF-ADFE-77787D60D700}"/>
              </a:ext>
            </a:extLst>
          </p:cNvPr>
          <p:cNvSpPr>
            <a:spLocks xmlns:a="http://schemas.openxmlformats.org/drawingml/2006/main" noGrp="1"/>
          </p:cNvSpPr>
          <p:nvPr/>
        </p:nvSpPr>
        <p:spPr>
          <a:xfrm xmlns:a="http://schemas.openxmlformats.org/drawingml/2006/main">
            <a:off x="10077450" y="42291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JTAG TAP</a:t>
            </a:r>
          </a:p>
        </p:txBody>
      </p:sp>
      <p:sp>
        <p:nvSpPr>
          <p:cNvPr id="80" name="">
            <a:extLst xmlns:a="http://schemas.openxmlformats.org/drawingml/2006/main">
              <a:ext uri="{FF2B5EF4-FFF2-40B4-BE49-F238E27FC236}">
                <a16:creationId xmlns:a16="http://schemas.microsoft.com/office/drawing/2014/main" id="{2AD55012-C9E3-4B2E-BD48-61CDBD577167}"/>
              </a:ext>
            </a:extLst>
          </p:cNvPr>
          <p:cNvSpPr>
            <a:spLocks xmlns:a="http://schemas.openxmlformats.org/drawingml/2006/main" noGrp="1"/>
          </p:cNvSpPr>
          <p:nvPr/>
        </p:nvSpPr>
        <p:spPr>
          <a:xfrm xmlns:a="http://schemas.openxmlformats.org/drawingml/2006/main">
            <a:off x="10077450" y="45148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In the wrapper; reaches scan</a:t>
            </a:r>
          </a:p>
        </p:txBody>
      </p:sp>
      <p:sp>
        <p:nvSpPr>
          <p:cNvPr id="81" name="">
            <a:extLst xmlns:a="http://schemas.openxmlformats.org/drawingml/2006/main">
              <a:ext uri="{FF2B5EF4-FFF2-40B4-BE49-F238E27FC236}">
                <a16:creationId xmlns:a16="http://schemas.microsoft.com/office/drawing/2014/main" id="{ED0D2F97-750E-4DF0-81DD-60E358FB8A9D}"/>
              </a:ext>
            </a:extLst>
          </p:cNvPr>
          <p:cNvSpPr>
            <a:spLocks xmlns:a="http://schemas.openxmlformats.org/drawingml/2006/main" noGrp="1"/>
          </p:cNvSpPr>
          <p:nvPr/>
        </p:nvSpPr>
        <p:spPr>
          <a:xfrm xmlns:a="http://schemas.openxmlformats.org/drawingml/2006/main">
            <a:off x="457200" y="5391150"/>
            <a:ext cx="1333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8EEAB802-74D8-45C1-93FF-D93318A01797}"/>
              </a:ext>
            </a:extLst>
          </p:cNvPr>
          <p:cNvSpPr>
            <a:spLocks xmlns:a="http://schemas.openxmlformats.org/drawingml/2006/main" noGrp="1"/>
          </p:cNvSpPr>
          <p:nvPr/>
        </p:nvSpPr>
        <p:spPr>
          <a:xfrm xmlns:a="http://schemas.openxmlformats.org/drawingml/2006/main">
            <a:off x="666750" y="5343525"/>
            <a:ext cx="21907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Connectivity</a:t>
            </a:r>
          </a:p>
        </p:txBody>
      </p:sp>
      <p:sp>
        <p:nvSpPr>
          <p:cNvPr id="83" name="">
            <a:extLst xmlns:a="http://schemas.openxmlformats.org/drawingml/2006/main">
              <a:ext uri="{FF2B5EF4-FFF2-40B4-BE49-F238E27FC236}">
                <a16:creationId xmlns:a16="http://schemas.microsoft.com/office/drawing/2014/main" id="{34B120E4-4676-45FD-B742-94111696B48D}"/>
              </a:ext>
            </a:extLst>
          </p:cNvPr>
          <p:cNvSpPr>
            <a:spLocks xmlns:a="http://schemas.openxmlformats.org/drawingml/2006/main" noGrp="1"/>
          </p:cNvSpPr>
          <p:nvPr/>
        </p:nvSpPr>
        <p:spPr>
          <a:xfrm xmlns:a="http://schemas.openxmlformats.org/drawingml/2006/main">
            <a:off x="2933700" y="5391150"/>
            <a:ext cx="133350" cy="13335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5C4C1DA5-466B-40A3-8D2D-6EDC68EA6AB3}"/>
              </a:ext>
            </a:extLst>
          </p:cNvPr>
          <p:cNvSpPr>
            <a:spLocks xmlns:a="http://schemas.openxmlformats.org/drawingml/2006/main" noGrp="1"/>
          </p:cNvSpPr>
          <p:nvPr/>
        </p:nvSpPr>
        <p:spPr>
          <a:xfrm xmlns:a="http://schemas.openxmlformats.org/drawingml/2006/main">
            <a:off x="3143250" y="5343525"/>
            <a:ext cx="21907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Motor and sensing</a:t>
            </a:r>
          </a:p>
        </p:txBody>
      </p:sp>
      <p:sp>
        <p:nvSpPr>
          <p:cNvPr id="85" name="">
            <a:extLst xmlns:a="http://schemas.openxmlformats.org/drawingml/2006/main">
              <a:ext uri="{FF2B5EF4-FFF2-40B4-BE49-F238E27FC236}">
                <a16:creationId xmlns:a16="http://schemas.microsoft.com/office/drawing/2014/main" id="{221FD334-DA53-46A3-88F6-0F0DAB8DE8DF}"/>
              </a:ext>
            </a:extLst>
          </p:cNvPr>
          <p:cNvSpPr>
            <a:spLocks xmlns:a="http://schemas.openxmlformats.org/drawingml/2006/main" noGrp="1"/>
          </p:cNvSpPr>
          <p:nvPr/>
        </p:nvSpPr>
        <p:spPr>
          <a:xfrm xmlns:a="http://schemas.openxmlformats.org/drawingml/2006/main">
            <a:off x="5410200" y="5391150"/>
            <a:ext cx="133350" cy="1333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CF9A6BE9-4B82-449C-85AD-3336E81903F3}"/>
              </a:ext>
            </a:extLst>
          </p:cNvPr>
          <p:cNvSpPr>
            <a:spLocks xmlns:a="http://schemas.openxmlformats.org/drawingml/2006/main" noGrp="1"/>
          </p:cNvSpPr>
          <p:nvPr/>
        </p:nvSpPr>
        <p:spPr>
          <a:xfrm xmlns:a="http://schemas.openxmlformats.org/drawingml/2006/main">
            <a:off x="5619750" y="5343525"/>
            <a:ext cx="21907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System, safety and test</a:t>
            </a:r>
          </a:p>
        </p:txBody>
      </p:sp>
      <p:sp>
        <p:nvSpPr>
          <p:cNvPr id="87" name="">
            <a:extLst xmlns:a="http://schemas.openxmlformats.org/drawingml/2006/main">
              <a:ext uri="{FF2B5EF4-FFF2-40B4-BE49-F238E27FC236}">
                <a16:creationId xmlns:a16="http://schemas.microsoft.com/office/drawing/2014/main" id="{C4A682E9-030F-4732-8EBD-29F811AC2CC5}"/>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slave slots.</a:t>
            </a:r>
          </a:p>
        </p:txBody>
      </p:sp>
    </p:spTree>
    <p:extLst>
      <p:ext uri="{BB962C8B-B14F-4D97-AF65-F5344CB8AC3E}">
        <p14:creationId xmlns:p14="http://schemas.microsoft.com/office/powerpoint/2010/main" val="72623894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2" name="">
            <a:extLst xmlns:a="http://schemas.openxmlformats.org/drawingml/2006/main">
              <a:ext uri="{FF2B5EF4-FFF2-40B4-BE49-F238E27FC236}">
                <a16:creationId xmlns:a16="http://schemas.microsoft.com/office/drawing/2014/main" id="{5F0D4C89-0B64-419E-9F2A-4F14F11BE8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C030722-7585-4F23-AC0C-FFB38555263E}"/>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08 · PAD PLAN</a:t>
            </a:r>
          </a:p>
        </p:txBody>
      </p:sp>
      <p:sp>
        <p:nvSpPr>
          <p:cNvPr id="3" name="">
            <a:extLst xmlns:a="http://schemas.openxmlformats.org/drawingml/2006/main">
              <a:ext uri="{FF2B5EF4-FFF2-40B4-BE49-F238E27FC236}">
                <a16:creationId xmlns:a16="http://schemas.microsoft.com/office/drawing/2014/main" id="{B0663B3F-7033-4D26-8585-0728A6136918}"/>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Every one of the 44 wrapper pads has a job</a:t>
            </a:r>
          </a:p>
        </p:txBody>
      </p:sp>
      <p:sp>
        <p:nvSpPr>
          <p:cNvPr id="4" name="">
            <a:extLst xmlns:a="http://schemas.openxmlformats.org/drawingml/2006/main">
              <a:ext uri="{FF2B5EF4-FFF2-40B4-BE49-F238E27FC236}">
                <a16:creationId xmlns:a16="http://schemas.microsoft.com/office/drawing/2014/main" id="{6DDA2AF1-47EE-4807-B17D-67779E2FFCDF}"/>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wrapper’s pad plan (rev 2), grouped by function</a:t>
            </a:r>
          </a:p>
        </p:txBody>
      </p:sp>
      <p:sp>
        <p:nvSpPr>
          <p:cNvPr id="5" name="">
            <a:extLst xmlns:a="http://schemas.openxmlformats.org/drawingml/2006/main">
              <a:ext uri="{FF2B5EF4-FFF2-40B4-BE49-F238E27FC236}">
                <a16:creationId xmlns:a16="http://schemas.microsoft.com/office/drawing/2014/main" id="{A5CFBDED-9069-498D-85CF-F264AE52223A}"/>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5680F5F-68A4-4BFC-8455-63359F6B96F7}"/>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8285F19-90AC-45D6-A83F-433508F30795}"/>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7A19C9B4-4902-4371-A1C6-5ABC4641EA80}"/>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08</a:t>
            </a:r>
          </a:p>
        </p:txBody>
      </p:sp>
      <p:sp>
        <p:nvSpPr>
          <p:cNvPr id="9" name="">
            <a:extLst xmlns:a="http://schemas.openxmlformats.org/drawingml/2006/main">
              <a:ext uri="{FF2B5EF4-FFF2-40B4-BE49-F238E27FC236}">
                <a16:creationId xmlns:a16="http://schemas.microsoft.com/office/drawing/2014/main" id="{B34EAC85-55F9-4428-B159-39FEA4254C88}"/>
              </a:ext>
            </a:extLst>
          </p:cNvPr>
          <p:cNvSpPr>
            <a:spLocks xmlns:a="http://schemas.openxmlformats.org/drawingml/2006/main" noGrp="1"/>
          </p:cNvSpPr>
          <p:nvPr/>
        </p:nvSpPr>
        <p:spPr>
          <a:xfrm xmlns:a="http://schemas.openxmlformats.org/drawingml/2006/main">
            <a:off x="457200" y="1524000"/>
            <a:ext cx="11277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ALL 44 WRAPPER PADS, BY GROUP, TO SCALE</a:t>
            </a:r>
          </a:p>
        </p:txBody>
      </p:sp>
      <p:sp>
        <p:nvSpPr>
          <p:cNvPr id="10" name="">
            <a:extLst xmlns:a="http://schemas.openxmlformats.org/drawingml/2006/main">
              <a:ext uri="{FF2B5EF4-FFF2-40B4-BE49-F238E27FC236}">
                <a16:creationId xmlns:a16="http://schemas.microsoft.com/office/drawing/2014/main" id="{ACD3018E-A641-40AC-AAA2-4681D0DA941F}"/>
              </a:ext>
            </a:extLst>
          </p:cNvPr>
          <p:cNvSpPr>
            <a:spLocks xmlns:a="http://schemas.openxmlformats.org/drawingml/2006/main" noGrp="1"/>
          </p:cNvSpPr>
          <p:nvPr/>
        </p:nvSpPr>
        <p:spPr>
          <a:xfrm xmlns:a="http://schemas.openxmlformats.org/drawingml/2006/main">
            <a:off x="457200" y="1790700"/>
            <a:ext cx="1794164" cy="6096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478A74B-9705-4AD7-BE6B-702DCC77E568}"/>
              </a:ext>
            </a:extLst>
          </p:cNvPr>
          <p:cNvSpPr>
            <a:spLocks xmlns:a="http://schemas.openxmlformats.org/drawingml/2006/main" noGrp="1"/>
          </p:cNvSpPr>
          <p:nvPr/>
        </p:nvSpPr>
        <p:spPr>
          <a:xfrm xmlns:a="http://schemas.openxmlformats.org/drawingml/2006/main">
            <a:off x="571500" y="1981200"/>
            <a:ext cx="1603664"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QSPI 7</a:t>
            </a:r>
          </a:p>
        </p:txBody>
      </p:sp>
      <p:sp>
        <p:nvSpPr>
          <p:cNvPr id="12" name="">
            <a:extLst xmlns:a="http://schemas.openxmlformats.org/drawingml/2006/main">
              <a:ext uri="{FF2B5EF4-FFF2-40B4-BE49-F238E27FC236}">
                <a16:creationId xmlns:a16="http://schemas.microsoft.com/office/drawing/2014/main" id="{1D6AD2A7-3D88-4B4C-A62C-F12EFA8EA8A1}"/>
              </a:ext>
            </a:extLst>
          </p:cNvPr>
          <p:cNvSpPr>
            <a:spLocks xmlns:a="http://schemas.openxmlformats.org/drawingml/2006/main" noGrp="1"/>
          </p:cNvSpPr>
          <p:nvPr/>
        </p:nvSpPr>
        <p:spPr>
          <a:xfrm xmlns:a="http://schemas.openxmlformats.org/drawingml/2006/main">
            <a:off x="2251364" y="1790700"/>
            <a:ext cx="1794164" cy="6096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5C8205B-5292-42E3-8336-77EA318B3B3F}"/>
              </a:ext>
            </a:extLst>
          </p:cNvPr>
          <p:cNvSpPr>
            <a:spLocks xmlns:a="http://schemas.openxmlformats.org/drawingml/2006/main" noGrp="1"/>
          </p:cNvSpPr>
          <p:nvPr/>
        </p:nvSpPr>
        <p:spPr>
          <a:xfrm xmlns:a="http://schemas.openxmlformats.org/drawingml/2006/main">
            <a:off x="2365664" y="1981200"/>
            <a:ext cx="1603664"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PWM 7</a:t>
            </a:r>
          </a:p>
        </p:txBody>
      </p:sp>
      <p:sp>
        <p:nvSpPr>
          <p:cNvPr id="14" name="">
            <a:extLst xmlns:a="http://schemas.openxmlformats.org/drawingml/2006/main">
              <a:ext uri="{FF2B5EF4-FFF2-40B4-BE49-F238E27FC236}">
                <a16:creationId xmlns:a16="http://schemas.microsoft.com/office/drawing/2014/main" id="{DE4FB2C1-AC9F-4C6D-8F29-36601BFC61FF}"/>
              </a:ext>
            </a:extLst>
          </p:cNvPr>
          <p:cNvSpPr>
            <a:spLocks xmlns:a="http://schemas.openxmlformats.org/drawingml/2006/main" noGrp="1"/>
          </p:cNvSpPr>
          <p:nvPr/>
        </p:nvSpPr>
        <p:spPr>
          <a:xfrm xmlns:a="http://schemas.openxmlformats.org/drawingml/2006/main">
            <a:off x="4045527" y="1790700"/>
            <a:ext cx="1537855" cy="609600"/>
          </a:xfrm>
          <a:prstGeom xmlns:a="http://schemas.openxmlformats.org/drawingml/2006/main" prst="rect">
            <a:avLst/>
          </a:prstGeom>
          <a:solidFill xmlns:a="http://schemas.openxmlformats.org/drawingml/2006/main">
            <a:srgbClr val="0A7C7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E7E4D6A-CDB6-4B06-BB8F-BEFA770ECFA5}"/>
              </a:ext>
            </a:extLst>
          </p:cNvPr>
          <p:cNvSpPr>
            <a:spLocks xmlns:a="http://schemas.openxmlformats.org/drawingml/2006/main" noGrp="1"/>
          </p:cNvSpPr>
          <p:nvPr/>
        </p:nvSpPr>
        <p:spPr>
          <a:xfrm xmlns:a="http://schemas.openxmlformats.org/drawingml/2006/main">
            <a:off x="4159827" y="1981200"/>
            <a:ext cx="134735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ENC + HALL 6</a:t>
            </a:r>
          </a:p>
        </p:txBody>
      </p:sp>
      <p:sp>
        <p:nvSpPr>
          <p:cNvPr id="16" name="">
            <a:extLst xmlns:a="http://schemas.openxmlformats.org/drawingml/2006/main">
              <a:ext uri="{FF2B5EF4-FFF2-40B4-BE49-F238E27FC236}">
                <a16:creationId xmlns:a16="http://schemas.microsoft.com/office/drawing/2014/main" id="{90214525-AE40-4856-BDF1-26F694ED153C}"/>
              </a:ext>
            </a:extLst>
          </p:cNvPr>
          <p:cNvSpPr>
            <a:spLocks xmlns:a="http://schemas.openxmlformats.org/drawingml/2006/main" noGrp="1"/>
          </p:cNvSpPr>
          <p:nvPr/>
        </p:nvSpPr>
        <p:spPr>
          <a:xfrm xmlns:a="http://schemas.openxmlformats.org/drawingml/2006/main">
            <a:off x="5583382" y="1790700"/>
            <a:ext cx="1025236" cy="6096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DC2FFA6-FE0C-4D17-96CF-E2A53A38A815}"/>
              </a:ext>
            </a:extLst>
          </p:cNvPr>
          <p:cNvSpPr>
            <a:spLocks xmlns:a="http://schemas.openxmlformats.org/drawingml/2006/main" noGrp="1"/>
          </p:cNvSpPr>
          <p:nvPr/>
        </p:nvSpPr>
        <p:spPr>
          <a:xfrm xmlns:a="http://schemas.openxmlformats.org/drawingml/2006/main">
            <a:off x="5697682" y="1981200"/>
            <a:ext cx="834736"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UART 4</a:t>
            </a:r>
          </a:p>
        </p:txBody>
      </p:sp>
      <p:sp>
        <p:nvSpPr>
          <p:cNvPr id="18" name="">
            <a:extLst xmlns:a="http://schemas.openxmlformats.org/drawingml/2006/main">
              <a:ext uri="{FF2B5EF4-FFF2-40B4-BE49-F238E27FC236}">
                <a16:creationId xmlns:a16="http://schemas.microsoft.com/office/drawing/2014/main" id="{90553498-8034-482F-9C67-C8C153CD567C}"/>
              </a:ext>
            </a:extLst>
          </p:cNvPr>
          <p:cNvSpPr>
            <a:spLocks xmlns:a="http://schemas.openxmlformats.org/drawingml/2006/main" noGrp="1"/>
          </p:cNvSpPr>
          <p:nvPr/>
        </p:nvSpPr>
        <p:spPr>
          <a:xfrm xmlns:a="http://schemas.openxmlformats.org/drawingml/2006/main">
            <a:off x="6608618" y="1790700"/>
            <a:ext cx="1025236" cy="60960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F52F750-99E2-44D7-8C42-9D4B2CEE7464}"/>
              </a:ext>
            </a:extLst>
          </p:cNvPr>
          <p:cNvSpPr>
            <a:spLocks xmlns:a="http://schemas.openxmlformats.org/drawingml/2006/main" noGrp="1"/>
          </p:cNvSpPr>
          <p:nvPr/>
        </p:nvSpPr>
        <p:spPr>
          <a:xfrm xmlns:a="http://schemas.openxmlformats.org/drawingml/2006/main">
            <a:off x="6722918" y="1981200"/>
            <a:ext cx="834736"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SPI 4</a:t>
            </a:r>
          </a:p>
        </p:txBody>
      </p:sp>
      <p:sp>
        <p:nvSpPr>
          <p:cNvPr id="20" name="">
            <a:extLst xmlns:a="http://schemas.openxmlformats.org/drawingml/2006/main">
              <a:ext uri="{FF2B5EF4-FFF2-40B4-BE49-F238E27FC236}">
                <a16:creationId xmlns:a16="http://schemas.microsoft.com/office/drawing/2014/main" id="{B588398A-7B96-4392-8280-2B047B4A2DD5}"/>
              </a:ext>
            </a:extLst>
          </p:cNvPr>
          <p:cNvSpPr>
            <a:spLocks xmlns:a="http://schemas.openxmlformats.org/drawingml/2006/main" noGrp="1"/>
          </p:cNvSpPr>
          <p:nvPr/>
        </p:nvSpPr>
        <p:spPr>
          <a:xfrm xmlns:a="http://schemas.openxmlformats.org/drawingml/2006/main">
            <a:off x="7633855" y="1790700"/>
            <a:ext cx="1025236" cy="609600"/>
          </a:xfrm>
          <a:prstGeom xmlns:a="http://schemas.openxmlformats.org/drawingml/2006/main" prst="rect">
            <a:avLst/>
          </a:prstGeom>
          <a:solidFill xmlns:a="http://schemas.openxmlformats.org/drawingml/2006/main">
            <a:srgbClr val="4B556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5C61BC2-FCA5-425B-877C-8751D183295A}"/>
              </a:ext>
            </a:extLst>
          </p:cNvPr>
          <p:cNvSpPr>
            <a:spLocks xmlns:a="http://schemas.openxmlformats.org/drawingml/2006/main" noGrp="1"/>
          </p:cNvSpPr>
          <p:nvPr/>
        </p:nvSpPr>
        <p:spPr>
          <a:xfrm xmlns:a="http://schemas.openxmlformats.org/drawingml/2006/main">
            <a:off x="7748155" y="1981200"/>
            <a:ext cx="834736"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JTAG 4</a:t>
            </a:r>
          </a:p>
        </p:txBody>
      </p:sp>
      <p:sp>
        <p:nvSpPr>
          <p:cNvPr id="22" name="">
            <a:extLst xmlns:a="http://schemas.openxmlformats.org/drawingml/2006/main">
              <a:ext uri="{FF2B5EF4-FFF2-40B4-BE49-F238E27FC236}">
                <a16:creationId xmlns:a16="http://schemas.microsoft.com/office/drawing/2014/main" id="{2299E486-7A04-43AD-8AA1-F9B154291F97}"/>
              </a:ext>
            </a:extLst>
          </p:cNvPr>
          <p:cNvSpPr>
            <a:spLocks xmlns:a="http://schemas.openxmlformats.org/drawingml/2006/main" noGrp="1"/>
          </p:cNvSpPr>
          <p:nvPr/>
        </p:nvSpPr>
        <p:spPr>
          <a:xfrm xmlns:a="http://schemas.openxmlformats.org/drawingml/2006/main">
            <a:off x="8659091" y="1790700"/>
            <a:ext cx="768927" cy="609600"/>
          </a:xfrm>
          <a:prstGeom xmlns:a="http://schemas.openxmlformats.org/drawingml/2006/main" prst="rect">
            <a:avLst/>
          </a:prstGeom>
          <a:solidFill xmlns:a="http://schemas.openxmlformats.org/drawingml/2006/main">
            <a:srgbClr val="5B6B7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82D5C24-4DEA-4A2B-9B88-43444F99CFB3}"/>
              </a:ext>
            </a:extLst>
          </p:cNvPr>
          <p:cNvSpPr>
            <a:spLocks xmlns:a="http://schemas.openxmlformats.org/drawingml/2006/main" noGrp="1"/>
          </p:cNvSpPr>
          <p:nvPr/>
        </p:nvSpPr>
        <p:spPr>
          <a:xfrm xmlns:a="http://schemas.openxmlformats.org/drawingml/2006/main">
            <a:off x="8773391" y="1981200"/>
            <a:ext cx="578427"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GPIO 3</a:t>
            </a:r>
          </a:p>
        </p:txBody>
      </p:sp>
      <p:sp>
        <p:nvSpPr>
          <p:cNvPr id="24" name="">
            <a:extLst xmlns:a="http://schemas.openxmlformats.org/drawingml/2006/main">
              <a:ext uri="{FF2B5EF4-FFF2-40B4-BE49-F238E27FC236}">
                <a16:creationId xmlns:a16="http://schemas.microsoft.com/office/drawing/2014/main" id="{30A62165-203A-4230-9A35-65014500B75E}"/>
              </a:ext>
            </a:extLst>
          </p:cNvPr>
          <p:cNvSpPr>
            <a:spLocks xmlns:a="http://schemas.openxmlformats.org/drawingml/2006/main" noGrp="1"/>
          </p:cNvSpPr>
          <p:nvPr/>
        </p:nvSpPr>
        <p:spPr>
          <a:xfrm xmlns:a="http://schemas.openxmlformats.org/drawingml/2006/main">
            <a:off x="9428018" y="1790700"/>
            <a:ext cx="512618" cy="609600"/>
          </a:xfrm>
          <a:prstGeom xmlns:a="http://schemas.openxmlformats.org/drawingml/2006/main" prst="rect">
            <a:avLst/>
          </a:prstGeom>
          <a:solidFill xmlns:a="http://schemas.openxmlformats.org/drawingml/2006/main">
            <a:srgbClr val="6B728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F8493DB-06A8-4C5D-BC62-A68B5B076F5B}"/>
              </a:ext>
            </a:extLst>
          </p:cNvPr>
          <p:cNvSpPr>
            <a:spLocks xmlns:a="http://schemas.openxmlformats.org/drawingml/2006/main" noGrp="1"/>
          </p:cNvSpPr>
          <p:nvPr/>
        </p:nvSpPr>
        <p:spPr>
          <a:xfrm xmlns:a="http://schemas.openxmlformats.org/drawingml/2006/main">
            <a:off x="9940636" y="1790700"/>
            <a:ext cx="512618" cy="609600"/>
          </a:xfrm>
          <a:prstGeom xmlns:a="http://schemas.openxmlformats.org/drawingml/2006/main" prst="rect">
            <a:avLst/>
          </a:prstGeom>
          <a:solidFill xmlns:a="http://schemas.openxmlformats.org/drawingml/2006/main">
            <a:srgbClr val="47556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95F5378-4105-4F40-9C50-A05F2354105A}"/>
              </a:ext>
            </a:extLst>
          </p:cNvPr>
          <p:cNvSpPr>
            <a:spLocks xmlns:a="http://schemas.openxmlformats.org/drawingml/2006/main" noGrp="1"/>
          </p:cNvSpPr>
          <p:nvPr/>
        </p:nvSpPr>
        <p:spPr>
          <a:xfrm xmlns:a="http://schemas.openxmlformats.org/drawingml/2006/main">
            <a:off x="10453255" y="1790700"/>
            <a:ext cx="512618" cy="609600"/>
          </a:xfrm>
          <a:prstGeom xmlns:a="http://schemas.openxmlformats.org/drawingml/2006/main" prst="rect">
            <a:avLst/>
          </a:prstGeom>
          <a:solidFill xmlns:a="http://schemas.openxmlformats.org/drawingml/2006/main">
            <a:srgbClr val="0E749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16726CE-ADB0-4C92-8FFB-4335DDDB2255}"/>
              </a:ext>
            </a:extLst>
          </p:cNvPr>
          <p:cNvSpPr>
            <a:spLocks xmlns:a="http://schemas.openxmlformats.org/drawingml/2006/main" noGrp="1"/>
          </p:cNvSpPr>
          <p:nvPr/>
        </p:nvSpPr>
        <p:spPr>
          <a:xfrm xmlns:a="http://schemas.openxmlformats.org/drawingml/2006/main">
            <a:off x="10965873" y="1790700"/>
            <a:ext cx="256309" cy="6096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7F7F770-FE01-4222-B183-6848E8E54C4D}"/>
              </a:ext>
            </a:extLst>
          </p:cNvPr>
          <p:cNvSpPr>
            <a:spLocks xmlns:a="http://schemas.openxmlformats.org/drawingml/2006/main" noGrp="1"/>
          </p:cNvSpPr>
          <p:nvPr/>
        </p:nvSpPr>
        <p:spPr>
          <a:xfrm xmlns:a="http://schemas.openxmlformats.org/drawingml/2006/main">
            <a:off x="11222182" y="1790700"/>
            <a:ext cx="256309" cy="6096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D529789-6598-4E9E-8051-EA804576196D}"/>
              </a:ext>
            </a:extLst>
          </p:cNvPr>
          <p:cNvSpPr>
            <a:spLocks xmlns:a="http://schemas.openxmlformats.org/drawingml/2006/main" noGrp="1"/>
          </p:cNvSpPr>
          <p:nvPr/>
        </p:nvSpPr>
        <p:spPr>
          <a:xfrm xmlns:a="http://schemas.openxmlformats.org/drawingml/2006/main">
            <a:off x="11478491" y="1790700"/>
            <a:ext cx="256309" cy="6096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94522CE-6735-4050-AAA4-CBE50FAED880}"/>
              </a:ext>
            </a:extLst>
          </p:cNvPr>
          <p:cNvSpPr>
            <a:spLocks xmlns:a="http://schemas.openxmlformats.org/drawingml/2006/main" noGrp="1"/>
          </p:cNvSpPr>
          <p:nvPr/>
        </p:nvSpPr>
        <p:spPr>
          <a:xfrm xmlns:a="http://schemas.openxmlformats.org/drawingml/2006/main">
            <a:off x="457200" y="2590800"/>
            <a:ext cx="5505450" cy="3429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B86EA70-48CD-4346-95B9-4E341E05D522}"/>
              </a:ext>
            </a:extLst>
          </p:cNvPr>
          <p:cNvSpPr>
            <a:spLocks xmlns:a="http://schemas.openxmlformats.org/drawingml/2006/main" noGrp="1"/>
          </p:cNvSpPr>
          <p:nvPr/>
        </p:nvSpPr>
        <p:spPr>
          <a:xfrm xmlns:a="http://schemas.openxmlformats.org/drawingml/2006/main">
            <a:off x="590550" y="2705100"/>
            <a:ext cx="1619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GROUP</a:t>
            </a:r>
          </a:p>
        </p:txBody>
      </p:sp>
      <p:sp>
        <p:nvSpPr>
          <p:cNvPr id="32" name="">
            <a:extLst xmlns:a="http://schemas.openxmlformats.org/drawingml/2006/main">
              <a:ext uri="{FF2B5EF4-FFF2-40B4-BE49-F238E27FC236}">
                <a16:creationId xmlns:a16="http://schemas.microsoft.com/office/drawing/2014/main" id="{79E12C87-6095-4722-890D-8AB7CA18F288}"/>
              </a:ext>
            </a:extLst>
          </p:cNvPr>
          <p:cNvSpPr>
            <a:spLocks xmlns:a="http://schemas.openxmlformats.org/drawingml/2006/main" noGrp="1"/>
          </p:cNvSpPr>
          <p:nvPr/>
        </p:nvSpPr>
        <p:spPr>
          <a:xfrm xmlns:a="http://schemas.openxmlformats.org/drawingml/2006/main">
            <a:off x="2400300" y="2705100"/>
            <a:ext cx="476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PADS</a:t>
            </a:r>
          </a:p>
        </p:txBody>
      </p:sp>
      <p:sp>
        <p:nvSpPr>
          <p:cNvPr id="33" name="">
            <a:extLst xmlns:a="http://schemas.openxmlformats.org/drawingml/2006/main">
              <a:ext uri="{FF2B5EF4-FFF2-40B4-BE49-F238E27FC236}">
                <a16:creationId xmlns:a16="http://schemas.microsoft.com/office/drawing/2014/main" id="{4FC58645-29D1-4416-93A5-4BE349312DC9}"/>
              </a:ext>
            </a:extLst>
          </p:cNvPr>
          <p:cNvSpPr>
            <a:spLocks xmlns:a="http://schemas.openxmlformats.org/drawingml/2006/main" noGrp="1"/>
          </p:cNvSpPr>
          <p:nvPr/>
        </p:nvSpPr>
        <p:spPr>
          <a:xfrm xmlns:a="http://schemas.openxmlformats.org/drawingml/2006/main">
            <a:off x="3067050" y="2705100"/>
            <a:ext cx="28384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CARRIES</a:t>
            </a:r>
          </a:p>
        </p:txBody>
      </p:sp>
      <p:sp>
        <p:nvSpPr>
          <p:cNvPr id="34" name="">
            <a:extLst xmlns:a="http://schemas.openxmlformats.org/drawingml/2006/main">
              <a:ext uri="{FF2B5EF4-FFF2-40B4-BE49-F238E27FC236}">
                <a16:creationId xmlns:a16="http://schemas.microsoft.com/office/drawing/2014/main" id="{A9041892-F946-47EF-8D8F-900115872C13}"/>
              </a:ext>
            </a:extLst>
          </p:cNvPr>
          <p:cNvSpPr>
            <a:spLocks xmlns:a="http://schemas.openxmlformats.org/drawingml/2006/main" noGrp="1"/>
          </p:cNvSpPr>
          <p:nvPr/>
        </p:nvSpPr>
        <p:spPr>
          <a:xfrm xmlns:a="http://schemas.openxmlformats.org/drawingml/2006/main">
            <a:off x="457200" y="2933700"/>
            <a:ext cx="55054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5" name="">
            <a:extLst xmlns:a="http://schemas.openxmlformats.org/drawingml/2006/main">
              <a:ext uri="{FF2B5EF4-FFF2-40B4-BE49-F238E27FC236}">
                <a16:creationId xmlns:a16="http://schemas.microsoft.com/office/drawing/2014/main" id="{E0138488-AA4B-4D64-8A20-4A8FA547F3D0}"/>
              </a:ext>
            </a:extLst>
          </p:cNvPr>
          <p:cNvSpPr>
            <a:spLocks xmlns:a="http://schemas.openxmlformats.org/drawingml/2006/main" noGrp="1"/>
          </p:cNvSpPr>
          <p:nvPr/>
        </p:nvSpPr>
        <p:spPr>
          <a:xfrm xmlns:a="http://schemas.openxmlformats.org/drawingml/2006/main">
            <a:off x="590550" y="3038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Clock</a:t>
            </a:r>
          </a:p>
        </p:txBody>
      </p:sp>
      <p:sp>
        <p:nvSpPr>
          <p:cNvPr id="36" name="">
            <a:extLst xmlns:a="http://schemas.openxmlformats.org/drawingml/2006/main">
              <a:ext uri="{FF2B5EF4-FFF2-40B4-BE49-F238E27FC236}">
                <a16:creationId xmlns:a16="http://schemas.microsoft.com/office/drawing/2014/main" id="{4F2455DF-471B-415F-8515-D57B63F29948}"/>
              </a:ext>
            </a:extLst>
          </p:cNvPr>
          <p:cNvSpPr>
            <a:spLocks xmlns:a="http://schemas.openxmlformats.org/drawingml/2006/main" noGrp="1"/>
          </p:cNvSpPr>
          <p:nvPr/>
        </p:nvSpPr>
        <p:spPr>
          <a:xfrm xmlns:a="http://schemas.openxmlformats.org/drawingml/2006/main">
            <a:off x="2400300" y="3038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a:t>
            </a:r>
          </a:p>
        </p:txBody>
      </p:sp>
      <p:sp>
        <p:nvSpPr>
          <p:cNvPr id="37" name="">
            <a:extLst xmlns:a="http://schemas.openxmlformats.org/drawingml/2006/main">
              <a:ext uri="{FF2B5EF4-FFF2-40B4-BE49-F238E27FC236}">
                <a16:creationId xmlns:a16="http://schemas.microsoft.com/office/drawing/2014/main" id="{3157AB88-9002-4189-8EFC-D898B9969BF4}"/>
              </a:ext>
            </a:extLst>
          </p:cNvPr>
          <p:cNvSpPr>
            <a:spLocks xmlns:a="http://schemas.openxmlformats.org/drawingml/2006/main" noGrp="1"/>
          </p:cNvSpPr>
          <p:nvPr/>
        </p:nvSpPr>
        <p:spPr>
          <a:xfrm xmlns:a="http://schemas.openxmlformats.org/drawingml/2006/main">
            <a:off x="3067050" y="3038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50 MHz clock in</a:t>
            </a:r>
          </a:p>
        </p:txBody>
      </p:sp>
      <p:sp>
        <p:nvSpPr>
          <p:cNvPr id="38" name="">
            <a:extLst xmlns:a="http://schemas.openxmlformats.org/drawingml/2006/main">
              <a:ext uri="{FF2B5EF4-FFF2-40B4-BE49-F238E27FC236}">
                <a16:creationId xmlns:a16="http://schemas.microsoft.com/office/drawing/2014/main" id="{1E81BB46-5CB5-4B20-BAE0-792832EA35D5}"/>
              </a:ext>
            </a:extLst>
          </p:cNvPr>
          <p:cNvSpPr>
            <a:spLocks xmlns:a="http://schemas.openxmlformats.org/drawingml/2006/main" noGrp="1"/>
          </p:cNvSpPr>
          <p:nvPr/>
        </p:nvSpPr>
        <p:spPr>
          <a:xfrm xmlns:a="http://schemas.openxmlformats.org/drawingml/2006/main">
            <a:off x="457200" y="3314700"/>
            <a:ext cx="550545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9" name="">
            <a:extLst xmlns:a="http://schemas.openxmlformats.org/drawingml/2006/main">
              <a:ext uri="{FF2B5EF4-FFF2-40B4-BE49-F238E27FC236}">
                <a16:creationId xmlns:a16="http://schemas.microsoft.com/office/drawing/2014/main" id="{0AE682F2-40C8-4C27-BBC4-24B2443E4F0C}"/>
              </a:ext>
            </a:extLst>
          </p:cNvPr>
          <p:cNvSpPr>
            <a:spLocks xmlns:a="http://schemas.openxmlformats.org/drawingml/2006/main" noGrp="1"/>
          </p:cNvSpPr>
          <p:nvPr/>
        </p:nvSpPr>
        <p:spPr>
          <a:xfrm xmlns:a="http://schemas.openxmlformats.org/drawingml/2006/main">
            <a:off x="590550" y="3419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QSPI flash</a:t>
            </a:r>
          </a:p>
        </p:txBody>
      </p:sp>
      <p:sp>
        <p:nvSpPr>
          <p:cNvPr id="40" name="">
            <a:extLst xmlns:a="http://schemas.openxmlformats.org/drawingml/2006/main">
              <a:ext uri="{FF2B5EF4-FFF2-40B4-BE49-F238E27FC236}">
                <a16:creationId xmlns:a16="http://schemas.microsoft.com/office/drawing/2014/main" id="{7302D5C9-13FB-408A-BC7A-C75F52EB6000}"/>
              </a:ext>
            </a:extLst>
          </p:cNvPr>
          <p:cNvSpPr>
            <a:spLocks xmlns:a="http://schemas.openxmlformats.org/drawingml/2006/main" noGrp="1"/>
          </p:cNvSpPr>
          <p:nvPr/>
        </p:nvSpPr>
        <p:spPr>
          <a:xfrm xmlns:a="http://schemas.openxmlformats.org/drawingml/2006/main">
            <a:off x="2400300" y="3419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7</a:t>
            </a:r>
          </a:p>
        </p:txBody>
      </p:sp>
      <p:sp>
        <p:nvSpPr>
          <p:cNvPr id="41" name="">
            <a:extLst xmlns:a="http://schemas.openxmlformats.org/drawingml/2006/main">
              <a:ext uri="{FF2B5EF4-FFF2-40B4-BE49-F238E27FC236}">
                <a16:creationId xmlns:a16="http://schemas.microsoft.com/office/drawing/2014/main" id="{957BA7B5-6242-4584-BFCE-AED00BD81DA1}"/>
              </a:ext>
            </a:extLst>
          </p:cNvPr>
          <p:cNvSpPr>
            <a:spLocks xmlns:a="http://schemas.openxmlformats.org/drawingml/2006/main" noGrp="1"/>
          </p:cNvSpPr>
          <p:nvPr/>
        </p:nvSpPr>
        <p:spPr>
          <a:xfrm xmlns:a="http://schemas.openxmlformats.org/drawingml/2006/main">
            <a:off x="3067050" y="3419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Clock, 4 data, 2 selects</a:t>
            </a:r>
          </a:p>
        </p:txBody>
      </p:sp>
      <p:sp>
        <p:nvSpPr>
          <p:cNvPr id="42" name="">
            <a:extLst xmlns:a="http://schemas.openxmlformats.org/drawingml/2006/main">
              <a:ext uri="{FF2B5EF4-FFF2-40B4-BE49-F238E27FC236}">
                <a16:creationId xmlns:a16="http://schemas.microsoft.com/office/drawing/2014/main" id="{4D155027-2C22-47A3-826D-1A113FE18A45}"/>
              </a:ext>
            </a:extLst>
          </p:cNvPr>
          <p:cNvSpPr>
            <a:spLocks xmlns:a="http://schemas.openxmlformats.org/drawingml/2006/main" noGrp="1"/>
          </p:cNvSpPr>
          <p:nvPr/>
        </p:nvSpPr>
        <p:spPr>
          <a:xfrm xmlns:a="http://schemas.openxmlformats.org/drawingml/2006/main">
            <a:off x="457200" y="3695700"/>
            <a:ext cx="55054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43" name="">
            <a:extLst xmlns:a="http://schemas.openxmlformats.org/drawingml/2006/main">
              <a:ext uri="{FF2B5EF4-FFF2-40B4-BE49-F238E27FC236}">
                <a16:creationId xmlns:a16="http://schemas.microsoft.com/office/drawing/2014/main" id="{4D09372C-B2CB-40DA-8E57-7661087581C1}"/>
              </a:ext>
            </a:extLst>
          </p:cNvPr>
          <p:cNvSpPr>
            <a:spLocks xmlns:a="http://schemas.openxmlformats.org/drawingml/2006/main" noGrp="1"/>
          </p:cNvSpPr>
          <p:nvPr/>
        </p:nvSpPr>
        <p:spPr>
          <a:xfrm xmlns:a="http://schemas.openxmlformats.org/drawingml/2006/main">
            <a:off x="590550" y="3800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UART0 / UART1</a:t>
            </a:r>
          </a:p>
        </p:txBody>
      </p:sp>
      <p:sp>
        <p:nvSpPr>
          <p:cNvPr id="44" name="">
            <a:extLst xmlns:a="http://schemas.openxmlformats.org/drawingml/2006/main">
              <a:ext uri="{FF2B5EF4-FFF2-40B4-BE49-F238E27FC236}">
                <a16:creationId xmlns:a16="http://schemas.microsoft.com/office/drawing/2014/main" id="{18A213F8-5C71-4CC3-8F48-1D4511683ED9}"/>
              </a:ext>
            </a:extLst>
          </p:cNvPr>
          <p:cNvSpPr>
            <a:spLocks xmlns:a="http://schemas.openxmlformats.org/drawingml/2006/main" noGrp="1"/>
          </p:cNvSpPr>
          <p:nvPr/>
        </p:nvSpPr>
        <p:spPr>
          <a:xfrm xmlns:a="http://schemas.openxmlformats.org/drawingml/2006/main">
            <a:off x="2400300" y="3800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45" name="">
            <a:extLst xmlns:a="http://schemas.openxmlformats.org/drawingml/2006/main">
              <a:ext uri="{FF2B5EF4-FFF2-40B4-BE49-F238E27FC236}">
                <a16:creationId xmlns:a16="http://schemas.microsoft.com/office/drawing/2014/main" id="{B605D7D3-DC80-4B34-B67A-8E3D37335098}"/>
              </a:ext>
            </a:extLst>
          </p:cNvPr>
          <p:cNvSpPr>
            <a:spLocks xmlns:a="http://schemas.openxmlformats.org/drawingml/2006/main" noGrp="1"/>
          </p:cNvSpPr>
          <p:nvPr/>
        </p:nvSpPr>
        <p:spPr>
          <a:xfrm xmlns:a="http://schemas.openxmlformats.org/drawingml/2006/main">
            <a:off x="3067050" y="3800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Console and telemetry</a:t>
            </a:r>
          </a:p>
        </p:txBody>
      </p:sp>
      <p:sp>
        <p:nvSpPr>
          <p:cNvPr id="46" name="">
            <a:extLst xmlns:a="http://schemas.openxmlformats.org/drawingml/2006/main">
              <a:ext uri="{FF2B5EF4-FFF2-40B4-BE49-F238E27FC236}">
                <a16:creationId xmlns:a16="http://schemas.microsoft.com/office/drawing/2014/main" id="{8046623C-C57B-4714-813B-85EBD07799D2}"/>
              </a:ext>
            </a:extLst>
          </p:cNvPr>
          <p:cNvSpPr>
            <a:spLocks xmlns:a="http://schemas.openxmlformats.org/drawingml/2006/main" noGrp="1"/>
          </p:cNvSpPr>
          <p:nvPr/>
        </p:nvSpPr>
        <p:spPr>
          <a:xfrm xmlns:a="http://schemas.openxmlformats.org/drawingml/2006/main">
            <a:off x="457200" y="4076700"/>
            <a:ext cx="550545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7" name="">
            <a:extLst xmlns:a="http://schemas.openxmlformats.org/drawingml/2006/main">
              <a:ext uri="{FF2B5EF4-FFF2-40B4-BE49-F238E27FC236}">
                <a16:creationId xmlns:a16="http://schemas.microsoft.com/office/drawing/2014/main" id="{D84C519F-999E-4BB4-8C3C-470B1DA81917}"/>
              </a:ext>
            </a:extLst>
          </p:cNvPr>
          <p:cNvSpPr>
            <a:spLocks xmlns:a="http://schemas.openxmlformats.org/drawingml/2006/main" noGrp="1"/>
          </p:cNvSpPr>
          <p:nvPr/>
        </p:nvSpPr>
        <p:spPr>
          <a:xfrm xmlns:a="http://schemas.openxmlformats.org/drawingml/2006/main">
            <a:off x="590550" y="4181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SPI</a:t>
            </a:r>
          </a:p>
        </p:txBody>
      </p:sp>
      <p:sp>
        <p:nvSpPr>
          <p:cNvPr id="48" name="">
            <a:extLst xmlns:a="http://schemas.openxmlformats.org/drawingml/2006/main">
              <a:ext uri="{FF2B5EF4-FFF2-40B4-BE49-F238E27FC236}">
                <a16:creationId xmlns:a16="http://schemas.microsoft.com/office/drawing/2014/main" id="{7496635E-90D3-494C-B7A1-BB8AD05CC017}"/>
              </a:ext>
            </a:extLst>
          </p:cNvPr>
          <p:cNvSpPr>
            <a:spLocks xmlns:a="http://schemas.openxmlformats.org/drawingml/2006/main" noGrp="1"/>
          </p:cNvSpPr>
          <p:nvPr/>
        </p:nvSpPr>
        <p:spPr>
          <a:xfrm xmlns:a="http://schemas.openxmlformats.org/drawingml/2006/main">
            <a:off x="2400300" y="4181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49" name="">
            <a:extLst xmlns:a="http://schemas.openxmlformats.org/drawingml/2006/main">
              <a:ext uri="{FF2B5EF4-FFF2-40B4-BE49-F238E27FC236}">
                <a16:creationId xmlns:a16="http://schemas.microsoft.com/office/drawing/2014/main" id="{B9F4B6EE-50F5-486E-A141-484EADC9D4D8}"/>
              </a:ext>
            </a:extLst>
          </p:cNvPr>
          <p:cNvSpPr>
            <a:spLocks xmlns:a="http://schemas.openxmlformats.org/drawingml/2006/main" noGrp="1"/>
          </p:cNvSpPr>
          <p:nvPr/>
        </p:nvSpPr>
        <p:spPr>
          <a:xfrm xmlns:a="http://schemas.openxmlformats.org/drawingml/2006/main">
            <a:off x="3067050" y="4181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Master clock, data, select</a:t>
            </a:r>
          </a:p>
        </p:txBody>
      </p:sp>
      <p:sp>
        <p:nvSpPr>
          <p:cNvPr id="50" name="">
            <a:extLst xmlns:a="http://schemas.openxmlformats.org/drawingml/2006/main">
              <a:ext uri="{FF2B5EF4-FFF2-40B4-BE49-F238E27FC236}">
                <a16:creationId xmlns:a16="http://schemas.microsoft.com/office/drawing/2014/main" id="{0F7BBFC8-180B-41D0-998C-6EFC4B35B6C5}"/>
              </a:ext>
            </a:extLst>
          </p:cNvPr>
          <p:cNvSpPr>
            <a:spLocks xmlns:a="http://schemas.openxmlformats.org/drawingml/2006/main" noGrp="1"/>
          </p:cNvSpPr>
          <p:nvPr/>
        </p:nvSpPr>
        <p:spPr>
          <a:xfrm xmlns:a="http://schemas.openxmlformats.org/drawingml/2006/main">
            <a:off x="457200" y="4457700"/>
            <a:ext cx="55054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51" name="">
            <a:extLst xmlns:a="http://schemas.openxmlformats.org/drawingml/2006/main">
              <a:ext uri="{FF2B5EF4-FFF2-40B4-BE49-F238E27FC236}">
                <a16:creationId xmlns:a16="http://schemas.microsoft.com/office/drawing/2014/main" id="{BA664F61-E7A1-40EB-9C96-BE9529B67A4D}"/>
              </a:ext>
            </a:extLst>
          </p:cNvPr>
          <p:cNvSpPr>
            <a:spLocks xmlns:a="http://schemas.openxmlformats.org/drawingml/2006/main" noGrp="1"/>
          </p:cNvSpPr>
          <p:nvPr/>
        </p:nvSpPr>
        <p:spPr>
          <a:xfrm xmlns:a="http://schemas.openxmlformats.org/drawingml/2006/main">
            <a:off x="590550" y="4562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I²C</a:t>
            </a:r>
          </a:p>
        </p:txBody>
      </p:sp>
      <p:sp>
        <p:nvSpPr>
          <p:cNvPr id="52" name="">
            <a:extLst xmlns:a="http://schemas.openxmlformats.org/drawingml/2006/main">
              <a:ext uri="{FF2B5EF4-FFF2-40B4-BE49-F238E27FC236}">
                <a16:creationId xmlns:a16="http://schemas.microsoft.com/office/drawing/2014/main" id="{30BC968B-828E-435C-82DC-D19A90A80579}"/>
              </a:ext>
            </a:extLst>
          </p:cNvPr>
          <p:cNvSpPr>
            <a:spLocks xmlns:a="http://schemas.openxmlformats.org/drawingml/2006/main" noGrp="1"/>
          </p:cNvSpPr>
          <p:nvPr/>
        </p:nvSpPr>
        <p:spPr>
          <a:xfrm xmlns:a="http://schemas.openxmlformats.org/drawingml/2006/main">
            <a:off x="2400300" y="4562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53" name="">
            <a:extLst xmlns:a="http://schemas.openxmlformats.org/drawingml/2006/main">
              <a:ext uri="{FF2B5EF4-FFF2-40B4-BE49-F238E27FC236}">
                <a16:creationId xmlns:a16="http://schemas.microsoft.com/office/drawing/2014/main" id="{7179FDC2-5C1C-4DBD-A658-33B09D775607}"/>
              </a:ext>
            </a:extLst>
          </p:cNvPr>
          <p:cNvSpPr>
            <a:spLocks xmlns:a="http://schemas.openxmlformats.org/drawingml/2006/main" noGrp="1"/>
          </p:cNvSpPr>
          <p:nvPr/>
        </p:nvSpPr>
        <p:spPr>
          <a:xfrm xmlns:a="http://schemas.openxmlformats.org/drawingml/2006/main">
            <a:off x="3067050" y="4562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Clock and data, open-drain</a:t>
            </a:r>
          </a:p>
        </p:txBody>
      </p:sp>
      <p:sp>
        <p:nvSpPr>
          <p:cNvPr id="54" name="">
            <a:extLst xmlns:a="http://schemas.openxmlformats.org/drawingml/2006/main">
              <a:ext uri="{FF2B5EF4-FFF2-40B4-BE49-F238E27FC236}">
                <a16:creationId xmlns:a16="http://schemas.microsoft.com/office/drawing/2014/main" id="{F5480825-D990-46B0-A2F3-FC41C9F5EC88}"/>
              </a:ext>
            </a:extLst>
          </p:cNvPr>
          <p:cNvSpPr>
            <a:spLocks xmlns:a="http://schemas.openxmlformats.org/drawingml/2006/main" noGrp="1"/>
          </p:cNvSpPr>
          <p:nvPr/>
        </p:nvSpPr>
        <p:spPr>
          <a:xfrm xmlns:a="http://schemas.openxmlformats.org/drawingml/2006/main">
            <a:off x="457200" y="4838700"/>
            <a:ext cx="550545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55" name="">
            <a:extLst xmlns:a="http://schemas.openxmlformats.org/drawingml/2006/main">
              <a:ext uri="{FF2B5EF4-FFF2-40B4-BE49-F238E27FC236}">
                <a16:creationId xmlns:a16="http://schemas.microsoft.com/office/drawing/2014/main" id="{98224524-9254-4927-A12A-318CC67D06A3}"/>
              </a:ext>
            </a:extLst>
          </p:cNvPr>
          <p:cNvSpPr>
            <a:spLocks xmlns:a="http://schemas.openxmlformats.org/drawingml/2006/main" noGrp="1"/>
          </p:cNvSpPr>
          <p:nvPr/>
        </p:nvSpPr>
        <p:spPr>
          <a:xfrm xmlns:a="http://schemas.openxmlformats.org/drawingml/2006/main">
            <a:off x="590550" y="4943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GPIO</a:t>
            </a:r>
          </a:p>
        </p:txBody>
      </p:sp>
      <p:sp>
        <p:nvSpPr>
          <p:cNvPr id="56" name="">
            <a:extLst xmlns:a="http://schemas.openxmlformats.org/drawingml/2006/main">
              <a:ext uri="{FF2B5EF4-FFF2-40B4-BE49-F238E27FC236}">
                <a16:creationId xmlns:a16="http://schemas.microsoft.com/office/drawing/2014/main" id="{BB70301F-FA0F-4FC9-92DD-CF1A277DBC2D}"/>
              </a:ext>
            </a:extLst>
          </p:cNvPr>
          <p:cNvSpPr>
            <a:spLocks xmlns:a="http://schemas.openxmlformats.org/drawingml/2006/main" noGrp="1"/>
          </p:cNvSpPr>
          <p:nvPr/>
        </p:nvSpPr>
        <p:spPr>
          <a:xfrm xmlns:a="http://schemas.openxmlformats.org/drawingml/2006/main">
            <a:off x="2400300" y="4943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3</a:t>
            </a:r>
          </a:p>
        </p:txBody>
      </p:sp>
      <p:sp>
        <p:nvSpPr>
          <p:cNvPr id="57" name="">
            <a:extLst xmlns:a="http://schemas.openxmlformats.org/drawingml/2006/main">
              <a:ext uri="{FF2B5EF4-FFF2-40B4-BE49-F238E27FC236}">
                <a16:creationId xmlns:a16="http://schemas.microsoft.com/office/drawing/2014/main" id="{0C4BABD5-87D5-48A2-A79E-B889359C70BA}"/>
              </a:ext>
            </a:extLst>
          </p:cNvPr>
          <p:cNvSpPr>
            <a:spLocks xmlns:a="http://schemas.openxmlformats.org/drawingml/2006/main" noGrp="1"/>
          </p:cNvSpPr>
          <p:nvPr/>
        </p:nvSpPr>
        <p:spPr>
          <a:xfrm xmlns:a="http://schemas.openxmlformats.org/drawingml/2006/main">
            <a:off x="3067050" y="4943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General-purpose pins</a:t>
            </a:r>
          </a:p>
        </p:txBody>
      </p:sp>
      <p:sp>
        <p:nvSpPr>
          <p:cNvPr id="58" name="">
            <a:extLst xmlns:a="http://schemas.openxmlformats.org/drawingml/2006/main">
              <a:ext uri="{FF2B5EF4-FFF2-40B4-BE49-F238E27FC236}">
                <a16:creationId xmlns:a16="http://schemas.microsoft.com/office/drawing/2014/main" id="{8E2D7E7C-F280-49FC-B5DA-D5CFE489BB63}"/>
              </a:ext>
            </a:extLst>
          </p:cNvPr>
          <p:cNvSpPr>
            <a:spLocks xmlns:a="http://schemas.openxmlformats.org/drawingml/2006/main" noGrp="1"/>
          </p:cNvSpPr>
          <p:nvPr/>
        </p:nvSpPr>
        <p:spPr>
          <a:xfrm xmlns:a="http://schemas.openxmlformats.org/drawingml/2006/main">
            <a:off x="457200" y="5219700"/>
            <a:ext cx="55054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59" name="">
            <a:extLst xmlns:a="http://schemas.openxmlformats.org/drawingml/2006/main">
              <a:ext uri="{FF2B5EF4-FFF2-40B4-BE49-F238E27FC236}">
                <a16:creationId xmlns:a16="http://schemas.microsoft.com/office/drawing/2014/main" id="{DD2BD12A-F246-4562-9BF5-03B16A6FFE9D}"/>
              </a:ext>
            </a:extLst>
          </p:cNvPr>
          <p:cNvSpPr>
            <a:spLocks xmlns:a="http://schemas.openxmlformats.org/drawingml/2006/main" noGrp="1"/>
          </p:cNvSpPr>
          <p:nvPr/>
        </p:nvSpPr>
        <p:spPr>
          <a:xfrm xmlns:a="http://schemas.openxmlformats.org/drawingml/2006/main">
            <a:off x="590550" y="5324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FAULTn</a:t>
            </a:r>
          </a:p>
        </p:txBody>
      </p:sp>
      <p:sp>
        <p:nvSpPr>
          <p:cNvPr id="60" name="">
            <a:extLst xmlns:a="http://schemas.openxmlformats.org/drawingml/2006/main">
              <a:ext uri="{FF2B5EF4-FFF2-40B4-BE49-F238E27FC236}">
                <a16:creationId xmlns:a16="http://schemas.microsoft.com/office/drawing/2014/main" id="{D8A0FFA2-F1AF-4E1F-A876-D3C60128D6D2}"/>
              </a:ext>
            </a:extLst>
          </p:cNvPr>
          <p:cNvSpPr>
            <a:spLocks xmlns:a="http://schemas.openxmlformats.org/drawingml/2006/main" noGrp="1"/>
          </p:cNvSpPr>
          <p:nvPr/>
        </p:nvSpPr>
        <p:spPr>
          <a:xfrm xmlns:a="http://schemas.openxmlformats.org/drawingml/2006/main">
            <a:off x="2400300" y="5324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a:t>
            </a:r>
          </a:p>
        </p:txBody>
      </p:sp>
      <p:sp>
        <p:nvSpPr>
          <p:cNvPr id="61" name="">
            <a:extLst xmlns:a="http://schemas.openxmlformats.org/drawingml/2006/main">
              <a:ext uri="{FF2B5EF4-FFF2-40B4-BE49-F238E27FC236}">
                <a16:creationId xmlns:a16="http://schemas.microsoft.com/office/drawing/2014/main" id="{B2F6C394-3043-4FCB-96C6-AF982F83B08D}"/>
              </a:ext>
            </a:extLst>
          </p:cNvPr>
          <p:cNvSpPr>
            <a:spLocks xmlns:a="http://schemas.openxmlformats.org/drawingml/2006/main" noGrp="1"/>
          </p:cNvSpPr>
          <p:nvPr/>
        </p:nvSpPr>
        <p:spPr>
          <a:xfrm xmlns:a="http://schemas.openxmlformats.org/drawingml/2006/main">
            <a:off x="3067050" y="5324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Lockstep fault output</a:t>
            </a:r>
          </a:p>
        </p:txBody>
      </p:sp>
      <p:sp>
        <p:nvSpPr>
          <p:cNvPr id="62" name="">
            <a:extLst xmlns:a="http://schemas.openxmlformats.org/drawingml/2006/main">
              <a:ext uri="{FF2B5EF4-FFF2-40B4-BE49-F238E27FC236}">
                <a16:creationId xmlns:a16="http://schemas.microsoft.com/office/drawing/2014/main" id="{15AFE44D-DFFD-440B-97FB-0279CB927E26}"/>
              </a:ext>
            </a:extLst>
          </p:cNvPr>
          <p:cNvSpPr>
            <a:spLocks xmlns:a="http://schemas.openxmlformats.org/drawingml/2006/main" noGrp="1"/>
          </p:cNvSpPr>
          <p:nvPr/>
        </p:nvSpPr>
        <p:spPr>
          <a:xfrm xmlns:a="http://schemas.openxmlformats.org/drawingml/2006/main">
            <a:off x="6229350" y="2590800"/>
            <a:ext cx="5505450" cy="3429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EE7352D2-D925-413B-A3B8-3FBF42C8E53F}"/>
              </a:ext>
            </a:extLst>
          </p:cNvPr>
          <p:cNvSpPr>
            <a:spLocks xmlns:a="http://schemas.openxmlformats.org/drawingml/2006/main" noGrp="1"/>
          </p:cNvSpPr>
          <p:nvPr/>
        </p:nvSpPr>
        <p:spPr>
          <a:xfrm xmlns:a="http://schemas.openxmlformats.org/drawingml/2006/main">
            <a:off x="6362700" y="2705100"/>
            <a:ext cx="1619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GROUP</a:t>
            </a:r>
          </a:p>
        </p:txBody>
      </p:sp>
      <p:sp>
        <p:nvSpPr>
          <p:cNvPr id="64" name="">
            <a:extLst xmlns:a="http://schemas.openxmlformats.org/drawingml/2006/main">
              <a:ext uri="{FF2B5EF4-FFF2-40B4-BE49-F238E27FC236}">
                <a16:creationId xmlns:a16="http://schemas.microsoft.com/office/drawing/2014/main" id="{44985051-703F-43A5-92BA-2C4140C532C8}"/>
              </a:ext>
            </a:extLst>
          </p:cNvPr>
          <p:cNvSpPr>
            <a:spLocks xmlns:a="http://schemas.openxmlformats.org/drawingml/2006/main" noGrp="1"/>
          </p:cNvSpPr>
          <p:nvPr/>
        </p:nvSpPr>
        <p:spPr>
          <a:xfrm xmlns:a="http://schemas.openxmlformats.org/drawingml/2006/main">
            <a:off x="8172450" y="2705100"/>
            <a:ext cx="476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PADS</a:t>
            </a:r>
          </a:p>
        </p:txBody>
      </p:sp>
      <p:sp>
        <p:nvSpPr>
          <p:cNvPr id="65" name="">
            <a:extLst xmlns:a="http://schemas.openxmlformats.org/drawingml/2006/main">
              <a:ext uri="{FF2B5EF4-FFF2-40B4-BE49-F238E27FC236}">
                <a16:creationId xmlns:a16="http://schemas.microsoft.com/office/drawing/2014/main" id="{650FFB46-58EE-4A69-82F3-2D0829A77211}"/>
              </a:ext>
            </a:extLst>
          </p:cNvPr>
          <p:cNvSpPr>
            <a:spLocks xmlns:a="http://schemas.openxmlformats.org/drawingml/2006/main" noGrp="1"/>
          </p:cNvSpPr>
          <p:nvPr/>
        </p:nvSpPr>
        <p:spPr>
          <a:xfrm xmlns:a="http://schemas.openxmlformats.org/drawingml/2006/main">
            <a:off x="8839200" y="2705100"/>
            <a:ext cx="28384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CARRIES</a:t>
            </a:r>
          </a:p>
        </p:txBody>
      </p:sp>
      <p:sp>
        <p:nvSpPr>
          <p:cNvPr id="66" name="">
            <a:extLst xmlns:a="http://schemas.openxmlformats.org/drawingml/2006/main">
              <a:ext uri="{FF2B5EF4-FFF2-40B4-BE49-F238E27FC236}">
                <a16:creationId xmlns:a16="http://schemas.microsoft.com/office/drawing/2014/main" id="{74877598-03C2-4C8D-89BF-98851A91F64F}"/>
              </a:ext>
            </a:extLst>
          </p:cNvPr>
          <p:cNvSpPr>
            <a:spLocks xmlns:a="http://schemas.openxmlformats.org/drawingml/2006/main" noGrp="1"/>
          </p:cNvSpPr>
          <p:nvPr/>
        </p:nvSpPr>
        <p:spPr>
          <a:xfrm xmlns:a="http://schemas.openxmlformats.org/drawingml/2006/main">
            <a:off x="6229350" y="2933700"/>
            <a:ext cx="55054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67" name="">
            <a:extLst xmlns:a="http://schemas.openxmlformats.org/drawingml/2006/main">
              <a:ext uri="{FF2B5EF4-FFF2-40B4-BE49-F238E27FC236}">
                <a16:creationId xmlns:a16="http://schemas.microsoft.com/office/drawing/2014/main" id="{77C8470D-76B3-4A95-B01D-A07C21DAD68E}"/>
              </a:ext>
            </a:extLst>
          </p:cNvPr>
          <p:cNvSpPr>
            <a:spLocks xmlns:a="http://schemas.openxmlformats.org/drawingml/2006/main" noGrp="1"/>
          </p:cNvSpPr>
          <p:nvPr/>
        </p:nvSpPr>
        <p:spPr>
          <a:xfrm xmlns:a="http://schemas.openxmlformats.org/drawingml/2006/main">
            <a:off x="6362700" y="3038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Supply-good</a:t>
            </a:r>
          </a:p>
        </p:txBody>
      </p:sp>
      <p:sp>
        <p:nvSpPr>
          <p:cNvPr id="68" name="">
            <a:extLst xmlns:a="http://schemas.openxmlformats.org/drawingml/2006/main">
              <a:ext uri="{FF2B5EF4-FFF2-40B4-BE49-F238E27FC236}">
                <a16:creationId xmlns:a16="http://schemas.microsoft.com/office/drawing/2014/main" id="{DE04925A-AB54-43D0-A90F-582FA7E5A178}"/>
              </a:ext>
            </a:extLst>
          </p:cNvPr>
          <p:cNvSpPr>
            <a:spLocks xmlns:a="http://schemas.openxmlformats.org/drawingml/2006/main" noGrp="1"/>
          </p:cNvSpPr>
          <p:nvPr/>
        </p:nvSpPr>
        <p:spPr>
          <a:xfrm xmlns:a="http://schemas.openxmlformats.org/drawingml/2006/main">
            <a:off x="8172450" y="3038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69" name="">
            <a:extLst xmlns:a="http://schemas.openxmlformats.org/drawingml/2006/main">
              <a:ext uri="{FF2B5EF4-FFF2-40B4-BE49-F238E27FC236}">
                <a16:creationId xmlns:a16="http://schemas.microsoft.com/office/drawing/2014/main" id="{9E3E6CB1-86F0-440A-9E32-972FECD19FC0}"/>
              </a:ext>
            </a:extLst>
          </p:cNvPr>
          <p:cNvSpPr>
            <a:spLocks xmlns:a="http://schemas.openxmlformats.org/drawingml/2006/main" noGrp="1"/>
          </p:cNvSpPr>
          <p:nvPr/>
        </p:nvSpPr>
        <p:spPr>
          <a:xfrm xmlns:a="http://schemas.openxmlformats.org/drawingml/2006/main">
            <a:off x="8839200" y="3038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Supervisor inputs</a:t>
            </a:r>
          </a:p>
        </p:txBody>
      </p:sp>
      <p:sp>
        <p:nvSpPr>
          <p:cNvPr id="70" name="">
            <a:extLst xmlns:a="http://schemas.openxmlformats.org/drawingml/2006/main">
              <a:ext uri="{FF2B5EF4-FFF2-40B4-BE49-F238E27FC236}">
                <a16:creationId xmlns:a16="http://schemas.microsoft.com/office/drawing/2014/main" id="{9DE684A8-E862-4956-AB68-7FBAEC79A16B}"/>
              </a:ext>
            </a:extLst>
          </p:cNvPr>
          <p:cNvSpPr>
            <a:spLocks xmlns:a="http://schemas.openxmlformats.org/drawingml/2006/main" noGrp="1"/>
          </p:cNvSpPr>
          <p:nvPr/>
        </p:nvSpPr>
        <p:spPr>
          <a:xfrm xmlns:a="http://schemas.openxmlformats.org/drawingml/2006/main">
            <a:off x="6229350" y="3314700"/>
            <a:ext cx="550545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71" name="">
            <a:extLst xmlns:a="http://schemas.openxmlformats.org/drawingml/2006/main">
              <a:ext uri="{FF2B5EF4-FFF2-40B4-BE49-F238E27FC236}">
                <a16:creationId xmlns:a16="http://schemas.microsoft.com/office/drawing/2014/main" id="{0F8912A6-A157-47B8-B38B-3FAC057345BF}"/>
              </a:ext>
            </a:extLst>
          </p:cNvPr>
          <p:cNvSpPr>
            <a:spLocks xmlns:a="http://schemas.openxmlformats.org/drawingml/2006/main" noGrp="1"/>
          </p:cNvSpPr>
          <p:nvPr/>
        </p:nvSpPr>
        <p:spPr>
          <a:xfrm xmlns:a="http://schemas.openxmlformats.org/drawingml/2006/main">
            <a:off x="6362700" y="3419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ADC</a:t>
            </a:r>
          </a:p>
        </p:txBody>
      </p:sp>
      <p:sp>
        <p:nvSpPr>
          <p:cNvPr id="72" name="">
            <a:extLst xmlns:a="http://schemas.openxmlformats.org/drawingml/2006/main">
              <a:ext uri="{FF2B5EF4-FFF2-40B4-BE49-F238E27FC236}">
                <a16:creationId xmlns:a16="http://schemas.microsoft.com/office/drawing/2014/main" id="{77640C1B-FD55-4898-8726-9DEACC9FCE45}"/>
              </a:ext>
            </a:extLst>
          </p:cNvPr>
          <p:cNvSpPr>
            <a:spLocks xmlns:a="http://schemas.openxmlformats.org/drawingml/2006/main" noGrp="1"/>
          </p:cNvSpPr>
          <p:nvPr/>
        </p:nvSpPr>
        <p:spPr>
          <a:xfrm xmlns:a="http://schemas.openxmlformats.org/drawingml/2006/main">
            <a:off x="8172450" y="3419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73" name="">
            <a:extLst xmlns:a="http://schemas.openxmlformats.org/drawingml/2006/main">
              <a:ext uri="{FF2B5EF4-FFF2-40B4-BE49-F238E27FC236}">
                <a16:creationId xmlns:a16="http://schemas.microsoft.com/office/drawing/2014/main" id="{A9E6D4FA-25C4-4055-AB50-50F7F051CC2A}"/>
              </a:ext>
            </a:extLst>
          </p:cNvPr>
          <p:cNvSpPr>
            <a:spLocks xmlns:a="http://schemas.openxmlformats.org/drawingml/2006/main" noGrp="1"/>
          </p:cNvSpPr>
          <p:nvPr/>
        </p:nvSpPr>
        <p:spPr>
          <a:xfrm xmlns:a="http://schemas.openxmlformats.org/drawingml/2006/main">
            <a:off x="8839200" y="3419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Differential analog inputs</a:t>
            </a:r>
          </a:p>
        </p:txBody>
      </p:sp>
      <p:sp>
        <p:nvSpPr>
          <p:cNvPr id="74" name="">
            <a:extLst xmlns:a="http://schemas.openxmlformats.org/drawingml/2006/main">
              <a:ext uri="{FF2B5EF4-FFF2-40B4-BE49-F238E27FC236}">
                <a16:creationId xmlns:a16="http://schemas.microsoft.com/office/drawing/2014/main" id="{E77854DE-0F06-4943-A04A-621FA31E82D0}"/>
              </a:ext>
            </a:extLst>
          </p:cNvPr>
          <p:cNvSpPr>
            <a:spLocks xmlns:a="http://schemas.openxmlformats.org/drawingml/2006/main" noGrp="1"/>
          </p:cNvSpPr>
          <p:nvPr/>
        </p:nvSpPr>
        <p:spPr>
          <a:xfrm xmlns:a="http://schemas.openxmlformats.org/drawingml/2006/main">
            <a:off x="6229350" y="3695700"/>
            <a:ext cx="55054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75" name="">
            <a:extLst xmlns:a="http://schemas.openxmlformats.org/drawingml/2006/main">
              <a:ext uri="{FF2B5EF4-FFF2-40B4-BE49-F238E27FC236}">
                <a16:creationId xmlns:a16="http://schemas.microsoft.com/office/drawing/2014/main" id="{DA69C646-82F3-4743-AF91-A872360BF9C0}"/>
              </a:ext>
            </a:extLst>
          </p:cNvPr>
          <p:cNvSpPr>
            <a:spLocks xmlns:a="http://schemas.openxmlformats.org/drawingml/2006/main" noGrp="1"/>
          </p:cNvSpPr>
          <p:nvPr/>
        </p:nvSpPr>
        <p:spPr>
          <a:xfrm xmlns:a="http://schemas.openxmlformats.org/drawingml/2006/main">
            <a:off x="6362700" y="3800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PWM + trigger</a:t>
            </a:r>
          </a:p>
        </p:txBody>
      </p:sp>
      <p:sp>
        <p:nvSpPr>
          <p:cNvPr id="76" name="">
            <a:extLst xmlns:a="http://schemas.openxmlformats.org/drawingml/2006/main">
              <a:ext uri="{FF2B5EF4-FFF2-40B4-BE49-F238E27FC236}">
                <a16:creationId xmlns:a16="http://schemas.microsoft.com/office/drawing/2014/main" id="{4B375738-6EB3-468E-911C-238A7588B459}"/>
              </a:ext>
            </a:extLst>
          </p:cNvPr>
          <p:cNvSpPr>
            <a:spLocks xmlns:a="http://schemas.openxmlformats.org/drawingml/2006/main" noGrp="1"/>
          </p:cNvSpPr>
          <p:nvPr/>
        </p:nvSpPr>
        <p:spPr>
          <a:xfrm xmlns:a="http://schemas.openxmlformats.org/drawingml/2006/main">
            <a:off x="8172450" y="3800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7</a:t>
            </a:r>
          </a:p>
        </p:txBody>
      </p:sp>
      <p:sp>
        <p:nvSpPr>
          <p:cNvPr id="77" name="">
            <a:extLst xmlns:a="http://schemas.openxmlformats.org/drawingml/2006/main">
              <a:ext uri="{FF2B5EF4-FFF2-40B4-BE49-F238E27FC236}">
                <a16:creationId xmlns:a16="http://schemas.microsoft.com/office/drawing/2014/main" id="{2DC8997F-E5A6-470D-B9CC-EF4D32DD4C18}"/>
              </a:ext>
            </a:extLst>
          </p:cNvPr>
          <p:cNvSpPr>
            <a:spLocks xmlns:a="http://schemas.openxmlformats.org/drawingml/2006/main" noGrp="1"/>
          </p:cNvSpPr>
          <p:nvPr/>
        </p:nvSpPr>
        <p:spPr>
          <a:xfrm xmlns:a="http://schemas.openxmlformats.org/drawingml/2006/main">
            <a:off x="8839200" y="3800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Six gate outputs, ADC trigger</a:t>
            </a:r>
          </a:p>
        </p:txBody>
      </p:sp>
      <p:sp>
        <p:nvSpPr>
          <p:cNvPr id="78" name="">
            <a:extLst xmlns:a="http://schemas.openxmlformats.org/drawingml/2006/main">
              <a:ext uri="{FF2B5EF4-FFF2-40B4-BE49-F238E27FC236}">
                <a16:creationId xmlns:a16="http://schemas.microsoft.com/office/drawing/2014/main" id="{5F50F2E7-E7ED-4B3F-BC51-F6F3D06B8921}"/>
              </a:ext>
            </a:extLst>
          </p:cNvPr>
          <p:cNvSpPr>
            <a:spLocks xmlns:a="http://schemas.openxmlformats.org/drawingml/2006/main" noGrp="1"/>
          </p:cNvSpPr>
          <p:nvPr/>
        </p:nvSpPr>
        <p:spPr>
          <a:xfrm xmlns:a="http://schemas.openxmlformats.org/drawingml/2006/main">
            <a:off x="6229350" y="4076700"/>
            <a:ext cx="550545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79" name="">
            <a:extLst xmlns:a="http://schemas.openxmlformats.org/drawingml/2006/main">
              <a:ext uri="{FF2B5EF4-FFF2-40B4-BE49-F238E27FC236}">
                <a16:creationId xmlns:a16="http://schemas.microsoft.com/office/drawing/2014/main" id="{66EEAFAE-156E-43B0-87D3-5503EE47A86B}"/>
              </a:ext>
            </a:extLst>
          </p:cNvPr>
          <p:cNvSpPr>
            <a:spLocks xmlns:a="http://schemas.openxmlformats.org/drawingml/2006/main" noGrp="1"/>
          </p:cNvSpPr>
          <p:nvPr/>
        </p:nvSpPr>
        <p:spPr>
          <a:xfrm xmlns:a="http://schemas.openxmlformats.org/drawingml/2006/main">
            <a:off x="6362700" y="4181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Encoder + Hall</a:t>
            </a:r>
          </a:p>
        </p:txBody>
      </p:sp>
      <p:sp>
        <p:nvSpPr>
          <p:cNvPr id="80" name="">
            <a:extLst xmlns:a="http://schemas.openxmlformats.org/drawingml/2006/main">
              <a:ext uri="{FF2B5EF4-FFF2-40B4-BE49-F238E27FC236}">
                <a16:creationId xmlns:a16="http://schemas.microsoft.com/office/drawing/2014/main" id="{71543475-F240-4CC4-9697-4FBEA99D4019}"/>
              </a:ext>
            </a:extLst>
          </p:cNvPr>
          <p:cNvSpPr>
            <a:spLocks xmlns:a="http://schemas.openxmlformats.org/drawingml/2006/main" noGrp="1"/>
          </p:cNvSpPr>
          <p:nvPr/>
        </p:nvSpPr>
        <p:spPr>
          <a:xfrm xmlns:a="http://schemas.openxmlformats.org/drawingml/2006/main">
            <a:off x="8172450" y="4181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6</a:t>
            </a:r>
          </a:p>
        </p:txBody>
      </p:sp>
      <p:sp>
        <p:nvSpPr>
          <p:cNvPr id="81" name="">
            <a:extLst xmlns:a="http://schemas.openxmlformats.org/drawingml/2006/main">
              <a:ext uri="{FF2B5EF4-FFF2-40B4-BE49-F238E27FC236}">
                <a16:creationId xmlns:a16="http://schemas.microsoft.com/office/drawing/2014/main" id="{AD7D2AE9-01BF-4B2F-BA7E-3DFF96E4F11D}"/>
              </a:ext>
            </a:extLst>
          </p:cNvPr>
          <p:cNvSpPr>
            <a:spLocks xmlns:a="http://schemas.openxmlformats.org/drawingml/2006/main" noGrp="1"/>
          </p:cNvSpPr>
          <p:nvPr/>
        </p:nvSpPr>
        <p:spPr>
          <a:xfrm xmlns:a="http://schemas.openxmlformats.org/drawingml/2006/main">
            <a:off x="8839200" y="4181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 B, Z and three Hall inputs</a:t>
            </a:r>
          </a:p>
        </p:txBody>
      </p:sp>
      <p:sp>
        <p:nvSpPr>
          <p:cNvPr id="82" name="">
            <a:extLst xmlns:a="http://schemas.openxmlformats.org/drawingml/2006/main">
              <a:ext uri="{FF2B5EF4-FFF2-40B4-BE49-F238E27FC236}">
                <a16:creationId xmlns:a16="http://schemas.microsoft.com/office/drawing/2014/main" id="{B5295AB3-12E9-4A62-BD99-B9BDC24B9EE4}"/>
              </a:ext>
            </a:extLst>
          </p:cNvPr>
          <p:cNvSpPr>
            <a:spLocks xmlns:a="http://schemas.openxmlformats.org/drawingml/2006/main" noGrp="1"/>
          </p:cNvSpPr>
          <p:nvPr/>
        </p:nvSpPr>
        <p:spPr>
          <a:xfrm xmlns:a="http://schemas.openxmlformats.org/drawingml/2006/main">
            <a:off x="6229350" y="4457700"/>
            <a:ext cx="55054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83" name="">
            <a:extLst xmlns:a="http://schemas.openxmlformats.org/drawingml/2006/main">
              <a:ext uri="{FF2B5EF4-FFF2-40B4-BE49-F238E27FC236}">
                <a16:creationId xmlns:a16="http://schemas.microsoft.com/office/drawing/2014/main" id="{E86C13BD-8BD9-4D5D-98F3-9C2CF7944E8C}"/>
              </a:ext>
            </a:extLst>
          </p:cNvPr>
          <p:cNvSpPr>
            <a:spLocks xmlns:a="http://schemas.openxmlformats.org/drawingml/2006/main" noGrp="1"/>
          </p:cNvSpPr>
          <p:nvPr/>
        </p:nvSpPr>
        <p:spPr>
          <a:xfrm xmlns:a="http://schemas.openxmlformats.org/drawingml/2006/main">
            <a:off x="6362700" y="4562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JTAG</a:t>
            </a:r>
          </a:p>
        </p:txBody>
      </p:sp>
      <p:sp>
        <p:nvSpPr>
          <p:cNvPr id="84" name="">
            <a:extLst xmlns:a="http://schemas.openxmlformats.org/drawingml/2006/main">
              <a:ext uri="{FF2B5EF4-FFF2-40B4-BE49-F238E27FC236}">
                <a16:creationId xmlns:a16="http://schemas.microsoft.com/office/drawing/2014/main" id="{BCD92F4F-7295-4E73-B209-55103BEE41B0}"/>
              </a:ext>
            </a:extLst>
          </p:cNvPr>
          <p:cNvSpPr>
            <a:spLocks xmlns:a="http://schemas.openxmlformats.org/drawingml/2006/main" noGrp="1"/>
          </p:cNvSpPr>
          <p:nvPr/>
        </p:nvSpPr>
        <p:spPr>
          <a:xfrm xmlns:a="http://schemas.openxmlformats.org/drawingml/2006/main">
            <a:off x="8172450" y="4562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85" name="">
            <a:extLst xmlns:a="http://schemas.openxmlformats.org/drawingml/2006/main">
              <a:ext uri="{FF2B5EF4-FFF2-40B4-BE49-F238E27FC236}">
                <a16:creationId xmlns:a16="http://schemas.microsoft.com/office/drawing/2014/main" id="{0A7E45B2-4FED-42D5-B871-740812331337}"/>
              </a:ext>
            </a:extLst>
          </p:cNvPr>
          <p:cNvSpPr>
            <a:spLocks xmlns:a="http://schemas.openxmlformats.org/drawingml/2006/main" noGrp="1"/>
          </p:cNvSpPr>
          <p:nvPr/>
        </p:nvSpPr>
        <p:spPr>
          <a:xfrm xmlns:a="http://schemas.openxmlformats.org/drawingml/2006/main">
            <a:off x="8839200" y="4562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TCK, TMS, TDI, TDO</a:t>
            </a:r>
          </a:p>
        </p:txBody>
      </p:sp>
      <p:sp>
        <p:nvSpPr>
          <p:cNvPr id="86" name="">
            <a:extLst xmlns:a="http://schemas.openxmlformats.org/drawingml/2006/main">
              <a:ext uri="{FF2B5EF4-FFF2-40B4-BE49-F238E27FC236}">
                <a16:creationId xmlns:a16="http://schemas.microsoft.com/office/drawing/2014/main" id="{C1736065-62C0-413A-ACAC-C089D3EBEC76}"/>
              </a:ext>
            </a:extLst>
          </p:cNvPr>
          <p:cNvSpPr>
            <a:spLocks xmlns:a="http://schemas.openxmlformats.org/drawingml/2006/main" noGrp="1"/>
          </p:cNvSpPr>
          <p:nvPr/>
        </p:nvSpPr>
        <p:spPr>
          <a:xfrm xmlns:a="http://schemas.openxmlformats.org/drawingml/2006/main">
            <a:off x="6229350" y="4838700"/>
            <a:ext cx="550545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87" name="">
            <a:extLst xmlns:a="http://schemas.openxmlformats.org/drawingml/2006/main">
              <a:ext uri="{FF2B5EF4-FFF2-40B4-BE49-F238E27FC236}">
                <a16:creationId xmlns:a16="http://schemas.microsoft.com/office/drawing/2014/main" id="{DDC2C059-E6C0-40A7-9BF0-8000D228818F}"/>
              </a:ext>
            </a:extLst>
          </p:cNvPr>
          <p:cNvSpPr>
            <a:spLocks xmlns:a="http://schemas.openxmlformats.org/drawingml/2006/main" noGrp="1"/>
          </p:cNvSpPr>
          <p:nvPr/>
        </p:nvSpPr>
        <p:spPr>
          <a:xfrm xmlns:a="http://schemas.openxmlformats.org/drawingml/2006/main">
            <a:off x="6362700" y="4943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Reset</a:t>
            </a:r>
          </a:p>
        </p:txBody>
      </p:sp>
      <p:sp>
        <p:nvSpPr>
          <p:cNvPr id="88" name="">
            <a:extLst xmlns:a="http://schemas.openxmlformats.org/drawingml/2006/main">
              <a:ext uri="{FF2B5EF4-FFF2-40B4-BE49-F238E27FC236}">
                <a16:creationId xmlns:a16="http://schemas.microsoft.com/office/drawing/2014/main" id="{1A61BC63-39A3-494B-A6A1-7D944C476867}"/>
              </a:ext>
            </a:extLst>
          </p:cNvPr>
          <p:cNvSpPr>
            <a:spLocks xmlns:a="http://schemas.openxmlformats.org/drawingml/2006/main" noGrp="1"/>
          </p:cNvSpPr>
          <p:nvPr/>
        </p:nvSpPr>
        <p:spPr>
          <a:xfrm xmlns:a="http://schemas.openxmlformats.org/drawingml/2006/main">
            <a:off x="8172450" y="4943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a:t>
            </a:r>
          </a:p>
        </p:txBody>
      </p:sp>
      <p:sp>
        <p:nvSpPr>
          <p:cNvPr id="89" name="">
            <a:extLst xmlns:a="http://schemas.openxmlformats.org/drawingml/2006/main">
              <a:ext uri="{FF2B5EF4-FFF2-40B4-BE49-F238E27FC236}">
                <a16:creationId xmlns:a16="http://schemas.microsoft.com/office/drawing/2014/main" id="{CB0787A3-298A-4FA3-9F23-C0032CB5840B}"/>
              </a:ext>
            </a:extLst>
          </p:cNvPr>
          <p:cNvSpPr>
            <a:spLocks xmlns:a="http://schemas.openxmlformats.org/drawingml/2006/main" noGrp="1"/>
          </p:cNvSpPr>
          <p:nvPr/>
        </p:nvSpPr>
        <p:spPr>
          <a:xfrm xmlns:a="http://schemas.openxmlformats.org/drawingml/2006/main">
            <a:off x="8839200" y="4943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Active-low reset in</a:t>
            </a:r>
          </a:p>
        </p:txBody>
      </p:sp>
      <p:sp>
        <p:nvSpPr>
          <p:cNvPr id="90" name="">
            <a:extLst xmlns:a="http://schemas.openxmlformats.org/drawingml/2006/main">
              <a:ext uri="{FF2B5EF4-FFF2-40B4-BE49-F238E27FC236}">
                <a16:creationId xmlns:a16="http://schemas.microsoft.com/office/drawing/2014/main" id="{6FF80C5E-0E82-455C-91C2-09313E5AB6BC}"/>
              </a:ext>
            </a:extLst>
          </p:cNvPr>
          <p:cNvSpPr>
            <a:spLocks xmlns:a="http://schemas.openxmlformats.org/drawingml/2006/main" noGrp="1"/>
          </p:cNvSpPr>
          <p:nvPr/>
        </p:nvSpPr>
        <p:spPr>
          <a:xfrm xmlns:a="http://schemas.openxmlformats.org/drawingml/2006/main">
            <a:off x="457200" y="5810250"/>
            <a:ext cx="11277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The wrapper also holds the JTAG TAP and the power connections; the block and the wrapper are hardened in separate flows.</a:t>
            </a:r>
          </a:p>
        </p:txBody>
      </p:sp>
      <p:sp>
        <p:nvSpPr>
          <p:cNvPr id="91" name="">
            <a:extLst xmlns:a="http://schemas.openxmlformats.org/drawingml/2006/main">
              <a:ext uri="{FF2B5EF4-FFF2-40B4-BE49-F238E27FC236}">
                <a16:creationId xmlns:a16="http://schemas.microsoft.com/office/drawing/2014/main" id="{151DDF1F-CA33-486D-B8DB-51EE7F8E6088}"/>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wrapper pad plan (rev 2).</a:t>
            </a:r>
          </a:p>
        </p:txBody>
      </p:sp>
    </p:spTree>
    <p:extLst>
      <p:ext uri="{BB962C8B-B14F-4D97-AF65-F5344CB8AC3E}">
        <p14:creationId xmlns:p14="http://schemas.microsoft.com/office/powerpoint/2010/main" val="139819950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46FB3F36-42F2-4F6C-83C2-6A3D328C9C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7A3C792-38CC-4A4E-AF28-5217F510F36E}"/>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09 · PRODUCTION TEST</a:t>
            </a:r>
          </a:p>
        </p:txBody>
      </p:sp>
      <p:sp>
        <p:nvSpPr>
          <p:cNvPr id="3" name="">
            <a:extLst xmlns:a="http://schemas.openxmlformats.org/drawingml/2006/main">
              <a:ext uri="{FF2B5EF4-FFF2-40B4-BE49-F238E27FC236}">
                <a16:creationId xmlns:a16="http://schemas.microsoft.com/office/drawing/2014/main" id="{FE974773-D3C6-4A21-86F8-77739AB9E479}"/>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Production test reaches 13 scan chains via JTAG</a:t>
            </a:r>
          </a:p>
        </p:txBody>
      </p:sp>
      <p:sp>
        <p:nvSpPr>
          <p:cNvPr id="4" name="">
            <a:extLst xmlns:a="http://schemas.openxmlformats.org/drawingml/2006/main">
              <a:ext uri="{FF2B5EF4-FFF2-40B4-BE49-F238E27FC236}">
                <a16:creationId xmlns:a16="http://schemas.microsoft.com/office/drawing/2014/main" id="{08AB50C7-D340-4C74-AA24-2B2BF66E0260}"/>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Scan serves manufacturing test; interactive CPU debug is a separate roadmap item</a:t>
            </a:r>
          </a:p>
        </p:txBody>
      </p:sp>
      <p:sp>
        <p:nvSpPr>
          <p:cNvPr id="5" name="">
            <a:extLst xmlns:a="http://schemas.openxmlformats.org/drawingml/2006/main">
              <a:ext uri="{FF2B5EF4-FFF2-40B4-BE49-F238E27FC236}">
                <a16:creationId xmlns:a16="http://schemas.microsoft.com/office/drawing/2014/main" id="{EC9D8626-1265-46E5-830A-ACBC3B114FA8}"/>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53C02E5-ED17-4AA0-BCE5-6C7FE06D77D7}"/>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489959A-F204-4E47-AA49-94F59C585127}"/>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49C4F590-BC83-4F3E-8B42-AA667F953E3C}"/>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09</a:t>
            </a:r>
          </a:p>
        </p:txBody>
      </p:sp>
      <p:sp>
        <p:nvSpPr>
          <p:cNvPr id="9" name="">
            <a:extLst xmlns:a="http://schemas.openxmlformats.org/drawingml/2006/main">
              <a:ext uri="{FF2B5EF4-FFF2-40B4-BE49-F238E27FC236}">
                <a16:creationId xmlns:a16="http://schemas.microsoft.com/office/drawing/2014/main" id="{EAEB0C0C-0590-4C07-AA83-769B15EAB895}"/>
              </a:ext>
            </a:extLst>
          </p:cNvPr>
          <p:cNvSpPr>
            <a:spLocks xmlns:a="http://schemas.openxmlformats.org/drawingml/2006/main" noGrp="1"/>
          </p:cNvSpPr>
          <p:nvPr/>
        </p:nvSpPr>
        <p:spPr>
          <a:xfrm xmlns:a="http://schemas.openxmlformats.org/drawingml/2006/main">
            <a:off x="457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0" name="">
            <a:extLst xmlns:a="http://schemas.openxmlformats.org/drawingml/2006/main">
              <a:ext uri="{FF2B5EF4-FFF2-40B4-BE49-F238E27FC236}">
                <a16:creationId xmlns:a16="http://schemas.microsoft.com/office/drawing/2014/main" id="{B4311F8E-D931-41F7-92CC-14944A3C7520}"/>
              </a:ext>
            </a:extLst>
          </p:cNvPr>
          <p:cNvSpPr>
            <a:spLocks xmlns:a="http://schemas.openxmlformats.org/drawingml/2006/main" noGrp="1"/>
          </p:cNvSpPr>
          <p:nvPr/>
        </p:nvSpPr>
        <p:spPr>
          <a:xfrm xmlns:a="http://schemas.openxmlformats.org/drawingml/2006/main">
            <a:off x="457200" y="16954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21BE9DC-FA2F-4894-821C-01EE591B3A50}"/>
              </a:ext>
            </a:extLst>
          </p:cNvPr>
          <p:cNvSpPr>
            <a:spLocks xmlns:a="http://schemas.openxmlformats.org/drawingml/2006/main" noGrp="1"/>
          </p:cNvSpPr>
          <p:nvPr/>
        </p:nvSpPr>
        <p:spPr>
          <a:xfrm xmlns:a="http://schemas.openxmlformats.org/drawingml/2006/main">
            <a:off x="590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Tester</a:t>
            </a:r>
          </a:p>
        </p:txBody>
      </p:sp>
      <p:sp>
        <p:nvSpPr>
          <p:cNvPr id="12" name="">
            <a:extLst xmlns:a="http://schemas.openxmlformats.org/drawingml/2006/main">
              <a:ext uri="{FF2B5EF4-FFF2-40B4-BE49-F238E27FC236}">
                <a16:creationId xmlns:a16="http://schemas.microsoft.com/office/drawing/2014/main" id="{C59C7F0E-78A8-414D-BC34-AFB8BB2A0790}"/>
              </a:ext>
            </a:extLst>
          </p:cNvPr>
          <p:cNvSpPr>
            <a:spLocks xmlns:a="http://schemas.openxmlformats.org/drawingml/2006/main" noGrp="1"/>
          </p:cNvSpPr>
          <p:nvPr/>
        </p:nvSpPr>
        <p:spPr>
          <a:xfrm xmlns:a="http://schemas.openxmlformats.org/drawingml/2006/main">
            <a:off x="590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Drives the four JTAG pins</a:t>
            </a:r>
          </a:p>
        </p:txBody>
      </p:sp>
      <p:sp>
        <p:nvSpPr>
          <p:cNvPr id="13" name="">
            <a:extLst xmlns:a="http://schemas.openxmlformats.org/drawingml/2006/main">
              <a:ext uri="{FF2B5EF4-FFF2-40B4-BE49-F238E27FC236}">
                <a16:creationId xmlns:a16="http://schemas.microsoft.com/office/drawing/2014/main" id="{6F94D1FB-66E8-4468-90BE-53FC5C5D5F6F}"/>
              </a:ext>
            </a:extLst>
          </p:cNvPr>
          <p:cNvSpPr>
            <a:spLocks xmlns:a="http://schemas.openxmlformats.org/drawingml/2006/main" noGrp="1"/>
          </p:cNvSpPr>
          <p:nvPr/>
        </p:nvSpPr>
        <p:spPr>
          <a:xfrm xmlns:a="http://schemas.openxmlformats.org/drawingml/2006/main">
            <a:off x="3965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78EF9173-DC16-4232-824A-CE9109207A58}"/>
              </a:ext>
            </a:extLst>
          </p:cNvPr>
          <p:cNvSpPr>
            <a:spLocks xmlns:a="http://schemas.openxmlformats.org/drawingml/2006/main" noGrp="1"/>
          </p:cNvSpPr>
          <p:nvPr/>
        </p:nvSpPr>
        <p:spPr>
          <a:xfrm xmlns:a="http://schemas.openxmlformats.org/drawingml/2006/main">
            <a:off x="4394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5" name="">
            <a:extLst xmlns:a="http://schemas.openxmlformats.org/drawingml/2006/main">
              <a:ext uri="{FF2B5EF4-FFF2-40B4-BE49-F238E27FC236}">
                <a16:creationId xmlns:a16="http://schemas.microsoft.com/office/drawing/2014/main" id="{2605A780-868E-4A7F-B443-529B8F8395AA}"/>
              </a:ext>
            </a:extLst>
          </p:cNvPr>
          <p:cNvSpPr>
            <a:spLocks xmlns:a="http://schemas.openxmlformats.org/drawingml/2006/main" noGrp="1"/>
          </p:cNvSpPr>
          <p:nvPr/>
        </p:nvSpPr>
        <p:spPr>
          <a:xfrm xmlns:a="http://schemas.openxmlformats.org/drawingml/2006/main">
            <a:off x="4394200" y="1695450"/>
            <a:ext cx="34036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5165EBB-7B91-4015-A6DC-FE217E3C3FF3}"/>
              </a:ext>
            </a:extLst>
          </p:cNvPr>
          <p:cNvSpPr>
            <a:spLocks xmlns:a="http://schemas.openxmlformats.org/drawingml/2006/main" noGrp="1"/>
          </p:cNvSpPr>
          <p:nvPr/>
        </p:nvSpPr>
        <p:spPr>
          <a:xfrm xmlns:a="http://schemas.openxmlformats.org/drawingml/2006/main">
            <a:off x="4527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JTAG TAP</a:t>
            </a:r>
          </a:p>
        </p:txBody>
      </p:sp>
      <p:sp>
        <p:nvSpPr>
          <p:cNvPr id="17" name="">
            <a:extLst xmlns:a="http://schemas.openxmlformats.org/drawingml/2006/main">
              <a:ext uri="{FF2B5EF4-FFF2-40B4-BE49-F238E27FC236}">
                <a16:creationId xmlns:a16="http://schemas.microsoft.com/office/drawing/2014/main" id="{55C3A1AE-52E2-4C56-BF00-FD26F34B2210}"/>
              </a:ext>
            </a:extLst>
          </p:cNvPr>
          <p:cNvSpPr>
            <a:spLocks xmlns:a="http://schemas.openxmlformats.org/drawingml/2006/main" noGrp="1"/>
          </p:cNvSpPr>
          <p:nvPr/>
        </p:nvSpPr>
        <p:spPr>
          <a:xfrm xmlns:a="http://schemas.openxmlformats.org/drawingml/2006/main">
            <a:off x="4527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Scan enable, mode, chain select, bypass</a:t>
            </a:r>
          </a:p>
        </p:txBody>
      </p:sp>
      <p:sp>
        <p:nvSpPr>
          <p:cNvPr id="18" name="">
            <a:extLst xmlns:a="http://schemas.openxmlformats.org/drawingml/2006/main">
              <a:ext uri="{FF2B5EF4-FFF2-40B4-BE49-F238E27FC236}">
                <a16:creationId xmlns:a16="http://schemas.microsoft.com/office/drawing/2014/main" id="{BF45FC79-30E0-427B-A80F-FE465B279111}"/>
              </a:ext>
            </a:extLst>
          </p:cNvPr>
          <p:cNvSpPr>
            <a:spLocks xmlns:a="http://schemas.openxmlformats.org/drawingml/2006/main" noGrp="1"/>
          </p:cNvSpPr>
          <p:nvPr/>
        </p:nvSpPr>
        <p:spPr>
          <a:xfrm xmlns:a="http://schemas.openxmlformats.org/drawingml/2006/main">
            <a:off x="7902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C9723D9D-448A-4452-9D2A-EC30C68D3F7F}"/>
              </a:ext>
            </a:extLst>
          </p:cNvPr>
          <p:cNvSpPr>
            <a:spLocks xmlns:a="http://schemas.openxmlformats.org/drawingml/2006/main" noGrp="1"/>
          </p:cNvSpPr>
          <p:nvPr/>
        </p:nvSpPr>
        <p:spPr>
          <a:xfrm xmlns:a="http://schemas.openxmlformats.org/drawingml/2006/main">
            <a:off x="8331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0" name="">
            <a:extLst xmlns:a="http://schemas.openxmlformats.org/drawingml/2006/main">
              <a:ext uri="{FF2B5EF4-FFF2-40B4-BE49-F238E27FC236}">
                <a16:creationId xmlns:a16="http://schemas.microsoft.com/office/drawing/2014/main" id="{63282555-71A6-4F5C-8D23-CB587598B8EE}"/>
              </a:ext>
            </a:extLst>
          </p:cNvPr>
          <p:cNvSpPr>
            <a:spLocks xmlns:a="http://schemas.openxmlformats.org/drawingml/2006/main" noGrp="1"/>
          </p:cNvSpPr>
          <p:nvPr/>
        </p:nvSpPr>
        <p:spPr>
          <a:xfrm xmlns:a="http://schemas.openxmlformats.org/drawingml/2006/main">
            <a:off x="8331200" y="16954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C84EA84-2B2D-47EC-AF53-1D0788A9DD66}"/>
              </a:ext>
            </a:extLst>
          </p:cNvPr>
          <p:cNvSpPr>
            <a:spLocks xmlns:a="http://schemas.openxmlformats.org/drawingml/2006/main" noGrp="1"/>
          </p:cNvSpPr>
          <p:nvPr/>
        </p:nvSpPr>
        <p:spPr>
          <a:xfrm xmlns:a="http://schemas.openxmlformats.org/drawingml/2006/main">
            <a:off x="8464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13 scan chains</a:t>
            </a:r>
          </a:p>
        </p:txBody>
      </p:sp>
      <p:sp>
        <p:nvSpPr>
          <p:cNvPr id="22" name="">
            <a:extLst xmlns:a="http://schemas.openxmlformats.org/drawingml/2006/main">
              <a:ext uri="{FF2B5EF4-FFF2-40B4-BE49-F238E27FC236}">
                <a16:creationId xmlns:a16="http://schemas.microsoft.com/office/drawing/2014/main" id="{86598A7F-75F0-41E2-BAA3-DB3F46CAF3F7}"/>
              </a:ext>
            </a:extLst>
          </p:cNvPr>
          <p:cNvSpPr>
            <a:spLocks xmlns:a="http://schemas.openxmlformats.org/drawingml/2006/main" noGrp="1"/>
          </p:cNvSpPr>
          <p:nvPr/>
        </p:nvSpPr>
        <p:spPr>
          <a:xfrm xmlns:a="http://schemas.openxmlformats.org/drawingml/2006/main">
            <a:off x="8464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Through the hardened block</a:t>
            </a:r>
          </a:p>
        </p:txBody>
      </p:sp>
      <p:sp>
        <p:nvSpPr>
          <p:cNvPr id="23" name="">
            <a:extLst xmlns:a="http://schemas.openxmlformats.org/drawingml/2006/main">
              <a:ext uri="{FF2B5EF4-FFF2-40B4-BE49-F238E27FC236}">
                <a16:creationId xmlns:a16="http://schemas.microsoft.com/office/drawing/2014/main" id="{F931B92B-00AA-4A4F-9B62-9674CEFEF1FE}"/>
              </a:ext>
            </a:extLst>
          </p:cNvPr>
          <p:cNvSpPr>
            <a:spLocks xmlns:a="http://schemas.openxmlformats.org/drawingml/2006/main" noGrp="1"/>
          </p:cNvSpPr>
          <p:nvPr/>
        </p:nvSpPr>
        <p:spPr>
          <a:xfrm xmlns:a="http://schemas.openxmlformats.org/drawingml/2006/main">
            <a:off x="45720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4" name="">
            <a:extLst xmlns:a="http://schemas.openxmlformats.org/drawingml/2006/main">
              <a:ext uri="{FF2B5EF4-FFF2-40B4-BE49-F238E27FC236}">
                <a16:creationId xmlns:a16="http://schemas.microsoft.com/office/drawing/2014/main" id="{3221BAC2-7631-4C01-A4FC-620F629A3370}"/>
              </a:ext>
            </a:extLst>
          </p:cNvPr>
          <p:cNvSpPr>
            <a:spLocks xmlns:a="http://schemas.openxmlformats.org/drawingml/2006/main" noGrp="1"/>
          </p:cNvSpPr>
          <p:nvPr/>
        </p:nvSpPr>
        <p:spPr>
          <a:xfrm xmlns:a="http://schemas.openxmlformats.org/drawingml/2006/main">
            <a:off x="457200" y="31432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CEC91F1-8189-40A3-AFE2-085BE86B6C59}"/>
              </a:ext>
            </a:extLst>
          </p:cNvPr>
          <p:cNvSpPr>
            <a:spLocks xmlns:a="http://schemas.openxmlformats.org/drawingml/2006/main" noGrp="1"/>
          </p:cNvSpPr>
          <p:nvPr/>
        </p:nvSpPr>
        <p:spPr>
          <a:xfrm xmlns:a="http://schemas.openxmlformats.org/drawingml/2006/main">
            <a:off x="68580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Test mode opens every gate</a:t>
            </a:r>
          </a:p>
        </p:txBody>
      </p:sp>
      <p:sp>
        <p:nvSpPr>
          <p:cNvPr id="26" name="">
            <a:extLst xmlns:a="http://schemas.openxmlformats.org/drawingml/2006/main">
              <a:ext uri="{FF2B5EF4-FFF2-40B4-BE49-F238E27FC236}">
                <a16:creationId xmlns:a16="http://schemas.microsoft.com/office/drawing/2014/main" id="{4A36388C-B238-4710-9123-D3A48A15B4A7}"/>
              </a:ext>
            </a:extLst>
          </p:cNvPr>
          <p:cNvSpPr>
            <a:spLocks xmlns:a="http://schemas.openxmlformats.org/drawingml/2006/main" noGrp="1"/>
          </p:cNvSpPr>
          <p:nvPr/>
        </p:nvSpPr>
        <p:spPr>
          <a:xfrm xmlns:a="http://schemas.openxmlformats.org/drawingml/2006/main">
            <a:off x="68580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Clock gates are forced open and gated slots decode normally, so scan reaches every block.</a:t>
            </a:r>
          </a:p>
        </p:txBody>
      </p:sp>
      <p:sp>
        <p:nvSpPr>
          <p:cNvPr id="27" name="">
            <a:extLst xmlns:a="http://schemas.openxmlformats.org/drawingml/2006/main">
              <a:ext uri="{FF2B5EF4-FFF2-40B4-BE49-F238E27FC236}">
                <a16:creationId xmlns:a16="http://schemas.microsoft.com/office/drawing/2014/main" id="{EE052DD9-C9F1-4E6D-BA59-66618B1A20BA}"/>
              </a:ext>
            </a:extLst>
          </p:cNvPr>
          <p:cNvSpPr>
            <a:spLocks xmlns:a="http://schemas.openxmlformats.org/drawingml/2006/main" noGrp="1"/>
          </p:cNvSpPr>
          <p:nvPr/>
        </p:nvSpPr>
        <p:spPr>
          <a:xfrm xmlns:a="http://schemas.openxmlformats.org/drawingml/2006/main">
            <a:off x="622935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67E2FE8A-C194-408E-BADB-484BBC31E8E5}"/>
              </a:ext>
            </a:extLst>
          </p:cNvPr>
          <p:cNvSpPr>
            <a:spLocks xmlns:a="http://schemas.openxmlformats.org/drawingml/2006/main" noGrp="1"/>
          </p:cNvSpPr>
          <p:nvPr/>
        </p:nvSpPr>
        <p:spPr>
          <a:xfrm xmlns:a="http://schemas.openxmlformats.org/drawingml/2006/main">
            <a:off x="6229350" y="3143250"/>
            <a:ext cx="57150" cy="12477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DC98C7C-9198-49B7-A9BD-4757538BAEA3}"/>
              </a:ext>
            </a:extLst>
          </p:cNvPr>
          <p:cNvSpPr>
            <a:spLocks xmlns:a="http://schemas.openxmlformats.org/drawingml/2006/main" noGrp="1"/>
          </p:cNvSpPr>
          <p:nvPr/>
        </p:nvSpPr>
        <p:spPr>
          <a:xfrm xmlns:a="http://schemas.openxmlformats.org/drawingml/2006/main">
            <a:off x="645795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Separate from debug</a:t>
            </a:r>
          </a:p>
        </p:txBody>
      </p:sp>
      <p:sp>
        <p:nvSpPr>
          <p:cNvPr id="30" name="">
            <a:extLst xmlns:a="http://schemas.openxmlformats.org/drawingml/2006/main">
              <a:ext uri="{FF2B5EF4-FFF2-40B4-BE49-F238E27FC236}">
                <a16:creationId xmlns:a16="http://schemas.microsoft.com/office/drawing/2014/main" id="{350D7FBD-8DCD-4FE9-9C88-B27768C072F5}"/>
              </a:ext>
            </a:extLst>
          </p:cNvPr>
          <p:cNvSpPr>
            <a:spLocks xmlns:a="http://schemas.openxmlformats.org/drawingml/2006/main" noGrp="1"/>
          </p:cNvSpPr>
          <p:nvPr/>
        </p:nvSpPr>
        <p:spPr>
          <a:xfrm xmlns:a="http://schemas.openxmlformats.org/drawingml/2006/main">
            <a:off x="645795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Scan is for production test; interactive CPU debug over JTAG is on the roadmap.</a:t>
            </a:r>
          </a:p>
        </p:txBody>
      </p:sp>
      <p:sp>
        <p:nvSpPr>
          <p:cNvPr id="31" name="">
            <a:extLst xmlns:a="http://schemas.openxmlformats.org/drawingml/2006/main">
              <a:ext uri="{FF2B5EF4-FFF2-40B4-BE49-F238E27FC236}">
                <a16:creationId xmlns:a16="http://schemas.microsoft.com/office/drawing/2014/main" id="{6256EB2F-39C3-4FA4-BAC1-6BB7D2188AEE}"/>
              </a:ext>
            </a:extLst>
          </p:cNvPr>
          <p:cNvSpPr>
            <a:spLocks xmlns:a="http://schemas.openxmlformats.org/drawingml/2006/main" noGrp="1"/>
          </p:cNvSpPr>
          <p:nvPr/>
        </p:nvSpPr>
        <p:spPr>
          <a:xfrm xmlns:a="http://schemas.openxmlformats.org/drawingml/2006/main">
            <a:off x="457200" y="470535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32" name="">
            <a:extLst xmlns:a="http://schemas.openxmlformats.org/drawingml/2006/main">
              <a:ext uri="{FF2B5EF4-FFF2-40B4-BE49-F238E27FC236}">
                <a16:creationId xmlns:a16="http://schemas.microsoft.com/office/drawing/2014/main" id="{1D5E1CB6-B253-495F-8392-80FB39D109D8}"/>
              </a:ext>
            </a:extLst>
          </p:cNvPr>
          <p:cNvSpPr>
            <a:spLocks xmlns:a="http://schemas.openxmlformats.org/drawingml/2006/main" noGrp="1"/>
          </p:cNvSpPr>
          <p:nvPr/>
        </p:nvSpPr>
        <p:spPr>
          <a:xfrm xmlns:a="http://schemas.openxmlformats.org/drawingml/2006/main">
            <a:off x="5715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077A3"/>
                </a:solidFill>
                <a:latin typeface="Georgia"/>
                <a:ea typeface="Georgia"/>
                <a:cs typeface="Georgia"/>
              </a:defRPr>
            </a:pPr>
            <a:r>
              <a:t>13</a:t>
            </a:r>
          </a:p>
        </p:txBody>
      </p:sp>
      <p:sp>
        <p:nvSpPr>
          <p:cNvPr id="33" name="">
            <a:extLst xmlns:a="http://schemas.openxmlformats.org/drawingml/2006/main">
              <a:ext uri="{FF2B5EF4-FFF2-40B4-BE49-F238E27FC236}">
                <a16:creationId xmlns:a16="http://schemas.microsoft.com/office/drawing/2014/main" id="{309D4B05-7205-43D8-821D-B4A7673AB45D}"/>
              </a:ext>
            </a:extLst>
          </p:cNvPr>
          <p:cNvSpPr>
            <a:spLocks xmlns:a="http://schemas.openxmlformats.org/drawingml/2006/main" noGrp="1"/>
          </p:cNvSpPr>
          <p:nvPr/>
        </p:nvSpPr>
        <p:spPr>
          <a:xfrm xmlns:a="http://schemas.openxmlformats.org/drawingml/2006/main">
            <a:off x="5715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SCAN CHAINS</a:t>
            </a:r>
          </a:p>
        </p:txBody>
      </p:sp>
      <p:sp>
        <p:nvSpPr>
          <p:cNvPr id="34" name="">
            <a:extLst xmlns:a="http://schemas.openxmlformats.org/drawingml/2006/main">
              <a:ext uri="{FF2B5EF4-FFF2-40B4-BE49-F238E27FC236}">
                <a16:creationId xmlns:a16="http://schemas.microsoft.com/office/drawing/2014/main" id="{2933A3FD-115D-4145-A21C-AB8372BE7F94}"/>
              </a:ext>
            </a:extLst>
          </p:cNvPr>
          <p:cNvSpPr>
            <a:spLocks xmlns:a="http://schemas.openxmlformats.org/drawingml/2006/main" noGrp="1"/>
          </p:cNvSpPr>
          <p:nvPr/>
        </p:nvSpPr>
        <p:spPr>
          <a:xfrm xmlns:a="http://schemas.openxmlformats.org/drawingml/2006/main">
            <a:off x="590550" y="5591175"/>
            <a:ext cx="33147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Inside the hardened block</a:t>
            </a:r>
          </a:p>
        </p:txBody>
      </p:sp>
      <p:sp>
        <p:nvSpPr>
          <p:cNvPr id="35" name="">
            <a:extLst xmlns:a="http://schemas.openxmlformats.org/drawingml/2006/main">
              <a:ext uri="{FF2B5EF4-FFF2-40B4-BE49-F238E27FC236}">
                <a16:creationId xmlns:a16="http://schemas.microsoft.com/office/drawing/2014/main" id="{4515C91C-7806-4B40-A73D-284BA0752A8F}"/>
              </a:ext>
            </a:extLst>
          </p:cNvPr>
          <p:cNvSpPr>
            <a:spLocks xmlns:a="http://schemas.openxmlformats.org/drawingml/2006/main" noGrp="1"/>
          </p:cNvSpPr>
          <p:nvPr/>
        </p:nvSpPr>
        <p:spPr>
          <a:xfrm xmlns:a="http://schemas.openxmlformats.org/drawingml/2006/main">
            <a:off x="4305300" y="470535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36" name="">
            <a:extLst xmlns:a="http://schemas.openxmlformats.org/drawingml/2006/main">
              <a:ext uri="{FF2B5EF4-FFF2-40B4-BE49-F238E27FC236}">
                <a16:creationId xmlns:a16="http://schemas.microsoft.com/office/drawing/2014/main" id="{5D6F90E3-9099-432F-86F8-46EB3BD75A53}"/>
              </a:ext>
            </a:extLst>
          </p:cNvPr>
          <p:cNvSpPr>
            <a:spLocks xmlns:a="http://schemas.openxmlformats.org/drawingml/2006/main" noGrp="1"/>
          </p:cNvSpPr>
          <p:nvPr/>
        </p:nvSpPr>
        <p:spPr>
          <a:xfrm xmlns:a="http://schemas.openxmlformats.org/drawingml/2006/main">
            <a:off x="44196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4</a:t>
            </a:r>
          </a:p>
        </p:txBody>
      </p:sp>
      <p:sp>
        <p:nvSpPr>
          <p:cNvPr id="37" name="">
            <a:extLst xmlns:a="http://schemas.openxmlformats.org/drawingml/2006/main">
              <a:ext uri="{FF2B5EF4-FFF2-40B4-BE49-F238E27FC236}">
                <a16:creationId xmlns:a16="http://schemas.microsoft.com/office/drawing/2014/main" id="{816C6FE9-BADC-4A01-86F8-367C92FF0A77}"/>
              </a:ext>
            </a:extLst>
          </p:cNvPr>
          <p:cNvSpPr>
            <a:spLocks xmlns:a="http://schemas.openxmlformats.org/drawingml/2006/main" noGrp="1"/>
          </p:cNvSpPr>
          <p:nvPr/>
        </p:nvSpPr>
        <p:spPr>
          <a:xfrm xmlns:a="http://schemas.openxmlformats.org/drawingml/2006/main">
            <a:off x="44196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JTAG PINS</a:t>
            </a:r>
          </a:p>
        </p:txBody>
      </p:sp>
      <p:sp>
        <p:nvSpPr>
          <p:cNvPr id="38" name="">
            <a:extLst xmlns:a="http://schemas.openxmlformats.org/drawingml/2006/main">
              <a:ext uri="{FF2B5EF4-FFF2-40B4-BE49-F238E27FC236}">
                <a16:creationId xmlns:a16="http://schemas.microsoft.com/office/drawing/2014/main" id="{B8DFD305-C8B4-478E-9B63-53396FDC72D8}"/>
              </a:ext>
            </a:extLst>
          </p:cNvPr>
          <p:cNvSpPr>
            <a:spLocks xmlns:a="http://schemas.openxmlformats.org/drawingml/2006/main" noGrp="1"/>
          </p:cNvSpPr>
          <p:nvPr/>
        </p:nvSpPr>
        <p:spPr>
          <a:xfrm xmlns:a="http://schemas.openxmlformats.org/drawingml/2006/main">
            <a:off x="4438650" y="5591175"/>
            <a:ext cx="33147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TCK, TMS, TDI, TDO</a:t>
            </a:r>
          </a:p>
        </p:txBody>
      </p:sp>
      <p:sp>
        <p:nvSpPr>
          <p:cNvPr id="39" name="">
            <a:extLst xmlns:a="http://schemas.openxmlformats.org/drawingml/2006/main">
              <a:ext uri="{FF2B5EF4-FFF2-40B4-BE49-F238E27FC236}">
                <a16:creationId xmlns:a16="http://schemas.microsoft.com/office/drawing/2014/main" id="{2DDE6671-C5E1-4823-BFDD-296749B9E739}"/>
              </a:ext>
            </a:extLst>
          </p:cNvPr>
          <p:cNvSpPr>
            <a:spLocks xmlns:a="http://schemas.openxmlformats.org/drawingml/2006/main" noGrp="1"/>
          </p:cNvSpPr>
          <p:nvPr/>
        </p:nvSpPr>
        <p:spPr>
          <a:xfrm xmlns:a="http://schemas.openxmlformats.org/drawingml/2006/main">
            <a:off x="8153400" y="470535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40" name="">
            <a:extLst xmlns:a="http://schemas.openxmlformats.org/drawingml/2006/main">
              <a:ext uri="{FF2B5EF4-FFF2-40B4-BE49-F238E27FC236}">
                <a16:creationId xmlns:a16="http://schemas.microsoft.com/office/drawing/2014/main" id="{375C7809-E026-4FEB-90D7-AC1D3CCE8280}"/>
              </a:ext>
            </a:extLst>
          </p:cNvPr>
          <p:cNvSpPr>
            <a:spLocks xmlns:a="http://schemas.openxmlformats.org/drawingml/2006/main" noGrp="1"/>
          </p:cNvSpPr>
          <p:nvPr/>
        </p:nvSpPr>
        <p:spPr>
          <a:xfrm xmlns:a="http://schemas.openxmlformats.org/drawingml/2006/main">
            <a:off x="82677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All</a:t>
            </a:r>
          </a:p>
        </p:txBody>
      </p:sp>
      <p:sp>
        <p:nvSpPr>
          <p:cNvPr id="41" name="">
            <a:extLst xmlns:a="http://schemas.openxmlformats.org/drawingml/2006/main">
              <a:ext uri="{FF2B5EF4-FFF2-40B4-BE49-F238E27FC236}">
                <a16:creationId xmlns:a16="http://schemas.microsoft.com/office/drawing/2014/main" id="{461093FC-E5E0-46F7-B15E-243712753C2D}"/>
              </a:ext>
            </a:extLst>
          </p:cNvPr>
          <p:cNvSpPr>
            <a:spLocks xmlns:a="http://schemas.openxmlformats.org/drawingml/2006/main" noGrp="1"/>
          </p:cNvSpPr>
          <p:nvPr/>
        </p:nvSpPr>
        <p:spPr>
          <a:xfrm xmlns:a="http://schemas.openxmlformats.org/drawingml/2006/main">
            <a:off x="82677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CLOCK GATES OPEN</a:t>
            </a:r>
          </a:p>
        </p:txBody>
      </p:sp>
      <p:sp>
        <p:nvSpPr>
          <p:cNvPr id="42" name="">
            <a:extLst xmlns:a="http://schemas.openxmlformats.org/drawingml/2006/main">
              <a:ext uri="{FF2B5EF4-FFF2-40B4-BE49-F238E27FC236}">
                <a16:creationId xmlns:a16="http://schemas.microsoft.com/office/drawing/2014/main" id="{73365779-F127-4AFC-A38C-2FE48577F540}"/>
              </a:ext>
            </a:extLst>
          </p:cNvPr>
          <p:cNvSpPr>
            <a:spLocks xmlns:a="http://schemas.openxmlformats.org/drawingml/2006/main" noGrp="1"/>
          </p:cNvSpPr>
          <p:nvPr/>
        </p:nvSpPr>
        <p:spPr>
          <a:xfrm xmlns:a="http://schemas.openxmlformats.org/drawingml/2006/main">
            <a:off x="8286750" y="5591175"/>
            <a:ext cx="33147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In test mode</a:t>
            </a:r>
          </a:p>
        </p:txBody>
      </p:sp>
      <p:sp>
        <p:nvSpPr>
          <p:cNvPr id="43" name="">
            <a:extLst xmlns:a="http://schemas.openxmlformats.org/drawingml/2006/main">
              <a:ext uri="{FF2B5EF4-FFF2-40B4-BE49-F238E27FC236}">
                <a16:creationId xmlns:a16="http://schemas.microsoft.com/office/drawing/2014/main" id="{CAED9D26-AB36-4FF8-9908-A174809F7E30}"/>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DG32-LITE tape-in block diagram (scan/DFT, JTAG TAP); investor block diagram p2 (debug roadmap).</a:t>
            </a:r>
          </a:p>
        </p:txBody>
      </p:sp>
    </p:spTree>
    <p:extLst>
      <p:ext uri="{BB962C8B-B14F-4D97-AF65-F5344CB8AC3E}">
        <p14:creationId xmlns:p14="http://schemas.microsoft.com/office/powerpoint/2010/main" val="23442532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1A55EBC-BC91-45C3-93DC-1843DEA227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A70ABDC-83A8-49DB-A5FF-AD407EEB46B9}"/>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10 · SIGN-OFF GATES</a:t>
            </a:r>
          </a:p>
        </p:txBody>
      </p:sp>
      <p:sp>
        <p:nvSpPr>
          <p:cNvPr id="3" name="">
            <a:extLst xmlns:a="http://schemas.openxmlformats.org/drawingml/2006/main">
              <a:ext uri="{FF2B5EF4-FFF2-40B4-BE49-F238E27FC236}">
                <a16:creationId xmlns:a16="http://schemas.microsoft.com/office/drawing/2014/main" id="{CBA964DA-9BDB-482E-826B-70E0682CEFDF}"/>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Four gates must all pass before tape-in</a:t>
            </a:r>
          </a:p>
        </p:txBody>
      </p:sp>
      <p:sp>
        <p:nvSpPr>
          <p:cNvPr id="4" name="">
            <a:extLst xmlns:a="http://schemas.openxmlformats.org/drawingml/2006/main">
              <a:ext uri="{FF2B5EF4-FFF2-40B4-BE49-F238E27FC236}">
                <a16:creationId xmlns:a16="http://schemas.microsoft.com/office/drawing/2014/main" id="{6610E310-268D-4254-B7C5-9BE719908616}"/>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 gate runs on the final hardened die; passing three is not enough</a:t>
            </a:r>
          </a:p>
        </p:txBody>
      </p:sp>
      <p:sp>
        <p:nvSpPr>
          <p:cNvPr id="5" name="">
            <a:extLst xmlns:a="http://schemas.openxmlformats.org/drawingml/2006/main">
              <a:ext uri="{FF2B5EF4-FFF2-40B4-BE49-F238E27FC236}">
                <a16:creationId xmlns:a16="http://schemas.microsoft.com/office/drawing/2014/main" id="{5702EEE9-A748-4654-BC89-8E5D4606A36F}"/>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9E378EC-A66A-424B-8C75-6A55BF244745}"/>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D80AE37-A542-40D6-AD0B-41D4DAF7ACE3}"/>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E2C0FA8C-EBF3-4372-A1A7-5DE5A975F58C}"/>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10</a:t>
            </a:r>
          </a:p>
        </p:txBody>
      </p:sp>
      <p:sp>
        <p:nvSpPr>
          <p:cNvPr id="9" name="">
            <a:extLst xmlns:a="http://schemas.openxmlformats.org/drawingml/2006/main">
              <a:ext uri="{FF2B5EF4-FFF2-40B4-BE49-F238E27FC236}">
                <a16:creationId xmlns:a16="http://schemas.microsoft.com/office/drawing/2014/main" id="{9D59328D-550F-4242-8C24-18219511CD5E}"/>
              </a:ext>
            </a:extLst>
          </p:cNvPr>
          <p:cNvSpPr>
            <a:spLocks xmlns:a="http://schemas.openxmlformats.org/drawingml/2006/main" noGrp="1"/>
          </p:cNvSpPr>
          <p:nvPr/>
        </p:nvSpPr>
        <p:spPr>
          <a:xfrm xmlns:a="http://schemas.openxmlformats.org/drawingml/2006/main">
            <a:off x="647700" y="2286000"/>
            <a:ext cx="10896600" cy="19050"/>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6B16FF4-C340-453D-B923-22DB349B5766}"/>
              </a:ext>
            </a:extLst>
          </p:cNvPr>
          <p:cNvSpPr>
            <a:spLocks xmlns:a="http://schemas.openxmlformats.org/drawingml/2006/main" noGrp="1"/>
          </p:cNvSpPr>
          <p:nvPr/>
        </p:nvSpPr>
        <p:spPr>
          <a:xfrm xmlns:a="http://schemas.openxmlformats.org/drawingml/2006/main">
            <a:off x="457200" y="179070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7686A"/>
            </a:solidFill>
            <a:prstDash val="solid"/>
          </a:ln>
        </p:spPr>
      </p:sp>
      <p:sp>
        <p:nvSpPr>
          <p:cNvPr id="11" name="">
            <a:extLst xmlns:a="http://schemas.openxmlformats.org/drawingml/2006/main">
              <a:ext uri="{FF2B5EF4-FFF2-40B4-BE49-F238E27FC236}">
                <a16:creationId xmlns:a16="http://schemas.microsoft.com/office/drawing/2014/main" id="{D85D85BE-9541-4FA5-88AE-19882E689033}"/>
              </a:ext>
            </a:extLst>
          </p:cNvPr>
          <p:cNvSpPr>
            <a:spLocks xmlns:a="http://schemas.openxmlformats.org/drawingml/2006/main" noGrp="1"/>
          </p:cNvSpPr>
          <p:nvPr/>
        </p:nvSpPr>
        <p:spPr>
          <a:xfrm xmlns:a="http://schemas.openxmlformats.org/drawingml/2006/main">
            <a:off x="457200" y="185737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7686A"/>
                </a:solidFill>
                <a:latin typeface="Arial"/>
                <a:ea typeface="Arial"/>
                <a:cs typeface="Arial"/>
              </a:defRPr>
            </a:pPr>
            <a:r>
              <a:t>GATE 1</a:t>
            </a:r>
          </a:p>
        </p:txBody>
      </p:sp>
      <p:sp>
        <p:nvSpPr>
          <p:cNvPr id="12" name="">
            <a:extLst xmlns:a="http://schemas.openxmlformats.org/drawingml/2006/main">
              <a:ext uri="{FF2B5EF4-FFF2-40B4-BE49-F238E27FC236}">
                <a16:creationId xmlns:a16="http://schemas.microsoft.com/office/drawing/2014/main" id="{44C630B0-52EC-4774-8FA4-DC487B2E2035}"/>
              </a:ext>
            </a:extLst>
          </p:cNvPr>
          <p:cNvSpPr>
            <a:spLocks xmlns:a="http://schemas.openxmlformats.org/drawingml/2006/main" noGrp="1"/>
          </p:cNvSpPr>
          <p:nvPr/>
        </p:nvSpPr>
        <p:spPr>
          <a:xfrm xmlns:a="http://schemas.openxmlformats.org/drawingml/2006/main">
            <a:off x="1695450" y="221932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7686A"/>
            </a:solidFill>
            <a:prstDash val="solid"/>
          </a:ln>
        </p:spPr>
      </p:sp>
      <p:sp>
        <p:nvSpPr>
          <p:cNvPr id="13" name="">
            <a:extLst xmlns:a="http://schemas.openxmlformats.org/drawingml/2006/main">
              <a:ext uri="{FF2B5EF4-FFF2-40B4-BE49-F238E27FC236}">
                <a16:creationId xmlns:a16="http://schemas.microsoft.com/office/drawing/2014/main" id="{C6454064-7868-4649-90A4-3CFBF2EAC276}"/>
              </a:ext>
            </a:extLst>
          </p:cNvPr>
          <p:cNvSpPr>
            <a:spLocks xmlns:a="http://schemas.openxmlformats.org/drawingml/2006/main" noGrp="1"/>
          </p:cNvSpPr>
          <p:nvPr/>
        </p:nvSpPr>
        <p:spPr>
          <a:xfrm xmlns:a="http://schemas.openxmlformats.org/drawingml/2006/main">
            <a:off x="381000" y="249555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DRC clean</a:t>
            </a:r>
          </a:p>
        </p:txBody>
      </p:sp>
      <p:sp>
        <p:nvSpPr>
          <p:cNvPr id="14" name="">
            <a:extLst xmlns:a="http://schemas.openxmlformats.org/drawingml/2006/main">
              <a:ext uri="{FF2B5EF4-FFF2-40B4-BE49-F238E27FC236}">
                <a16:creationId xmlns:a16="http://schemas.microsoft.com/office/drawing/2014/main" id="{42CD7492-8288-4E93-94C1-DABA8121E0DD}"/>
              </a:ext>
            </a:extLst>
          </p:cNvPr>
          <p:cNvSpPr>
            <a:spLocks xmlns:a="http://schemas.openxmlformats.org/drawingml/2006/main" noGrp="1"/>
          </p:cNvSpPr>
          <p:nvPr/>
        </p:nvSpPr>
        <p:spPr>
          <a:xfrm xmlns:a="http://schemas.openxmlformats.org/drawingml/2006/main">
            <a:off x="381000" y="276225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Every design rule, the whole die</a:t>
            </a:r>
          </a:p>
        </p:txBody>
      </p:sp>
      <p:sp>
        <p:nvSpPr>
          <p:cNvPr id="15" name="">
            <a:extLst xmlns:a="http://schemas.openxmlformats.org/drawingml/2006/main">
              <a:ext uri="{FF2B5EF4-FFF2-40B4-BE49-F238E27FC236}">
                <a16:creationId xmlns:a16="http://schemas.microsoft.com/office/drawing/2014/main" id="{EE65595B-6051-4465-B82D-C634EEF7AF07}"/>
              </a:ext>
            </a:extLst>
          </p:cNvPr>
          <p:cNvSpPr>
            <a:spLocks xmlns:a="http://schemas.openxmlformats.org/drawingml/2006/main" noGrp="1"/>
          </p:cNvSpPr>
          <p:nvPr/>
        </p:nvSpPr>
        <p:spPr>
          <a:xfrm xmlns:a="http://schemas.openxmlformats.org/drawingml/2006/main">
            <a:off x="3276600" y="179070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7686A"/>
            </a:solidFill>
            <a:prstDash val="solid"/>
          </a:ln>
        </p:spPr>
      </p:sp>
      <p:sp>
        <p:nvSpPr>
          <p:cNvPr id="16" name="">
            <a:extLst xmlns:a="http://schemas.openxmlformats.org/drawingml/2006/main">
              <a:ext uri="{FF2B5EF4-FFF2-40B4-BE49-F238E27FC236}">
                <a16:creationId xmlns:a16="http://schemas.microsoft.com/office/drawing/2014/main" id="{28BF34A4-C71A-414B-883F-EB7F5752EF38}"/>
              </a:ext>
            </a:extLst>
          </p:cNvPr>
          <p:cNvSpPr>
            <a:spLocks xmlns:a="http://schemas.openxmlformats.org/drawingml/2006/main" noGrp="1"/>
          </p:cNvSpPr>
          <p:nvPr/>
        </p:nvSpPr>
        <p:spPr>
          <a:xfrm xmlns:a="http://schemas.openxmlformats.org/drawingml/2006/main">
            <a:off x="3276600" y="185737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7686A"/>
                </a:solidFill>
                <a:latin typeface="Arial"/>
                <a:ea typeface="Arial"/>
                <a:cs typeface="Arial"/>
              </a:defRPr>
            </a:pPr>
            <a:r>
              <a:t>GATE 2</a:t>
            </a:r>
          </a:p>
        </p:txBody>
      </p:sp>
      <p:sp>
        <p:nvSpPr>
          <p:cNvPr id="17" name="">
            <a:extLst xmlns:a="http://schemas.openxmlformats.org/drawingml/2006/main">
              <a:ext uri="{FF2B5EF4-FFF2-40B4-BE49-F238E27FC236}">
                <a16:creationId xmlns:a16="http://schemas.microsoft.com/office/drawing/2014/main" id="{AC96A599-5C22-41F3-BCBA-D1C043405FEC}"/>
              </a:ext>
            </a:extLst>
          </p:cNvPr>
          <p:cNvSpPr>
            <a:spLocks xmlns:a="http://schemas.openxmlformats.org/drawingml/2006/main" noGrp="1"/>
          </p:cNvSpPr>
          <p:nvPr/>
        </p:nvSpPr>
        <p:spPr>
          <a:xfrm xmlns:a="http://schemas.openxmlformats.org/drawingml/2006/main">
            <a:off x="4514850" y="221932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7686A"/>
            </a:solidFill>
            <a:prstDash val="solid"/>
          </a:ln>
        </p:spPr>
      </p:sp>
      <p:sp>
        <p:nvSpPr>
          <p:cNvPr id="18" name="">
            <a:extLst xmlns:a="http://schemas.openxmlformats.org/drawingml/2006/main">
              <a:ext uri="{FF2B5EF4-FFF2-40B4-BE49-F238E27FC236}">
                <a16:creationId xmlns:a16="http://schemas.microsoft.com/office/drawing/2014/main" id="{720CFF36-9A16-4EA6-B38A-6D94F5CB303E}"/>
              </a:ext>
            </a:extLst>
          </p:cNvPr>
          <p:cNvSpPr>
            <a:spLocks xmlns:a="http://schemas.openxmlformats.org/drawingml/2006/main" noGrp="1"/>
          </p:cNvSpPr>
          <p:nvPr/>
        </p:nvSpPr>
        <p:spPr>
          <a:xfrm xmlns:a="http://schemas.openxmlformats.org/drawingml/2006/main">
            <a:off x="3200400" y="249555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LVS match</a:t>
            </a:r>
          </a:p>
        </p:txBody>
      </p:sp>
      <p:sp>
        <p:nvSpPr>
          <p:cNvPr id="19" name="">
            <a:extLst xmlns:a="http://schemas.openxmlformats.org/drawingml/2006/main">
              <a:ext uri="{FF2B5EF4-FFF2-40B4-BE49-F238E27FC236}">
                <a16:creationId xmlns:a16="http://schemas.microsoft.com/office/drawing/2014/main" id="{29586C50-54B1-43F7-9CC9-405999B2FA15}"/>
              </a:ext>
            </a:extLst>
          </p:cNvPr>
          <p:cNvSpPr>
            <a:spLocks xmlns:a="http://schemas.openxmlformats.org/drawingml/2006/main" noGrp="1"/>
          </p:cNvSpPr>
          <p:nvPr/>
        </p:nvSpPr>
        <p:spPr>
          <a:xfrm xmlns:a="http://schemas.openxmlformats.org/drawingml/2006/main">
            <a:off x="3200400" y="276225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Circuits match uniquely, pins included</a:t>
            </a:r>
          </a:p>
        </p:txBody>
      </p:sp>
      <p:sp>
        <p:nvSpPr>
          <p:cNvPr id="20" name="">
            <a:extLst xmlns:a="http://schemas.openxmlformats.org/drawingml/2006/main">
              <a:ext uri="{FF2B5EF4-FFF2-40B4-BE49-F238E27FC236}">
                <a16:creationId xmlns:a16="http://schemas.microsoft.com/office/drawing/2014/main" id="{476EEA28-92FB-4F4E-8593-A96C11631FF1}"/>
              </a:ext>
            </a:extLst>
          </p:cNvPr>
          <p:cNvSpPr>
            <a:spLocks xmlns:a="http://schemas.openxmlformats.org/drawingml/2006/main" noGrp="1"/>
          </p:cNvSpPr>
          <p:nvPr/>
        </p:nvSpPr>
        <p:spPr>
          <a:xfrm xmlns:a="http://schemas.openxmlformats.org/drawingml/2006/main">
            <a:off x="6096000" y="179070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7686A"/>
            </a:solidFill>
            <a:prstDash val="solid"/>
          </a:ln>
        </p:spPr>
      </p:sp>
      <p:sp>
        <p:nvSpPr>
          <p:cNvPr id="21" name="">
            <a:extLst xmlns:a="http://schemas.openxmlformats.org/drawingml/2006/main">
              <a:ext uri="{FF2B5EF4-FFF2-40B4-BE49-F238E27FC236}">
                <a16:creationId xmlns:a16="http://schemas.microsoft.com/office/drawing/2014/main" id="{1762392E-191A-4A20-AC64-A52F604868A2}"/>
              </a:ext>
            </a:extLst>
          </p:cNvPr>
          <p:cNvSpPr>
            <a:spLocks xmlns:a="http://schemas.openxmlformats.org/drawingml/2006/main" noGrp="1"/>
          </p:cNvSpPr>
          <p:nvPr/>
        </p:nvSpPr>
        <p:spPr>
          <a:xfrm xmlns:a="http://schemas.openxmlformats.org/drawingml/2006/main">
            <a:off x="6096000" y="185737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7686A"/>
                </a:solidFill>
                <a:latin typeface="Arial"/>
                <a:ea typeface="Arial"/>
                <a:cs typeface="Arial"/>
              </a:defRPr>
            </a:pPr>
            <a:r>
              <a:t>GATE 3</a:t>
            </a:r>
          </a:p>
        </p:txBody>
      </p:sp>
      <p:sp>
        <p:nvSpPr>
          <p:cNvPr id="22" name="">
            <a:extLst xmlns:a="http://schemas.openxmlformats.org/drawingml/2006/main">
              <a:ext uri="{FF2B5EF4-FFF2-40B4-BE49-F238E27FC236}">
                <a16:creationId xmlns:a16="http://schemas.microsoft.com/office/drawing/2014/main" id="{E74BE395-3591-4776-BC33-F89E88E06110}"/>
              </a:ext>
            </a:extLst>
          </p:cNvPr>
          <p:cNvSpPr>
            <a:spLocks xmlns:a="http://schemas.openxmlformats.org/drawingml/2006/main" noGrp="1"/>
          </p:cNvSpPr>
          <p:nvPr/>
        </p:nvSpPr>
        <p:spPr>
          <a:xfrm xmlns:a="http://schemas.openxmlformats.org/drawingml/2006/main">
            <a:off x="7334250" y="221932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7686A"/>
            </a:solidFill>
            <a:prstDash val="solid"/>
          </a:ln>
        </p:spPr>
      </p:sp>
      <p:sp>
        <p:nvSpPr>
          <p:cNvPr id="23" name="">
            <a:extLst xmlns:a="http://schemas.openxmlformats.org/drawingml/2006/main">
              <a:ext uri="{FF2B5EF4-FFF2-40B4-BE49-F238E27FC236}">
                <a16:creationId xmlns:a16="http://schemas.microsoft.com/office/drawing/2014/main" id="{2C903E8E-8AA0-43AB-B816-4C0C774FFB02}"/>
              </a:ext>
            </a:extLst>
          </p:cNvPr>
          <p:cNvSpPr>
            <a:spLocks xmlns:a="http://schemas.openxmlformats.org/drawingml/2006/main" noGrp="1"/>
          </p:cNvSpPr>
          <p:nvPr/>
        </p:nvSpPr>
        <p:spPr>
          <a:xfrm xmlns:a="http://schemas.openxmlformats.org/drawingml/2006/main">
            <a:off x="6019800" y="249555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Connectivity</a:t>
            </a:r>
          </a:p>
        </p:txBody>
      </p:sp>
      <p:sp>
        <p:nvSpPr>
          <p:cNvPr id="24" name="">
            <a:extLst xmlns:a="http://schemas.openxmlformats.org/drawingml/2006/main">
              <a:ext uri="{FF2B5EF4-FFF2-40B4-BE49-F238E27FC236}">
                <a16:creationId xmlns:a16="http://schemas.microsoft.com/office/drawing/2014/main" id="{7A3796E1-FA25-45B5-8505-F6FB763D6909}"/>
              </a:ext>
            </a:extLst>
          </p:cNvPr>
          <p:cNvSpPr>
            <a:spLocks xmlns:a="http://schemas.openxmlformats.org/drawingml/2006/main" noGrp="1"/>
          </p:cNvSpPr>
          <p:nvPr/>
        </p:nvSpPr>
        <p:spPr>
          <a:xfrm xmlns:a="http://schemas.openxmlformats.org/drawingml/2006/main">
            <a:off x="6019800" y="276225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Every pad reaches logic; no floating net</a:t>
            </a:r>
          </a:p>
        </p:txBody>
      </p:sp>
      <p:sp>
        <p:nvSpPr>
          <p:cNvPr id="25" name="">
            <a:extLst xmlns:a="http://schemas.openxmlformats.org/drawingml/2006/main">
              <a:ext uri="{FF2B5EF4-FFF2-40B4-BE49-F238E27FC236}">
                <a16:creationId xmlns:a16="http://schemas.microsoft.com/office/drawing/2014/main" id="{FD9A57F1-8BE4-4F20-9F89-85C4EA3B4721}"/>
              </a:ext>
            </a:extLst>
          </p:cNvPr>
          <p:cNvSpPr>
            <a:spLocks xmlns:a="http://schemas.openxmlformats.org/drawingml/2006/main" noGrp="1"/>
          </p:cNvSpPr>
          <p:nvPr/>
        </p:nvSpPr>
        <p:spPr>
          <a:xfrm xmlns:a="http://schemas.openxmlformats.org/drawingml/2006/main">
            <a:off x="8915400" y="179070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077A3"/>
            </a:solidFill>
            <a:prstDash val="solid"/>
          </a:ln>
        </p:spPr>
      </p:sp>
      <p:sp>
        <p:nvSpPr>
          <p:cNvPr id="26" name="">
            <a:extLst xmlns:a="http://schemas.openxmlformats.org/drawingml/2006/main">
              <a:ext uri="{FF2B5EF4-FFF2-40B4-BE49-F238E27FC236}">
                <a16:creationId xmlns:a16="http://schemas.microsoft.com/office/drawing/2014/main" id="{2B16FFB9-97D5-4222-9C32-4E67F6ADAE6B}"/>
              </a:ext>
            </a:extLst>
          </p:cNvPr>
          <p:cNvSpPr>
            <a:spLocks xmlns:a="http://schemas.openxmlformats.org/drawingml/2006/main" noGrp="1"/>
          </p:cNvSpPr>
          <p:nvPr/>
        </p:nvSpPr>
        <p:spPr>
          <a:xfrm xmlns:a="http://schemas.openxmlformats.org/drawingml/2006/main">
            <a:off x="8915400" y="185737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077A3"/>
                </a:solidFill>
                <a:latin typeface="Arial"/>
                <a:ea typeface="Arial"/>
                <a:cs typeface="Arial"/>
              </a:defRPr>
            </a:pPr>
            <a:r>
              <a:t>GATE 4</a:t>
            </a:r>
          </a:p>
        </p:txBody>
      </p:sp>
      <p:sp>
        <p:nvSpPr>
          <p:cNvPr id="27" name="">
            <a:extLst xmlns:a="http://schemas.openxmlformats.org/drawingml/2006/main">
              <a:ext uri="{FF2B5EF4-FFF2-40B4-BE49-F238E27FC236}">
                <a16:creationId xmlns:a16="http://schemas.microsoft.com/office/drawing/2014/main" id="{DE4ED411-8931-44F4-BE85-21A634A7F36B}"/>
              </a:ext>
            </a:extLst>
          </p:cNvPr>
          <p:cNvSpPr>
            <a:spLocks xmlns:a="http://schemas.openxmlformats.org/drawingml/2006/main" noGrp="1"/>
          </p:cNvSpPr>
          <p:nvPr/>
        </p:nvSpPr>
        <p:spPr>
          <a:xfrm xmlns:a="http://schemas.openxmlformats.org/drawingml/2006/main">
            <a:off x="10153650" y="221932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77A3"/>
            </a:solidFill>
            <a:prstDash val="solid"/>
          </a:ln>
        </p:spPr>
      </p:sp>
      <p:sp>
        <p:nvSpPr>
          <p:cNvPr id="28" name="">
            <a:extLst xmlns:a="http://schemas.openxmlformats.org/drawingml/2006/main">
              <a:ext uri="{FF2B5EF4-FFF2-40B4-BE49-F238E27FC236}">
                <a16:creationId xmlns:a16="http://schemas.microsoft.com/office/drawing/2014/main" id="{56867862-404D-4D13-89CE-6FF8BEBCD687}"/>
              </a:ext>
            </a:extLst>
          </p:cNvPr>
          <p:cNvSpPr>
            <a:spLocks xmlns:a="http://schemas.openxmlformats.org/drawingml/2006/main" noGrp="1"/>
          </p:cNvSpPr>
          <p:nvPr/>
        </p:nvSpPr>
        <p:spPr>
          <a:xfrm xmlns:a="http://schemas.openxmlformats.org/drawingml/2006/main">
            <a:off x="8839200" y="249555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Boot simulation</a:t>
            </a:r>
          </a:p>
        </p:txBody>
      </p:sp>
      <p:sp>
        <p:nvSpPr>
          <p:cNvPr id="29" name="">
            <a:extLst xmlns:a="http://schemas.openxmlformats.org/drawingml/2006/main">
              <a:ext uri="{FF2B5EF4-FFF2-40B4-BE49-F238E27FC236}">
                <a16:creationId xmlns:a16="http://schemas.microsoft.com/office/drawing/2014/main" id="{0B6B8775-14A8-41FC-BFFB-DBB79D85CF51}"/>
              </a:ext>
            </a:extLst>
          </p:cNvPr>
          <p:cNvSpPr>
            <a:spLocks xmlns:a="http://schemas.openxmlformats.org/drawingml/2006/main" noGrp="1"/>
          </p:cNvSpPr>
          <p:nvPr/>
        </p:nvSpPr>
        <p:spPr>
          <a:xfrm xmlns:a="http://schemas.openxmlformats.org/drawingml/2006/main">
            <a:off x="8839200" y="276225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Routed netlist prints the banner</a:t>
            </a:r>
          </a:p>
        </p:txBody>
      </p:sp>
      <p:sp>
        <p:nvSpPr>
          <p:cNvPr id="30" name="">
            <a:extLst xmlns:a="http://schemas.openxmlformats.org/drawingml/2006/main">
              <a:ext uri="{FF2B5EF4-FFF2-40B4-BE49-F238E27FC236}">
                <a16:creationId xmlns:a16="http://schemas.microsoft.com/office/drawing/2014/main" id="{A4DD0B6A-A9E0-4728-B597-5014137AECC4}"/>
              </a:ext>
            </a:extLst>
          </p:cNvPr>
          <p:cNvSpPr>
            <a:spLocks xmlns:a="http://schemas.openxmlformats.org/drawingml/2006/main" noGrp="1"/>
          </p:cNvSpPr>
          <p:nvPr/>
        </p:nvSpPr>
        <p:spPr>
          <a:xfrm xmlns:a="http://schemas.openxmlformats.org/drawingml/2006/main">
            <a:off x="457200" y="3714750"/>
            <a:ext cx="550545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31" name="">
            <a:extLst xmlns:a="http://schemas.openxmlformats.org/drawingml/2006/main">
              <a:ext uri="{FF2B5EF4-FFF2-40B4-BE49-F238E27FC236}">
                <a16:creationId xmlns:a16="http://schemas.microsoft.com/office/drawing/2014/main" id="{C7159FDF-F8D2-45E3-805C-48B1BF505DE1}"/>
              </a:ext>
            </a:extLst>
          </p:cNvPr>
          <p:cNvSpPr>
            <a:spLocks xmlns:a="http://schemas.openxmlformats.org/drawingml/2006/main" noGrp="1"/>
          </p:cNvSpPr>
          <p:nvPr/>
        </p:nvSpPr>
        <p:spPr>
          <a:xfrm xmlns:a="http://schemas.openxmlformats.org/drawingml/2006/main">
            <a:off x="457200" y="3714750"/>
            <a:ext cx="57150" cy="14954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328556A-99C1-4028-88F2-0D5FDC54539E}"/>
              </a:ext>
            </a:extLst>
          </p:cNvPr>
          <p:cNvSpPr>
            <a:spLocks xmlns:a="http://schemas.openxmlformats.org/drawingml/2006/main" noGrp="1"/>
          </p:cNvSpPr>
          <p:nvPr/>
        </p:nvSpPr>
        <p:spPr>
          <a:xfrm xmlns:a="http://schemas.openxmlformats.org/drawingml/2006/main">
            <a:off x="685800" y="39052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a connectivity gate</a:t>
            </a:r>
          </a:p>
        </p:txBody>
      </p:sp>
      <p:sp>
        <p:nvSpPr>
          <p:cNvPr id="33" name="">
            <a:extLst xmlns:a="http://schemas.openxmlformats.org/drawingml/2006/main">
              <a:ext uri="{FF2B5EF4-FFF2-40B4-BE49-F238E27FC236}">
                <a16:creationId xmlns:a16="http://schemas.microsoft.com/office/drawing/2014/main" id="{1FBDE793-4952-425B-987F-2380D2CCD24D}"/>
              </a:ext>
            </a:extLst>
          </p:cNvPr>
          <p:cNvSpPr>
            <a:spLocks xmlns:a="http://schemas.openxmlformats.org/drawingml/2006/main" noGrp="1"/>
          </p:cNvSpPr>
          <p:nvPr/>
        </p:nvSpPr>
        <p:spPr>
          <a:xfrm xmlns:a="http://schemas.openxmlformats.org/drawingml/2006/main">
            <a:off x="685800" y="4267200"/>
            <a:ext cx="504825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Design-rule and layout-versus-schematic checks can both pass while a pad pin floats. Only a pin-level check on the final layout catches it.</a:t>
            </a:r>
          </a:p>
        </p:txBody>
      </p:sp>
      <p:sp>
        <p:nvSpPr>
          <p:cNvPr id="34" name="">
            <a:extLst xmlns:a="http://schemas.openxmlformats.org/drawingml/2006/main">
              <a:ext uri="{FF2B5EF4-FFF2-40B4-BE49-F238E27FC236}">
                <a16:creationId xmlns:a16="http://schemas.microsoft.com/office/drawing/2014/main" id="{8CFDDDC3-36DA-431B-A299-7E7AD00BDF30}"/>
              </a:ext>
            </a:extLst>
          </p:cNvPr>
          <p:cNvSpPr>
            <a:spLocks xmlns:a="http://schemas.openxmlformats.org/drawingml/2006/main" noGrp="1"/>
          </p:cNvSpPr>
          <p:nvPr/>
        </p:nvSpPr>
        <p:spPr>
          <a:xfrm xmlns:a="http://schemas.openxmlformats.org/drawingml/2006/main">
            <a:off x="6229350" y="37147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5" name="">
            <a:extLst xmlns:a="http://schemas.openxmlformats.org/drawingml/2006/main">
              <a:ext uri="{FF2B5EF4-FFF2-40B4-BE49-F238E27FC236}">
                <a16:creationId xmlns:a16="http://schemas.microsoft.com/office/drawing/2014/main" id="{AEB629FB-4A40-45D2-8A5A-544A066A9E17}"/>
              </a:ext>
            </a:extLst>
          </p:cNvPr>
          <p:cNvSpPr>
            <a:spLocks xmlns:a="http://schemas.openxmlformats.org/drawingml/2006/main" noGrp="1"/>
          </p:cNvSpPr>
          <p:nvPr/>
        </p:nvSpPr>
        <p:spPr>
          <a:xfrm xmlns:a="http://schemas.openxmlformats.org/drawingml/2006/main">
            <a:off x="6229350" y="3714750"/>
            <a:ext cx="57150" cy="12477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00103D7-FFEF-4217-A168-73278984EA06}"/>
              </a:ext>
            </a:extLst>
          </p:cNvPr>
          <p:cNvSpPr>
            <a:spLocks xmlns:a="http://schemas.openxmlformats.org/drawingml/2006/main" noGrp="1"/>
          </p:cNvSpPr>
          <p:nvPr/>
        </p:nvSpPr>
        <p:spPr>
          <a:xfrm xmlns:a="http://schemas.openxmlformats.org/drawingml/2006/main">
            <a:off x="6457950" y="39052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What this deck states</a:t>
            </a:r>
          </a:p>
        </p:txBody>
      </p:sp>
      <p:sp>
        <p:nvSpPr>
          <p:cNvPr id="37" name="">
            <a:extLst xmlns:a="http://schemas.openxmlformats.org/drawingml/2006/main">
              <a:ext uri="{FF2B5EF4-FFF2-40B4-BE49-F238E27FC236}">
                <a16:creationId xmlns:a16="http://schemas.microsoft.com/office/drawing/2014/main" id="{7052DBB0-1358-41FE-84E2-675C8E7BAFBA}"/>
              </a:ext>
            </a:extLst>
          </p:cNvPr>
          <p:cNvSpPr>
            <a:spLocks xmlns:a="http://schemas.openxmlformats.org/drawingml/2006/main" noGrp="1"/>
          </p:cNvSpPr>
          <p:nvPr/>
        </p:nvSpPr>
        <p:spPr>
          <a:xfrm xmlns:a="http://schemas.openxmlformats.org/drawingml/2006/main">
            <a:off x="6457950" y="42672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gates the die must pass, not their results. It makes no tapeout-ready claim.</a:t>
            </a:r>
          </a:p>
        </p:txBody>
      </p:sp>
      <p:sp>
        <p:nvSpPr>
          <p:cNvPr id="38" name="">
            <a:extLst xmlns:a="http://schemas.openxmlformats.org/drawingml/2006/main">
              <a:ext uri="{FF2B5EF4-FFF2-40B4-BE49-F238E27FC236}">
                <a16:creationId xmlns:a16="http://schemas.microsoft.com/office/drawing/2014/main" id="{E274D109-417D-4147-A02E-63A574C65ED2}"/>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sign-off gates.</a:t>
            </a:r>
          </a:p>
        </p:txBody>
      </p:sp>
    </p:spTree>
    <p:extLst>
      <p:ext uri="{BB962C8B-B14F-4D97-AF65-F5344CB8AC3E}">
        <p14:creationId xmlns:p14="http://schemas.microsoft.com/office/powerpoint/2010/main" val="211795974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88CADEF-A31F-4874-9DC3-40CC64ACC1A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691857-C683-45F0-AD83-221AFECA983F}"/>
              </a:ext>
            </a:extLst>
          </p:cNvPr>
          <p:cNvSpPr>
            <a:spLocks xmlns:a="http://schemas.openxmlformats.org/drawingml/2006/main" noGrp="1"/>
          </p:cNvSpPr>
          <p:nvPr/>
        </p:nvSpPr>
        <p:spPr>
          <a:xfrm xmlns:a="http://schemas.openxmlformats.org/drawingml/2006/main">
            <a:off x="0" y="0"/>
            <a:ext cx="48768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C871F71-42AA-4B99-822B-61B9DFEC8F9A}"/>
              </a:ext>
            </a:extLst>
          </p:cNvPr>
          <p:cNvSpPr>
            <a:spLocks xmlns:a="http://schemas.openxmlformats.org/drawingml/2006/main" noGrp="1"/>
          </p:cNvSpPr>
          <p:nvPr/>
        </p:nvSpPr>
        <p:spPr>
          <a:xfrm xmlns:a="http://schemas.openxmlformats.org/drawingml/2006/main">
            <a:off x="457200" y="60960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11 · CLOSE</a:t>
            </a:r>
          </a:p>
        </p:txBody>
      </p:sp>
      <p:sp>
        <p:nvSpPr>
          <p:cNvPr id="4" name="">
            <a:extLst xmlns:a="http://schemas.openxmlformats.org/drawingml/2006/main">
              <a:ext uri="{FF2B5EF4-FFF2-40B4-BE49-F238E27FC236}">
                <a16:creationId xmlns:a16="http://schemas.microsoft.com/office/drawing/2014/main" id="{7152C8B2-AAB7-42E8-B38F-3B9AE4A4EA64}"/>
              </a:ext>
            </a:extLst>
          </p:cNvPr>
          <p:cNvSpPr>
            <a:spLocks xmlns:a="http://schemas.openxmlformats.org/drawingml/2006/main" noGrp="1"/>
          </p:cNvSpPr>
          <p:nvPr/>
        </p:nvSpPr>
        <p:spPr>
          <a:xfrm xmlns:a="http://schemas.openxmlformats.org/drawingml/2006/main">
            <a:off x="457200" y="990600"/>
            <a:ext cx="400050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75" b="1">
                <a:solidFill>
                  <a:srgbClr val="FFFFFF"/>
                </a:solidFill>
                <a:latin typeface="Georgia"/>
                <a:ea typeface="Georgia"/>
                <a:cs typeface="Georgia"/>
              </a:defRPr>
            </a:pPr>
            <a:r>
              <a:t>Built to be checked, not assumed.</a:t>
            </a:r>
          </a:p>
        </p:txBody>
      </p:sp>
      <p:sp>
        <p:nvSpPr>
          <p:cNvPr id="5" name="">
            <a:extLst xmlns:a="http://schemas.openxmlformats.org/drawingml/2006/main">
              <a:ext uri="{FF2B5EF4-FFF2-40B4-BE49-F238E27FC236}">
                <a16:creationId xmlns:a16="http://schemas.microsoft.com/office/drawing/2014/main" id="{6B2D1252-98A7-401E-9F3E-3C89C9D6B670}"/>
              </a:ext>
            </a:extLst>
          </p:cNvPr>
          <p:cNvSpPr>
            <a:spLocks xmlns:a="http://schemas.openxmlformats.org/drawingml/2006/main" noGrp="1"/>
          </p:cNvSpPr>
          <p:nvPr/>
        </p:nvSpPr>
        <p:spPr>
          <a:xfrm xmlns:a="http://schemas.openxmlformats.org/drawingml/2006/main">
            <a:off x="457200" y="302895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67D7612-6E61-4919-AC96-6EF18BF1C7DD}"/>
              </a:ext>
            </a:extLst>
          </p:cNvPr>
          <p:cNvSpPr>
            <a:spLocks xmlns:a="http://schemas.openxmlformats.org/drawingml/2006/main" noGrp="1"/>
          </p:cNvSpPr>
          <p:nvPr/>
        </p:nvSpPr>
        <p:spPr>
          <a:xfrm xmlns:a="http://schemas.openxmlformats.org/drawingml/2006/main">
            <a:off x="457200" y="3276600"/>
            <a:ext cx="4000500"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Next milestone: first silicon on the September 2026 multi-project shuttle.</a:t>
            </a:r>
          </a:p>
        </p:txBody>
      </p:sp>
      <p:sp>
        <p:nvSpPr>
          <p:cNvPr id="7" name="">
            <a:extLst xmlns:a="http://schemas.openxmlformats.org/drawingml/2006/main">
              <a:ext uri="{FF2B5EF4-FFF2-40B4-BE49-F238E27FC236}">
                <a16:creationId xmlns:a16="http://schemas.microsoft.com/office/drawing/2014/main" id="{C694D853-E4D8-4C80-A704-87ED1A33068D}"/>
              </a:ext>
            </a:extLst>
          </p:cNvPr>
          <p:cNvSpPr>
            <a:spLocks xmlns:a="http://schemas.openxmlformats.org/drawingml/2006/main" noGrp="1"/>
          </p:cNvSpPr>
          <p:nvPr/>
        </p:nvSpPr>
        <p:spPr>
          <a:xfrm xmlns:a="http://schemas.openxmlformats.org/drawingml/2006/main">
            <a:off x="5334000" y="609600"/>
            <a:ext cx="6400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THREE THINGS TO REMEMBER</a:t>
            </a:r>
          </a:p>
        </p:txBody>
      </p:sp>
      <p:sp>
        <p:nvSpPr>
          <p:cNvPr id="8" name="">
            <a:extLst xmlns:a="http://schemas.openxmlformats.org/drawingml/2006/main">
              <a:ext uri="{FF2B5EF4-FFF2-40B4-BE49-F238E27FC236}">
                <a16:creationId xmlns:a16="http://schemas.microsoft.com/office/drawing/2014/main" id="{F7353BA2-7A85-4184-8979-3377E41A9438}"/>
              </a:ext>
            </a:extLst>
          </p:cNvPr>
          <p:cNvSpPr>
            <a:spLocks xmlns:a="http://schemas.openxmlformats.org/drawingml/2006/main" noGrp="1"/>
          </p:cNvSpPr>
          <p:nvPr/>
        </p:nvSpPr>
        <p:spPr>
          <a:xfrm xmlns:a="http://schemas.openxmlformats.org/drawingml/2006/main">
            <a:off x="5334000" y="102870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BA07DE4C-2AA1-4CDE-A490-28B5FCF853EE}"/>
              </a:ext>
            </a:extLst>
          </p:cNvPr>
          <p:cNvSpPr>
            <a:spLocks xmlns:a="http://schemas.openxmlformats.org/drawingml/2006/main" noGrp="1"/>
          </p:cNvSpPr>
          <p:nvPr/>
        </p:nvSpPr>
        <p:spPr>
          <a:xfrm xmlns:a="http://schemas.openxmlformats.org/drawingml/2006/main">
            <a:off x="5334000" y="102870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A7DF146-61E5-49B9-8F58-EABFA68DFBB5}"/>
              </a:ext>
            </a:extLst>
          </p:cNvPr>
          <p:cNvSpPr>
            <a:spLocks xmlns:a="http://schemas.openxmlformats.org/drawingml/2006/main" noGrp="1"/>
          </p:cNvSpPr>
          <p:nvPr/>
        </p:nvSpPr>
        <p:spPr>
          <a:xfrm xmlns:a="http://schemas.openxmlformats.org/drawingml/2006/main">
            <a:off x="5562600" y="121920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1 · One clock, one reset</a:t>
            </a:r>
          </a:p>
        </p:txBody>
      </p:sp>
      <p:sp>
        <p:nvSpPr>
          <p:cNvPr id="11" name="">
            <a:extLst xmlns:a="http://schemas.openxmlformats.org/drawingml/2006/main">
              <a:ext uri="{FF2B5EF4-FFF2-40B4-BE49-F238E27FC236}">
                <a16:creationId xmlns:a16="http://schemas.microsoft.com/office/drawing/2014/main" id="{2863960D-28B3-4B80-AB4D-ECCE64EEB954}"/>
              </a:ext>
            </a:extLst>
          </p:cNvPr>
          <p:cNvSpPr>
            <a:spLocks xmlns:a="http://schemas.openxmlformats.org/drawingml/2006/main" noGrp="1"/>
          </p:cNvSpPr>
          <p:nvPr/>
        </p:nvSpPr>
        <p:spPr>
          <a:xfrm xmlns:a="http://schemas.openxmlformats.org/drawingml/2006/main">
            <a:off x="5562600" y="158115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single 50 MHz domain with eight clock gates and a checker released two cycles after MAIN.</a:t>
            </a:r>
          </a:p>
        </p:txBody>
      </p:sp>
      <p:sp>
        <p:nvSpPr>
          <p:cNvPr id="12" name="">
            <a:extLst xmlns:a="http://schemas.openxmlformats.org/drawingml/2006/main">
              <a:ext uri="{FF2B5EF4-FFF2-40B4-BE49-F238E27FC236}">
                <a16:creationId xmlns:a16="http://schemas.microsoft.com/office/drawing/2014/main" id="{C3C54944-3C6D-456A-9597-5AC259BC645B}"/>
              </a:ext>
            </a:extLst>
          </p:cNvPr>
          <p:cNvSpPr>
            <a:spLocks xmlns:a="http://schemas.openxmlformats.org/drawingml/2006/main" noGrp="1"/>
          </p:cNvSpPr>
          <p:nvPr/>
        </p:nvSpPr>
        <p:spPr>
          <a:xfrm xmlns:a="http://schemas.openxmlformats.org/drawingml/2006/main">
            <a:off x="5334000" y="2428875"/>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BCB0545E-851C-4E64-BA6D-1B4F1FFB6700}"/>
              </a:ext>
            </a:extLst>
          </p:cNvPr>
          <p:cNvSpPr>
            <a:spLocks xmlns:a="http://schemas.openxmlformats.org/drawingml/2006/main" noGrp="1"/>
          </p:cNvSpPr>
          <p:nvPr/>
        </p:nvSpPr>
        <p:spPr>
          <a:xfrm xmlns:a="http://schemas.openxmlformats.org/drawingml/2006/main">
            <a:off x="5334000" y="2428875"/>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6E098B0-042F-4C6A-A5BF-84BB5D6454B6}"/>
              </a:ext>
            </a:extLst>
          </p:cNvPr>
          <p:cNvSpPr>
            <a:spLocks xmlns:a="http://schemas.openxmlformats.org/drawingml/2006/main" noGrp="1"/>
          </p:cNvSpPr>
          <p:nvPr/>
        </p:nvSpPr>
        <p:spPr>
          <a:xfrm xmlns:a="http://schemas.openxmlformats.org/drawingml/2006/main">
            <a:off x="5562600" y="2619375"/>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2 · Nothing hangs, nothing floats</a:t>
            </a:r>
          </a:p>
        </p:txBody>
      </p:sp>
      <p:sp>
        <p:nvSpPr>
          <p:cNvPr id="15" name="">
            <a:extLst xmlns:a="http://schemas.openxmlformats.org/drawingml/2006/main">
              <a:ext uri="{FF2B5EF4-FFF2-40B4-BE49-F238E27FC236}">
                <a16:creationId xmlns:a16="http://schemas.microsoft.com/office/drawing/2014/main" id="{4A47DDE0-1FBD-484C-A88B-E9FF04F7A90F}"/>
              </a:ext>
            </a:extLst>
          </p:cNvPr>
          <p:cNvSpPr>
            <a:spLocks xmlns:a="http://schemas.openxmlformats.org/drawingml/2006/main" noGrp="1"/>
          </p:cNvSpPr>
          <p:nvPr/>
        </p:nvSpPr>
        <p:spPr>
          <a:xfrm xmlns:a="http://schemas.openxmlformats.org/drawingml/2006/main">
            <a:off x="5562600" y="2981325"/>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Gated or undecoded slots answer with an error, and all 44 pads are allocated.</a:t>
            </a:r>
          </a:p>
        </p:txBody>
      </p:sp>
      <p:sp>
        <p:nvSpPr>
          <p:cNvPr id="16" name="">
            <a:extLst xmlns:a="http://schemas.openxmlformats.org/drawingml/2006/main">
              <a:ext uri="{FF2B5EF4-FFF2-40B4-BE49-F238E27FC236}">
                <a16:creationId xmlns:a16="http://schemas.microsoft.com/office/drawing/2014/main" id="{D376F8E6-A18B-43ED-9069-904E0F46544D}"/>
              </a:ext>
            </a:extLst>
          </p:cNvPr>
          <p:cNvSpPr>
            <a:spLocks xmlns:a="http://schemas.openxmlformats.org/drawingml/2006/main" noGrp="1"/>
          </p:cNvSpPr>
          <p:nvPr/>
        </p:nvSpPr>
        <p:spPr>
          <a:xfrm xmlns:a="http://schemas.openxmlformats.org/drawingml/2006/main">
            <a:off x="5334000" y="382905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2A5B0233-26C2-4B73-9F9F-7703D2F33F8F}"/>
              </a:ext>
            </a:extLst>
          </p:cNvPr>
          <p:cNvSpPr>
            <a:spLocks xmlns:a="http://schemas.openxmlformats.org/drawingml/2006/main" noGrp="1"/>
          </p:cNvSpPr>
          <p:nvPr/>
        </p:nvSpPr>
        <p:spPr>
          <a:xfrm xmlns:a="http://schemas.openxmlformats.org/drawingml/2006/main">
            <a:off x="5334000" y="38290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1C676ED-81F2-48E3-84C3-EC7E7FC64653}"/>
              </a:ext>
            </a:extLst>
          </p:cNvPr>
          <p:cNvSpPr>
            <a:spLocks xmlns:a="http://schemas.openxmlformats.org/drawingml/2006/main" noGrp="1"/>
          </p:cNvSpPr>
          <p:nvPr/>
        </p:nvSpPr>
        <p:spPr>
          <a:xfrm xmlns:a="http://schemas.openxmlformats.org/drawingml/2006/main">
            <a:off x="5562600" y="401955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3 · Four gates before tape-in</a:t>
            </a:r>
          </a:p>
        </p:txBody>
      </p:sp>
      <p:sp>
        <p:nvSpPr>
          <p:cNvPr id="19" name="">
            <a:extLst xmlns:a="http://schemas.openxmlformats.org/drawingml/2006/main">
              <a:ext uri="{FF2B5EF4-FFF2-40B4-BE49-F238E27FC236}">
                <a16:creationId xmlns:a16="http://schemas.microsoft.com/office/drawing/2014/main" id="{C696E365-E03B-410C-925D-3EBA2243F616}"/>
              </a:ext>
            </a:extLst>
          </p:cNvPr>
          <p:cNvSpPr>
            <a:spLocks xmlns:a="http://schemas.openxmlformats.org/drawingml/2006/main" noGrp="1"/>
          </p:cNvSpPr>
          <p:nvPr/>
        </p:nvSpPr>
        <p:spPr>
          <a:xfrm xmlns:a="http://schemas.openxmlformats.org/drawingml/2006/main">
            <a:off x="5562600" y="438150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DRC, LVS, pin connectivity and a gate-level boot simulation must all pass.</a:t>
            </a:r>
          </a:p>
        </p:txBody>
      </p:sp>
      <p:sp>
        <p:nvSpPr>
          <p:cNvPr id="20" name="">
            <a:extLst xmlns:a="http://schemas.openxmlformats.org/drawingml/2006/main">
              <a:ext uri="{FF2B5EF4-FFF2-40B4-BE49-F238E27FC236}">
                <a16:creationId xmlns:a16="http://schemas.microsoft.com/office/drawing/2014/main" id="{21DA808B-67F8-4D4C-A17E-35624FD23BC6}"/>
              </a:ext>
            </a:extLst>
          </p:cNvPr>
          <p:cNvSpPr>
            <a:spLocks xmlns:a="http://schemas.openxmlformats.org/drawingml/2006/main" noGrp="1"/>
          </p:cNvSpPr>
          <p:nvPr/>
        </p:nvSpPr>
        <p:spPr>
          <a:xfrm xmlns:a="http://schemas.openxmlformats.org/drawingml/2006/main">
            <a:off x="457200" y="6486525"/>
            <a:ext cx="40005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841914D-870A-4267-8448-9B89A54FB971}"/>
              </a:ext>
            </a:extLst>
          </p:cNvPr>
          <p:cNvSpPr>
            <a:spLocks xmlns:a="http://schemas.openxmlformats.org/drawingml/2006/main" noGrp="1"/>
          </p:cNvSpPr>
          <p:nvPr/>
        </p:nvSpPr>
        <p:spPr>
          <a:xfrm xmlns:a="http://schemas.openxmlformats.org/drawingml/2006/main">
            <a:off x="5334000" y="6486525"/>
            <a:ext cx="64008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361FB18-2103-478A-9180-4AA79C9D4463}"/>
              </a:ext>
            </a:extLst>
          </p:cNvPr>
          <p:cNvSpPr>
            <a:spLocks xmlns:a="http://schemas.openxmlformats.org/drawingml/2006/main" noGrp="1"/>
          </p:cNvSpPr>
          <p:nvPr/>
        </p:nvSpPr>
        <p:spPr>
          <a:xfrm xmlns:a="http://schemas.openxmlformats.org/drawingml/2006/main">
            <a:off x="457200" y="6572250"/>
            <a:ext cx="4191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DG32-LITE TAPE-IN BLOCK DIAGRAM</a:t>
            </a:r>
          </a:p>
        </p:txBody>
      </p:sp>
      <p:sp>
        <p:nvSpPr>
          <p:cNvPr id="23" name="">
            <a:extLst xmlns:a="http://schemas.openxmlformats.org/drawingml/2006/main">
              <a:ext uri="{FF2B5EF4-FFF2-40B4-BE49-F238E27FC236}">
                <a16:creationId xmlns:a16="http://schemas.microsoft.com/office/drawing/2014/main" id="{B8796F2A-D628-42C0-929C-635270555418}"/>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11</a:t>
            </a:r>
          </a:p>
        </p:txBody>
      </p:sp>
    </p:spTree>
    <p:extLst>
      <p:ext uri="{BB962C8B-B14F-4D97-AF65-F5344CB8AC3E}">
        <p14:creationId xmlns:p14="http://schemas.microsoft.com/office/powerpoint/2010/main" val="13933041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2026-09-13T13:34:24.2500000Z</dcterms:created>
  <dcterms:modified xsi:type="dcterms:W3CDTF">2026-09-13T13:34:24.2500000Z</dcterms:modified>
</coreProperties>
</file>