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0bc963bc184fd4" /><Relationship Type="http://schemas.openxmlformats.org/officeDocument/2006/relationships/extended-properties" Target="/docProps/app.xml" Id="R42d2da896d9b45c7" /><Relationship Type="http://schemas.openxmlformats.org/officeDocument/2006/relationships/officeDocument" Target="/ppt/presentation.xml" Id="Ra1e693fba9e84511" /></Relationships>
</file>

<file path=ppt/presentation.xml><?xml version="1.0" encoding="utf-8"?>
<p:presentation xmlns:p="http://schemas.openxmlformats.org/presentationml/2006/main">
  <p:sldMasterIdLst>
    <p:sldMasterId xmlns:r="http://schemas.openxmlformats.org/officeDocument/2006/relationships" id="2147483648" r:id="Rdce16721685c4d7e"/>
  </p:sldMasterIdLst>
  <p:notesMasterIdLst>
    <p:notesMasterId xmlns:r="http://schemas.openxmlformats.org/officeDocument/2006/relationships" r:id="R87c8343e77814a8e"/>
  </p:notesMasterIdLst>
  <p:sldIdLst>
    <p:sldId xmlns:r="http://schemas.openxmlformats.org/officeDocument/2006/relationships" id="256" r:id="R3faff1aba45d4107"/>
    <p:sldId xmlns:r="http://schemas.openxmlformats.org/officeDocument/2006/relationships" id="257" r:id="R583a03c8bf6d4076"/>
    <p:sldId xmlns:r="http://schemas.openxmlformats.org/officeDocument/2006/relationships" id="258" r:id="Rc066512662fd452a"/>
    <p:sldId xmlns:r="http://schemas.openxmlformats.org/officeDocument/2006/relationships" id="259" r:id="Rcd763b6825f94780"/>
    <p:sldId xmlns:r="http://schemas.openxmlformats.org/officeDocument/2006/relationships" id="260" r:id="Rfa7cc57e5f7942ce"/>
    <p:sldId xmlns:r="http://schemas.openxmlformats.org/officeDocument/2006/relationships" id="261" r:id="Rb1cfad3ce89a4957"/>
    <p:sldId xmlns:r="http://schemas.openxmlformats.org/officeDocument/2006/relationships" id="262" r:id="Ra01102663fe34c96"/>
    <p:sldId xmlns:r="http://schemas.openxmlformats.org/officeDocument/2006/relationships" id="263" r:id="R3e2396350abb4a78"/>
    <p:sldId xmlns:r="http://schemas.openxmlformats.org/officeDocument/2006/relationships" id="264" r:id="R05b441c5b3644d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ae74c2915441b8" /><Relationship Type="http://schemas.openxmlformats.org/officeDocument/2006/relationships/slideMaster" Target="/ppt/slideMasters/slideMaster1.xml" Id="Rdce16721685c4d7e" /><Relationship Type="http://schemas.openxmlformats.org/officeDocument/2006/relationships/notesMaster" Target="/ppt/notesMasters/notesMaster1.xml" Id="R87c8343e77814a8e" /><Relationship Type="http://schemas.openxmlformats.org/officeDocument/2006/relationships/presProps" Target="/ppt/presProps.xml" Id="R0268bd0b2763408e" /><Relationship Type="http://schemas.openxmlformats.org/officeDocument/2006/relationships/tableStyles" Target="/ppt/tableStyles.xml" Id="R3c58f2c9112f43ce" /><Relationship Type="http://schemas.openxmlformats.org/officeDocument/2006/relationships/slide" Target="/ppt/slides/slide1.xml" Id="R3faff1aba45d4107" /><Relationship Type="http://schemas.openxmlformats.org/officeDocument/2006/relationships/slide" Target="/ppt/slides/slide2.xml" Id="R583a03c8bf6d4076" /><Relationship Type="http://schemas.openxmlformats.org/officeDocument/2006/relationships/slide" Target="/ppt/slides/slide3.xml" Id="Rc066512662fd452a" /><Relationship Type="http://schemas.openxmlformats.org/officeDocument/2006/relationships/slide" Target="/ppt/slides/slide4.xml" Id="Rcd763b6825f94780" /><Relationship Type="http://schemas.openxmlformats.org/officeDocument/2006/relationships/slide" Target="/ppt/slides/slide5.xml" Id="Rfa7cc57e5f7942ce" /><Relationship Type="http://schemas.openxmlformats.org/officeDocument/2006/relationships/slide" Target="/ppt/slides/slide6.xml" Id="Rb1cfad3ce89a4957" /><Relationship Type="http://schemas.openxmlformats.org/officeDocument/2006/relationships/slide" Target="/ppt/slides/slide7.xml" Id="Ra01102663fe34c96" /><Relationship Type="http://schemas.openxmlformats.org/officeDocument/2006/relationships/slide" Target="/ppt/slides/slide8.xml" Id="R3e2396350abb4a78" /><Relationship Type="http://schemas.openxmlformats.org/officeDocument/2006/relationships/slide" Target="/ppt/slides/slide9.xml" Id="R05b441c5b3644d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1b5801121b47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2cd1686e514761" /><Relationship Type="http://schemas.openxmlformats.org/officeDocument/2006/relationships/notesMaster" Target="/ppt/notesMasters/notesMaster1.xml" Id="R2c69d44bed7e47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86905c167842ae" /><Relationship Type="http://schemas.openxmlformats.org/officeDocument/2006/relationships/notesMaster" Target="/ppt/notesMasters/notesMaster1.xml" Id="R4a85a9bb9bb441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e8530c4efb4cfa" /><Relationship Type="http://schemas.openxmlformats.org/officeDocument/2006/relationships/notesMaster" Target="/ppt/notesMasters/notesMaster1.xml" Id="R3dc34d9ca09c48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cd2c712d944e37" /><Relationship Type="http://schemas.openxmlformats.org/officeDocument/2006/relationships/notesMaster" Target="/ppt/notesMasters/notesMaster1.xml" Id="Rb60be118150042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778e385f5e4b99" /><Relationship Type="http://schemas.openxmlformats.org/officeDocument/2006/relationships/notesMaster" Target="/ppt/notesMasters/notesMaster1.xml" Id="R07df1c6b6f1f49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08bb6bb319460a" /><Relationship Type="http://schemas.openxmlformats.org/officeDocument/2006/relationships/notesMaster" Target="/ppt/notesMasters/notesMaster1.xml" Id="Raede53bf076240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150649688c40b7" /><Relationship Type="http://schemas.openxmlformats.org/officeDocument/2006/relationships/notesMaster" Target="/ppt/notesMasters/notesMaster1.xml" Id="R692780fc57d34e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dab8f6b46e45eb" /><Relationship Type="http://schemas.openxmlformats.org/officeDocument/2006/relationships/notesMaster" Target="/ppt/notesMasters/notesMaster1.xml" Id="R5d12104188b84c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869d09f1764096" /><Relationship Type="http://schemas.openxmlformats.org/officeDocument/2006/relationships/notesMaster" Target="/ppt/notesMasters/notesMaster1.xml" Id="R8218ee7add2247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DG32-2DOM is the attention variant of DG32-LITE, and its preliminary datasheet reads like DG32-LITE's with one addition: an INT8 attention engine on its own clock. This deck covers what the datasheet adds, and confirms what it leaves unchanged. Every figure is a design value, a process nominal or an analytic estimate, and each is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you have designed with DG32-LITE, most of this is already familiar. The package, the sixty-four pins and the forty-four signals do not move, and neither do the one point eight and three point three volt supplies. What is new is a second clock at one hundred fourteen megahertz, driving the engine beside the fifty megahertz CPU. A board designer sees the same chip; only the firmware sees something extra.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five entries in the feature list are new, and all of them exist because of the engine. It computes a whole span of rows for an attention head each time it is started, and its results match the reference software exactly. One shared multiplier and a small weight table keep that hardware compact. Each row costs about thirty-two hundred cycles by analysis. And the engine brings its own faster clock, plus a larger die to hold its buffers.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Everything else is unchanged. The package, the pin groups, the rails and their limits, and the boot flow are identical to DG32-LITE, because the engine is internal and adds no pads. The datasheet repeats the same zero point four three watt estimate at fifty megahertz, and it does not yet state a separate figure for the engine.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give the engine a clock of its own? Speeding up the whole chip would push the lockstep core past its timing limit, so the processor, the bus and all of the peripherals stay at fifty megahertz while the engine runs at one hundred fourteen. The two sides meet only through synchronised bridges, which means the engine can never hold up control. After layout, both clocks meet timing with positive slack.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From firmware, running the engine takes four moves. Point it at the memory holding its inputs and where its results should go. Describe the shape of the job: how many rows and keys, and how wide each vector is. Start it, reusing anything still loaded from last time if that saves work. Then wait, by polling or with an interrupt. If the job is shaped wrongly or the arithmetic would overflow, the engine says 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engine's limits are set in silicon, so a model has to fit them rather than the other way round. One start covers up to sixty-five thousand five hundred thirty-five query rows, and each head can hold up to four hundred keys. Keys can be thirty-two bytes wide and values sixty-four. Sixteen multiply lanes, a two-hundred-fifty-six entry weight table and a forty-bit numerator keep the result exact up to one hundred thirty-one thousand 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board, nothing changes. The footprint, the pin map, the supplies and their sequencing, and the boot flash and console are the same as DG32-LITE. The engine adds no board signals at all. The chip's status is design complete, and in physical trials.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what matters for a design team. Any board laid out for DG32-LITE already fits DG32-2DOM. The new engine runs from a separate, faster clock and can never hold up motor control. And its limits are settled today, at four hundred keys, values of sixty-four bytes and roughly thirty-two hundred cycles per row, by analysis. Real measurements arrive with first silicon.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e9bd70e86542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1e7416d0d9457e" /><Relationship Type="http://schemas.openxmlformats.org/officeDocument/2006/relationships/slideLayout" Target="/ppt/slideLayouts/slideLayout1.xml" Id="R4555638b148243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55638b148243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9876a2d8f84c5b" /><Relationship Type="http://schemas.openxmlformats.org/officeDocument/2006/relationships/notesSlide" Target="/ppt/notesSlides/notesSlide1.xml" Id="Rc83e0b79c35541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188ceee0524675" /><Relationship Type="http://schemas.openxmlformats.org/officeDocument/2006/relationships/notesSlide" Target="/ppt/notesSlides/notesSlide2.xml" Id="Rd55c7d5aaab24d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a1067a41b84c61" /><Relationship Type="http://schemas.openxmlformats.org/officeDocument/2006/relationships/notesSlide" Target="/ppt/notesSlides/notesSlide3.xml" Id="R2098c1124d3740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16b6d621cc146d9" /><Relationship Type="http://schemas.openxmlformats.org/officeDocument/2006/relationships/notesSlide" Target="/ppt/notesSlides/notesSlide4.xml" Id="R4cd2e16bd3744a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f720a23a2f44c9" /><Relationship Type="http://schemas.openxmlformats.org/officeDocument/2006/relationships/notesSlide" Target="/ppt/notesSlides/notesSlide5.xml" Id="Re66fc8fc12e743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5d9480528324809" /><Relationship Type="http://schemas.openxmlformats.org/officeDocument/2006/relationships/notesSlide" Target="/ppt/notesSlides/notesSlide6.xml" Id="R131ab04890f941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f068c2182774588" /><Relationship Type="http://schemas.openxmlformats.org/officeDocument/2006/relationships/notesSlide" Target="/ppt/notesSlides/notesSlide7.xml" Id="Rec5d01a4d5604f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9d64bad8d414c48" /><Relationship Type="http://schemas.openxmlformats.org/officeDocument/2006/relationships/notesSlide" Target="/ppt/notesSlides/notesSlide8.xml" Id="R530e3f1d2b004a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b7e056df88a4511" /><Relationship Type="http://schemas.openxmlformats.org/officeDocument/2006/relationships/notesSlide" Target="/ppt/notesSlides/notesSlide9.xml" Id="R106c0190e2d6468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05" name="">
            <a:extLst xmlns:a="http://schemas.openxmlformats.org/drawingml/2006/main">
              <a:ext uri="{FF2B5EF4-FFF2-40B4-BE49-F238E27FC236}">
                <a16:creationId xmlns:a16="http://schemas.microsoft.com/office/drawing/2014/main" id="{E01D0589-AF7E-4A44-9DF3-F60A820CB0E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38EA8EB-9A0E-4F75-B2BC-C36DC0741F90}"/>
              </a:ext>
            </a:extLst>
          </p:cNvPr>
          <p:cNvSpPr>
            <a:spLocks xmlns:a="http://schemas.openxmlformats.org/drawingml/2006/main" noGrp="1"/>
          </p:cNvSpPr>
          <p:nvPr/>
        </p:nvSpPr>
        <p:spPr>
          <a:xfrm xmlns:a="http://schemas.openxmlformats.org/drawingml/2006/main">
            <a:off x="457200" y="666750"/>
            <a:ext cx="7239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DEEPGRID SEMI  ·  DG32-2DOM  ·  PRELIMINARY DATASHEET</a:t>
            </a:r>
          </a:p>
        </p:txBody>
      </p:sp>
      <p:sp>
        <p:nvSpPr>
          <p:cNvPr id="3" name="">
            <a:extLst xmlns:a="http://schemas.openxmlformats.org/drawingml/2006/main">
              <a:ext uri="{FF2B5EF4-FFF2-40B4-BE49-F238E27FC236}">
                <a16:creationId xmlns:a16="http://schemas.microsoft.com/office/drawing/2014/main" id="{3DBA215E-C367-47D0-87E3-87089F43CE3E}"/>
              </a:ext>
            </a:extLst>
          </p:cNvPr>
          <p:cNvSpPr>
            <a:spLocks xmlns:a="http://schemas.openxmlformats.org/drawingml/2006/main" noGrp="1"/>
          </p:cNvSpPr>
          <p:nvPr/>
        </p:nvSpPr>
        <p:spPr>
          <a:xfrm xmlns:a="http://schemas.openxmlformats.org/drawingml/2006/main">
            <a:off x="457200" y="1066800"/>
            <a:ext cx="7239000" cy="1619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975" b="1">
                <a:solidFill>
                  <a:srgbClr val="FFFFFF"/>
                </a:solidFill>
                <a:latin typeface="Georgia"/>
                <a:ea typeface="Georgia"/>
                <a:cs typeface="Georgia"/>
              </a:defRPr>
            </a:pPr>
            <a:r>
              <a:t>DG32-2DOM: DG32-LITE plus one engine</a:t>
            </a:r>
          </a:p>
        </p:txBody>
      </p:sp>
      <p:sp>
        <p:nvSpPr>
          <p:cNvPr id="4" name="">
            <a:extLst xmlns:a="http://schemas.openxmlformats.org/drawingml/2006/main">
              <a:ext uri="{FF2B5EF4-FFF2-40B4-BE49-F238E27FC236}">
                <a16:creationId xmlns:a16="http://schemas.microsoft.com/office/drawing/2014/main" id="{C79C562E-642E-4D54-82E0-E9A62459EF66}"/>
              </a:ext>
            </a:extLst>
          </p:cNvPr>
          <p:cNvSpPr>
            <a:spLocks xmlns:a="http://schemas.openxmlformats.org/drawingml/2006/main" noGrp="1"/>
          </p:cNvSpPr>
          <p:nvPr/>
        </p:nvSpPr>
        <p:spPr>
          <a:xfrm xmlns:a="http://schemas.openxmlformats.org/drawingml/2006/main">
            <a:off x="457200" y="2781300"/>
            <a:ext cx="1143000" cy="38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E8FBDF4-3367-441D-B949-A8DF1CB07E95}"/>
              </a:ext>
            </a:extLst>
          </p:cNvPr>
          <p:cNvSpPr>
            <a:spLocks xmlns:a="http://schemas.openxmlformats.org/drawingml/2006/main" noGrp="1"/>
          </p:cNvSpPr>
          <p:nvPr/>
        </p:nvSpPr>
        <p:spPr>
          <a:xfrm xmlns:a="http://schemas.openxmlformats.org/drawingml/2006/main">
            <a:off x="457200" y="2990850"/>
            <a:ext cx="66675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What the DG32-2DOM preliminary datasheet adds and what it leaves unchanged · design values, process nominals and analytic estimates, each labelled</a:t>
            </a:r>
          </a:p>
        </p:txBody>
      </p:sp>
      <p:sp>
        <p:nvSpPr>
          <p:cNvPr id="6" name="">
            <a:extLst xmlns:a="http://schemas.openxmlformats.org/drawingml/2006/main">
              <a:ext uri="{FF2B5EF4-FFF2-40B4-BE49-F238E27FC236}">
                <a16:creationId xmlns:a16="http://schemas.microsoft.com/office/drawing/2014/main" id="{541F0171-A9C6-4CE9-A2B2-4286495AC7BE}"/>
              </a:ext>
            </a:extLst>
          </p:cNvPr>
          <p:cNvSpPr>
            <a:spLocks xmlns:a="http://schemas.openxmlformats.org/drawingml/2006/main" noGrp="1"/>
          </p:cNvSpPr>
          <p:nvPr/>
        </p:nvSpPr>
        <p:spPr>
          <a:xfrm xmlns:a="http://schemas.openxmlformats.org/drawingml/2006/main">
            <a:off x="8096250" y="1123950"/>
            <a:ext cx="3048000" cy="3048000"/>
          </a:xfrm>
          <a:prstGeom xmlns:a="http://schemas.openxmlformats.org/drawingml/2006/main" prst="rect">
            <a:avLst/>
          </a:prstGeom>
          <a:solidFill xmlns:a="http://schemas.openxmlformats.org/drawingml/2006/main">
            <a:srgbClr val="12243A"/>
          </a:solidFill>
          <a:ln xmlns:a="http://schemas.openxmlformats.org/drawingml/2006/main" w="19050">
            <a:solidFill>
              <a:srgbClr val="00B4D8"/>
            </a:solidFill>
            <a:prstDash val="solid"/>
          </a:ln>
        </p:spPr>
      </p:sp>
      <p:sp>
        <p:nvSpPr>
          <p:cNvPr id="7" name="">
            <a:extLst xmlns:a="http://schemas.openxmlformats.org/drawingml/2006/main">
              <a:ext uri="{FF2B5EF4-FFF2-40B4-BE49-F238E27FC236}">
                <a16:creationId xmlns:a16="http://schemas.microsoft.com/office/drawing/2014/main" id="{8CCB0EFE-DABF-4694-A07E-22F5418D88C0}"/>
              </a:ext>
            </a:extLst>
          </p:cNvPr>
          <p:cNvSpPr>
            <a:spLocks xmlns:a="http://schemas.openxmlformats.org/drawingml/2006/main" noGrp="1"/>
          </p:cNvSpPr>
          <p:nvPr/>
        </p:nvSpPr>
        <p:spPr>
          <a:xfrm xmlns:a="http://schemas.openxmlformats.org/drawingml/2006/main">
            <a:off x="7943850" y="13049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32A5EB7-5F4C-4FD8-ACDC-B9FABEF68D5B}"/>
              </a:ext>
            </a:extLst>
          </p:cNvPr>
          <p:cNvSpPr>
            <a:spLocks xmlns:a="http://schemas.openxmlformats.org/drawingml/2006/main" noGrp="1"/>
          </p:cNvSpPr>
          <p:nvPr/>
        </p:nvSpPr>
        <p:spPr>
          <a:xfrm xmlns:a="http://schemas.openxmlformats.org/drawingml/2006/main">
            <a:off x="11163300" y="13049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E4E937E-03D3-482B-A6C5-83C1A3C183E0}"/>
              </a:ext>
            </a:extLst>
          </p:cNvPr>
          <p:cNvSpPr>
            <a:spLocks xmlns:a="http://schemas.openxmlformats.org/drawingml/2006/main" noGrp="1"/>
          </p:cNvSpPr>
          <p:nvPr/>
        </p:nvSpPr>
        <p:spPr>
          <a:xfrm xmlns:a="http://schemas.openxmlformats.org/drawingml/2006/main">
            <a:off x="82772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2D4ED0E-E43F-42B4-BC96-F10645E34D49}"/>
              </a:ext>
            </a:extLst>
          </p:cNvPr>
          <p:cNvSpPr>
            <a:spLocks xmlns:a="http://schemas.openxmlformats.org/drawingml/2006/main" noGrp="1"/>
          </p:cNvSpPr>
          <p:nvPr/>
        </p:nvSpPr>
        <p:spPr>
          <a:xfrm xmlns:a="http://schemas.openxmlformats.org/drawingml/2006/main">
            <a:off x="82772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28B7DE9-A255-404F-9D5C-79BB04BB8F38}"/>
              </a:ext>
            </a:extLst>
          </p:cNvPr>
          <p:cNvSpPr>
            <a:spLocks xmlns:a="http://schemas.openxmlformats.org/drawingml/2006/main" noGrp="1"/>
          </p:cNvSpPr>
          <p:nvPr/>
        </p:nvSpPr>
        <p:spPr>
          <a:xfrm xmlns:a="http://schemas.openxmlformats.org/drawingml/2006/main">
            <a:off x="7943850" y="14776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EEC16ED-4764-4662-B51A-CFE72178AB9D}"/>
              </a:ext>
            </a:extLst>
          </p:cNvPr>
          <p:cNvSpPr>
            <a:spLocks xmlns:a="http://schemas.openxmlformats.org/drawingml/2006/main" noGrp="1"/>
          </p:cNvSpPr>
          <p:nvPr/>
        </p:nvSpPr>
        <p:spPr>
          <a:xfrm xmlns:a="http://schemas.openxmlformats.org/drawingml/2006/main">
            <a:off x="11163300" y="14776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E624745-F55E-4B7C-8BF3-4C585C0E6E3C}"/>
              </a:ext>
            </a:extLst>
          </p:cNvPr>
          <p:cNvSpPr>
            <a:spLocks xmlns:a="http://schemas.openxmlformats.org/drawingml/2006/main" noGrp="1"/>
          </p:cNvSpPr>
          <p:nvPr/>
        </p:nvSpPr>
        <p:spPr>
          <a:xfrm xmlns:a="http://schemas.openxmlformats.org/drawingml/2006/main">
            <a:off x="84499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C5CFB09-03F6-4DD7-83BB-45FC619C5338}"/>
              </a:ext>
            </a:extLst>
          </p:cNvPr>
          <p:cNvSpPr>
            <a:spLocks xmlns:a="http://schemas.openxmlformats.org/drawingml/2006/main" noGrp="1"/>
          </p:cNvSpPr>
          <p:nvPr/>
        </p:nvSpPr>
        <p:spPr>
          <a:xfrm xmlns:a="http://schemas.openxmlformats.org/drawingml/2006/main">
            <a:off x="84499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04306BE-9A89-498E-8C07-43E6C87099D2}"/>
              </a:ext>
            </a:extLst>
          </p:cNvPr>
          <p:cNvSpPr>
            <a:spLocks xmlns:a="http://schemas.openxmlformats.org/drawingml/2006/main" noGrp="1"/>
          </p:cNvSpPr>
          <p:nvPr/>
        </p:nvSpPr>
        <p:spPr>
          <a:xfrm xmlns:a="http://schemas.openxmlformats.org/drawingml/2006/main">
            <a:off x="7943850" y="16503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5AB1941-100E-4D25-AB25-6F823327839C}"/>
              </a:ext>
            </a:extLst>
          </p:cNvPr>
          <p:cNvSpPr>
            <a:spLocks xmlns:a="http://schemas.openxmlformats.org/drawingml/2006/main" noGrp="1"/>
          </p:cNvSpPr>
          <p:nvPr/>
        </p:nvSpPr>
        <p:spPr>
          <a:xfrm xmlns:a="http://schemas.openxmlformats.org/drawingml/2006/main">
            <a:off x="11163300" y="16503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E941845-614E-42B4-B793-0BDF5BF17AC4}"/>
              </a:ext>
            </a:extLst>
          </p:cNvPr>
          <p:cNvSpPr>
            <a:spLocks xmlns:a="http://schemas.openxmlformats.org/drawingml/2006/main" noGrp="1"/>
          </p:cNvSpPr>
          <p:nvPr/>
        </p:nvSpPr>
        <p:spPr>
          <a:xfrm xmlns:a="http://schemas.openxmlformats.org/drawingml/2006/main">
            <a:off x="86226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9963CD4-AEC9-41B7-9213-09AD09C6C427}"/>
              </a:ext>
            </a:extLst>
          </p:cNvPr>
          <p:cNvSpPr>
            <a:spLocks xmlns:a="http://schemas.openxmlformats.org/drawingml/2006/main" noGrp="1"/>
          </p:cNvSpPr>
          <p:nvPr/>
        </p:nvSpPr>
        <p:spPr>
          <a:xfrm xmlns:a="http://schemas.openxmlformats.org/drawingml/2006/main">
            <a:off x="86226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CBFC3F2-E081-47A0-B8CF-43BBF40F7E3B}"/>
              </a:ext>
            </a:extLst>
          </p:cNvPr>
          <p:cNvSpPr>
            <a:spLocks xmlns:a="http://schemas.openxmlformats.org/drawingml/2006/main" noGrp="1"/>
          </p:cNvSpPr>
          <p:nvPr/>
        </p:nvSpPr>
        <p:spPr>
          <a:xfrm xmlns:a="http://schemas.openxmlformats.org/drawingml/2006/main">
            <a:off x="7943850" y="18230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50B60C1-2440-42C9-A3B9-8C276EBAD1CE}"/>
              </a:ext>
            </a:extLst>
          </p:cNvPr>
          <p:cNvSpPr>
            <a:spLocks xmlns:a="http://schemas.openxmlformats.org/drawingml/2006/main" noGrp="1"/>
          </p:cNvSpPr>
          <p:nvPr/>
        </p:nvSpPr>
        <p:spPr>
          <a:xfrm xmlns:a="http://schemas.openxmlformats.org/drawingml/2006/main">
            <a:off x="11163300" y="18230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9594E0E-1823-41AF-80FD-A9A5D3571C80}"/>
              </a:ext>
            </a:extLst>
          </p:cNvPr>
          <p:cNvSpPr>
            <a:spLocks xmlns:a="http://schemas.openxmlformats.org/drawingml/2006/main" noGrp="1"/>
          </p:cNvSpPr>
          <p:nvPr/>
        </p:nvSpPr>
        <p:spPr>
          <a:xfrm xmlns:a="http://schemas.openxmlformats.org/drawingml/2006/main">
            <a:off x="87953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87501DB-FF04-41A9-A968-CF66B8B261AF}"/>
              </a:ext>
            </a:extLst>
          </p:cNvPr>
          <p:cNvSpPr>
            <a:spLocks xmlns:a="http://schemas.openxmlformats.org/drawingml/2006/main" noGrp="1"/>
          </p:cNvSpPr>
          <p:nvPr/>
        </p:nvSpPr>
        <p:spPr>
          <a:xfrm xmlns:a="http://schemas.openxmlformats.org/drawingml/2006/main">
            <a:off x="87953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6BF91AA-1585-4597-BB3A-3595ABC6EF45}"/>
              </a:ext>
            </a:extLst>
          </p:cNvPr>
          <p:cNvSpPr>
            <a:spLocks xmlns:a="http://schemas.openxmlformats.org/drawingml/2006/main" noGrp="1"/>
          </p:cNvSpPr>
          <p:nvPr/>
        </p:nvSpPr>
        <p:spPr>
          <a:xfrm xmlns:a="http://schemas.openxmlformats.org/drawingml/2006/main">
            <a:off x="7943850" y="19958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ACB0C87-5BA0-4588-A7ED-2FEAFCCEA840}"/>
              </a:ext>
            </a:extLst>
          </p:cNvPr>
          <p:cNvSpPr>
            <a:spLocks xmlns:a="http://schemas.openxmlformats.org/drawingml/2006/main" noGrp="1"/>
          </p:cNvSpPr>
          <p:nvPr/>
        </p:nvSpPr>
        <p:spPr>
          <a:xfrm xmlns:a="http://schemas.openxmlformats.org/drawingml/2006/main">
            <a:off x="11163300" y="19958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8B98AA9-9C4C-4C5F-9AB5-D383C3D65307}"/>
              </a:ext>
            </a:extLst>
          </p:cNvPr>
          <p:cNvSpPr>
            <a:spLocks xmlns:a="http://schemas.openxmlformats.org/drawingml/2006/main" noGrp="1"/>
          </p:cNvSpPr>
          <p:nvPr/>
        </p:nvSpPr>
        <p:spPr>
          <a:xfrm xmlns:a="http://schemas.openxmlformats.org/drawingml/2006/main">
            <a:off x="89681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0F613AD-4162-471E-919A-6E297A837890}"/>
              </a:ext>
            </a:extLst>
          </p:cNvPr>
          <p:cNvSpPr>
            <a:spLocks xmlns:a="http://schemas.openxmlformats.org/drawingml/2006/main" noGrp="1"/>
          </p:cNvSpPr>
          <p:nvPr/>
        </p:nvSpPr>
        <p:spPr>
          <a:xfrm xmlns:a="http://schemas.openxmlformats.org/drawingml/2006/main">
            <a:off x="89681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210CD35-910D-4B80-9EF0-53F643FE6A0D}"/>
              </a:ext>
            </a:extLst>
          </p:cNvPr>
          <p:cNvSpPr>
            <a:spLocks xmlns:a="http://schemas.openxmlformats.org/drawingml/2006/main" noGrp="1"/>
          </p:cNvSpPr>
          <p:nvPr/>
        </p:nvSpPr>
        <p:spPr>
          <a:xfrm xmlns:a="http://schemas.openxmlformats.org/drawingml/2006/main">
            <a:off x="7943850" y="21685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D6A0532-DAF2-48C4-8B7A-0E5E1FAA2225}"/>
              </a:ext>
            </a:extLst>
          </p:cNvPr>
          <p:cNvSpPr>
            <a:spLocks xmlns:a="http://schemas.openxmlformats.org/drawingml/2006/main" noGrp="1"/>
          </p:cNvSpPr>
          <p:nvPr/>
        </p:nvSpPr>
        <p:spPr>
          <a:xfrm xmlns:a="http://schemas.openxmlformats.org/drawingml/2006/main">
            <a:off x="11163300" y="21685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C285077-B6ED-4B69-9EF0-2C42C4D4E795}"/>
              </a:ext>
            </a:extLst>
          </p:cNvPr>
          <p:cNvSpPr>
            <a:spLocks xmlns:a="http://schemas.openxmlformats.org/drawingml/2006/main" noGrp="1"/>
          </p:cNvSpPr>
          <p:nvPr/>
        </p:nvSpPr>
        <p:spPr>
          <a:xfrm xmlns:a="http://schemas.openxmlformats.org/drawingml/2006/main">
            <a:off x="91408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C73F090-EEFD-42B7-A4D1-19D143478BF1}"/>
              </a:ext>
            </a:extLst>
          </p:cNvPr>
          <p:cNvSpPr>
            <a:spLocks xmlns:a="http://schemas.openxmlformats.org/drawingml/2006/main" noGrp="1"/>
          </p:cNvSpPr>
          <p:nvPr/>
        </p:nvSpPr>
        <p:spPr>
          <a:xfrm xmlns:a="http://schemas.openxmlformats.org/drawingml/2006/main">
            <a:off x="91408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D25EFBD-4261-4C9A-958C-BA75C4391292}"/>
              </a:ext>
            </a:extLst>
          </p:cNvPr>
          <p:cNvSpPr>
            <a:spLocks xmlns:a="http://schemas.openxmlformats.org/drawingml/2006/main" noGrp="1"/>
          </p:cNvSpPr>
          <p:nvPr/>
        </p:nvSpPr>
        <p:spPr>
          <a:xfrm xmlns:a="http://schemas.openxmlformats.org/drawingml/2006/main">
            <a:off x="7943850" y="23412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AE95EAD-49CC-4473-86CD-9C4D19546E68}"/>
              </a:ext>
            </a:extLst>
          </p:cNvPr>
          <p:cNvSpPr>
            <a:spLocks xmlns:a="http://schemas.openxmlformats.org/drawingml/2006/main" noGrp="1"/>
          </p:cNvSpPr>
          <p:nvPr/>
        </p:nvSpPr>
        <p:spPr>
          <a:xfrm xmlns:a="http://schemas.openxmlformats.org/drawingml/2006/main">
            <a:off x="11163300" y="23412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E4F6EED-7761-4716-825B-044180F9FBE0}"/>
              </a:ext>
            </a:extLst>
          </p:cNvPr>
          <p:cNvSpPr>
            <a:spLocks xmlns:a="http://schemas.openxmlformats.org/drawingml/2006/main" noGrp="1"/>
          </p:cNvSpPr>
          <p:nvPr/>
        </p:nvSpPr>
        <p:spPr>
          <a:xfrm xmlns:a="http://schemas.openxmlformats.org/drawingml/2006/main">
            <a:off x="93135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D921529-C358-4DC0-963A-09918CEA9CCD}"/>
              </a:ext>
            </a:extLst>
          </p:cNvPr>
          <p:cNvSpPr>
            <a:spLocks xmlns:a="http://schemas.openxmlformats.org/drawingml/2006/main" noGrp="1"/>
          </p:cNvSpPr>
          <p:nvPr/>
        </p:nvSpPr>
        <p:spPr>
          <a:xfrm xmlns:a="http://schemas.openxmlformats.org/drawingml/2006/main">
            <a:off x="93135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949193E1-2805-4E77-8304-C98F9017C428}"/>
              </a:ext>
            </a:extLst>
          </p:cNvPr>
          <p:cNvSpPr>
            <a:spLocks xmlns:a="http://schemas.openxmlformats.org/drawingml/2006/main" noGrp="1"/>
          </p:cNvSpPr>
          <p:nvPr/>
        </p:nvSpPr>
        <p:spPr>
          <a:xfrm xmlns:a="http://schemas.openxmlformats.org/drawingml/2006/main">
            <a:off x="7943850" y="25139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E2B1CF5F-4DE6-48FA-9C1B-394DF5C82C89}"/>
              </a:ext>
            </a:extLst>
          </p:cNvPr>
          <p:cNvSpPr>
            <a:spLocks xmlns:a="http://schemas.openxmlformats.org/drawingml/2006/main" noGrp="1"/>
          </p:cNvSpPr>
          <p:nvPr/>
        </p:nvSpPr>
        <p:spPr>
          <a:xfrm xmlns:a="http://schemas.openxmlformats.org/drawingml/2006/main">
            <a:off x="11163300" y="25139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E6762079-A3CC-48D7-96E9-8C5EE417FE1A}"/>
              </a:ext>
            </a:extLst>
          </p:cNvPr>
          <p:cNvSpPr>
            <a:spLocks xmlns:a="http://schemas.openxmlformats.org/drawingml/2006/main" noGrp="1"/>
          </p:cNvSpPr>
          <p:nvPr/>
        </p:nvSpPr>
        <p:spPr>
          <a:xfrm xmlns:a="http://schemas.openxmlformats.org/drawingml/2006/main">
            <a:off x="94862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FE82DB5-689F-4DBA-B14C-AF533FDB05CC}"/>
              </a:ext>
            </a:extLst>
          </p:cNvPr>
          <p:cNvSpPr>
            <a:spLocks xmlns:a="http://schemas.openxmlformats.org/drawingml/2006/main" noGrp="1"/>
          </p:cNvSpPr>
          <p:nvPr/>
        </p:nvSpPr>
        <p:spPr>
          <a:xfrm xmlns:a="http://schemas.openxmlformats.org/drawingml/2006/main">
            <a:off x="94862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BC40B965-F8EF-4D93-90BD-CC7853B6D3FB}"/>
              </a:ext>
            </a:extLst>
          </p:cNvPr>
          <p:cNvSpPr>
            <a:spLocks xmlns:a="http://schemas.openxmlformats.org/drawingml/2006/main" noGrp="1"/>
          </p:cNvSpPr>
          <p:nvPr/>
        </p:nvSpPr>
        <p:spPr>
          <a:xfrm xmlns:a="http://schemas.openxmlformats.org/drawingml/2006/main">
            <a:off x="7943850" y="26866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9DA98BB1-88F5-494A-8ABF-A6122F137D53}"/>
              </a:ext>
            </a:extLst>
          </p:cNvPr>
          <p:cNvSpPr>
            <a:spLocks xmlns:a="http://schemas.openxmlformats.org/drawingml/2006/main" noGrp="1"/>
          </p:cNvSpPr>
          <p:nvPr/>
        </p:nvSpPr>
        <p:spPr>
          <a:xfrm xmlns:a="http://schemas.openxmlformats.org/drawingml/2006/main">
            <a:off x="11163300" y="26866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2D231B0-FC16-42E5-B87C-1962C8E45F0D}"/>
              </a:ext>
            </a:extLst>
          </p:cNvPr>
          <p:cNvSpPr>
            <a:spLocks xmlns:a="http://schemas.openxmlformats.org/drawingml/2006/main" noGrp="1"/>
          </p:cNvSpPr>
          <p:nvPr/>
        </p:nvSpPr>
        <p:spPr>
          <a:xfrm xmlns:a="http://schemas.openxmlformats.org/drawingml/2006/main">
            <a:off x="96589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E1D4977-FA30-42B2-828F-A0DBC4DA8CCF}"/>
              </a:ext>
            </a:extLst>
          </p:cNvPr>
          <p:cNvSpPr>
            <a:spLocks xmlns:a="http://schemas.openxmlformats.org/drawingml/2006/main" noGrp="1"/>
          </p:cNvSpPr>
          <p:nvPr/>
        </p:nvSpPr>
        <p:spPr>
          <a:xfrm xmlns:a="http://schemas.openxmlformats.org/drawingml/2006/main">
            <a:off x="96589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56701FB6-BA49-4A4E-9A4F-A30FE275C322}"/>
              </a:ext>
            </a:extLst>
          </p:cNvPr>
          <p:cNvSpPr>
            <a:spLocks xmlns:a="http://schemas.openxmlformats.org/drawingml/2006/main" noGrp="1"/>
          </p:cNvSpPr>
          <p:nvPr/>
        </p:nvSpPr>
        <p:spPr>
          <a:xfrm xmlns:a="http://schemas.openxmlformats.org/drawingml/2006/main">
            <a:off x="7943850" y="28594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534B193-2CD1-4A37-8E7E-68F512049835}"/>
              </a:ext>
            </a:extLst>
          </p:cNvPr>
          <p:cNvSpPr>
            <a:spLocks xmlns:a="http://schemas.openxmlformats.org/drawingml/2006/main" noGrp="1"/>
          </p:cNvSpPr>
          <p:nvPr/>
        </p:nvSpPr>
        <p:spPr>
          <a:xfrm xmlns:a="http://schemas.openxmlformats.org/drawingml/2006/main">
            <a:off x="11163300" y="28594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03DAD1C9-F946-49B9-868D-6A4A6EF66E4F}"/>
              </a:ext>
            </a:extLst>
          </p:cNvPr>
          <p:cNvSpPr>
            <a:spLocks xmlns:a="http://schemas.openxmlformats.org/drawingml/2006/main" noGrp="1"/>
          </p:cNvSpPr>
          <p:nvPr/>
        </p:nvSpPr>
        <p:spPr>
          <a:xfrm xmlns:a="http://schemas.openxmlformats.org/drawingml/2006/main">
            <a:off x="98317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9BC9C02D-1F64-420F-90F4-CEA893501596}"/>
              </a:ext>
            </a:extLst>
          </p:cNvPr>
          <p:cNvSpPr>
            <a:spLocks xmlns:a="http://schemas.openxmlformats.org/drawingml/2006/main" noGrp="1"/>
          </p:cNvSpPr>
          <p:nvPr/>
        </p:nvSpPr>
        <p:spPr>
          <a:xfrm xmlns:a="http://schemas.openxmlformats.org/drawingml/2006/main">
            <a:off x="98317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EA9A09DC-451C-4B0A-9149-3A768CA7A05E}"/>
              </a:ext>
            </a:extLst>
          </p:cNvPr>
          <p:cNvSpPr>
            <a:spLocks xmlns:a="http://schemas.openxmlformats.org/drawingml/2006/main" noGrp="1"/>
          </p:cNvSpPr>
          <p:nvPr/>
        </p:nvSpPr>
        <p:spPr>
          <a:xfrm xmlns:a="http://schemas.openxmlformats.org/drawingml/2006/main">
            <a:off x="7943850" y="30321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09AA411F-C2FD-4F63-A7D1-F38BD82CEA8C}"/>
              </a:ext>
            </a:extLst>
          </p:cNvPr>
          <p:cNvSpPr>
            <a:spLocks xmlns:a="http://schemas.openxmlformats.org/drawingml/2006/main" noGrp="1"/>
          </p:cNvSpPr>
          <p:nvPr/>
        </p:nvSpPr>
        <p:spPr>
          <a:xfrm xmlns:a="http://schemas.openxmlformats.org/drawingml/2006/main">
            <a:off x="11163300" y="30321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76B30B2-C19A-4D74-953E-ED514090FFE8}"/>
              </a:ext>
            </a:extLst>
          </p:cNvPr>
          <p:cNvSpPr>
            <a:spLocks xmlns:a="http://schemas.openxmlformats.org/drawingml/2006/main" noGrp="1"/>
          </p:cNvSpPr>
          <p:nvPr/>
        </p:nvSpPr>
        <p:spPr>
          <a:xfrm xmlns:a="http://schemas.openxmlformats.org/drawingml/2006/main">
            <a:off x="100044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A492D49-3C7E-4348-B6D7-B4EA4A4B4B45}"/>
              </a:ext>
            </a:extLst>
          </p:cNvPr>
          <p:cNvSpPr>
            <a:spLocks xmlns:a="http://schemas.openxmlformats.org/drawingml/2006/main" noGrp="1"/>
          </p:cNvSpPr>
          <p:nvPr/>
        </p:nvSpPr>
        <p:spPr>
          <a:xfrm xmlns:a="http://schemas.openxmlformats.org/drawingml/2006/main">
            <a:off x="100044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48B77E45-0991-4E83-9DFD-97C09A23D969}"/>
              </a:ext>
            </a:extLst>
          </p:cNvPr>
          <p:cNvSpPr>
            <a:spLocks xmlns:a="http://schemas.openxmlformats.org/drawingml/2006/main" noGrp="1"/>
          </p:cNvSpPr>
          <p:nvPr/>
        </p:nvSpPr>
        <p:spPr>
          <a:xfrm xmlns:a="http://schemas.openxmlformats.org/drawingml/2006/main">
            <a:off x="7943850" y="32048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72A842C-6070-4357-AB77-00929693D40D}"/>
              </a:ext>
            </a:extLst>
          </p:cNvPr>
          <p:cNvSpPr>
            <a:spLocks xmlns:a="http://schemas.openxmlformats.org/drawingml/2006/main" noGrp="1"/>
          </p:cNvSpPr>
          <p:nvPr/>
        </p:nvSpPr>
        <p:spPr>
          <a:xfrm xmlns:a="http://schemas.openxmlformats.org/drawingml/2006/main">
            <a:off x="11163300" y="32048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146DB560-6FDD-47DD-BB9D-1529A06F2D68}"/>
              </a:ext>
            </a:extLst>
          </p:cNvPr>
          <p:cNvSpPr>
            <a:spLocks xmlns:a="http://schemas.openxmlformats.org/drawingml/2006/main" noGrp="1"/>
          </p:cNvSpPr>
          <p:nvPr/>
        </p:nvSpPr>
        <p:spPr>
          <a:xfrm xmlns:a="http://schemas.openxmlformats.org/drawingml/2006/main">
            <a:off x="101771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DED41E10-3FEB-4094-9236-528F2619C271}"/>
              </a:ext>
            </a:extLst>
          </p:cNvPr>
          <p:cNvSpPr>
            <a:spLocks xmlns:a="http://schemas.openxmlformats.org/drawingml/2006/main" noGrp="1"/>
          </p:cNvSpPr>
          <p:nvPr/>
        </p:nvSpPr>
        <p:spPr>
          <a:xfrm xmlns:a="http://schemas.openxmlformats.org/drawingml/2006/main">
            <a:off x="101771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8A4C2A98-3266-4396-AEDB-C4FD8CAF8403}"/>
              </a:ext>
            </a:extLst>
          </p:cNvPr>
          <p:cNvSpPr>
            <a:spLocks xmlns:a="http://schemas.openxmlformats.org/drawingml/2006/main" noGrp="1"/>
          </p:cNvSpPr>
          <p:nvPr/>
        </p:nvSpPr>
        <p:spPr>
          <a:xfrm xmlns:a="http://schemas.openxmlformats.org/drawingml/2006/main">
            <a:off x="7943850" y="33775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6B7AF00D-B386-4520-B179-1ECC293D5A78}"/>
              </a:ext>
            </a:extLst>
          </p:cNvPr>
          <p:cNvSpPr>
            <a:spLocks xmlns:a="http://schemas.openxmlformats.org/drawingml/2006/main" noGrp="1"/>
          </p:cNvSpPr>
          <p:nvPr/>
        </p:nvSpPr>
        <p:spPr>
          <a:xfrm xmlns:a="http://schemas.openxmlformats.org/drawingml/2006/main">
            <a:off x="11163300" y="33775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B860F970-CBA8-4195-95C4-4E46BCEDFD24}"/>
              </a:ext>
            </a:extLst>
          </p:cNvPr>
          <p:cNvSpPr>
            <a:spLocks xmlns:a="http://schemas.openxmlformats.org/drawingml/2006/main" noGrp="1"/>
          </p:cNvSpPr>
          <p:nvPr/>
        </p:nvSpPr>
        <p:spPr>
          <a:xfrm xmlns:a="http://schemas.openxmlformats.org/drawingml/2006/main">
            <a:off x="103498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8B2B4507-E74B-4F4A-AFBB-0E864BF2F3B9}"/>
              </a:ext>
            </a:extLst>
          </p:cNvPr>
          <p:cNvSpPr>
            <a:spLocks xmlns:a="http://schemas.openxmlformats.org/drawingml/2006/main" noGrp="1"/>
          </p:cNvSpPr>
          <p:nvPr/>
        </p:nvSpPr>
        <p:spPr>
          <a:xfrm xmlns:a="http://schemas.openxmlformats.org/drawingml/2006/main">
            <a:off x="103498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33E2EEF4-565A-4E0D-87D9-7CDDBF901648}"/>
              </a:ext>
            </a:extLst>
          </p:cNvPr>
          <p:cNvSpPr>
            <a:spLocks xmlns:a="http://schemas.openxmlformats.org/drawingml/2006/main" noGrp="1"/>
          </p:cNvSpPr>
          <p:nvPr/>
        </p:nvSpPr>
        <p:spPr>
          <a:xfrm xmlns:a="http://schemas.openxmlformats.org/drawingml/2006/main">
            <a:off x="7943850" y="35502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4963DA13-CBBD-4DE5-9C2B-63AFD99681F1}"/>
              </a:ext>
            </a:extLst>
          </p:cNvPr>
          <p:cNvSpPr>
            <a:spLocks xmlns:a="http://schemas.openxmlformats.org/drawingml/2006/main" noGrp="1"/>
          </p:cNvSpPr>
          <p:nvPr/>
        </p:nvSpPr>
        <p:spPr>
          <a:xfrm xmlns:a="http://schemas.openxmlformats.org/drawingml/2006/main">
            <a:off x="11163300" y="35502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CB8432E2-DE68-43CA-B877-21A5164E53BE}"/>
              </a:ext>
            </a:extLst>
          </p:cNvPr>
          <p:cNvSpPr>
            <a:spLocks xmlns:a="http://schemas.openxmlformats.org/drawingml/2006/main" noGrp="1"/>
          </p:cNvSpPr>
          <p:nvPr/>
        </p:nvSpPr>
        <p:spPr>
          <a:xfrm xmlns:a="http://schemas.openxmlformats.org/drawingml/2006/main">
            <a:off x="105225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F5684ED5-DC11-4440-A7B4-693F39EF840C}"/>
              </a:ext>
            </a:extLst>
          </p:cNvPr>
          <p:cNvSpPr>
            <a:spLocks xmlns:a="http://schemas.openxmlformats.org/drawingml/2006/main" noGrp="1"/>
          </p:cNvSpPr>
          <p:nvPr/>
        </p:nvSpPr>
        <p:spPr>
          <a:xfrm xmlns:a="http://schemas.openxmlformats.org/drawingml/2006/main">
            <a:off x="105225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2E1A2453-595A-4DD0-9DC5-850FEB5D97D7}"/>
              </a:ext>
            </a:extLst>
          </p:cNvPr>
          <p:cNvSpPr>
            <a:spLocks xmlns:a="http://schemas.openxmlformats.org/drawingml/2006/main" noGrp="1"/>
          </p:cNvSpPr>
          <p:nvPr/>
        </p:nvSpPr>
        <p:spPr>
          <a:xfrm xmlns:a="http://schemas.openxmlformats.org/drawingml/2006/main">
            <a:off x="7943850" y="37230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37C5CCEC-BF60-4D7A-94B7-3B5FDE1A4CAD}"/>
              </a:ext>
            </a:extLst>
          </p:cNvPr>
          <p:cNvSpPr>
            <a:spLocks xmlns:a="http://schemas.openxmlformats.org/drawingml/2006/main" noGrp="1"/>
          </p:cNvSpPr>
          <p:nvPr/>
        </p:nvSpPr>
        <p:spPr>
          <a:xfrm xmlns:a="http://schemas.openxmlformats.org/drawingml/2006/main">
            <a:off x="11163300" y="37230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356921E8-E26B-4144-A544-0B3B18E196EA}"/>
              </a:ext>
            </a:extLst>
          </p:cNvPr>
          <p:cNvSpPr>
            <a:spLocks xmlns:a="http://schemas.openxmlformats.org/drawingml/2006/main" noGrp="1"/>
          </p:cNvSpPr>
          <p:nvPr/>
        </p:nvSpPr>
        <p:spPr>
          <a:xfrm xmlns:a="http://schemas.openxmlformats.org/drawingml/2006/main">
            <a:off x="106953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3A7D8D4B-7DBC-40CF-8033-B915DC685F7C}"/>
              </a:ext>
            </a:extLst>
          </p:cNvPr>
          <p:cNvSpPr>
            <a:spLocks xmlns:a="http://schemas.openxmlformats.org/drawingml/2006/main" noGrp="1"/>
          </p:cNvSpPr>
          <p:nvPr/>
        </p:nvSpPr>
        <p:spPr>
          <a:xfrm xmlns:a="http://schemas.openxmlformats.org/drawingml/2006/main">
            <a:off x="106953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9C4004CF-9941-4AF0-8127-70E140EA4890}"/>
              </a:ext>
            </a:extLst>
          </p:cNvPr>
          <p:cNvSpPr>
            <a:spLocks xmlns:a="http://schemas.openxmlformats.org/drawingml/2006/main" noGrp="1"/>
          </p:cNvSpPr>
          <p:nvPr/>
        </p:nvSpPr>
        <p:spPr>
          <a:xfrm xmlns:a="http://schemas.openxmlformats.org/drawingml/2006/main">
            <a:off x="7943850" y="38957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9B12038A-A53A-4D4E-8F90-A83118A6CCFD}"/>
              </a:ext>
            </a:extLst>
          </p:cNvPr>
          <p:cNvSpPr>
            <a:spLocks xmlns:a="http://schemas.openxmlformats.org/drawingml/2006/main" noGrp="1"/>
          </p:cNvSpPr>
          <p:nvPr/>
        </p:nvSpPr>
        <p:spPr>
          <a:xfrm xmlns:a="http://schemas.openxmlformats.org/drawingml/2006/main">
            <a:off x="11163300" y="38957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32501A88-AE7C-4485-827A-CCEFDC69A136}"/>
              </a:ext>
            </a:extLst>
          </p:cNvPr>
          <p:cNvSpPr>
            <a:spLocks xmlns:a="http://schemas.openxmlformats.org/drawingml/2006/main" noGrp="1"/>
          </p:cNvSpPr>
          <p:nvPr/>
        </p:nvSpPr>
        <p:spPr>
          <a:xfrm xmlns:a="http://schemas.openxmlformats.org/drawingml/2006/main">
            <a:off x="108680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7835BB88-13C1-476D-8712-F22CF5B568C9}"/>
              </a:ext>
            </a:extLst>
          </p:cNvPr>
          <p:cNvSpPr>
            <a:spLocks xmlns:a="http://schemas.openxmlformats.org/drawingml/2006/main" noGrp="1"/>
          </p:cNvSpPr>
          <p:nvPr/>
        </p:nvSpPr>
        <p:spPr>
          <a:xfrm xmlns:a="http://schemas.openxmlformats.org/drawingml/2006/main">
            <a:off x="108680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6C06E222-26E0-416B-93DF-9BC3F9C0F33D}"/>
              </a:ext>
            </a:extLst>
          </p:cNvPr>
          <p:cNvSpPr>
            <a:spLocks xmlns:a="http://schemas.openxmlformats.org/drawingml/2006/main" noGrp="1"/>
          </p:cNvSpPr>
          <p:nvPr/>
        </p:nvSpPr>
        <p:spPr>
          <a:xfrm xmlns:a="http://schemas.openxmlformats.org/drawingml/2006/main">
            <a:off x="8286750" y="1314450"/>
            <a:ext cx="133350" cy="133350"/>
          </a:xfrm>
          <a:prstGeom xmlns:a="http://schemas.openxmlformats.org/drawingml/2006/main" prst="ellipse">
            <a:avLst/>
          </a:prstGeom>
          <a:solidFill xmlns:a="http://schemas.openxmlformats.org/drawingml/2006/main">
            <a:srgbClr val="00B4D8"/>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C7959A45-D618-438B-A347-5F7D00D44CA1}"/>
              </a:ext>
            </a:extLst>
          </p:cNvPr>
          <p:cNvSpPr>
            <a:spLocks xmlns:a="http://schemas.openxmlformats.org/drawingml/2006/main" noGrp="1"/>
          </p:cNvSpPr>
          <p:nvPr/>
        </p:nvSpPr>
        <p:spPr>
          <a:xfrm xmlns:a="http://schemas.openxmlformats.org/drawingml/2006/main">
            <a:off x="8591550" y="1790700"/>
            <a:ext cx="2057400" cy="1714500"/>
          </a:xfrm>
          <a:prstGeom xmlns:a="http://schemas.openxmlformats.org/drawingml/2006/main" prst="rect">
            <a:avLst/>
          </a:prstGeom>
          <a:solidFill xmlns:a="http://schemas.openxmlformats.org/drawingml/2006/main">
            <a:srgbClr val="1E3A55"/>
          </a:solidFill>
          <a:ln xmlns:a="http://schemas.openxmlformats.org/drawingml/2006/main" w="9525">
            <a:solidFill>
              <a:srgbClr val="8DB4D4"/>
            </a:solidFill>
            <a:prstDash val="solid"/>
          </a:ln>
        </p:spPr>
      </p:sp>
      <p:sp>
        <p:nvSpPr>
          <p:cNvPr id="73" name="">
            <a:extLst xmlns:a="http://schemas.openxmlformats.org/drawingml/2006/main">
              <a:ext uri="{FF2B5EF4-FFF2-40B4-BE49-F238E27FC236}">
                <a16:creationId xmlns:a16="http://schemas.microsoft.com/office/drawing/2014/main" id="{8A73C279-EC48-4961-9650-A17CD0CCC2A0}"/>
              </a:ext>
            </a:extLst>
          </p:cNvPr>
          <p:cNvSpPr>
            <a:spLocks xmlns:a="http://schemas.openxmlformats.org/drawingml/2006/main" noGrp="1"/>
          </p:cNvSpPr>
          <p:nvPr/>
        </p:nvSpPr>
        <p:spPr>
          <a:xfrm xmlns:a="http://schemas.openxmlformats.org/drawingml/2006/main">
            <a:off x="8686800" y="1885950"/>
            <a:ext cx="838200" cy="1524000"/>
          </a:xfrm>
          <a:prstGeom xmlns:a="http://schemas.openxmlformats.org/drawingml/2006/main" prst="rect">
            <a:avLst/>
          </a:prstGeom>
          <a:solidFill xmlns:a="http://schemas.openxmlformats.org/drawingml/2006/main">
            <a:srgbClr val="244A6B"/>
          </a:solidFill>
          <a:ln xmlns:a="http://schemas.openxmlformats.org/drawingml/2006/main" w="9525">
            <a:solidFill>
              <a:srgbClr val="00B4D8"/>
            </a:solidFill>
            <a:prstDash val="solid"/>
          </a:ln>
        </p:spPr>
      </p:sp>
      <p:sp>
        <p:nvSpPr>
          <p:cNvPr id="74" name="">
            <a:extLst xmlns:a="http://schemas.openxmlformats.org/drawingml/2006/main">
              <a:ext uri="{FF2B5EF4-FFF2-40B4-BE49-F238E27FC236}">
                <a16:creationId xmlns:a16="http://schemas.microsoft.com/office/drawing/2014/main" id="{A96A5D9D-240F-4B7C-82CA-27223EEA19BE}"/>
              </a:ext>
            </a:extLst>
          </p:cNvPr>
          <p:cNvSpPr>
            <a:spLocks xmlns:a="http://schemas.openxmlformats.org/drawingml/2006/main" noGrp="1"/>
          </p:cNvSpPr>
          <p:nvPr/>
        </p:nvSpPr>
        <p:spPr>
          <a:xfrm xmlns:a="http://schemas.openxmlformats.org/drawingml/2006/main">
            <a:off x="9715500" y="1885950"/>
            <a:ext cx="838200" cy="1524000"/>
          </a:xfrm>
          <a:prstGeom xmlns:a="http://schemas.openxmlformats.org/drawingml/2006/main" prst="rect">
            <a:avLst/>
          </a:prstGeom>
          <a:solidFill xmlns:a="http://schemas.openxmlformats.org/drawingml/2006/main">
            <a:srgbClr val="1F4F52"/>
          </a:solidFill>
          <a:ln xmlns:a="http://schemas.openxmlformats.org/drawingml/2006/main" w="9525">
            <a:solidFill>
              <a:srgbClr val="0A9396"/>
            </a:solidFill>
            <a:prstDash val="solid"/>
          </a:ln>
        </p:spPr>
      </p:sp>
      <p:sp>
        <p:nvSpPr>
          <p:cNvPr id="75" name="">
            <a:extLst xmlns:a="http://schemas.openxmlformats.org/drawingml/2006/main">
              <a:ext uri="{FF2B5EF4-FFF2-40B4-BE49-F238E27FC236}">
                <a16:creationId xmlns:a16="http://schemas.microsoft.com/office/drawing/2014/main" id="{DC47A160-272F-475D-94DF-1482A1D0DFB5}"/>
              </a:ext>
            </a:extLst>
          </p:cNvPr>
          <p:cNvSpPr>
            <a:spLocks xmlns:a="http://schemas.openxmlformats.org/drawingml/2006/main" noGrp="1"/>
          </p:cNvSpPr>
          <p:nvPr/>
        </p:nvSpPr>
        <p:spPr>
          <a:xfrm xmlns:a="http://schemas.openxmlformats.org/drawingml/2006/main">
            <a:off x="9563100" y="2171700"/>
            <a:ext cx="114300" cy="1714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E1248658-4B3E-4783-904D-3BD91586721A}"/>
              </a:ext>
            </a:extLst>
          </p:cNvPr>
          <p:cNvSpPr>
            <a:spLocks xmlns:a="http://schemas.openxmlformats.org/drawingml/2006/main" noGrp="1"/>
          </p:cNvSpPr>
          <p:nvPr/>
        </p:nvSpPr>
        <p:spPr>
          <a:xfrm xmlns:a="http://schemas.openxmlformats.org/drawingml/2006/main">
            <a:off x="9563100" y="2552700"/>
            <a:ext cx="114300" cy="1714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10CB0D00-3ABB-4394-AF1E-E63C78474C2D}"/>
              </a:ext>
            </a:extLst>
          </p:cNvPr>
          <p:cNvSpPr>
            <a:spLocks xmlns:a="http://schemas.openxmlformats.org/drawingml/2006/main" noGrp="1"/>
          </p:cNvSpPr>
          <p:nvPr/>
        </p:nvSpPr>
        <p:spPr>
          <a:xfrm xmlns:a="http://schemas.openxmlformats.org/drawingml/2006/main">
            <a:off x="9563100" y="2933700"/>
            <a:ext cx="114300" cy="1714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F5C37E3C-206F-4E53-98DE-AE57493D640B}"/>
              </a:ext>
            </a:extLst>
          </p:cNvPr>
          <p:cNvSpPr>
            <a:spLocks xmlns:a="http://schemas.openxmlformats.org/drawingml/2006/main" noGrp="1"/>
          </p:cNvSpPr>
          <p:nvPr/>
        </p:nvSpPr>
        <p:spPr>
          <a:xfrm xmlns:a="http://schemas.openxmlformats.org/drawingml/2006/main">
            <a:off x="8801100" y="2019300"/>
            <a:ext cx="609600" cy="34290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F5E4E729-A7BD-4E46-8DC0-C683FE6DF3C7}"/>
              </a:ext>
            </a:extLst>
          </p:cNvPr>
          <p:cNvSpPr>
            <a:spLocks xmlns:a="http://schemas.openxmlformats.org/drawingml/2006/main" noGrp="1"/>
          </p:cNvSpPr>
          <p:nvPr/>
        </p:nvSpPr>
        <p:spPr>
          <a:xfrm xmlns:a="http://schemas.openxmlformats.org/drawingml/2006/main">
            <a:off x="8801100" y="2457450"/>
            <a:ext cx="609600" cy="952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897F8F99-25F2-4C81-9D9F-31BA26281B94}"/>
              </a:ext>
            </a:extLst>
          </p:cNvPr>
          <p:cNvSpPr>
            <a:spLocks xmlns:a="http://schemas.openxmlformats.org/drawingml/2006/main" noGrp="1"/>
          </p:cNvSpPr>
          <p:nvPr/>
        </p:nvSpPr>
        <p:spPr>
          <a:xfrm xmlns:a="http://schemas.openxmlformats.org/drawingml/2006/main">
            <a:off x="9829800" y="201930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2F47F0E5-3536-4CFC-9231-FF148CCDC5BF}"/>
              </a:ext>
            </a:extLst>
          </p:cNvPr>
          <p:cNvSpPr>
            <a:spLocks xmlns:a="http://schemas.openxmlformats.org/drawingml/2006/main" noGrp="1"/>
          </p:cNvSpPr>
          <p:nvPr/>
        </p:nvSpPr>
        <p:spPr>
          <a:xfrm xmlns:a="http://schemas.openxmlformats.org/drawingml/2006/main">
            <a:off x="10153650" y="201930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C3ACA34E-D300-4F8D-81C5-AF8F81084BF3}"/>
              </a:ext>
            </a:extLst>
          </p:cNvPr>
          <p:cNvSpPr>
            <a:spLocks xmlns:a="http://schemas.openxmlformats.org/drawingml/2006/main" noGrp="1"/>
          </p:cNvSpPr>
          <p:nvPr/>
        </p:nvSpPr>
        <p:spPr>
          <a:xfrm xmlns:a="http://schemas.openxmlformats.org/drawingml/2006/main">
            <a:off x="9829800" y="230505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80FA3B20-7F39-46B8-904E-2D38231A086A}"/>
              </a:ext>
            </a:extLst>
          </p:cNvPr>
          <p:cNvSpPr>
            <a:spLocks xmlns:a="http://schemas.openxmlformats.org/drawingml/2006/main" noGrp="1"/>
          </p:cNvSpPr>
          <p:nvPr/>
        </p:nvSpPr>
        <p:spPr>
          <a:xfrm xmlns:a="http://schemas.openxmlformats.org/drawingml/2006/main">
            <a:off x="10153650" y="230505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FE15EE19-535A-4EE9-8F49-0327A8897D9B}"/>
              </a:ext>
            </a:extLst>
          </p:cNvPr>
          <p:cNvSpPr>
            <a:spLocks xmlns:a="http://schemas.openxmlformats.org/drawingml/2006/main" noGrp="1"/>
          </p:cNvSpPr>
          <p:nvPr/>
        </p:nvSpPr>
        <p:spPr>
          <a:xfrm xmlns:a="http://schemas.openxmlformats.org/drawingml/2006/main">
            <a:off x="9829800" y="259080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BD288A2B-CACF-42A9-98A6-D8797C2FF265}"/>
              </a:ext>
            </a:extLst>
          </p:cNvPr>
          <p:cNvSpPr>
            <a:spLocks xmlns:a="http://schemas.openxmlformats.org/drawingml/2006/main" noGrp="1"/>
          </p:cNvSpPr>
          <p:nvPr/>
        </p:nvSpPr>
        <p:spPr>
          <a:xfrm xmlns:a="http://schemas.openxmlformats.org/drawingml/2006/main">
            <a:off x="10153650" y="259080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545FB3BF-9C7A-4198-9C8B-A2E91D892F04}"/>
              </a:ext>
            </a:extLst>
          </p:cNvPr>
          <p:cNvSpPr>
            <a:spLocks xmlns:a="http://schemas.openxmlformats.org/drawingml/2006/main" noGrp="1"/>
          </p:cNvSpPr>
          <p:nvPr/>
        </p:nvSpPr>
        <p:spPr>
          <a:xfrm xmlns:a="http://schemas.openxmlformats.org/drawingml/2006/main">
            <a:off x="9829800" y="287655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922AD5E7-010B-48C6-8CA9-DC1659D4BD0C}"/>
              </a:ext>
            </a:extLst>
          </p:cNvPr>
          <p:cNvSpPr>
            <a:spLocks xmlns:a="http://schemas.openxmlformats.org/drawingml/2006/main" noGrp="1"/>
          </p:cNvSpPr>
          <p:nvPr/>
        </p:nvSpPr>
        <p:spPr>
          <a:xfrm xmlns:a="http://schemas.openxmlformats.org/drawingml/2006/main">
            <a:off x="10153650" y="287655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1DAE4EBF-7EBE-49F2-B23A-3469BD6F9DE5}"/>
              </a:ext>
            </a:extLst>
          </p:cNvPr>
          <p:cNvSpPr>
            <a:spLocks xmlns:a="http://schemas.openxmlformats.org/drawingml/2006/main" noGrp="1"/>
          </p:cNvSpPr>
          <p:nvPr/>
        </p:nvSpPr>
        <p:spPr>
          <a:xfrm xmlns:a="http://schemas.openxmlformats.org/drawingml/2006/main">
            <a:off x="7905750" y="4457700"/>
            <a:ext cx="3429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A9BACD"/>
                </a:solidFill>
                <a:latin typeface="Arial"/>
                <a:ea typeface="Arial"/>
                <a:cs typeface="Arial"/>
              </a:defRPr>
            </a:pPr>
            <a:r>
              <a:t>TWO CLOCK DOMAINS  ·  ILLUSTRATIVE</a:t>
            </a:r>
          </a:p>
        </p:txBody>
      </p:sp>
      <p:sp>
        <p:nvSpPr>
          <p:cNvPr id="89" name="">
            <a:extLst xmlns:a="http://schemas.openxmlformats.org/drawingml/2006/main">
              <a:ext uri="{FF2B5EF4-FFF2-40B4-BE49-F238E27FC236}">
                <a16:creationId xmlns:a16="http://schemas.microsoft.com/office/drawing/2014/main" id="{FF3665F0-EB2B-41F6-BC2C-B3263CAB521F}"/>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3ADA6822-3B1E-410E-A931-6EE553BA5AE9}"/>
              </a:ext>
            </a:extLst>
          </p:cNvPr>
          <p:cNvSpPr>
            <a:spLocks xmlns:a="http://schemas.openxmlformats.org/drawingml/2006/main" noGrp="1"/>
          </p:cNvSpPr>
          <p:nvPr/>
        </p:nvSpPr>
        <p:spPr>
          <a:xfrm xmlns:a="http://schemas.openxmlformats.org/drawingml/2006/main">
            <a:off x="4572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0</a:t>
            </a:r>
          </a:p>
        </p:txBody>
      </p:sp>
      <p:sp>
        <p:nvSpPr>
          <p:cNvPr id="91" name="">
            <a:extLst xmlns:a="http://schemas.openxmlformats.org/drawingml/2006/main">
              <a:ext uri="{FF2B5EF4-FFF2-40B4-BE49-F238E27FC236}">
                <a16:creationId xmlns:a16="http://schemas.microsoft.com/office/drawing/2014/main" id="{F098037C-573E-4F55-944D-9446BFFA00D6}"/>
              </a:ext>
            </a:extLst>
          </p:cNvPr>
          <p:cNvSpPr>
            <a:spLocks xmlns:a="http://schemas.openxmlformats.org/drawingml/2006/main" noGrp="1"/>
          </p:cNvSpPr>
          <p:nvPr/>
        </p:nvSpPr>
        <p:spPr>
          <a:xfrm xmlns:a="http://schemas.openxmlformats.org/drawingml/2006/main">
            <a:off x="4572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PADS ADDED</a:t>
            </a:r>
          </a:p>
        </p:txBody>
      </p:sp>
      <p:sp>
        <p:nvSpPr>
          <p:cNvPr id="92" name="">
            <a:extLst xmlns:a="http://schemas.openxmlformats.org/drawingml/2006/main">
              <a:ext uri="{FF2B5EF4-FFF2-40B4-BE49-F238E27FC236}">
                <a16:creationId xmlns:a16="http://schemas.microsoft.com/office/drawing/2014/main" id="{E587D072-F6B9-46BF-BE5B-DD7979F90D4E}"/>
              </a:ext>
            </a:extLst>
          </p:cNvPr>
          <p:cNvSpPr>
            <a:spLocks xmlns:a="http://schemas.openxmlformats.org/drawingml/2006/main" noGrp="1"/>
          </p:cNvSpPr>
          <p:nvPr/>
        </p:nvSpPr>
        <p:spPr>
          <a:xfrm xmlns:a="http://schemas.openxmlformats.org/drawingml/2006/main">
            <a:off x="32766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A7A547DE-6F1C-4E07-9D49-397B930A1C77}"/>
              </a:ext>
            </a:extLst>
          </p:cNvPr>
          <p:cNvSpPr>
            <a:spLocks xmlns:a="http://schemas.openxmlformats.org/drawingml/2006/main" noGrp="1"/>
          </p:cNvSpPr>
          <p:nvPr/>
        </p:nvSpPr>
        <p:spPr>
          <a:xfrm xmlns:a="http://schemas.openxmlformats.org/drawingml/2006/main">
            <a:off x="35052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114 MHz</a:t>
            </a:r>
          </a:p>
        </p:txBody>
      </p:sp>
      <p:sp>
        <p:nvSpPr>
          <p:cNvPr id="94" name="">
            <a:extLst xmlns:a="http://schemas.openxmlformats.org/drawingml/2006/main">
              <a:ext uri="{FF2B5EF4-FFF2-40B4-BE49-F238E27FC236}">
                <a16:creationId xmlns:a16="http://schemas.microsoft.com/office/drawing/2014/main" id="{1B6F9162-B99C-491D-B506-0791E38AD1B5}"/>
              </a:ext>
            </a:extLst>
          </p:cNvPr>
          <p:cNvSpPr>
            <a:spLocks xmlns:a="http://schemas.openxmlformats.org/drawingml/2006/main" noGrp="1"/>
          </p:cNvSpPr>
          <p:nvPr/>
        </p:nvSpPr>
        <p:spPr>
          <a:xfrm xmlns:a="http://schemas.openxmlformats.org/drawingml/2006/main">
            <a:off x="35052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ENGINE CLOCK</a:t>
            </a:r>
          </a:p>
        </p:txBody>
      </p:sp>
      <p:sp>
        <p:nvSpPr>
          <p:cNvPr id="95" name="">
            <a:extLst xmlns:a="http://schemas.openxmlformats.org/drawingml/2006/main">
              <a:ext uri="{FF2B5EF4-FFF2-40B4-BE49-F238E27FC236}">
                <a16:creationId xmlns:a16="http://schemas.microsoft.com/office/drawing/2014/main" id="{2661CE09-DF93-49FC-8027-7BFEDF6C782B}"/>
              </a:ext>
            </a:extLst>
          </p:cNvPr>
          <p:cNvSpPr>
            <a:spLocks xmlns:a="http://schemas.openxmlformats.org/drawingml/2006/main" noGrp="1"/>
          </p:cNvSpPr>
          <p:nvPr/>
        </p:nvSpPr>
        <p:spPr>
          <a:xfrm xmlns:a="http://schemas.openxmlformats.org/drawingml/2006/main">
            <a:off x="60960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05F365FA-8053-47E0-842D-43ABFBDD05F8}"/>
              </a:ext>
            </a:extLst>
          </p:cNvPr>
          <p:cNvSpPr>
            <a:spLocks xmlns:a="http://schemas.openxmlformats.org/drawingml/2006/main" noGrp="1"/>
          </p:cNvSpPr>
          <p:nvPr/>
        </p:nvSpPr>
        <p:spPr>
          <a:xfrm xmlns:a="http://schemas.openxmlformats.org/drawingml/2006/main">
            <a:off x="63246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400</a:t>
            </a:r>
          </a:p>
        </p:txBody>
      </p:sp>
      <p:sp>
        <p:nvSpPr>
          <p:cNvPr id="97" name="">
            <a:extLst xmlns:a="http://schemas.openxmlformats.org/drawingml/2006/main">
              <a:ext uri="{FF2B5EF4-FFF2-40B4-BE49-F238E27FC236}">
                <a16:creationId xmlns:a16="http://schemas.microsoft.com/office/drawing/2014/main" id="{90F4BBEF-16F6-41E6-9D2D-7D66E6869682}"/>
              </a:ext>
            </a:extLst>
          </p:cNvPr>
          <p:cNvSpPr>
            <a:spLocks xmlns:a="http://schemas.openxmlformats.org/drawingml/2006/main" noGrp="1"/>
          </p:cNvSpPr>
          <p:nvPr/>
        </p:nvSpPr>
        <p:spPr>
          <a:xfrm xmlns:a="http://schemas.openxmlformats.org/drawingml/2006/main">
            <a:off x="63246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KEYS PER HEAD</a:t>
            </a:r>
          </a:p>
        </p:txBody>
      </p:sp>
      <p:sp>
        <p:nvSpPr>
          <p:cNvPr id="98" name="">
            <a:extLst xmlns:a="http://schemas.openxmlformats.org/drawingml/2006/main">
              <a:ext uri="{FF2B5EF4-FFF2-40B4-BE49-F238E27FC236}">
                <a16:creationId xmlns:a16="http://schemas.microsoft.com/office/drawing/2014/main" id="{8EC01B06-25CB-44A8-8A1F-BA68E03FA5AF}"/>
              </a:ext>
            </a:extLst>
          </p:cNvPr>
          <p:cNvSpPr>
            <a:spLocks xmlns:a="http://schemas.openxmlformats.org/drawingml/2006/main" noGrp="1"/>
          </p:cNvSpPr>
          <p:nvPr/>
        </p:nvSpPr>
        <p:spPr>
          <a:xfrm xmlns:a="http://schemas.openxmlformats.org/drawingml/2006/main">
            <a:off x="89154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0028027B-A76B-4FF0-A79E-FD86B75098ED}"/>
              </a:ext>
            </a:extLst>
          </p:cNvPr>
          <p:cNvSpPr>
            <a:spLocks xmlns:a="http://schemas.openxmlformats.org/drawingml/2006/main" noGrp="1"/>
          </p:cNvSpPr>
          <p:nvPr/>
        </p:nvSpPr>
        <p:spPr>
          <a:xfrm xmlns:a="http://schemas.openxmlformats.org/drawingml/2006/main">
            <a:off x="91440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QFN-64</a:t>
            </a:r>
          </a:p>
        </p:txBody>
      </p:sp>
      <p:sp>
        <p:nvSpPr>
          <p:cNvPr id="100" name="">
            <a:extLst xmlns:a="http://schemas.openxmlformats.org/drawingml/2006/main">
              <a:ext uri="{FF2B5EF4-FFF2-40B4-BE49-F238E27FC236}">
                <a16:creationId xmlns:a16="http://schemas.microsoft.com/office/drawing/2014/main" id="{9CA5D626-09B5-4E4B-AF35-E8A6CE5A568C}"/>
              </a:ext>
            </a:extLst>
          </p:cNvPr>
          <p:cNvSpPr>
            <a:spLocks xmlns:a="http://schemas.openxmlformats.org/drawingml/2006/main" noGrp="1"/>
          </p:cNvSpPr>
          <p:nvPr/>
        </p:nvSpPr>
        <p:spPr>
          <a:xfrm xmlns:a="http://schemas.openxmlformats.org/drawingml/2006/main">
            <a:off x="91440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SAME PACKAGE</a:t>
            </a:r>
          </a:p>
        </p:txBody>
      </p:sp>
      <p:sp>
        <p:nvSpPr>
          <p:cNvPr id="101" name="">
            <a:extLst xmlns:a="http://schemas.openxmlformats.org/drawingml/2006/main">
              <a:ext uri="{FF2B5EF4-FFF2-40B4-BE49-F238E27FC236}">
                <a16:creationId xmlns:a16="http://schemas.microsoft.com/office/drawing/2014/main" id="{A817F9E8-990D-4B81-B47B-63A5911D7684}"/>
              </a:ext>
            </a:extLst>
          </p:cNvPr>
          <p:cNvSpPr>
            <a:spLocks xmlns:a="http://schemas.openxmlformats.org/drawingml/2006/main" noGrp="1"/>
          </p:cNvSpPr>
          <p:nvPr/>
        </p:nvSpPr>
        <p:spPr>
          <a:xfrm xmlns:a="http://schemas.openxmlformats.org/drawingml/2006/main">
            <a:off x="457200" y="6096000"/>
            <a:ext cx="104775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A9BACD"/>
                </a:solidFill>
                <a:latin typeface="Arial"/>
                <a:ea typeface="Arial"/>
                <a:cs typeface="Arial"/>
              </a:defRPr>
            </a:pPr>
            <a:r>
              <a:t>Preliminary, pre-silicon. Register offsets, the memory map and board-design rules are in the engineering datasheet, not this deck.</a:t>
            </a:r>
          </a:p>
        </p:txBody>
      </p:sp>
      <p:sp>
        <p:nvSpPr>
          <p:cNvPr id="102" name="">
            <a:extLst xmlns:a="http://schemas.openxmlformats.org/drawingml/2006/main">
              <a:ext uri="{FF2B5EF4-FFF2-40B4-BE49-F238E27FC236}">
                <a16:creationId xmlns:a16="http://schemas.microsoft.com/office/drawing/2014/main" id="{DCFC8648-D70A-452C-9675-09D79071D178}"/>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F8A11F18-1CE6-46D2-A3D0-ED8C223CDC91}"/>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DG32-2DOM PRELIMINARY DATASHEET  ·  SEPTEMBER 2026  ·  PRE-SILICON</a:t>
            </a:r>
          </a:p>
        </p:txBody>
      </p:sp>
      <p:sp>
        <p:nvSpPr>
          <p:cNvPr id="104" name="">
            <a:extLst xmlns:a="http://schemas.openxmlformats.org/drawingml/2006/main">
              <a:ext uri="{FF2B5EF4-FFF2-40B4-BE49-F238E27FC236}">
                <a16:creationId xmlns:a16="http://schemas.microsoft.com/office/drawing/2014/main" id="{89BABD64-FC23-46E7-A752-AD92AE256CB6}"/>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8FA2B7"/>
                </a:solidFill>
                <a:latin typeface="Arial"/>
                <a:ea typeface="Arial"/>
                <a:cs typeface="Arial"/>
              </a:defRPr>
            </a:pPr>
            <a:r>
              <a:t>01</a:t>
            </a:r>
          </a:p>
        </p:txBody>
      </p:sp>
    </p:spTree>
    <p:extLst>
      <p:ext uri="{BB962C8B-B14F-4D97-AF65-F5344CB8AC3E}">
        <p14:creationId xmlns:p14="http://schemas.microsoft.com/office/powerpoint/2010/main" val="20961294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74AC6C45-D171-450E-8420-FBB9BBCEAF9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9C73937-AFC9-4311-BC1B-7279C0D03E61}"/>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02 · EXECUTIVE SUMMARY</a:t>
            </a:r>
          </a:p>
        </p:txBody>
      </p:sp>
      <p:sp>
        <p:nvSpPr>
          <p:cNvPr id="3" name="">
            <a:extLst xmlns:a="http://schemas.openxmlformats.org/drawingml/2006/main">
              <a:ext uri="{FF2B5EF4-FFF2-40B4-BE49-F238E27FC236}">
                <a16:creationId xmlns:a16="http://schemas.microsoft.com/office/drawing/2014/main" id="{B76ECF22-E464-4181-BB54-6CE594C2E601}"/>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Same pins, same rails, one added clock</a:t>
            </a:r>
          </a:p>
        </p:txBody>
      </p:sp>
      <p:sp>
        <p:nvSpPr>
          <p:cNvPr id="4" name="">
            <a:extLst xmlns:a="http://schemas.openxmlformats.org/drawingml/2006/main">
              <a:ext uri="{FF2B5EF4-FFF2-40B4-BE49-F238E27FC236}">
                <a16:creationId xmlns:a16="http://schemas.microsoft.com/office/drawing/2014/main" id="{976833EA-8E6F-42AD-A4D7-6531371B10FC}"/>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DG32-2DOM against DG32-LITE, in the four numbers a design checks first</a:t>
            </a:r>
          </a:p>
        </p:txBody>
      </p:sp>
      <p:sp>
        <p:nvSpPr>
          <p:cNvPr id="5" name="">
            <a:extLst xmlns:a="http://schemas.openxmlformats.org/drawingml/2006/main">
              <a:ext uri="{FF2B5EF4-FFF2-40B4-BE49-F238E27FC236}">
                <a16:creationId xmlns:a16="http://schemas.microsoft.com/office/drawing/2014/main" id="{CA81D0DA-D79A-4125-B3D3-7D0FB0D8DB3E}"/>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C8384F1-9E8B-45A2-8FEC-D215B3C32A03}"/>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E1A74FF-948F-4614-A3FD-8BDB079BEC0F}"/>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PRELIMINARY DATASHEET  ·  SEPTEMBER 2026  ·  PRE-SILICON</a:t>
            </a:r>
          </a:p>
        </p:txBody>
      </p:sp>
      <p:sp>
        <p:nvSpPr>
          <p:cNvPr id="8" name="">
            <a:extLst xmlns:a="http://schemas.openxmlformats.org/drawingml/2006/main">
              <a:ext uri="{FF2B5EF4-FFF2-40B4-BE49-F238E27FC236}">
                <a16:creationId xmlns:a16="http://schemas.microsoft.com/office/drawing/2014/main" id="{CD566D9D-FD11-4166-B400-326E73C3EB2F}"/>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02</a:t>
            </a:r>
          </a:p>
        </p:txBody>
      </p:sp>
      <p:sp>
        <p:nvSpPr>
          <p:cNvPr id="9" name="">
            <a:extLst xmlns:a="http://schemas.openxmlformats.org/drawingml/2006/main">
              <a:ext uri="{FF2B5EF4-FFF2-40B4-BE49-F238E27FC236}">
                <a16:creationId xmlns:a16="http://schemas.microsoft.com/office/drawing/2014/main" id="{B12623F3-9673-4398-9935-02A5DA4D0BB0}"/>
              </a:ext>
            </a:extLst>
          </p:cNvPr>
          <p:cNvSpPr>
            <a:spLocks xmlns:a="http://schemas.openxmlformats.org/drawingml/2006/main" noGrp="1"/>
          </p:cNvSpPr>
          <p:nvPr/>
        </p:nvSpPr>
        <p:spPr>
          <a:xfrm xmlns:a="http://schemas.openxmlformats.org/drawingml/2006/main">
            <a:off x="457200" y="1638300"/>
            <a:ext cx="26479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4121FA96-0DF0-4076-9F02-1AC8A8DA8F37}"/>
              </a:ext>
            </a:extLst>
          </p:cNvPr>
          <p:cNvSpPr>
            <a:spLocks xmlns:a="http://schemas.openxmlformats.org/drawingml/2006/main" noGrp="1"/>
          </p:cNvSpPr>
          <p:nvPr/>
        </p:nvSpPr>
        <p:spPr>
          <a:xfrm xmlns:a="http://schemas.openxmlformats.org/drawingml/2006/main">
            <a:off x="571500" y="1790700"/>
            <a:ext cx="241935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077A3"/>
                </a:solidFill>
                <a:latin typeface="Georgia"/>
                <a:ea typeface="Georgia"/>
                <a:cs typeface="Georgia"/>
              </a:defRPr>
            </a:pPr>
            <a:r>
              <a:t>64 / 44</a:t>
            </a:r>
          </a:p>
        </p:txBody>
      </p:sp>
      <p:sp>
        <p:nvSpPr>
          <p:cNvPr id="11" name="">
            <a:extLst xmlns:a="http://schemas.openxmlformats.org/drawingml/2006/main">
              <a:ext uri="{FF2B5EF4-FFF2-40B4-BE49-F238E27FC236}">
                <a16:creationId xmlns:a16="http://schemas.microsoft.com/office/drawing/2014/main" id="{75330FCA-9EC2-4C88-AC55-FEEDC2636CAE}"/>
              </a:ext>
            </a:extLst>
          </p:cNvPr>
          <p:cNvSpPr>
            <a:spLocks xmlns:a="http://schemas.openxmlformats.org/drawingml/2006/main" noGrp="1"/>
          </p:cNvSpPr>
          <p:nvPr/>
        </p:nvSpPr>
        <p:spPr>
          <a:xfrm xmlns:a="http://schemas.openxmlformats.org/drawingml/2006/main">
            <a:off x="571500" y="2276475"/>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PINS / SIGNALS</a:t>
            </a:r>
          </a:p>
        </p:txBody>
      </p:sp>
      <p:sp>
        <p:nvSpPr>
          <p:cNvPr id="12" name="">
            <a:extLst xmlns:a="http://schemas.openxmlformats.org/drawingml/2006/main">
              <a:ext uri="{FF2B5EF4-FFF2-40B4-BE49-F238E27FC236}">
                <a16:creationId xmlns:a16="http://schemas.microsoft.com/office/drawing/2014/main" id="{511E4C3D-1856-4A02-99FE-5F1774D9BE90}"/>
              </a:ext>
            </a:extLst>
          </p:cNvPr>
          <p:cNvSpPr>
            <a:spLocks xmlns:a="http://schemas.openxmlformats.org/drawingml/2006/main" noGrp="1"/>
          </p:cNvSpPr>
          <p:nvPr/>
        </p:nvSpPr>
        <p:spPr>
          <a:xfrm xmlns:a="http://schemas.openxmlformats.org/drawingml/2006/main">
            <a:off x="590550" y="2524125"/>
            <a:ext cx="2381250" cy="5810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Identical to DG32-LITE</a:t>
            </a:r>
          </a:p>
        </p:txBody>
      </p:sp>
      <p:sp>
        <p:nvSpPr>
          <p:cNvPr id="13" name="">
            <a:extLst xmlns:a="http://schemas.openxmlformats.org/drawingml/2006/main">
              <a:ext uri="{FF2B5EF4-FFF2-40B4-BE49-F238E27FC236}">
                <a16:creationId xmlns:a16="http://schemas.microsoft.com/office/drawing/2014/main" id="{27C143A0-4539-40ED-B6D9-9524390E7B97}"/>
              </a:ext>
            </a:extLst>
          </p:cNvPr>
          <p:cNvSpPr>
            <a:spLocks xmlns:a="http://schemas.openxmlformats.org/drawingml/2006/main" noGrp="1"/>
          </p:cNvSpPr>
          <p:nvPr/>
        </p:nvSpPr>
        <p:spPr>
          <a:xfrm xmlns:a="http://schemas.openxmlformats.org/drawingml/2006/main">
            <a:off x="3333750" y="1638300"/>
            <a:ext cx="26479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590CEFAC-AD9F-4894-8FC7-523C1936F5A3}"/>
              </a:ext>
            </a:extLst>
          </p:cNvPr>
          <p:cNvSpPr>
            <a:spLocks xmlns:a="http://schemas.openxmlformats.org/drawingml/2006/main" noGrp="1"/>
          </p:cNvSpPr>
          <p:nvPr/>
        </p:nvSpPr>
        <p:spPr>
          <a:xfrm xmlns:a="http://schemas.openxmlformats.org/drawingml/2006/main">
            <a:off x="3448050" y="1790700"/>
            <a:ext cx="241935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1.8 / 3.3 V</a:t>
            </a:r>
          </a:p>
        </p:txBody>
      </p:sp>
      <p:sp>
        <p:nvSpPr>
          <p:cNvPr id="15" name="">
            <a:extLst xmlns:a="http://schemas.openxmlformats.org/drawingml/2006/main">
              <a:ext uri="{FF2B5EF4-FFF2-40B4-BE49-F238E27FC236}">
                <a16:creationId xmlns:a16="http://schemas.microsoft.com/office/drawing/2014/main" id="{05EE4B79-31F0-448D-B758-A1F153EC8D22}"/>
              </a:ext>
            </a:extLst>
          </p:cNvPr>
          <p:cNvSpPr>
            <a:spLocks xmlns:a="http://schemas.openxmlformats.org/drawingml/2006/main" noGrp="1"/>
          </p:cNvSpPr>
          <p:nvPr/>
        </p:nvSpPr>
        <p:spPr>
          <a:xfrm xmlns:a="http://schemas.openxmlformats.org/drawingml/2006/main">
            <a:off x="3448050" y="2276475"/>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CORE / I/O</a:t>
            </a:r>
          </a:p>
        </p:txBody>
      </p:sp>
      <p:sp>
        <p:nvSpPr>
          <p:cNvPr id="16" name="">
            <a:extLst xmlns:a="http://schemas.openxmlformats.org/drawingml/2006/main">
              <a:ext uri="{FF2B5EF4-FFF2-40B4-BE49-F238E27FC236}">
                <a16:creationId xmlns:a16="http://schemas.microsoft.com/office/drawing/2014/main" id="{A02125A5-C237-41DE-B1AC-77D42673C632}"/>
              </a:ext>
            </a:extLst>
          </p:cNvPr>
          <p:cNvSpPr>
            <a:spLocks xmlns:a="http://schemas.openxmlformats.org/drawingml/2006/main" noGrp="1"/>
          </p:cNvSpPr>
          <p:nvPr/>
        </p:nvSpPr>
        <p:spPr>
          <a:xfrm xmlns:a="http://schemas.openxmlformats.org/drawingml/2006/main">
            <a:off x="3467100" y="2524125"/>
            <a:ext cx="2381250" cy="5810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Identical rails and limits</a:t>
            </a:r>
          </a:p>
        </p:txBody>
      </p:sp>
      <p:sp>
        <p:nvSpPr>
          <p:cNvPr id="17" name="">
            <a:extLst xmlns:a="http://schemas.openxmlformats.org/drawingml/2006/main">
              <a:ext uri="{FF2B5EF4-FFF2-40B4-BE49-F238E27FC236}">
                <a16:creationId xmlns:a16="http://schemas.microsoft.com/office/drawing/2014/main" id="{C62CDB25-0CE5-427A-B0A6-342089C3126F}"/>
              </a:ext>
            </a:extLst>
          </p:cNvPr>
          <p:cNvSpPr>
            <a:spLocks xmlns:a="http://schemas.openxmlformats.org/drawingml/2006/main" noGrp="1"/>
          </p:cNvSpPr>
          <p:nvPr/>
        </p:nvSpPr>
        <p:spPr>
          <a:xfrm xmlns:a="http://schemas.openxmlformats.org/drawingml/2006/main">
            <a:off x="6210300" y="1638300"/>
            <a:ext cx="26479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2703B159-F8E2-4864-A8F7-C356F6F063C4}"/>
              </a:ext>
            </a:extLst>
          </p:cNvPr>
          <p:cNvSpPr>
            <a:spLocks xmlns:a="http://schemas.openxmlformats.org/drawingml/2006/main" noGrp="1"/>
          </p:cNvSpPr>
          <p:nvPr/>
        </p:nvSpPr>
        <p:spPr>
          <a:xfrm xmlns:a="http://schemas.openxmlformats.org/drawingml/2006/main">
            <a:off x="6324600" y="1790700"/>
            <a:ext cx="241935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50 + 114</a:t>
            </a:r>
          </a:p>
        </p:txBody>
      </p:sp>
      <p:sp>
        <p:nvSpPr>
          <p:cNvPr id="19" name="">
            <a:extLst xmlns:a="http://schemas.openxmlformats.org/drawingml/2006/main">
              <a:ext uri="{FF2B5EF4-FFF2-40B4-BE49-F238E27FC236}">
                <a16:creationId xmlns:a16="http://schemas.microsoft.com/office/drawing/2014/main" id="{7F587CFD-5495-4DA8-A22E-B9567BFF89DF}"/>
              </a:ext>
            </a:extLst>
          </p:cNvPr>
          <p:cNvSpPr>
            <a:spLocks xmlns:a="http://schemas.openxmlformats.org/drawingml/2006/main" noGrp="1"/>
          </p:cNvSpPr>
          <p:nvPr/>
        </p:nvSpPr>
        <p:spPr>
          <a:xfrm xmlns:a="http://schemas.openxmlformats.org/drawingml/2006/main">
            <a:off x="6324600" y="2276475"/>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MHZ CLOCKS</a:t>
            </a:r>
          </a:p>
        </p:txBody>
      </p:sp>
      <p:sp>
        <p:nvSpPr>
          <p:cNvPr id="20" name="">
            <a:extLst xmlns:a="http://schemas.openxmlformats.org/drawingml/2006/main">
              <a:ext uri="{FF2B5EF4-FFF2-40B4-BE49-F238E27FC236}">
                <a16:creationId xmlns:a16="http://schemas.microsoft.com/office/drawing/2014/main" id="{FFD3AF11-3747-4D3F-87FD-664B8AF5CC58}"/>
              </a:ext>
            </a:extLst>
          </p:cNvPr>
          <p:cNvSpPr>
            <a:spLocks xmlns:a="http://schemas.openxmlformats.org/drawingml/2006/main" noGrp="1"/>
          </p:cNvSpPr>
          <p:nvPr/>
        </p:nvSpPr>
        <p:spPr>
          <a:xfrm xmlns:a="http://schemas.openxmlformats.org/drawingml/2006/main">
            <a:off x="6343650" y="2524125"/>
            <a:ext cx="2381250" cy="5810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CPU domain + engine domain</a:t>
            </a:r>
          </a:p>
        </p:txBody>
      </p:sp>
      <p:sp>
        <p:nvSpPr>
          <p:cNvPr id="21" name="">
            <a:extLst xmlns:a="http://schemas.openxmlformats.org/drawingml/2006/main">
              <a:ext uri="{FF2B5EF4-FFF2-40B4-BE49-F238E27FC236}">
                <a16:creationId xmlns:a16="http://schemas.microsoft.com/office/drawing/2014/main" id="{05172309-AF6B-4B57-A572-5C0A85994DB8}"/>
              </a:ext>
            </a:extLst>
          </p:cNvPr>
          <p:cNvSpPr>
            <a:spLocks xmlns:a="http://schemas.openxmlformats.org/drawingml/2006/main" noGrp="1"/>
          </p:cNvSpPr>
          <p:nvPr/>
        </p:nvSpPr>
        <p:spPr>
          <a:xfrm xmlns:a="http://schemas.openxmlformats.org/drawingml/2006/main">
            <a:off x="9086850" y="1638300"/>
            <a:ext cx="26479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9C3D6B7D-3827-40BE-8B7C-C1CBB2281821}"/>
              </a:ext>
            </a:extLst>
          </p:cNvPr>
          <p:cNvSpPr>
            <a:spLocks xmlns:a="http://schemas.openxmlformats.org/drawingml/2006/main" noGrp="1"/>
          </p:cNvSpPr>
          <p:nvPr/>
        </p:nvSpPr>
        <p:spPr>
          <a:xfrm xmlns:a="http://schemas.openxmlformats.org/drawingml/2006/main">
            <a:off x="9201150" y="1790700"/>
            <a:ext cx="241935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~3,242</a:t>
            </a:r>
          </a:p>
        </p:txBody>
      </p:sp>
      <p:sp>
        <p:nvSpPr>
          <p:cNvPr id="23" name="">
            <a:extLst xmlns:a="http://schemas.openxmlformats.org/drawingml/2006/main">
              <a:ext uri="{FF2B5EF4-FFF2-40B4-BE49-F238E27FC236}">
                <a16:creationId xmlns:a16="http://schemas.microsoft.com/office/drawing/2014/main" id="{B30D0BC3-8A06-4DCF-8DAC-D94F4E3DD44D}"/>
              </a:ext>
            </a:extLst>
          </p:cNvPr>
          <p:cNvSpPr>
            <a:spLocks xmlns:a="http://schemas.openxmlformats.org/drawingml/2006/main" noGrp="1"/>
          </p:cNvSpPr>
          <p:nvPr/>
        </p:nvSpPr>
        <p:spPr>
          <a:xfrm xmlns:a="http://schemas.openxmlformats.org/drawingml/2006/main">
            <a:off x="9201150" y="2276475"/>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CYCLES PER ROW</a:t>
            </a:r>
          </a:p>
        </p:txBody>
      </p:sp>
      <p:sp>
        <p:nvSpPr>
          <p:cNvPr id="24" name="">
            <a:extLst xmlns:a="http://schemas.openxmlformats.org/drawingml/2006/main">
              <a:ext uri="{FF2B5EF4-FFF2-40B4-BE49-F238E27FC236}">
                <a16:creationId xmlns:a16="http://schemas.microsoft.com/office/drawing/2014/main" id="{D8ACC1C3-296E-47E2-8FD0-13EF6E4F7979}"/>
              </a:ext>
            </a:extLst>
          </p:cNvPr>
          <p:cNvSpPr>
            <a:spLocks xmlns:a="http://schemas.openxmlformats.org/drawingml/2006/main" noGrp="1"/>
          </p:cNvSpPr>
          <p:nvPr/>
        </p:nvSpPr>
        <p:spPr>
          <a:xfrm xmlns:a="http://schemas.openxmlformats.org/drawingml/2006/main">
            <a:off x="9220200" y="2524125"/>
            <a:ext cx="2381250" cy="5810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Analytic, at 16 lanes</a:t>
            </a:r>
          </a:p>
        </p:txBody>
      </p:sp>
      <p:sp>
        <p:nvSpPr>
          <p:cNvPr id="25" name="">
            <a:extLst xmlns:a="http://schemas.openxmlformats.org/drawingml/2006/main">
              <a:ext uri="{FF2B5EF4-FFF2-40B4-BE49-F238E27FC236}">
                <a16:creationId xmlns:a16="http://schemas.microsoft.com/office/drawing/2014/main" id="{1C3497B0-E249-47B0-B846-388D505D506F}"/>
              </a:ext>
            </a:extLst>
          </p:cNvPr>
          <p:cNvSpPr>
            <a:spLocks xmlns:a="http://schemas.openxmlformats.org/drawingml/2006/main" noGrp="1"/>
          </p:cNvSpPr>
          <p:nvPr/>
        </p:nvSpPr>
        <p:spPr>
          <a:xfrm xmlns:a="http://schemas.openxmlformats.org/drawingml/2006/main">
            <a:off x="457200" y="47815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27CA5388-E972-4979-B9B9-DE1D7D094957}"/>
              </a:ext>
            </a:extLst>
          </p:cNvPr>
          <p:cNvSpPr>
            <a:spLocks xmlns:a="http://schemas.openxmlformats.org/drawingml/2006/main" noGrp="1"/>
          </p:cNvSpPr>
          <p:nvPr/>
        </p:nvSpPr>
        <p:spPr>
          <a:xfrm xmlns:a="http://schemas.openxmlformats.org/drawingml/2006/main">
            <a:off x="457200" y="47815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EE91E95-87DE-41BF-8B99-01727AA29636}"/>
              </a:ext>
            </a:extLst>
          </p:cNvPr>
          <p:cNvSpPr>
            <a:spLocks xmlns:a="http://schemas.openxmlformats.org/drawingml/2006/main" noGrp="1"/>
          </p:cNvSpPr>
          <p:nvPr/>
        </p:nvSpPr>
        <p:spPr>
          <a:xfrm xmlns:a="http://schemas.openxmlformats.org/drawingml/2006/main">
            <a:off x="685800" y="49720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Board</a:t>
            </a:r>
          </a:p>
        </p:txBody>
      </p:sp>
      <p:sp>
        <p:nvSpPr>
          <p:cNvPr id="28" name="">
            <a:extLst xmlns:a="http://schemas.openxmlformats.org/drawingml/2006/main">
              <a:ext uri="{FF2B5EF4-FFF2-40B4-BE49-F238E27FC236}">
                <a16:creationId xmlns:a16="http://schemas.microsoft.com/office/drawing/2014/main" id="{1D9F17E5-9206-4518-B970-0C8ADE0CD013}"/>
              </a:ext>
            </a:extLst>
          </p:cNvPr>
          <p:cNvSpPr>
            <a:spLocks xmlns:a="http://schemas.openxmlformats.org/drawingml/2006/main" noGrp="1"/>
          </p:cNvSpPr>
          <p:nvPr/>
        </p:nvSpPr>
        <p:spPr>
          <a:xfrm xmlns:a="http://schemas.openxmlformats.org/drawingml/2006/main">
            <a:off x="685800" y="53340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Identical footprint, pin map, rails and boot flash.</a:t>
            </a:r>
          </a:p>
        </p:txBody>
      </p:sp>
      <p:sp>
        <p:nvSpPr>
          <p:cNvPr id="29" name="">
            <a:extLst xmlns:a="http://schemas.openxmlformats.org/drawingml/2006/main">
              <a:ext uri="{FF2B5EF4-FFF2-40B4-BE49-F238E27FC236}">
                <a16:creationId xmlns:a16="http://schemas.microsoft.com/office/drawing/2014/main" id="{8043760E-B462-4D2C-8700-41ED7A913B58}"/>
              </a:ext>
            </a:extLst>
          </p:cNvPr>
          <p:cNvSpPr>
            <a:spLocks xmlns:a="http://schemas.openxmlformats.org/drawingml/2006/main" noGrp="1"/>
          </p:cNvSpPr>
          <p:nvPr/>
        </p:nvSpPr>
        <p:spPr>
          <a:xfrm xmlns:a="http://schemas.openxmlformats.org/drawingml/2006/main">
            <a:off x="4305300" y="47815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C992ED84-D899-4A09-B46C-D82A336A7A0A}"/>
              </a:ext>
            </a:extLst>
          </p:cNvPr>
          <p:cNvSpPr>
            <a:spLocks xmlns:a="http://schemas.openxmlformats.org/drawingml/2006/main" noGrp="1"/>
          </p:cNvSpPr>
          <p:nvPr/>
        </p:nvSpPr>
        <p:spPr>
          <a:xfrm xmlns:a="http://schemas.openxmlformats.org/drawingml/2006/main">
            <a:off x="4305300" y="47815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2B18EA1-5A4D-4C97-8BBE-F2154E556536}"/>
              </a:ext>
            </a:extLst>
          </p:cNvPr>
          <p:cNvSpPr>
            <a:spLocks xmlns:a="http://schemas.openxmlformats.org/drawingml/2006/main" noGrp="1"/>
          </p:cNvSpPr>
          <p:nvPr/>
        </p:nvSpPr>
        <p:spPr>
          <a:xfrm xmlns:a="http://schemas.openxmlformats.org/drawingml/2006/main">
            <a:off x="4533900" y="49720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Firmware</a:t>
            </a:r>
          </a:p>
        </p:txBody>
      </p:sp>
      <p:sp>
        <p:nvSpPr>
          <p:cNvPr id="32" name="">
            <a:extLst xmlns:a="http://schemas.openxmlformats.org/drawingml/2006/main">
              <a:ext uri="{FF2B5EF4-FFF2-40B4-BE49-F238E27FC236}">
                <a16:creationId xmlns:a16="http://schemas.microsoft.com/office/drawing/2014/main" id="{997014A7-A074-4D9C-BEBC-F34A8CE1728D}"/>
              </a:ext>
            </a:extLst>
          </p:cNvPr>
          <p:cNvSpPr>
            <a:spLocks xmlns:a="http://schemas.openxmlformats.org/drawingml/2006/main" noGrp="1"/>
          </p:cNvSpPr>
          <p:nvPr/>
        </p:nvSpPr>
        <p:spPr>
          <a:xfrm xmlns:a="http://schemas.openxmlformats.org/drawingml/2006/main">
            <a:off x="4533900" y="53340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One memory-mapped engine, programmed in four steps.</a:t>
            </a:r>
          </a:p>
        </p:txBody>
      </p:sp>
      <p:sp>
        <p:nvSpPr>
          <p:cNvPr id="33" name="">
            <a:extLst xmlns:a="http://schemas.openxmlformats.org/drawingml/2006/main">
              <a:ext uri="{FF2B5EF4-FFF2-40B4-BE49-F238E27FC236}">
                <a16:creationId xmlns:a16="http://schemas.microsoft.com/office/drawing/2014/main" id="{791035A8-72CC-40C3-B4B4-228F1AE4A432}"/>
              </a:ext>
            </a:extLst>
          </p:cNvPr>
          <p:cNvSpPr>
            <a:spLocks xmlns:a="http://schemas.openxmlformats.org/drawingml/2006/main" noGrp="1"/>
          </p:cNvSpPr>
          <p:nvPr/>
        </p:nvSpPr>
        <p:spPr>
          <a:xfrm xmlns:a="http://schemas.openxmlformats.org/drawingml/2006/main">
            <a:off x="8153400" y="47815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91099C36-62B0-406B-A2D5-09A774DB0BD3}"/>
              </a:ext>
            </a:extLst>
          </p:cNvPr>
          <p:cNvSpPr>
            <a:spLocks xmlns:a="http://schemas.openxmlformats.org/drawingml/2006/main" noGrp="1"/>
          </p:cNvSpPr>
          <p:nvPr/>
        </p:nvSpPr>
        <p:spPr>
          <a:xfrm xmlns:a="http://schemas.openxmlformats.org/drawingml/2006/main">
            <a:off x="8153400" y="47815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7643653-2951-4ABF-9EE7-89DF4A51C5B4}"/>
              </a:ext>
            </a:extLst>
          </p:cNvPr>
          <p:cNvSpPr>
            <a:spLocks xmlns:a="http://schemas.openxmlformats.org/drawingml/2006/main" noGrp="1"/>
          </p:cNvSpPr>
          <p:nvPr/>
        </p:nvSpPr>
        <p:spPr>
          <a:xfrm xmlns:a="http://schemas.openxmlformats.org/drawingml/2006/main">
            <a:off x="8382000" y="49720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Limits</a:t>
            </a:r>
          </a:p>
        </p:txBody>
      </p:sp>
      <p:sp>
        <p:nvSpPr>
          <p:cNvPr id="36" name="">
            <a:extLst xmlns:a="http://schemas.openxmlformats.org/drawingml/2006/main">
              <a:ext uri="{FF2B5EF4-FFF2-40B4-BE49-F238E27FC236}">
                <a16:creationId xmlns:a16="http://schemas.microsoft.com/office/drawing/2014/main" id="{C33C86B3-1CCA-4EB3-A012-4B08A83BE28C}"/>
              </a:ext>
            </a:extLst>
          </p:cNvPr>
          <p:cNvSpPr>
            <a:spLocks xmlns:a="http://schemas.openxmlformats.org/drawingml/2006/main" noGrp="1"/>
          </p:cNvSpPr>
          <p:nvPr/>
        </p:nvSpPr>
        <p:spPr>
          <a:xfrm xmlns:a="http://schemas.openxmlformats.org/drawingml/2006/main">
            <a:off x="8382000" y="53340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400 keys, 64-byte values, ~3,242 cycles per row.</a:t>
            </a:r>
          </a:p>
        </p:txBody>
      </p:sp>
      <p:sp>
        <p:nvSpPr>
          <p:cNvPr id="37" name="">
            <a:extLst xmlns:a="http://schemas.openxmlformats.org/drawingml/2006/main">
              <a:ext uri="{FF2B5EF4-FFF2-40B4-BE49-F238E27FC236}">
                <a16:creationId xmlns:a16="http://schemas.microsoft.com/office/drawing/2014/main" id="{B7556A17-3A81-445E-8538-022C5F5318D1}"/>
              </a:ext>
            </a:extLst>
          </p:cNvPr>
          <p:cNvSpPr>
            <a:spLocks xmlns:a="http://schemas.openxmlformats.org/drawingml/2006/main" noGrp="1"/>
          </p:cNvSpPr>
          <p:nvPr/>
        </p:nvSpPr>
        <p:spPr>
          <a:xfrm xmlns:a="http://schemas.openxmlformats.org/drawingml/2006/main">
            <a:off x="457200" y="3352800"/>
            <a:ext cx="11277600" cy="12382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4F017A9-7C4C-46E2-A763-CD1F880CD32B}"/>
              </a:ext>
            </a:extLst>
          </p:cNvPr>
          <p:cNvSpPr>
            <a:spLocks xmlns:a="http://schemas.openxmlformats.org/drawingml/2006/main" noGrp="1"/>
          </p:cNvSpPr>
          <p:nvPr/>
        </p:nvSpPr>
        <p:spPr>
          <a:xfrm xmlns:a="http://schemas.openxmlformats.org/drawingml/2006/main">
            <a:off x="457200" y="3352800"/>
            <a:ext cx="57150" cy="12382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4030647-8408-4C39-AFF3-EEBC5DF4BF1A}"/>
              </a:ext>
            </a:extLst>
          </p:cNvPr>
          <p:cNvSpPr>
            <a:spLocks xmlns:a="http://schemas.openxmlformats.org/drawingml/2006/main" noGrp="1"/>
          </p:cNvSpPr>
          <p:nvPr/>
        </p:nvSpPr>
        <p:spPr>
          <a:xfrm xmlns:a="http://schemas.openxmlformats.org/drawingml/2006/main">
            <a:off x="762000" y="3562350"/>
            <a:ext cx="10668000" cy="8572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FFFFFF"/>
                </a:solidFill>
                <a:latin typeface="Georgia"/>
                <a:ea typeface="Georgia"/>
                <a:cs typeface="Georgia"/>
              </a:defRPr>
            </a:pPr>
            <a:r>
              <a:t>For a board, DG32-2DOM is a drop-in DG32-LITE. For firmware, it adds one memory-mapped engine that runs on its own clock and never stalls the control core.</a:t>
            </a:r>
          </a:p>
        </p:txBody>
      </p:sp>
      <p:sp>
        <p:nvSpPr>
          <p:cNvPr id="40" name="">
            <a:extLst xmlns:a="http://schemas.openxmlformats.org/drawingml/2006/main">
              <a:ext uri="{FF2B5EF4-FFF2-40B4-BE49-F238E27FC236}">
                <a16:creationId xmlns:a16="http://schemas.microsoft.com/office/drawing/2014/main" id="{800F0CA2-9B60-4708-8ECE-60827BBA749E}"/>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DG32-2DOM preliminary datasheet §1, §2, §4, §6.1.</a:t>
            </a:r>
          </a:p>
        </p:txBody>
      </p:sp>
    </p:spTree>
    <p:extLst>
      <p:ext uri="{BB962C8B-B14F-4D97-AF65-F5344CB8AC3E}">
        <p14:creationId xmlns:p14="http://schemas.microsoft.com/office/powerpoint/2010/main" val="94001436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3CA1342-D84A-4B0E-96EB-C96C08931A4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90E4CC-ED65-4839-A939-F93127630A80}"/>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03 · WHAT IS NEW</a:t>
            </a:r>
          </a:p>
        </p:txBody>
      </p:sp>
      <p:sp>
        <p:nvSpPr>
          <p:cNvPr id="3" name="">
            <a:extLst xmlns:a="http://schemas.openxmlformats.org/drawingml/2006/main">
              <a:ext uri="{FF2B5EF4-FFF2-40B4-BE49-F238E27FC236}">
                <a16:creationId xmlns:a16="http://schemas.microsoft.com/office/drawing/2014/main" id="{B1D566B3-8110-497B-8A09-6D74E36960AD}"/>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Five datasheet features are new in DG32-2DOM</a:t>
            </a:r>
          </a:p>
        </p:txBody>
      </p:sp>
      <p:sp>
        <p:nvSpPr>
          <p:cNvPr id="4" name="">
            <a:extLst xmlns:a="http://schemas.openxmlformats.org/drawingml/2006/main">
              <a:ext uri="{FF2B5EF4-FFF2-40B4-BE49-F238E27FC236}">
                <a16:creationId xmlns:a16="http://schemas.microsoft.com/office/drawing/2014/main" id="{EC124CFD-5BC9-4D29-86A5-6A18789548BE}"/>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Everything else in the feature list is DG32-LITE’s, unchanged</a:t>
            </a:r>
          </a:p>
        </p:txBody>
      </p:sp>
      <p:sp>
        <p:nvSpPr>
          <p:cNvPr id="5" name="">
            <a:extLst xmlns:a="http://schemas.openxmlformats.org/drawingml/2006/main">
              <a:ext uri="{FF2B5EF4-FFF2-40B4-BE49-F238E27FC236}">
                <a16:creationId xmlns:a16="http://schemas.microsoft.com/office/drawing/2014/main" id="{B5990368-A81A-4360-96B0-7B351A179371}"/>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9E9113D-9838-4A69-A051-F8D241C95421}"/>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BF405B7-737C-4109-A8BB-B9C4C05A4516}"/>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PRELIMINARY DATASHEET  ·  SEPTEMBER 2026  ·  PRE-SILICON</a:t>
            </a:r>
          </a:p>
        </p:txBody>
      </p:sp>
      <p:sp>
        <p:nvSpPr>
          <p:cNvPr id="8" name="">
            <a:extLst xmlns:a="http://schemas.openxmlformats.org/drawingml/2006/main">
              <a:ext uri="{FF2B5EF4-FFF2-40B4-BE49-F238E27FC236}">
                <a16:creationId xmlns:a16="http://schemas.microsoft.com/office/drawing/2014/main" id="{990AE606-88F8-48DF-81CA-E657568EA9B9}"/>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03</a:t>
            </a:r>
          </a:p>
        </p:txBody>
      </p:sp>
      <p:sp>
        <p:nvSpPr>
          <p:cNvPr id="9" name="">
            <a:extLst xmlns:a="http://schemas.openxmlformats.org/drawingml/2006/main">
              <a:ext uri="{FF2B5EF4-FFF2-40B4-BE49-F238E27FC236}">
                <a16:creationId xmlns:a16="http://schemas.microsoft.com/office/drawing/2014/main" id="{2BBE611A-73F5-4372-8B9A-B01A50A7165D}"/>
              </a:ext>
            </a:extLst>
          </p:cNvPr>
          <p:cNvSpPr>
            <a:spLocks xmlns:a="http://schemas.openxmlformats.org/drawingml/2006/main" noGrp="1"/>
          </p:cNvSpPr>
          <p:nvPr/>
        </p:nvSpPr>
        <p:spPr>
          <a:xfrm xmlns:a="http://schemas.openxmlformats.org/drawingml/2006/main">
            <a:off x="457200" y="1638300"/>
            <a:ext cx="11277600" cy="4000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EFA8F67-7CA6-43C2-BF90-6A3C96CEF1F5}"/>
              </a:ext>
            </a:extLst>
          </p:cNvPr>
          <p:cNvSpPr>
            <a:spLocks xmlns:a="http://schemas.openxmlformats.org/drawingml/2006/main" noGrp="1"/>
          </p:cNvSpPr>
          <p:nvPr/>
        </p:nvSpPr>
        <p:spPr>
          <a:xfrm xmlns:a="http://schemas.openxmlformats.org/drawingml/2006/main">
            <a:off x="590550" y="1752600"/>
            <a:ext cx="2667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NEW FEATURE</a:t>
            </a:r>
          </a:p>
        </p:txBody>
      </p:sp>
      <p:sp>
        <p:nvSpPr>
          <p:cNvPr id="11" name="">
            <a:extLst xmlns:a="http://schemas.openxmlformats.org/drawingml/2006/main">
              <a:ext uri="{FF2B5EF4-FFF2-40B4-BE49-F238E27FC236}">
                <a16:creationId xmlns:a16="http://schemas.microsoft.com/office/drawing/2014/main" id="{4168859D-38B2-49EF-B8BC-FAAF06BCED53}"/>
              </a:ext>
            </a:extLst>
          </p:cNvPr>
          <p:cNvSpPr>
            <a:spLocks xmlns:a="http://schemas.openxmlformats.org/drawingml/2006/main" noGrp="1"/>
          </p:cNvSpPr>
          <p:nvPr/>
        </p:nvSpPr>
        <p:spPr>
          <a:xfrm xmlns:a="http://schemas.openxmlformats.org/drawingml/2006/main">
            <a:off x="3448050" y="1752600"/>
            <a:ext cx="8229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WHAT THE DATASHEET STATES</a:t>
            </a:r>
          </a:p>
        </p:txBody>
      </p:sp>
      <p:sp>
        <p:nvSpPr>
          <p:cNvPr id="12" name="">
            <a:extLst xmlns:a="http://schemas.openxmlformats.org/drawingml/2006/main">
              <a:ext uri="{FF2B5EF4-FFF2-40B4-BE49-F238E27FC236}">
                <a16:creationId xmlns:a16="http://schemas.microsoft.com/office/drawing/2014/main" id="{D37744D4-D032-43B5-8073-6FD940C8F1B2}"/>
              </a:ext>
            </a:extLst>
          </p:cNvPr>
          <p:cNvSpPr>
            <a:spLocks xmlns:a="http://schemas.openxmlformats.org/drawingml/2006/main" noGrp="1"/>
          </p:cNvSpPr>
          <p:nvPr/>
        </p:nvSpPr>
        <p:spPr>
          <a:xfrm xmlns:a="http://schemas.openxmlformats.org/drawingml/2006/main">
            <a:off x="457200" y="2038350"/>
            <a:ext cx="11277600" cy="55245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5B94461D-AA51-44EE-9E1B-D53B5B55CAA9}"/>
              </a:ext>
            </a:extLst>
          </p:cNvPr>
          <p:cNvSpPr>
            <a:spLocks xmlns:a="http://schemas.openxmlformats.org/drawingml/2006/main" noGrp="1"/>
          </p:cNvSpPr>
          <p:nvPr/>
        </p:nvSpPr>
        <p:spPr>
          <a:xfrm xmlns:a="http://schemas.openxmlformats.org/drawingml/2006/main">
            <a:off x="457200" y="2038350"/>
            <a:ext cx="47625" cy="5524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FB85EB8-E82C-47A3-AF16-8ECC0537704B}"/>
              </a:ext>
            </a:extLst>
          </p:cNvPr>
          <p:cNvSpPr>
            <a:spLocks xmlns:a="http://schemas.openxmlformats.org/drawingml/2006/main" noGrp="1"/>
          </p:cNvSpPr>
          <p:nvPr/>
        </p:nvSpPr>
        <p:spPr>
          <a:xfrm xmlns:a="http://schemas.openxmlformats.org/drawingml/2006/main">
            <a:off x="590550" y="2143125"/>
            <a:ext cx="2647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Attention accelerator</a:t>
            </a:r>
          </a:p>
        </p:txBody>
      </p:sp>
      <p:sp>
        <p:nvSpPr>
          <p:cNvPr id="15" name="">
            <a:extLst xmlns:a="http://schemas.openxmlformats.org/drawingml/2006/main">
              <a:ext uri="{FF2B5EF4-FFF2-40B4-BE49-F238E27FC236}">
                <a16:creationId xmlns:a16="http://schemas.microsoft.com/office/drawing/2014/main" id="{4FEF2C0B-773E-4212-A480-588F79041FCF}"/>
              </a:ext>
            </a:extLst>
          </p:cNvPr>
          <p:cNvSpPr>
            <a:spLocks xmlns:a="http://schemas.openxmlformats.org/drawingml/2006/main" noGrp="1"/>
          </p:cNvSpPr>
          <p:nvPr/>
        </p:nvSpPr>
        <p:spPr>
          <a:xfrm xmlns:a="http://schemas.openxmlformats.org/drawingml/2006/main">
            <a:off x="3448050" y="2143125"/>
            <a:ext cx="82105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One kick computes a band of query rows of one head, end to end, bit-exact to the golden model</a:t>
            </a:r>
          </a:p>
        </p:txBody>
      </p:sp>
      <p:sp>
        <p:nvSpPr>
          <p:cNvPr id="16" name="">
            <a:extLst xmlns:a="http://schemas.openxmlformats.org/drawingml/2006/main">
              <a:ext uri="{FF2B5EF4-FFF2-40B4-BE49-F238E27FC236}">
                <a16:creationId xmlns:a16="http://schemas.microsoft.com/office/drawing/2014/main" id="{3BBED14F-4E30-4BA3-A6A3-1D2EEB6E4411}"/>
              </a:ext>
            </a:extLst>
          </p:cNvPr>
          <p:cNvSpPr>
            <a:spLocks xmlns:a="http://schemas.openxmlformats.org/drawingml/2006/main" noGrp="1"/>
          </p:cNvSpPr>
          <p:nvPr/>
        </p:nvSpPr>
        <p:spPr>
          <a:xfrm xmlns:a="http://schemas.openxmlformats.org/drawingml/2006/main">
            <a:off x="457200" y="2590800"/>
            <a:ext cx="11277600" cy="5524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CAD83706-F426-499A-AC90-92E1E04871AD}"/>
              </a:ext>
            </a:extLst>
          </p:cNvPr>
          <p:cNvSpPr>
            <a:spLocks xmlns:a="http://schemas.openxmlformats.org/drawingml/2006/main" noGrp="1"/>
          </p:cNvSpPr>
          <p:nvPr/>
        </p:nvSpPr>
        <p:spPr>
          <a:xfrm xmlns:a="http://schemas.openxmlformats.org/drawingml/2006/main">
            <a:off x="590550" y="2695575"/>
            <a:ext cx="2647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Shared datapath</a:t>
            </a:r>
          </a:p>
        </p:txBody>
      </p:sp>
      <p:sp>
        <p:nvSpPr>
          <p:cNvPr id="18" name="">
            <a:extLst xmlns:a="http://schemas.openxmlformats.org/drawingml/2006/main">
              <a:ext uri="{FF2B5EF4-FFF2-40B4-BE49-F238E27FC236}">
                <a16:creationId xmlns:a16="http://schemas.microsoft.com/office/drawing/2014/main" id="{E844E452-C07B-4474-B876-F42C8D5A422E}"/>
              </a:ext>
            </a:extLst>
          </p:cNvPr>
          <p:cNvSpPr>
            <a:spLocks xmlns:a="http://schemas.openxmlformats.org/drawingml/2006/main" noGrp="1"/>
          </p:cNvSpPr>
          <p:nvPr/>
        </p:nvSpPr>
        <p:spPr>
          <a:xfrm xmlns:a="http://schemas.openxmlformats.org/drawingml/2006/main">
            <a:off x="3448050" y="2695575"/>
            <a:ext cx="82105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One multiply array across lanes, a 256-entry 15-bit weight table and a 40-bit numerator exact to 131,072 keys</a:t>
            </a:r>
          </a:p>
        </p:txBody>
      </p:sp>
      <p:sp>
        <p:nvSpPr>
          <p:cNvPr id="19" name="">
            <a:extLst xmlns:a="http://schemas.openxmlformats.org/drawingml/2006/main">
              <a:ext uri="{FF2B5EF4-FFF2-40B4-BE49-F238E27FC236}">
                <a16:creationId xmlns:a16="http://schemas.microsoft.com/office/drawing/2014/main" id="{57F92D16-9296-4483-AE54-DC554A883561}"/>
              </a:ext>
            </a:extLst>
          </p:cNvPr>
          <p:cNvSpPr>
            <a:spLocks xmlns:a="http://schemas.openxmlformats.org/drawingml/2006/main" noGrp="1"/>
          </p:cNvSpPr>
          <p:nvPr/>
        </p:nvSpPr>
        <p:spPr>
          <a:xfrm xmlns:a="http://schemas.openxmlformats.org/drawingml/2006/main">
            <a:off x="457200" y="3143250"/>
            <a:ext cx="112776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0" name="">
            <a:extLst xmlns:a="http://schemas.openxmlformats.org/drawingml/2006/main">
              <a:ext uri="{FF2B5EF4-FFF2-40B4-BE49-F238E27FC236}">
                <a16:creationId xmlns:a16="http://schemas.microsoft.com/office/drawing/2014/main" id="{1C4842BF-BD94-4B54-B9BE-73C9CB0C8D06}"/>
              </a:ext>
            </a:extLst>
          </p:cNvPr>
          <p:cNvSpPr>
            <a:spLocks xmlns:a="http://schemas.openxmlformats.org/drawingml/2006/main" noGrp="1"/>
          </p:cNvSpPr>
          <p:nvPr/>
        </p:nvSpPr>
        <p:spPr>
          <a:xfrm xmlns:a="http://schemas.openxmlformats.org/drawingml/2006/main">
            <a:off x="590550" y="3248025"/>
            <a:ext cx="2647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Row cost</a:t>
            </a:r>
          </a:p>
        </p:txBody>
      </p:sp>
      <p:sp>
        <p:nvSpPr>
          <p:cNvPr id="21" name="">
            <a:extLst xmlns:a="http://schemas.openxmlformats.org/drawingml/2006/main">
              <a:ext uri="{FF2B5EF4-FFF2-40B4-BE49-F238E27FC236}">
                <a16:creationId xmlns:a16="http://schemas.microsoft.com/office/drawing/2014/main" id="{DAB854B1-46B8-4ED8-A86A-BA6131DC6225}"/>
              </a:ext>
            </a:extLst>
          </p:cNvPr>
          <p:cNvSpPr>
            <a:spLocks xmlns:a="http://schemas.openxmlformats.org/drawingml/2006/main" noGrp="1"/>
          </p:cNvSpPr>
          <p:nvPr/>
        </p:nvSpPr>
        <p:spPr>
          <a:xfrm xmlns:a="http://schemas.openxmlformats.org/drawingml/2006/main">
            <a:off x="3448050" y="3248025"/>
            <a:ext cx="82105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~3,242 cycles per query row, analytic, at 16 lanes</a:t>
            </a:r>
          </a:p>
        </p:txBody>
      </p:sp>
      <p:sp>
        <p:nvSpPr>
          <p:cNvPr id="22" name="">
            <a:extLst xmlns:a="http://schemas.openxmlformats.org/drawingml/2006/main">
              <a:ext uri="{FF2B5EF4-FFF2-40B4-BE49-F238E27FC236}">
                <a16:creationId xmlns:a16="http://schemas.microsoft.com/office/drawing/2014/main" id="{F0FCCBA5-F279-47B5-B0CB-42B1E6DE6728}"/>
              </a:ext>
            </a:extLst>
          </p:cNvPr>
          <p:cNvSpPr>
            <a:spLocks xmlns:a="http://schemas.openxmlformats.org/drawingml/2006/main" noGrp="1"/>
          </p:cNvSpPr>
          <p:nvPr/>
        </p:nvSpPr>
        <p:spPr>
          <a:xfrm xmlns:a="http://schemas.openxmlformats.org/drawingml/2006/main">
            <a:off x="457200" y="3695700"/>
            <a:ext cx="11277600" cy="5524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3" name="">
            <a:extLst xmlns:a="http://schemas.openxmlformats.org/drawingml/2006/main">
              <a:ext uri="{FF2B5EF4-FFF2-40B4-BE49-F238E27FC236}">
                <a16:creationId xmlns:a16="http://schemas.microsoft.com/office/drawing/2014/main" id="{CD79BA06-B2A6-4D1F-9714-02F7F00675D4}"/>
              </a:ext>
            </a:extLst>
          </p:cNvPr>
          <p:cNvSpPr>
            <a:spLocks xmlns:a="http://schemas.openxmlformats.org/drawingml/2006/main" noGrp="1"/>
          </p:cNvSpPr>
          <p:nvPr/>
        </p:nvSpPr>
        <p:spPr>
          <a:xfrm xmlns:a="http://schemas.openxmlformats.org/drawingml/2006/main">
            <a:off x="590550" y="3800475"/>
            <a:ext cx="2647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Second clock domain</a:t>
            </a:r>
          </a:p>
        </p:txBody>
      </p:sp>
      <p:sp>
        <p:nvSpPr>
          <p:cNvPr id="24" name="">
            <a:extLst xmlns:a="http://schemas.openxmlformats.org/drawingml/2006/main">
              <a:ext uri="{FF2B5EF4-FFF2-40B4-BE49-F238E27FC236}">
                <a16:creationId xmlns:a16="http://schemas.microsoft.com/office/drawing/2014/main" id="{C5A37FF4-099F-4560-ABBA-2EDB99382EAB}"/>
              </a:ext>
            </a:extLst>
          </p:cNvPr>
          <p:cNvSpPr>
            <a:spLocks xmlns:a="http://schemas.openxmlformats.org/drawingml/2006/main" noGrp="1"/>
          </p:cNvSpPr>
          <p:nvPr/>
        </p:nvSpPr>
        <p:spPr>
          <a:xfrm xmlns:a="http://schemas.openxmlformats.org/drawingml/2006/main">
            <a:off x="3448050" y="3800475"/>
            <a:ext cx="82105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The engine runs at 114 MHz and crosses to the 50 MHz CPU through two-flop bridges</a:t>
            </a:r>
          </a:p>
        </p:txBody>
      </p:sp>
      <p:sp>
        <p:nvSpPr>
          <p:cNvPr id="25" name="">
            <a:extLst xmlns:a="http://schemas.openxmlformats.org/drawingml/2006/main">
              <a:ext uri="{FF2B5EF4-FFF2-40B4-BE49-F238E27FC236}">
                <a16:creationId xmlns:a16="http://schemas.microsoft.com/office/drawing/2014/main" id="{FF90F551-CEB5-448A-9998-11434DB31C6E}"/>
              </a:ext>
            </a:extLst>
          </p:cNvPr>
          <p:cNvSpPr>
            <a:spLocks xmlns:a="http://schemas.openxmlformats.org/drawingml/2006/main" noGrp="1"/>
          </p:cNvSpPr>
          <p:nvPr/>
        </p:nvSpPr>
        <p:spPr>
          <a:xfrm xmlns:a="http://schemas.openxmlformats.org/drawingml/2006/main">
            <a:off x="457200" y="4248150"/>
            <a:ext cx="112776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89FE29E8-F9B8-4FE3-AF99-F7127E3884F6}"/>
              </a:ext>
            </a:extLst>
          </p:cNvPr>
          <p:cNvSpPr>
            <a:spLocks xmlns:a="http://schemas.openxmlformats.org/drawingml/2006/main" noGrp="1"/>
          </p:cNvSpPr>
          <p:nvPr/>
        </p:nvSpPr>
        <p:spPr>
          <a:xfrm xmlns:a="http://schemas.openxmlformats.org/drawingml/2006/main">
            <a:off x="590550" y="4352925"/>
            <a:ext cx="2647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Its own die</a:t>
            </a:r>
          </a:p>
        </p:txBody>
      </p:sp>
      <p:sp>
        <p:nvSpPr>
          <p:cNvPr id="27" name="">
            <a:extLst xmlns:a="http://schemas.openxmlformats.org/drawingml/2006/main">
              <a:ext uri="{FF2B5EF4-FFF2-40B4-BE49-F238E27FC236}">
                <a16:creationId xmlns:a16="http://schemas.microsoft.com/office/drawing/2014/main" id="{7DD2CE55-785C-4975-8117-725C97F377BB}"/>
              </a:ext>
            </a:extLst>
          </p:cNvPr>
          <p:cNvSpPr>
            <a:spLocks xmlns:a="http://schemas.openxmlformats.org/drawingml/2006/main" noGrp="1"/>
          </p:cNvSpPr>
          <p:nvPr/>
        </p:nvSpPr>
        <p:spPr>
          <a:xfrm xmlns:a="http://schemas.openxmlformats.org/drawingml/2006/main">
            <a:off x="3448050" y="4352925"/>
            <a:ext cx="82105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3.4 × 4.5 mm, with key and value buffers on SRAM macros beside the analog corner</a:t>
            </a:r>
          </a:p>
        </p:txBody>
      </p:sp>
      <p:sp>
        <p:nvSpPr>
          <p:cNvPr id="28" name="">
            <a:extLst xmlns:a="http://schemas.openxmlformats.org/drawingml/2006/main">
              <a:ext uri="{FF2B5EF4-FFF2-40B4-BE49-F238E27FC236}">
                <a16:creationId xmlns:a16="http://schemas.microsoft.com/office/drawing/2014/main" id="{A3C7C4FE-150F-479B-BDAD-8E26A7F56F2B}"/>
              </a:ext>
            </a:extLst>
          </p:cNvPr>
          <p:cNvSpPr>
            <a:spLocks xmlns:a="http://schemas.openxmlformats.org/drawingml/2006/main" noGrp="1"/>
          </p:cNvSpPr>
          <p:nvPr/>
        </p:nvSpPr>
        <p:spPr>
          <a:xfrm xmlns:a="http://schemas.openxmlformats.org/drawingml/2006/main">
            <a:off x="457200" y="5219700"/>
            <a:ext cx="112776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The engine is internal: it reaches memory over the on-chip bus and takes commands from the CPU through its register port.</a:t>
            </a:r>
          </a:p>
        </p:txBody>
      </p:sp>
      <p:sp>
        <p:nvSpPr>
          <p:cNvPr id="29" name="">
            <a:extLst xmlns:a="http://schemas.openxmlformats.org/drawingml/2006/main">
              <a:ext uri="{FF2B5EF4-FFF2-40B4-BE49-F238E27FC236}">
                <a16:creationId xmlns:a16="http://schemas.microsoft.com/office/drawing/2014/main" id="{F25EA0BE-7067-4720-9811-0C45148C7CCE}"/>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DG32-2DOM preliminary datasheet §1 features.</a:t>
            </a:r>
          </a:p>
        </p:txBody>
      </p:sp>
    </p:spTree>
    <p:extLst>
      <p:ext uri="{BB962C8B-B14F-4D97-AF65-F5344CB8AC3E}">
        <p14:creationId xmlns:p14="http://schemas.microsoft.com/office/powerpoint/2010/main" val="193584449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341C7689-3C22-4C5F-9B3B-62A73B4F1C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6AC35F4-06AD-4425-ACD9-A4B1759D2E4B}"/>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04 · WHAT IS UNCHANGED</a:t>
            </a:r>
          </a:p>
        </p:txBody>
      </p:sp>
      <p:sp>
        <p:nvSpPr>
          <p:cNvPr id="3" name="">
            <a:extLst xmlns:a="http://schemas.openxmlformats.org/drawingml/2006/main">
              <a:ext uri="{FF2B5EF4-FFF2-40B4-BE49-F238E27FC236}">
                <a16:creationId xmlns:a16="http://schemas.microsoft.com/office/drawing/2014/main" id="{CFF04E65-B455-4EFD-A634-F9C82E20D983}"/>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Pins, rails and limits are unchanged</a:t>
            </a:r>
          </a:p>
        </p:txBody>
      </p:sp>
      <p:sp>
        <p:nvSpPr>
          <p:cNvPr id="4" name="">
            <a:extLst xmlns:a="http://schemas.openxmlformats.org/drawingml/2006/main">
              <a:ext uri="{FF2B5EF4-FFF2-40B4-BE49-F238E27FC236}">
                <a16:creationId xmlns:a16="http://schemas.microsoft.com/office/drawing/2014/main" id="{5079AA64-EF6B-4CC5-80D3-5B8B3709CDB8}"/>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Section by section against the DG32-LITE preliminary datasheet</a:t>
            </a:r>
          </a:p>
        </p:txBody>
      </p:sp>
      <p:sp>
        <p:nvSpPr>
          <p:cNvPr id="5" name="">
            <a:extLst xmlns:a="http://schemas.openxmlformats.org/drawingml/2006/main">
              <a:ext uri="{FF2B5EF4-FFF2-40B4-BE49-F238E27FC236}">
                <a16:creationId xmlns:a16="http://schemas.microsoft.com/office/drawing/2014/main" id="{F5A3D738-A3CC-46A7-A6FC-92A3AD6D0125}"/>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DE1A02F-754E-44C6-840F-55A07258B574}"/>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08B1731-563B-4EC9-9BCE-BEF17A845014}"/>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PRELIMINARY DATASHEET  ·  SEPTEMBER 2026  ·  PRE-SILICON</a:t>
            </a:r>
          </a:p>
        </p:txBody>
      </p:sp>
      <p:sp>
        <p:nvSpPr>
          <p:cNvPr id="8" name="">
            <a:extLst xmlns:a="http://schemas.openxmlformats.org/drawingml/2006/main">
              <a:ext uri="{FF2B5EF4-FFF2-40B4-BE49-F238E27FC236}">
                <a16:creationId xmlns:a16="http://schemas.microsoft.com/office/drawing/2014/main" id="{5F3FE430-B044-41B8-8EC7-2C7A9EB89B5A}"/>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04</a:t>
            </a:r>
          </a:p>
        </p:txBody>
      </p:sp>
      <p:sp>
        <p:nvSpPr>
          <p:cNvPr id="9" name="">
            <a:extLst xmlns:a="http://schemas.openxmlformats.org/drawingml/2006/main">
              <a:ext uri="{FF2B5EF4-FFF2-40B4-BE49-F238E27FC236}">
                <a16:creationId xmlns:a16="http://schemas.microsoft.com/office/drawing/2014/main" id="{F0DBE98B-7BD8-4469-AB2E-B02115BF6B8C}"/>
              </a:ext>
            </a:extLst>
          </p:cNvPr>
          <p:cNvSpPr>
            <a:spLocks xmlns:a="http://schemas.openxmlformats.org/drawingml/2006/main" noGrp="1"/>
          </p:cNvSpPr>
          <p:nvPr/>
        </p:nvSpPr>
        <p:spPr>
          <a:xfrm xmlns:a="http://schemas.openxmlformats.org/drawingml/2006/main">
            <a:off x="457200" y="1619250"/>
            <a:ext cx="11277600" cy="381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33D5FE8-E232-4208-9568-4F0474FB938E}"/>
              </a:ext>
            </a:extLst>
          </p:cNvPr>
          <p:cNvSpPr>
            <a:spLocks xmlns:a="http://schemas.openxmlformats.org/drawingml/2006/main" noGrp="1"/>
          </p:cNvSpPr>
          <p:nvPr/>
        </p:nvSpPr>
        <p:spPr>
          <a:xfrm xmlns:a="http://schemas.openxmlformats.org/drawingml/2006/main">
            <a:off x="590550" y="1724025"/>
            <a:ext cx="2667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DATASHEET SECTION</a:t>
            </a:r>
          </a:p>
        </p:txBody>
      </p:sp>
      <p:sp>
        <p:nvSpPr>
          <p:cNvPr id="11" name="">
            <a:extLst xmlns:a="http://schemas.openxmlformats.org/drawingml/2006/main">
              <a:ext uri="{FF2B5EF4-FFF2-40B4-BE49-F238E27FC236}">
                <a16:creationId xmlns:a16="http://schemas.microsoft.com/office/drawing/2014/main" id="{A03653C3-4365-4C4B-8E1C-6E19BE65BBD1}"/>
              </a:ext>
            </a:extLst>
          </p:cNvPr>
          <p:cNvSpPr>
            <a:spLocks xmlns:a="http://schemas.openxmlformats.org/drawingml/2006/main" noGrp="1"/>
          </p:cNvSpPr>
          <p:nvPr/>
        </p:nvSpPr>
        <p:spPr>
          <a:xfrm xmlns:a="http://schemas.openxmlformats.org/drawingml/2006/main">
            <a:off x="3448050" y="1724025"/>
            <a:ext cx="3905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DG32-LITE</a:t>
            </a:r>
          </a:p>
        </p:txBody>
      </p:sp>
      <p:sp>
        <p:nvSpPr>
          <p:cNvPr id="12" name="">
            <a:extLst xmlns:a="http://schemas.openxmlformats.org/drawingml/2006/main">
              <a:ext uri="{FF2B5EF4-FFF2-40B4-BE49-F238E27FC236}">
                <a16:creationId xmlns:a16="http://schemas.microsoft.com/office/drawing/2014/main" id="{216E406F-FC61-4072-AD5E-CCA17D320D59}"/>
              </a:ext>
            </a:extLst>
          </p:cNvPr>
          <p:cNvSpPr>
            <a:spLocks xmlns:a="http://schemas.openxmlformats.org/drawingml/2006/main" noGrp="1"/>
          </p:cNvSpPr>
          <p:nvPr/>
        </p:nvSpPr>
        <p:spPr>
          <a:xfrm xmlns:a="http://schemas.openxmlformats.org/drawingml/2006/main">
            <a:off x="7410450" y="1619250"/>
            <a:ext cx="4324350" cy="3810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262239A-26AB-448E-B329-EFC72B120D87}"/>
              </a:ext>
            </a:extLst>
          </p:cNvPr>
          <p:cNvSpPr>
            <a:spLocks xmlns:a="http://schemas.openxmlformats.org/drawingml/2006/main" noGrp="1"/>
          </p:cNvSpPr>
          <p:nvPr/>
        </p:nvSpPr>
        <p:spPr>
          <a:xfrm xmlns:a="http://schemas.openxmlformats.org/drawingml/2006/main">
            <a:off x="7543800" y="1724025"/>
            <a:ext cx="41338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A1628"/>
                </a:solidFill>
                <a:latin typeface="Arial"/>
                <a:ea typeface="Arial"/>
                <a:cs typeface="Arial"/>
              </a:defRPr>
            </a:pPr>
            <a:r>
              <a:t>DG32-2DOM</a:t>
            </a:r>
          </a:p>
        </p:txBody>
      </p:sp>
      <p:sp>
        <p:nvSpPr>
          <p:cNvPr id="14" name="">
            <a:extLst xmlns:a="http://schemas.openxmlformats.org/drawingml/2006/main">
              <a:ext uri="{FF2B5EF4-FFF2-40B4-BE49-F238E27FC236}">
                <a16:creationId xmlns:a16="http://schemas.microsoft.com/office/drawing/2014/main" id="{05CAD366-7227-4424-B485-2A3F86120652}"/>
              </a:ext>
            </a:extLst>
          </p:cNvPr>
          <p:cNvSpPr>
            <a:spLocks xmlns:a="http://schemas.openxmlformats.org/drawingml/2006/main" noGrp="1"/>
          </p:cNvSpPr>
          <p:nvPr/>
        </p:nvSpPr>
        <p:spPr>
          <a:xfrm xmlns:a="http://schemas.openxmlformats.org/drawingml/2006/main">
            <a:off x="457200" y="2000250"/>
            <a:ext cx="11277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5" name="">
            <a:extLst xmlns:a="http://schemas.openxmlformats.org/drawingml/2006/main">
              <a:ext uri="{FF2B5EF4-FFF2-40B4-BE49-F238E27FC236}">
                <a16:creationId xmlns:a16="http://schemas.microsoft.com/office/drawing/2014/main" id="{4BB08957-ED1D-4EA0-BA7A-826D5C484640}"/>
              </a:ext>
            </a:extLst>
          </p:cNvPr>
          <p:cNvSpPr>
            <a:spLocks xmlns:a="http://schemas.openxmlformats.org/drawingml/2006/main" noGrp="1"/>
          </p:cNvSpPr>
          <p:nvPr/>
        </p:nvSpPr>
        <p:spPr>
          <a:xfrm xmlns:a="http://schemas.openxmlformats.org/drawingml/2006/main">
            <a:off x="590550" y="2076450"/>
            <a:ext cx="264795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Package</a:t>
            </a:r>
          </a:p>
        </p:txBody>
      </p:sp>
      <p:sp>
        <p:nvSpPr>
          <p:cNvPr id="16" name="">
            <a:extLst xmlns:a="http://schemas.openxmlformats.org/drawingml/2006/main">
              <a:ext uri="{FF2B5EF4-FFF2-40B4-BE49-F238E27FC236}">
                <a16:creationId xmlns:a16="http://schemas.microsoft.com/office/drawing/2014/main" id="{D55EB161-8595-4A2B-A450-22193D8AF700}"/>
              </a:ext>
            </a:extLst>
          </p:cNvPr>
          <p:cNvSpPr>
            <a:spLocks xmlns:a="http://schemas.openxmlformats.org/drawingml/2006/main" noGrp="1"/>
          </p:cNvSpPr>
          <p:nvPr/>
        </p:nvSpPr>
        <p:spPr>
          <a:xfrm xmlns:a="http://schemas.openxmlformats.org/drawingml/2006/main">
            <a:off x="3448050" y="2076450"/>
            <a:ext cx="388620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QFN-64, 9 × 9 mm, 0.5 mm pitch</a:t>
            </a:r>
          </a:p>
        </p:txBody>
      </p:sp>
      <p:sp>
        <p:nvSpPr>
          <p:cNvPr id="17" name="">
            <a:extLst xmlns:a="http://schemas.openxmlformats.org/drawingml/2006/main">
              <a:ext uri="{FF2B5EF4-FFF2-40B4-BE49-F238E27FC236}">
                <a16:creationId xmlns:a16="http://schemas.microsoft.com/office/drawing/2014/main" id="{60177E77-D0EC-4481-A36B-EFEFD8C4E6C1}"/>
              </a:ext>
            </a:extLst>
          </p:cNvPr>
          <p:cNvSpPr>
            <a:spLocks xmlns:a="http://schemas.openxmlformats.org/drawingml/2006/main" noGrp="1"/>
          </p:cNvSpPr>
          <p:nvPr/>
        </p:nvSpPr>
        <p:spPr>
          <a:xfrm xmlns:a="http://schemas.openxmlformats.org/drawingml/2006/main">
            <a:off x="7410450" y="2000250"/>
            <a:ext cx="4324350" cy="5334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D3832A86-61FF-408C-8AF4-EC076F0EC7BF}"/>
              </a:ext>
            </a:extLst>
          </p:cNvPr>
          <p:cNvSpPr>
            <a:spLocks xmlns:a="http://schemas.openxmlformats.org/drawingml/2006/main" noGrp="1"/>
          </p:cNvSpPr>
          <p:nvPr/>
        </p:nvSpPr>
        <p:spPr>
          <a:xfrm xmlns:a="http://schemas.openxmlformats.org/drawingml/2006/main">
            <a:off x="7543800" y="2076450"/>
            <a:ext cx="411480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Identical</a:t>
            </a:r>
          </a:p>
        </p:txBody>
      </p:sp>
      <p:sp>
        <p:nvSpPr>
          <p:cNvPr id="19" name="">
            <a:extLst xmlns:a="http://schemas.openxmlformats.org/drawingml/2006/main">
              <a:ext uri="{FF2B5EF4-FFF2-40B4-BE49-F238E27FC236}">
                <a16:creationId xmlns:a16="http://schemas.microsoft.com/office/drawing/2014/main" id="{3E174533-8F06-408D-A7F9-950A3A6FD37C}"/>
              </a:ext>
            </a:extLst>
          </p:cNvPr>
          <p:cNvSpPr>
            <a:spLocks xmlns:a="http://schemas.openxmlformats.org/drawingml/2006/main" noGrp="1"/>
          </p:cNvSpPr>
          <p:nvPr/>
        </p:nvSpPr>
        <p:spPr>
          <a:xfrm xmlns:a="http://schemas.openxmlformats.org/drawingml/2006/main">
            <a:off x="457200" y="2533650"/>
            <a:ext cx="11277600" cy="5334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0" name="">
            <a:extLst xmlns:a="http://schemas.openxmlformats.org/drawingml/2006/main">
              <a:ext uri="{FF2B5EF4-FFF2-40B4-BE49-F238E27FC236}">
                <a16:creationId xmlns:a16="http://schemas.microsoft.com/office/drawing/2014/main" id="{502701C5-F0D1-4EFD-B359-AAB2959D74D3}"/>
              </a:ext>
            </a:extLst>
          </p:cNvPr>
          <p:cNvSpPr>
            <a:spLocks xmlns:a="http://schemas.openxmlformats.org/drawingml/2006/main" noGrp="1"/>
          </p:cNvSpPr>
          <p:nvPr/>
        </p:nvSpPr>
        <p:spPr>
          <a:xfrm xmlns:a="http://schemas.openxmlformats.org/drawingml/2006/main">
            <a:off x="590550" y="2609850"/>
            <a:ext cx="264795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Signal pins</a:t>
            </a:r>
          </a:p>
        </p:txBody>
      </p:sp>
      <p:sp>
        <p:nvSpPr>
          <p:cNvPr id="21" name="">
            <a:extLst xmlns:a="http://schemas.openxmlformats.org/drawingml/2006/main">
              <a:ext uri="{FF2B5EF4-FFF2-40B4-BE49-F238E27FC236}">
                <a16:creationId xmlns:a16="http://schemas.microsoft.com/office/drawing/2014/main" id="{A78F0C66-E7A8-4C88-9AB9-7E1812029E83}"/>
              </a:ext>
            </a:extLst>
          </p:cNvPr>
          <p:cNvSpPr>
            <a:spLocks xmlns:a="http://schemas.openxmlformats.org/drawingml/2006/main" noGrp="1"/>
          </p:cNvSpPr>
          <p:nvPr/>
        </p:nvSpPr>
        <p:spPr>
          <a:xfrm xmlns:a="http://schemas.openxmlformats.org/drawingml/2006/main">
            <a:off x="3448050" y="2609850"/>
            <a:ext cx="388620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44 in eleven groups</a:t>
            </a:r>
          </a:p>
        </p:txBody>
      </p:sp>
      <p:sp>
        <p:nvSpPr>
          <p:cNvPr id="22" name="">
            <a:extLst xmlns:a="http://schemas.openxmlformats.org/drawingml/2006/main">
              <a:ext uri="{FF2B5EF4-FFF2-40B4-BE49-F238E27FC236}">
                <a16:creationId xmlns:a16="http://schemas.microsoft.com/office/drawing/2014/main" id="{F972074C-C79E-4976-AD0F-0C94B031E6DC}"/>
              </a:ext>
            </a:extLst>
          </p:cNvPr>
          <p:cNvSpPr>
            <a:spLocks xmlns:a="http://schemas.openxmlformats.org/drawingml/2006/main" noGrp="1"/>
          </p:cNvSpPr>
          <p:nvPr/>
        </p:nvSpPr>
        <p:spPr>
          <a:xfrm xmlns:a="http://schemas.openxmlformats.org/drawingml/2006/main">
            <a:off x="7410450" y="2533650"/>
            <a:ext cx="4324350" cy="5334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23" name="">
            <a:extLst xmlns:a="http://schemas.openxmlformats.org/drawingml/2006/main">
              <a:ext uri="{FF2B5EF4-FFF2-40B4-BE49-F238E27FC236}">
                <a16:creationId xmlns:a16="http://schemas.microsoft.com/office/drawing/2014/main" id="{46908227-D423-4939-A213-73AC8E68D33E}"/>
              </a:ext>
            </a:extLst>
          </p:cNvPr>
          <p:cNvSpPr>
            <a:spLocks xmlns:a="http://schemas.openxmlformats.org/drawingml/2006/main" noGrp="1"/>
          </p:cNvSpPr>
          <p:nvPr/>
        </p:nvSpPr>
        <p:spPr>
          <a:xfrm xmlns:a="http://schemas.openxmlformats.org/drawingml/2006/main">
            <a:off x="7543800" y="2609850"/>
            <a:ext cx="411480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Identical; the engine adds no pads</a:t>
            </a:r>
          </a:p>
        </p:txBody>
      </p:sp>
      <p:sp>
        <p:nvSpPr>
          <p:cNvPr id="24" name="">
            <a:extLst xmlns:a="http://schemas.openxmlformats.org/drawingml/2006/main">
              <a:ext uri="{FF2B5EF4-FFF2-40B4-BE49-F238E27FC236}">
                <a16:creationId xmlns:a16="http://schemas.microsoft.com/office/drawing/2014/main" id="{81E41653-3C64-448D-A79A-527D04C40B84}"/>
              </a:ext>
            </a:extLst>
          </p:cNvPr>
          <p:cNvSpPr>
            <a:spLocks xmlns:a="http://schemas.openxmlformats.org/drawingml/2006/main" noGrp="1"/>
          </p:cNvSpPr>
          <p:nvPr/>
        </p:nvSpPr>
        <p:spPr>
          <a:xfrm xmlns:a="http://schemas.openxmlformats.org/drawingml/2006/main">
            <a:off x="457200" y="3067050"/>
            <a:ext cx="11277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5" name="">
            <a:extLst xmlns:a="http://schemas.openxmlformats.org/drawingml/2006/main">
              <a:ext uri="{FF2B5EF4-FFF2-40B4-BE49-F238E27FC236}">
                <a16:creationId xmlns:a16="http://schemas.microsoft.com/office/drawing/2014/main" id="{6C04C3B8-463A-425E-BD71-2078831C7E38}"/>
              </a:ext>
            </a:extLst>
          </p:cNvPr>
          <p:cNvSpPr>
            <a:spLocks xmlns:a="http://schemas.openxmlformats.org/drawingml/2006/main" noGrp="1"/>
          </p:cNvSpPr>
          <p:nvPr/>
        </p:nvSpPr>
        <p:spPr>
          <a:xfrm xmlns:a="http://schemas.openxmlformats.org/drawingml/2006/main">
            <a:off x="590550" y="3143250"/>
            <a:ext cx="264795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Core / I/O rails</a:t>
            </a:r>
          </a:p>
        </p:txBody>
      </p:sp>
      <p:sp>
        <p:nvSpPr>
          <p:cNvPr id="26" name="">
            <a:extLst xmlns:a="http://schemas.openxmlformats.org/drawingml/2006/main">
              <a:ext uri="{FF2B5EF4-FFF2-40B4-BE49-F238E27FC236}">
                <a16:creationId xmlns:a16="http://schemas.microsoft.com/office/drawing/2014/main" id="{F758D2BA-C7DE-4FCD-AE9B-40F117424ED4}"/>
              </a:ext>
            </a:extLst>
          </p:cNvPr>
          <p:cNvSpPr>
            <a:spLocks xmlns:a="http://schemas.openxmlformats.org/drawingml/2006/main" noGrp="1"/>
          </p:cNvSpPr>
          <p:nvPr/>
        </p:nvSpPr>
        <p:spPr>
          <a:xfrm xmlns:a="http://schemas.openxmlformats.org/drawingml/2006/main">
            <a:off x="3448050" y="3143250"/>
            <a:ext cx="388620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1.8 V (1.71–1.89) / 3.3 V (3.0–3.6)</a:t>
            </a:r>
          </a:p>
        </p:txBody>
      </p:sp>
      <p:sp>
        <p:nvSpPr>
          <p:cNvPr id="27" name="">
            <a:extLst xmlns:a="http://schemas.openxmlformats.org/drawingml/2006/main">
              <a:ext uri="{FF2B5EF4-FFF2-40B4-BE49-F238E27FC236}">
                <a16:creationId xmlns:a16="http://schemas.microsoft.com/office/drawing/2014/main" id="{57B35C10-9B0D-4E84-A9EE-EE19E5BE9A37}"/>
              </a:ext>
            </a:extLst>
          </p:cNvPr>
          <p:cNvSpPr>
            <a:spLocks xmlns:a="http://schemas.openxmlformats.org/drawingml/2006/main" noGrp="1"/>
          </p:cNvSpPr>
          <p:nvPr/>
        </p:nvSpPr>
        <p:spPr>
          <a:xfrm xmlns:a="http://schemas.openxmlformats.org/drawingml/2006/main">
            <a:off x="7410450" y="3067050"/>
            <a:ext cx="4324350" cy="5334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28" name="">
            <a:extLst xmlns:a="http://schemas.openxmlformats.org/drawingml/2006/main">
              <a:ext uri="{FF2B5EF4-FFF2-40B4-BE49-F238E27FC236}">
                <a16:creationId xmlns:a16="http://schemas.microsoft.com/office/drawing/2014/main" id="{781FFF9D-7A2D-43B1-8BEF-8579C1C0FA60}"/>
              </a:ext>
            </a:extLst>
          </p:cNvPr>
          <p:cNvSpPr>
            <a:spLocks xmlns:a="http://schemas.openxmlformats.org/drawingml/2006/main" noGrp="1"/>
          </p:cNvSpPr>
          <p:nvPr/>
        </p:nvSpPr>
        <p:spPr>
          <a:xfrm xmlns:a="http://schemas.openxmlformats.org/drawingml/2006/main">
            <a:off x="7543800" y="3143250"/>
            <a:ext cx="411480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Identical</a:t>
            </a:r>
          </a:p>
        </p:txBody>
      </p:sp>
      <p:sp>
        <p:nvSpPr>
          <p:cNvPr id="29" name="">
            <a:extLst xmlns:a="http://schemas.openxmlformats.org/drawingml/2006/main">
              <a:ext uri="{FF2B5EF4-FFF2-40B4-BE49-F238E27FC236}">
                <a16:creationId xmlns:a16="http://schemas.microsoft.com/office/drawing/2014/main" id="{88389A33-1F16-4012-90C6-1635D51D971C}"/>
              </a:ext>
            </a:extLst>
          </p:cNvPr>
          <p:cNvSpPr>
            <a:spLocks xmlns:a="http://schemas.openxmlformats.org/drawingml/2006/main" noGrp="1"/>
          </p:cNvSpPr>
          <p:nvPr/>
        </p:nvSpPr>
        <p:spPr>
          <a:xfrm xmlns:a="http://schemas.openxmlformats.org/drawingml/2006/main">
            <a:off x="457200" y="3600450"/>
            <a:ext cx="11277600" cy="5334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0038CCD7-6A43-4766-A87B-512E03532876}"/>
              </a:ext>
            </a:extLst>
          </p:cNvPr>
          <p:cNvSpPr>
            <a:spLocks xmlns:a="http://schemas.openxmlformats.org/drawingml/2006/main" noGrp="1"/>
          </p:cNvSpPr>
          <p:nvPr/>
        </p:nvSpPr>
        <p:spPr>
          <a:xfrm xmlns:a="http://schemas.openxmlformats.org/drawingml/2006/main">
            <a:off x="590550" y="3676650"/>
            <a:ext cx="264795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Absolute maximums</a:t>
            </a:r>
          </a:p>
        </p:txBody>
      </p:sp>
      <p:sp>
        <p:nvSpPr>
          <p:cNvPr id="31" name="">
            <a:extLst xmlns:a="http://schemas.openxmlformats.org/drawingml/2006/main">
              <a:ext uri="{FF2B5EF4-FFF2-40B4-BE49-F238E27FC236}">
                <a16:creationId xmlns:a16="http://schemas.microsoft.com/office/drawing/2014/main" id="{0E0996C8-5E41-4F55-B4EF-C37A94E255BA}"/>
              </a:ext>
            </a:extLst>
          </p:cNvPr>
          <p:cNvSpPr>
            <a:spLocks xmlns:a="http://schemas.openxmlformats.org/drawingml/2006/main" noGrp="1"/>
          </p:cNvSpPr>
          <p:nvPr/>
        </p:nvSpPr>
        <p:spPr>
          <a:xfrm xmlns:a="http://schemas.openxmlformats.org/drawingml/2006/main">
            <a:off x="3448050" y="3676650"/>
            <a:ext cx="388620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vccd1 1.95 V, vddio 3.63 V</a:t>
            </a:r>
          </a:p>
        </p:txBody>
      </p:sp>
      <p:sp>
        <p:nvSpPr>
          <p:cNvPr id="32" name="">
            <a:extLst xmlns:a="http://schemas.openxmlformats.org/drawingml/2006/main">
              <a:ext uri="{FF2B5EF4-FFF2-40B4-BE49-F238E27FC236}">
                <a16:creationId xmlns:a16="http://schemas.microsoft.com/office/drawing/2014/main" id="{9B712A22-BE21-4624-9045-F918AB3FEF86}"/>
              </a:ext>
            </a:extLst>
          </p:cNvPr>
          <p:cNvSpPr>
            <a:spLocks xmlns:a="http://schemas.openxmlformats.org/drawingml/2006/main" noGrp="1"/>
          </p:cNvSpPr>
          <p:nvPr/>
        </p:nvSpPr>
        <p:spPr>
          <a:xfrm xmlns:a="http://schemas.openxmlformats.org/drawingml/2006/main">
            <a:off x="7410450" y="3600450"/>
            <a:ext cx="4324350" cy="5334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33" name="">
            <a:extLst xmlns:a="http://schemas.openxmlformats.org/drawingml/2006/main">
              <a:ext uri="{FF2B5EF4-FFF2-40B4-BE49-F238E27FC236}">
                <a16:creationId xmlns:a16="http://schemas.microsoft.com/office/drawing/2014/main" id="{48E4E28C-B8B2-42D7-A79A-F941836DDC8D}"/>
              </a:ext>
            </a:extLst>
          </p:cNvPr>
          <p:cNvSpPr>
            <a:spLocks xmlns:a="http://schemas.openxmlformats.org/drawingml/2006/main" noGrp="1"/>
          </p:cNvSpPr>
          <p:nvPr/>
        </p:nvSpPr>
        <p:spPr>
          <a:xfrm xmlns:a="http://schemas.openxmlformats.org/drawingml/2006/main">
            <a:off x="7543800" y="3676650"/>
            <a:ext cx="411480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Identical</a:t>
            </a:r>
          </a:p>
        </p:txBody>
      </p:sp>
      <p:sp>
        <p:nvSpPr>
          <p:cNvPr id="34" name="">
            <a:extLst xmlns:a="http://schemas.openxmlformats.org/drawingml/2006/main">
              <a:ext uri="{FF2B5EF4-FFF2-40B4-BE49-F238E27FC236}">
                <a16:creationId xmlns:a16="http://schemas.microsoft.com/office/drawing/2014/main" id="{02AD04B5-EC26-45EF-8C6A-1EAE3B36BB1C}"/>
              </a:ext>
            </a:extLst>
          </p:cNvPr>
          <p:cNvSpPr>
            <a:spLocks xmlns:a="http://schemas.openxmlformats.org/drawingml/2006/main" noGrp="1"/>
          </p:cNvSpPr>
          <p:nvPr/>
        </p:nvSpPr>
        <p:spPr>
          <a:xfrm xmlns:a="http://schemas.openxmlformats.org/drawingml/2006/main">
            <a:off x="457200" y="4133850"/>
            <a:ext cx="11277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5" name="">
            <a:extLst xmlns:a="http://schemas.openxmlformats.org/drawingml/2006/main">
              <a:ext uri="{FF2B5EF4-FFF2-40B4-BE49-F238E27FC236}">
                <a16:creationId xmlns:a16="http://schemas.microsoft.com/office/drawing/2014/main" id="{CD394BD0-F344-45D0-B921-20F74B657A44}"/>
              </a:ext>
            </a:extLst>
          </p:cNvPr>
          <p:cNvSpPr>
            <a:spLocks xmlns:a="http://schemas.openxmlformats.org/drawingml/2006/main" noGrp="1"/>
          </p:cNvSpPr>
          <p:nvPr/>
        </p:nvSpPr>
        <p:spPr>
          <a:xfrm xmlns:a="http://schemas.openxmlformats.org/drawingml/2006/main">
            <a:off x="590550" y="4210050"/>
            <a:ext cx="264795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Power estimate</a:t>
            </a:r>
          </a:p>
        </p:txBody>
      </p:sp>
      <p:sp>
        <p:nvSpPr>
          <p:cNvPr id="36" name="">
            <a:extLst xmlns:a="http://schemas.openxmlformats.org/drawingml/2006/main">
              <a:ext uri="{FF2B5EF4-FFF2-40B4-BE49-F238E27FC236}">
                <a16:creationId xmlns:a16="http://schemas.microsoft.com/office/drawing/2014/main" id="{33FADAB7-6AFA-402E-87D7-0CA55E7FC259}"/>
              </a:ext>
            </a:extLst>
          </p:cNvPr>
          <p:cNvSpPr>
            <a:spLocks xmlns:a="http://schemas.openxmlformats.org/drawingml/2006/main" noGrp="1"/>
          </p:cNvSpPr>
          <p:nvPr/>
        </p:nvSpPr>
        <p:spPr>
          <a:xfrm xmlns:a="http://schemas.openxmlformats.org/drawingml/2006/main">
            <a:off x="3448050" y="4210050"/>
            <a:ext cx="388620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~0.43 W at 50 MHz, tool estimate</a:t>
            </a:r>
          </a:p>
        </p:txBody>
      </p:sp>
      <p:sp>
        <p:nvSpPr>
          <p:cNvPr id="37" name="">
            <a:extLst xmlns:a="http://schemas.openxmlformats.org/drawingml/2006/main">
              <a:ext uri="{FF2B5EF4-FFF2-40B4-BE49-F238E27FC236}">
                <a16:creationId xmlns:a16="http://schemas.microsoft.com/office/drawing/2014/main" id="{C0814B6F-E226-4A11-96BB-F442DC7DE8D7}"/>
              </a:ext>
            </a:extLst>
          </p:cNvPr>
          <p:cNvSpPr>
            <a:spLocks xmlns:a="http://schemas.openxmlformats.org/drawingml/2006/main" noGrp="1"/>
          </p:cNvSpPr>
          <p:nvPr/>
        </p:nvSpPr>
        <p:spPr>
          <a:xfrm xmlns:a="http://schemas.openxmlformats.org/drawingml/2006/main">
            <a:off x="7410450" y="4133850"/>
            <a:ext cx="4324350" cy="5334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02034DD3-0DD2-4F21-8180-B7A22F4A1473}"/>
              </a:ext>
            </a:extLst>
          </p:cNvPr>
          <p:cNvSpPr>
            <a:spLocks xmlns:a="http://schemas.openxmlformats.org/drawingml/2006/main" noGrp="1"/>
          </p:cNvSpPr>
          <p:nvPr/>
        </p:nvSpPr>
        <p:spPr>
          <a:xfrm xmlns:a="http://schemas.openxmlformats.org/drawingml/2006/main">
            <a:off x="7543800" y="4210050"/>
            <a:ext cx="411480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Same figure repeated; no separate engine figure stated</a:t>
            </a:r>
          </a:p>
        </p:txBody>
      </p:sp>
      <p:sp>
        <p:nvSpPr>
          <p:cNvPr id="39" name="">
            <a:extLst xmlns:a="http://schemas.openxmlformats.org/drawingml/2006/main">
              <a:ext uri="{FF2B5EF4-FFF2-40B4-BE49-F238E27FC236}">
                <a16:creationId xmlns:a16="http://schemas.microsoft.com/office/drawing/2014/main" id="{CAF8463B-0A25-47C6-99BB-7BFF91854637}"/>
              </a:ext>
            </a:extLst>
          </p:cNvPr>
          <p:cNvSpPr>
            <a:spLocks xmlns:a="http://schemas.openxmlformats.org/drawingml/2006/main" noGrp="1"/>
          </p:cNvSpPr>
          <p:nvPr/>
        </p:nvSpPr>
        <p:spPr>
          <a:xfrm xmlns:a="http://schemas.openxmlformats.org/drawingml/2006/main">
            <a:off x="457200" y="4667250"/>
            <a:ext cx="11277600" cy="5334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40" name="">
            <a:extLst xmlns:a="http://schemas.openxmlformats.org/drawingml/2006/main">
              <a:ext uri="{FF2B5EF4-FFF2-40B4-BE49-F238E27FC236}">
                <a16:creationId xmlns:a16="http://schemas.microsoft.com/office/drawing/2014/main" id="{0448A624-B135-447B-A08A-35D1DCFFB23E}"/>
              </a:ext>
            </a:extLst>
          </p:cNvPr>
          <p:cNvSpPr>
            <a:spLocks xmlns:a="http://schemas.openxmlformats.org/drawingml/2006/main" noGrp="1"/>
          </p:cNvSpPr>
          <p:nvPr/>
        </p:nvSpPr>
        <p:spPr>
          <a:xfrm xmlns:a="http://schemas.openxmlformats.org/drawingml/2006/main">
            <a:off x="590550" y="4743450"/>
            <a:ext cx="264795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Boot flow</a:t>
            </a:r>
          </a:p>
        </p:txBody>
      </p:sp>
      <p:sp>
        <p:nvSpPr>
          <p:cNvPr id="41" name="">
            <a:extLst xmlns:a="http://schemas.openxmlformats.org/drawingml/2006/main">
              <a:ext uri="{FF2B5EF4-FFF2-40B4-BE49-F238E27FC236}">
                <a16:creationId xmlns:a16="http://schemas.microsoft.com/office/drawing/2014/main" id="{DB288797-08D4-444F-8615-420EE332FCA6}"/>
              </a:ext>
            </a:extLst>
          </p:cNvPr>
          <p:cNvSpPr>
            <a:spLocks xmlns:a="http://schemas.openxmlformats.org/drawingml/2006/main" noGrp="1"/>
          </p:cNvSpPr>
          <p:nvPr/>
        </p:nvSpPr>
        <p:spPr>
          <a:xfrm xmlns:a="http://schemas.openxmlformats.org/drawingml/2006/main">
            <a:off x="3448050" y="4743450"/>
            <a:ext cx="388620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Self-boot from QSPI flash, UART monitor fallback</a:t>
            </a:r>
          </a:p>
        </p:txBody>
      </p:sp>
      <p:sp>
        <p:nvSpPr>
          <p:cNvPr id="42" name="">
            <a:extLst xmlns:a="http://schemas.openxmlformats.org/drawingml/2006/main">
              <a:ext uri="{FF2B5EF4-FFF2-40B4-BE49-F238E27FC236}">
                <a16:creationId xmlns:a16="http://schemas.microsoft.com/office/drawing/2014/main" id="{95FE1A4E-D893-455C-A9AD-ED35A55773E3}"/>
              </a:ext>
            </a:extLst>
          </p:cNvPr>
          <p:cNvSpPr>
            <a:spLocks xmlns:a="http://schemas.openxmlformats.org/drawingml/2006/main" noGrp="1"/>
          </p:cNvSpPr>
          <p:nvPr/>
        </p:nvSpPr>
        <p:spPr>
          <a:xfrm xmlns:a="http://schemas.openxmlformats.org/drawingml/2006/main">
            <a:off x="7410450" y="4667250"/>
            <a:ext cx="4324350" cy="5334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43" name="">
            <a:extLst xmlns:a="http://schemas.openxmlformats.org/drawingml/2006/main">
              <a:ext uri="{FF2B5EF4-FFF2-40B4-BE49-F238E27FC236}">
                <a16:creationId xmlns:a16="http://schemas.microsoft.com/office/drawing/2014/main" id="{2BC3D81B-58B4-4937-9841-7FACE934DA94}"/>
              </a:ext>
            </a:extLst>
          </p:cNvPr>
          <p:cNvSpPr>
            <a:spLocks xmlns:a="http://schemas.openxmlformats.org/drawingml/2006/main" noGrp="1"/>
          </p:cNvSpPr>
          <p:nvPr/>
        </p:nvSpPr>
        <p:spPr>
          <a:xfrm xmlns:a="http://schemas.openxmlformats.org/drawingml/2006/main">
            <a:off x="7543800" y="4743450"/>
            <a:ext cx="411480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Identical</a:t>
            </a:r>
          </a:p>
        </p:txBody>
      </p:sp>
      <p:sp>
        <p:nvSpPr>
          <p:cNvPr id="44" name="">
            <a:extLst xmlns:a="http://schemas.openxmlformats.org/drawingml/2006/main">
              <a:ext uri="{FF2B5EF4-FFF2-40B4-BE49-F238E27FC236}">
                <a16:creationId xmlns:a16="http://schemas.microsoft.com/office/drawing/2014/main" id="{4761D3C1-C5DB-4623-AE58-C5E90571E4FC}"/>
              </a:ext>
            </a:extLst>
          </p:cNvPr>
          <p:cNvSpPr>
            <a:spLocks xmlns:a="http://schemas.openxmlformats.org/drawingml/2006/main" noGrp="1"/>
          </p:cNvSpPr>
          <p:nvPr/>
        </p:nvSpPr>
        <p:spPr>
          <a:xfrm xmlns:a="http://schemas.openxmlformats.org/drawingml/2006/main">
            <a:off x="457200" y="5200650"/>
            <a:ext cx="11277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45" name="">
            <a:extLst xmlns:a="http://schemas.openxmlformats.org/drawingml/2006/main">
              <a:ext uri="{FF2B5EF4-FFF2-40B4-BE49-F238E27FC236}">
                <a16:creationId xmlns:a16="http://schemas.microsoft.com/office/drawing/2014/main" id="{2173A285-D848-44AC-9D9B-0861B46569CE}"/>
              </a:ext>
            </a:extLst>
          </p:cNvPr>
          <p:cNvSpPr>
            <a:spLocks xmlns:a="http://schemas.openxmlformats.org/drawingml/2006/main" noGrp="1"/>
          </p:cNvSpPr>
          <p:nvPr/>
        </p:nvSpPr>
        <p:spPr>
          <a:xfrm xmlns:a="http://schemas.openxmlformats.org/drawingml/2006/main">
            <a:off x="590550" y="5276850"/>
            <a:ext cx="264795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Clocks</a:t>
            </a:r>
          </a:p>
        </p:txBody>
      </p:sp>
      <p:sp>
        <p:nvSpPr>
          <p:cNvPr id="46" name="">
            <a:extLst xmlns:a="http://schemas.openxmlformats.org/drawingml/2006/main">
              <a:ext uri="{FF2B5EF4-FFF2-40B4-BE49-F238E27FC236}">
                <a16:creationId xmlns:a16="http://schemas.microsoft.com/office/drawing/2014/main" id="{656D8753-37C9-429A-8499-C77D6BF9BC05}"/>
              </a:ext>
            </a:extLst>
          </p:cNvPr>
          <p:cNvSpPr>
            <a:spLocks xmlns:a="http://schemas.openxmlformats.org/drawingml/2006/main" noGrp="1"/>
          </p:cNvSpPr>
          <p:nvPr/>
        </p:nvSpPr>
        <p:spPr>
          <a:xfrm xmlns:a="http://schemas.openxmlformats.org/drawingml/2006/main">
            <a:off x="3448050" y="5276850"/>
            <a:ext cx="388620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One 50 MHz domain</a:t>
            </a:r>
          </a:p>
        </p:txBody>
      </p:sp>
      <p:sp>
        <p:nvSpPr>
          <p:cNvPr id="47" name="">
            <a:extLst xmlns:a="http://schemas.openxmlformats.org/drawingml/2006/main">
              <a:ext uri="{FF2B5EF4-FFF2-40B4-BE49-F238E27FC236}">
                <a16:creationId xmlns:a16="http://schemas.microsoft.com/office/drawing/2014/main" id="{08539A33-16E4-4F7B-BAF9-9AA2977AB701}"/>
              </a:ext>
            </a:extLst>
          </p:cNvPr>
          <p:cNvSpPr>
            <a:spLocks xmlns:a="http://schemas.openxmlformats.org/drawingml/2006/main" noGrp="1"/>
          </p:cNvSpPr>
          <p:nvPr/>
        </p:nvSpPr>
        <p:spPr>
          <a:xfrm xmlns:a="http://schemas.openxmlformats.org/drawingml/2006/main">
            <a:off x="7410450" y="5200650"/>
            <a:ext cx="4324350" cy="5334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48" name="">
            <a:extLst xmlns:a="http://schemas.openxmlformats.org/drawingml/2006/main">
              <a:ext uri="{FF2B5EF4-FFF2-40B4-BE49-F238E27FC236}">
                <a16:creationId xmlns:a16="http://schemas.microsoft.com/office/drawing/2014/main" id="{930423A0-4688-4139-B9F4-23BCCF8689AB}"/>
              </a:ext>
            </a:extLst>
          </p:cNvPr>
          <p:cNvSpPr>
            <a:spLocks xmlns:a="http://schemas.openxmlformats.org/drawingml/2006/main" noGrp="1"/>
          </p:cNvSpPr>
          <p:nvPr/>
        </p:nvSpPr>
        <p:spPr>
          <a:xfrm xmlns:a="http://schemas.openxmlformats.org/drawingml/2006/main">
            <a:off x="7543800" y="5276850"/>
            <a:ext cx="4114800" cy="4191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50 MHz CPU + 114 MHz engine</a:t>
            </a:r>
          </a:p>
        </p:txBody>
      </p:sp>
      <p:sp>
        <p:nvSpPr>
          <p:cNvPr id="49" name="">
            <a:extLst xmlns:a="http://schemas.openxmlformats.org/drawingml/2006/main">
              <a:ext uri="{FF2B5EF4-FFF2-40B4-BE49-F238E27FC236}">
                <a16:creationId xmlns:a16="http://schemas.microsoft.com/office/drawing/2014/main" id="{B92C7931-B493-4892-BC71-FCB0B1066B95}"/>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DG32-2DOM preliminary datasheet §2–§6, §10; DG32-LITE preliminary datasheet.</a:t>
            </a:r>
          </a:p>
        </p:txBody>
      </p:sp>
    </p:spTree>
    <p:extLst>
      <p:ext uri="{BB962C8B-B14F-4D97-AF65-F5344CB8AC3E}">
        <p14:creationId xmlns:p14="http://schemas.microsoft.com/office/powerpoint/2010/main" val="89662309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3220D71B-AE17-4825-A6B1-7A1C96EDEA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9FFC59C-EC17-4E52-A801-3D3CED79E646}"/>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05 · CLOCKS</a:t>
            </a:r>
          </a:p>
        </p:txBody>
      </p:sp>
      <p:sp>
        <p:nvSpPr>
          <p:cNvPr id="3" name="">
            <a:extLst xmlns:a="http://schemas.openxmlformats.org/drawingml/2006/main">
              <a:ext uri="{FF2B5EF4-FFF2-40B4-BE49-F238E27FC236}">
                <a16:creationId xmlns:a16="http://schemas.microsoft.com/office/drawing/2014/main" id="{A5761EB6-4250-44D5-9971-648F96605E2A}"/>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The engine runs on its own 114 MHz clock</a:t>
            </a:r>
          </a:p>
        </p:txBody>
      </p:sp>
      <p:sp>
        <p:nvSpPr>
          <p:cNvPr id="4" name="">
            <a:extLst xmlns:a="http://schemas.openxmlformats.org/drawingml/2006/main">
              <a:ext uri="{FF2B5EF4-FFF2-40B4-BE49-F238E27FC236}">
                <a16:creationId xmlns:a16="http://schemas.microsoft.com/office/drawing/2014/main" id="{20336439-F3E9-403B-9632-4D072C671A19}"/>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Two domains on one die; the crossing is the only path between them</a:t>
            </a:r>
          </a:p>
        </p:txBody>
      </p:sp>
      <p:sp>
        <p:nvSpPr>
          <p:cNvPr id="5" name="">
            <a:extLst xmlns:a="http://schemas.openxmlformats.org/drawingml/2006/main">
              <a:ext uri="{FF2B5EF4-FFF2-40B4-BE49-F238E27FC236}">
                <a16:creationId xmlns:a16="http://schemas.microsoft.com/office/drawing/2014/main" id="{D2C8CC76-4B5F-48F2-B55C-75F5A4947ABF}"/>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BA3EAF2-489B-46D6-B96A-E4844CD5811C}"/>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094B3CC-C98A-493A-98BB-3A93440D690D}"/>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PRELIMINARY DATASHEET  ·  SEPTEMBER 2026  ·  PRE-SILICON</a:t>
            </a:r>
          </a:p>
        </p:txBody>
      </p:sp>
      <p:sp>
        <p:nvSpPr>
          <p:cNvPr id="8" name="">
            <a:extLst xmlns:a="http://schemas.openxmlformats.org/drawingml/2006/main">
              <a:ext uri="{FF2B5EF4-FFF2-40B4-BE49-F238E27FC236}">
                <a16:creationId xmlns:a16="http://schemas.microsoft.com/office/drawing/2014/main" id="{63F591C6-087C-461A-8B03-8EAE8BAF1626}"/>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05</a:t>
            </a:r>
          </a:p>
        </p:txBody>
      </p:sp>
      <p:sp>
        <p:nvSpPr>
          <p:cNvPr id="9" name="">
            <a:extLst xmlns:a="http://schemas.openxmlformats.org/drawingml/2006/main">
              <a:ext uri="{FF2B5EF4-FFF2-40B4-BE49-F238E27FC236}">
                <a16:creationId xmlns:a16="http://schemas.microsoft.com/office/drawing/2014/main" id="{EAC377C5-22F9-46FE-8EA5-1B34F4BCDCFF}"/>
              </a:ext>
            </a:extLst>
          </p:cNvPr>
          <p:cNvSpPr>
            <a:spLocks xmlns:a="http://schemas.openxmlformats.org/drawingml/2006/main" noGrp="1"/>
          </p:cNvSpPr>
          <p:nvPr/>
        </p:nvSpPr>
        <p:spPr>
          <a:xfrm xmlns:a="http://schemas.openxmlformats.org/drawingml/2006/main">
            <a:off x="457200" y="171450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0" name="">
            <a:extLst xmlns:a="http://schemas.openxmlformats.org/drawingml/2006/main">
              <a:ext uri="{FF2B5EF4-FFF2-40B4-BE49-F238E27FC236}">
                <a16:creationId xmlns:a16="http://schemas.microsoft.com/office/drawing/2014/main" id="{CF7F1C70-1B13-4C5C-BCF7-47DEFAA4B726}"/>
              </a:ext>
            </a:extLst>
          </p:cNvPr>
          <p:cNvSpPr>
            <a:spLocks xmlns:a="http://schemas.openxmlformats.org/drawingml/2006/main" noGrp="1"/>
          </p:cNvSpPr>
          <p:nvPr/>
        </p:nvSpPr>
        <p:spPr>
          <a:xfrm xmlns:a="http://schemas.openxmlformats.org/drawingml/2006/main">
            <a:off x="457200" y="1714500"/>
            <a:ext cx="340360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4193A41-8707-4FBF-9629-CC5D6EE56AED}"/>
              </a:ext>
            </a:extLst>
          </p:cNvPr>
          <p:cNvSpPr>
            <a:spLocks xmlns:a="http://schemas.openxmlformats.org/drawingml/2006/main" noGrp="1"/>
          </p:cNvSpPr>
          <p:nvPr/>
        </p:nvSpPr>
        <p:spPr>
          <a:xfrm xmlns:a="http://schemas.openxmlformats.org/drawingml/2006/main">
            <a:off x="590550" y="190500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50 MHz domain</a:t>
            </a:r>
          </a:p>
        </p:txBody>
      </p:sp>
      <p:sp>
        <p:nvSpPr>
          <p:cNvPr id="12" name="">
            <a:extLst xmlns:a="http://schemas.openxmlformats.org/drawingml/2006/main">
              <a:ext uri="{FF2B5EF4-FFF2-40B4-BE49-F238E27FC236}">
                <a16:creationId xmlns:a16="http://schemas.microsoft.com/office/drawing/2014/main" id="{D44B84AF-3FC7-44F3-B20E-FBA679FC1688}"/>
              </a:ext>
            </a:extLst>
          </p:cNvPr>
          <p:cNvSpPr>
            <a:spLocks xmlns:a="http://schemas.openxmlformats.org/drawingml/2006/main" noGrp="1"/>
          </p:cNvSpPr>
          <p:nvPr/>
        </p:nvSpPr>
        <p:spPr>
          <a:xfrm xmlns:a="http://schemas.openxmlformats.org/drawingml/2006/main">
            <a:off x="590550" y="219075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CPU, bus and every peripheral</a:t>
            </a:r>
          </a:p>
        </p:txBody>
      </p:sp>
      <p:sp>
        <p:nvSpPr>
          <p:cNvPr id="13" name="">
            <a:extLst xmlns:a="http://schemas.openxmlformats.org/drawingml/2006/main">
              <a:ext uri="{FF2B5EF4-FFF2-40B4-BE49-F238E27FC236}">
                <a16:creationId xmlns:a16="http://schemas.microsoft.com/office/drawing/2014/main" id="{0840F1D2-51B4-44B6-9981-C660EDA39688}"/>
              </a:ext>
            </a:extLst>
          </p:cNvPr>
          <p:cNvSpPr>
            <a:spLocks xmlns:a="http://schemas.openxmlformats.org/drawingml/2006/main" noGrp="1"/>
          </p:cNvSpPr>
          <p:nvPr/>
        </p:nvSpPr>
        <p:spPr>
          <a:xfrm xmlns:a="http://schemas.openxmlformats.org/drawingml/2006/main">
            <a:off x="3965575" y="210502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E651EA6B-5841-4294-96EA-887892415C74}"/>
              </a:ext>
            </a:extLst>
          </p:cNvPr>
          <p:cNvSpPr>
            <a:spLocks xmlns:a="http://schemas.openxmlformats.org/drawingml/2006/main" noGrp="1"/>
          </p:cNvSpPr>
          <p:nvPr/>
        </p:nvSpPr>
        <p:spPr>
          <a:xfrm xmlns:a="http://schemas.openxmlformats.org/drawingml/2006/main">
            <a:off x="4394200" y="171450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5" name="">
            <a:extLst xmlns:a="http://schemas.openxmlformats.org/drawingml/2006/main">
              <a:ext uri="{FF2B5EF4-FFF2-40B4-BE49-F238E27FC236}">
                <a16:creationId xmlns:a16="http://schemas.microsoft.com/office/drawing/2014/main" id="{7DABEF2B-CF9B-4EE2-AF1F-DF6B0876D7A4}"/>
              </a:ext>
            </a:extLst>
          </p:cNvPr>
          <p:cNvSpPr>
            <a:spLocks xmlns:a="http://schemas.openxmlformats.org/drawingml/2006/main" noGrp="1"/>
          </p:cNvSpPr>
          <p:nvPr/>
        </p:nvSpPr>
        <p:spPr>
          <a:xfrm xmlns:a="http://schemas.openxmlformats.org/drawingml/2006/main">
            <a:off x="4394200" y="171450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B7C0D81-7434-435E-A17F-2CB83FEDA846}"/>
              </a:ext>
            </a:extLst>
          </p:cNvPr>
          <p:cNvSpPr>
            <a:spLocks xmlns:a="http://schemas.openxmlformats.org/drawingml/2006/main" noGrp="1"/>
          </p:cNvSpPr>
          <p:nvPr/>
        </p:nvSpPr>
        <p:spPr>
          <a:xfrm xmlns:a="http://schemas.openxmlformats.org/drawingml/2006/main">
            <a:off x="4527550" y="190500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Clock bridges</a:t>
            </a:r>
          </a:p>
        </p:txBody>
      </p:sp>
      <p:sp>
        <p:nvSpPr>
          <p:cNvPr id="17" name="">
            <a:extLst xmlns:a="http://schemas.openxmlformats.org/drawingml/2006/main">
              <a:ext uri="{FF2B5EF4-FFF2-40B4-BE49-F238E27FC236}">
                <a16:creationId xmlns:a16="http://schemas.microsoft.com/office/drawing/2014/main" id="{85FBFA18-B463-4BEC-9D5C-90B978AB35D2}"/>
              </a:ext>
            </a:extLst>
          </p:cNvPr>
          <p:cNvSpPr>
            <a:spLocks xmlns:a="http://schemas.openxmlformats.org/drawingml/2006/main" noGrp="1"/>
          </p:cNvSpPr>
          <p:nvPr/>
        </p:nvSpPr>
        <p:spPr>
          <a:xfrm xmlns:a="http://schemas.openxmlformats.org/drawingml/2006/main">
            <a:off x="4527550" y="219075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Two-flop synchronised crossings</a:t>
            </a:r>
          </a:p>
        </p:txBody>
      </p:sp>
      <p:sp>
        <p:nvSpPr>
          <p:cNvPr id="18" name="">
            <a:extLst xmlns:a="http://schemas.openxmlformats.org/drawingml/2006/main">
              <a:ext uri="{FF2B5EF4-FFF2-40B4-BE49-F238E27FC236}">
                <a16:creationId xmlns:a16="http://schemas.microsoft.com/office/drawing/2014/main" id="{8E36A276-0C43-424B-8062-4344838F8BB9}"/>
              </a:ext>
            </a:extLst>
          </p:cNvPr>
          <p:cNvSpPr>
            <a:spLocks xmlns:a="http://schemas.openxmlformats.org/drawingml/2006/main" noGrp="1"/>
          </p:cNvSpPr>
          <p:nvPr/>
        </p:nvSpPr>
        <p:spPr>
          <a:xfrm xmlns:a="http://schemas.openxmlformats.org/drawingml/2006/main">
            <a:off x="7902575" y="210502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A23EB06F-5C42-4378-9F8B-8008D3B571CF}"/>
              </a:ext>
            </a:extLst>
          </p:cNvPr>
          <p:cNvSpPr>
            <a:spLocks xmlns:a="http://schemas.openxmlformats.org/drawingml/2006/main" noGrp="1"/>
          </p:cNvSpPr>
          <p:nvPr/>
        </p:nvSpPr>
        <p:spPr>
          <a:xfrm xmlns:a="http://schemas.openxmlformats.org/drawingml/2006/main">
            <a:off x="8331200" y="171450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0" name="">
            <a:extLst xmlns:a="http://schemas.openxmlformats.org/drawingml/2006/main">
              <a:ext uri="{FF2B5EF4-FFF2-40B4-BE49-F238E27FC236}">
                <a16:creationId xmlns:a16="http://schemas.microsoft.com/office/drawing/2014/main" id="{C527D5CD-D479-4189-834F-325426CDA98E}"/>
              </a:ext>
            </a:extLst>
          </p:cNvPr>
          <p:cNvSpPr>
            <a:spLocks xmlns:a="http://schemas.openxmlformats.org/drawingml/2006/main" noGrp="1"/>
          </p:cNvSpPr>
          <p:nvPr/>
        </p:nvSpPr>
        <p:spPr>
          <a:xfrm xmlns:a="http://schemas.openxmlformats.org/drawingml/2006/main">
            <a:off x="8331200" y="171450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C5CC243-E9FE-4448-B804-07477061C1A4}"/>
              </a:ext>
            </a:extLst>
          </p:cNvPr>
          <p:cNvSpPr>
            <a:spLocks xmlns:a="http://schemas.openxmlformats.org/drawingml/2006/main" noGrp="1"/>
          </p:cNvSpPr>
          <p:nvPr/>
        </p:nvSpPr>
        <p:spPr>
          <a:xfrm xmlns:a="http://schemas.openxmlformats.org/drawingml/2006/main">
            <a:off x="8464550" y="190500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114 MHz domain</a:t>
            </a:r>
          </a:p>
        </p:txBody>
      </p:sp>
      <p:sp>
        <p:nvSpPr>
          <p:cNvPr id="22" name="">
            <a:extLst xmlns:a="http://schemas.openxmlformats.org/drawingml/2006/main">
              <a:ext uri="{FF2B5EF4-FFF2-40B4-BE49-F238E27FC236}">
                <a16:creationId xmlns:a16="http://schemas.microsoft.com/office/drawing/2014/main" id="{F2A67512-4BAE-4377-A77B-0EF12384E673}"/>
              </a:ext>
            </a:extLst>
          </p:cNvPr>
          <p:cNvSpPr>
            <a:spLocks xmlns:a="http://schemas.openxmlformats.org/drawingml/2006/main" noGrp="1"/>
          </p:cNvSpPr>
          <p:nvPr/>
        </p:nvSpPr>
        <p:spPr>
          <a:xfrm xmlns:a="http://schemas.openxmlformats.org/drawingml/2006/main">
            <a:off x="8464550" y="219075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INT8 attention engine</a:t>
            </a:r>
          </a:p>
        </p:txBody>
      </p:sp>
      <p:sp>
        <p:nvSpPr>
          <p:cNvPr id="23" name="">
            <a:extLst xmlns:a="http://schemas.openxmlformats.org/drawingml/2006/main">
              <a:ext uri="{FF2B5EF4-FFF2-40B4-BE49-F238E27FC236}">
                <a16:creationId xmlns:a16="http://schemas.microsoft.com/office/drawing/2014/main" id="{DBE03AB9-7206-4927-9B22-0CDF5D012436}"/>
              </a:ext>
            </a:extLst>
          </p:cNvPr>
          <p:cNvSpPr>
            <a:spLocks xmlns:a="http://schemas.openxmlformats.org/drawingml/2006/main" noGrp="1"/>
          </p:cNvSpPr>
          <p:nvPr/>
        </p:nvSpPr>
        <p:spPr>
          <a:xfrm xmlns:a="http://schemas.openxmlformats.org/drawingml/2006/main">
            <a:off x="457200" y="31432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4" name="">
            <a:extLst xmlns:a="http://schemas.openxmlformats.org/drawingml/2006/main">
              <a:ext uri="{FF2B5EF4-FFF2-40B4-BE49-F238E27FC236}">
                <a16:creationId xmlns:a16="http://schemas.microsoft.com/office/drawing/2014/main" id="{0D080231-D928-4C9A-B2F7-CDDDA0C05294}"/>
              </a:ext>
            </a:extLst>
          </p:cNvPr>
          <p:cNvSpPr>
            <a:spLocks xmlns:a="http://schemas.openxmlformats.org/drawingml/2006/main" noGrp="1"/>
          </p:cNvSpPr>
          <p:nvPr/>
        </p:nvSpPr>
        <p:spPr>
          <a:xfrm xmlns:a="http://schemas.openxmlformats.org/drawingml/2006/main">
            <a:off x="457200" y="31432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451FEDA-7E8F-413A-B6A5-F85094D50B55}"/>
              </a:ext>
            </a:extLst>
          </p:cNvPr>
          <p:cNvSpPr>
            <a:spLocks xmlns:a="http://schemas.openxmlformats.org/drawingml/2006/main" noGrp="1"/>
          </p:cNvSpPr>
          <p:nvPr/>
        </p:nvSpPr>
        <p:spPr>
          <a:xfrm xmlns:a="http://schemas.openxmlformats.org/drawingml/2006/main">
            <a:off x="68580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Why a second clock</a:t>
            </a:r>
          </a:p>
        </p:txBody>
      </p:sp>
      <p:sp>
        <p:nvSpPr>
          <p:cNvPr id="26" name="">
            <a:extLst xmlns:a="http://schemas.openxmlformats.org/drawingml/2006/main">
              <a:ext uri="{FF2B5EF4-FFF2-40B4-BE49-F238E27FC236}">
                <a16:creationId xmlns:a16="http://schemas.microsoft.com/office/drawing/2014/main" id="{CF2BA9C6-5B9C-4763-B290-5DC54F279931}"/>
              </a:ext>
            </a:extLst>
          </p:cNvPr>
          <p:cNvSpPr>
            <a:spLocks xmlns:a="http://schemas.openxmlformats.org/drawingml/2006/main" noGrp="1"/>
          </p:cNvSpPr>
          <p:nvPr/>
        </p:nvSpPr>
        <p:spPr>
          <a:xfrm xmlns:a="http://schemas.openxmlformats.org/drawingml/2006/main">
            <a:off x="685800" y="36957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CPU and peripherals stay at 50 MHz, so the control core’s timing is untouched.</a:t>
            </a:r>
          </a:p>
        </p:txBody>
      </p:sp>
      <p:sp>
        <p:nvSpPr>
          <p:cNvPr id="27" name="">
            <a:extLst xmlns:a="http://schemas.openxmlformats.org/drawingml/2006/main">
              <a:ext uri="{FF2B5EF4-FFF2-40B4-BE49-F238E27FC236}">
                <a16:creationId xmlns:a16="http://schemas.microsoft.com/office/drawing/2014/main" id="{4840D769-FA10-47BC-913C-F1EC05D84D99}"/>
              </a:ext>
            </a:extLst>
          </p:cNvPr>
          <p:cNvSpPr>
            <a:spLocks xmlns:a="http://schemas.openxmlformats.org/drawingml/2006/main" noGrp="1"/>
          </p:cNvSpPr>
          <p:nvPr/>
        </p:nvSpPr>
        <p:spPr>
          <a:xfrm xmlns:a="http://schemas.openxmlformats.org/drawingml/2006/main">
            <a:off x="6229350" y="31432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8" name="">
            <a:extLst xmlns:a="http://schemas.openxmlformats.org/drawingml/2006/main">
              <a:ext uri="{FF2B5EF4-FFF2-40B4-BE49-F238E27FC236}">
                <a16:creationId xmlns:a16="http://schemas.microsoft.com/office/drawing/2014/main" id="{526592ED-019A-42A5-AA35-D4CF8AD94BF7}"/>
              </a:ext>
            </a:extLst>
          </p:cNvPr>
          <p:cNvSpPr>
            <a:spLocks xmlns:a="http://schemas.openxmlformats.org/drawingml/2006/main" noGrp="1"/>
          </p:cNvSpPr>
          <p:nvPr/>
        </p:nvSpPr>
        <p:spPr>
          <a:xfrm xmlns:a="http://schemas.openxmlformats.org/drawingml/2006/main">
            <a:off x="6229350" y="31432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CF8B72F-0AE9-4D1D-8C5E-8B7BD97E4B38}"/>
              </a:ext>
            </a:extLst>
          </p:cNvPr>
          <p:cNvSpPr>
            <a:spLocks xmlns:a="http://schemas.openxmlformats.org/drawingml/2006/main" noGrp="1"/>
          </p:cNvSpPr>
          <p:nvPr/>
        </p:nvSpPr>
        <p:spPr>
          <a:xfrm xmlns:a="http://schemas.openxmlformats.org/drawingml/2006/main">
            <a:off x="645795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Why it never stalls control</a:t>
            </a:r>
          </a:p>
        </p:txBody>
      </p:sp>
      <p:sp>
        <p:nvSpPr>
          <p:cNvPr id="30" name="">
            <a:extLst xmlns:a="http://schemas.openxmlformats.org/drawingml/2006/main">
              <a:ext uri="{FF2B5EF4-FFF2-40B4-BE49-F238E27FC236}">
                <a16:creationId xmlns:a16="http://schemas.microsoft.com/office/drawing/2014/main" id="{7D9CCF23-1FB0-40A1-9EC7-2FF1EE5F2F6C}"/>
              </a:ext>
            </a:extLst>
          </p:cNvPr>
          <p:cNvSpPr>
            <a:spLocks xmlns:a="http://schemas.openxmlformats.org/drawingml/2006/main" noGrp="1"/>
          </p:cNvSpPr>
          <p:nvPr/>
        </p:nvSpPr>
        <p:spPr>
          <a:xfrm xmlns:a="http://schemas.openxmlformats.org/drawingml/2006/main">
            <a:off x="6457950" y="36957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engine reaches memory through the bridges, so it never stalls the control core.</a:t>
            </a:r>
          </a:p>
        </p:txBody>
      </p:sp>
      <p:sp>
        <p:nvSpPr>
          <p:cNvPr id="31" name="">
            <a:extLst xmlns:a="http://schemas.openxmlformats.org/drawingml/2006/main">
              <a:ext uri="{FF2B5EF4-FFF2-40B4-BE49-F238E27FC236}">
                <a16:creationId xmlns:a16="http://schemas.microsoft.com/office/drawing/2014/main" id="{1702DE60-4C06-4C8C-BE2E-69FB1388C172}"/>
              </a:ext>
            </a:extLst>
          </p:cNvPr>
          <p:cNvSpPr>
            <a:spLocks xmlns:a="http://schemas.openxmlformats.org/drawingml/2006/main" noGrp="1"/>
          </p:cNvSpPr>
          <p:nvPr/>
        </p:nvSpPr>
        <p:spPr>
          <a:xfrm xmlns:a="http://schemas.openxmlformats.org/drawingml/2006/main">
            <a:off x="457200" y="4705350"/>
            <a:ext cx="3581400" cy="1390650"/>
          </a:xfrm>
          <a:prstGeom xmlns:a="http://schemas.openxmlformats.org/drawingml/2006/main" prst="roundRect">
            <a:avLst>
              <a:gd name="adj" fmla="val 5479"/>
            </a:avLst>
          </a:prstGeom>
          <a:solidFill xmlns:a="http://schemas.openxmlformats.org/drawingml/2006/main">
            <a:srgbClr val="F8FAFC"/>
          </a:solidFill>
          <a:ln xmlns:a="http://schemas.openxmlformats.org/drawingml/2006/main" w="9525">
            <a:solidFill>
              <a:srgbClr val="E2E8F0"/>
            </a:solidFill>
            <a:prstDash val="solid"/>
          </a:ln>
        </p:spPr>
      </p:sp>
      <p:sp>
        <p:nvSpPr>
          <p:cNvPr id="32" name="">
            <a:extLst xmlns:a="http://schemas.openxmlformats.org/drawingml/2006/main">
              <a:ext uri="{FF2B5EF4-FFF2-40B4-BE49-F238E27FC236}">
                <a16:creationId xmlns:a16="http://schemas.microsoft.com/office/drawing/2014/main" id="{1E1DD3FD-F6EB-4B0D-80D3-7EC410EE56AF}"/>
              </a:ext>
            </a:extLst>
          </p:cNvPr>
          <p:cNvSpPr>
            <a:spLocks xmlns:a="http://schemas.openxmlformats.org/drawingml/2006/main" noGrp="1"/>
          </p:cNvSpPr>
          <p:nvPr/>
        </p:nvSpPr>
        <p:spPr>
          <a:xfrm xmlns:a="http://schemas.openxmlformats.org/drawingml/2006/main">
            <a:off x="5715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077A3"/>
                </a:solidFill>
                <a:latin typeface="Georgia"/>
                <a:ea typeface="Georgia"/>
                <a:cs typeface="Georgia"/>
              </a:defRPr>
            </a:pPr>
            <a:r>
              <a:t>+0.30 ns</a:t>
            </a:r>
          </a:p>
        </p:txBody>
      </p:sp>
      <p:sp>
        <p:nvSpPr>
          <p:cNvPr id="33" name="">
            <a:extLst xmlns:a="http://schemas.openxmlformats.org/drawingml/2006/main">
              <a:ext uri="{FF2B5EF4-FFF2-40B4-BE49-F238E27FC236}">
                <a16:creationId xmlns:a16="http://schemas.microsoft.com/office/drawing/2014/main" id="{90DD23B8-061C-43C1-9CE0-AA74F6DE1C9C}"/>
              </a:ext>
            </a:extLst>
          </p:cNvPr>
          <p:cNvSpPr>
            <a:spLocks xmlns:a="http://schemas.openxmlformats.org/drawingml/2006/main" noGrp="1"/>
          </p:cNvSpPr>
          <p:nvPr/>
        </p:nvSpPr>
        <p:spPr>
          <a:xfrm xmlns:a="http://schemas.openxmlformats.org/drawingml/2006/main">
            <a:off x="5715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SLACK AT 50 MHZ</a:t>
            </a:r>
          </a:p>
        </p:txBody>
      </p:sp>
      <p:sp>
        <p:nvSpPr>
          <p:cNvPr id="34" name="">
            <a:extLst xmlns:a="http://schemas.openxmlformats.org/drawingml/2006/main">
              <a:ext uri="{FF2B5EF4-FFF2-40B4-BE49-F238E27FC236}">
                <a16:creationId xmlns:a16="http://schemas.microsoft.com/office/drawing/2014/main" id="{777EF4AD-98B5-4A45-93E5-E10142186199}"/>
              </a:ext>
            </a:extLst>
          </p:cNvPr>
          <p:cNvSpPr>
            <a:spLocks xmlns:a="http://schemas.openxmlformats.org/drawingml/2006/main" noGrp="1"/>
          </p:cNvSpPr>
          <p:nvPr/>
        </p:nvSpPr>
        <p:spPr>
          <a:xfrm xmlns:a="http://schemas.openxmlformats.org/drawingml/2006/main">
            <a:off x="590550" y="5591175"/>
            <a:ext cx="331470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Post-route</a:t>
            </a:r>
          </a:p>
        </p:txBody>
      </p:sp>
      <p:sp>
        <p:nvSpPr>
          <p:cNvPr id="35" name="">
            <a:extLst xmlns:a="http://schemas.openxmlformats.org/drawingml/2006/main">
              <a:ext uri="{FF2B5EF4-FFF2-40B4-BE49-F238E27FC236}">
                <a16:creationId xmlns:a16="http://schemas.microsoft.com/office/drawing/2014/main" id="{6637BB10-5E64-4C39-9D9C-41D401217D00}"/>
              </a:ext>
            </a:extLst>
          </p:cNvPr>
          <p:cNvSpPr>
            <a:spLocks xmlns:a="http://schemas.openxmlformats.org/drawingml/2006/main" noGrp="1"/>
          </p:cNvSpPr>
          <p:nvPr/>
        </p:nvSpPr>
        <p:spPr>
          <a:xfrm xmlns:a="http://schemas.openxmlformats.org/drawingml/2006/main">
            <a:off x="4305300" y="4705350"/>
            <a:ext cx="3581400" cy="1390650"/>
          </a:xfrm>
          <a:prstGeom xmlns:a="http://schemas.openxmlformats.org/drawingml/2006/main" prst="roundRect">
            <a:avLst>
              <a:gd name="adj" fmla="val 5479"/>
            </a:avLst>
          </a:prstGeom>
          <a:solidFill xmlns:a="http://schemas.openxmlformats.org/drawingml/2006/main">
            <a:srgbClr val="F8FAFC"/>
          </a:solidFill>
          <a:ln xmlns:a="http://schemas.openxmlformats.org/drawingml/2006/main" w="9525">
            <a:solidFill>
              <a:srgbClr val="E2E8F0"/>
            </a:solidFill>
            <a:prstDash val="solid"/>
          </a:ln>
        </p:spPr>
      </p:sp>
      <p:sp>
        <p:nvSpPr>
          <p:cNvPr id="36" name="">
            <a:extLst xmlns:a="http://schemas.openxmlformats.org/drawingml/2006/main">
              <a:ext uri="{FF2B5EF4-FFF2-40B4-BE49-F238E27FC236}">
                <a16:creationId xmlns:a16="http://schemas.microsoft.com/office/drawing/2014/main" id="{5DABF38B-B0F5-43D6-9EF3-7EA4C8C28036}"/>
              </a:ext>
            </a:extLst>
          </p:cNvPr>
          <p:cNvSpPr>
            <a:spLocks xmlns:a="http://schemas.openxmlformats.org/drawingml/2006/main" noGrp="1"/>
          </p:cNvSpPr>
          <p:nvPr/>
        </p:nvSpPr>
        <p:spPr>
          <a:xfrm xmlns:a="http://schemas.openxmlformats.org/drawingml/2006/main">
            <a:off x="44196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+0.19 ns</a:t>
            </a:r>
          </a:p>
        </p:txBody>
      </p:sp>
      <p:sp>
        <p:nvSpPr>
          <p:cNvPr id="37" name="">
            <a:extLst xmlns:a="http://schemas.openxmlformats.org/drawingml/2006/main">
              <a:ext uri="{FF2B5EF4-FFF2-40B4-BE49-F238E27FC236}">
                <a16:creationId xmlns:a16="http://schemas.microsoft.com/office/drawing/2014/main" id="{60DE68DF-E286-4FFE-9654-8787EBFC1B14}"/>
              </a:ext>
            </a:extLst>
          </p:cNvPr>
          <p:cNvSpPr>
            <a:spLocks xmlns:a="http://schemas.openxmlformats.org/drawingml/2006/main" noGrp="1"/>
          </p:cNvSpPr>
          <p:nvPr/>
        </p:nvSpPr>
        <p:spPr>
          <a:xfrm xmlns:a="http://schemas.openxmlformats.org/drawingml/2006/main">
            <a:off x="44196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SLACK AT 114 MHZ</a:t>
            </a:r>
          </a:p>
        </p:txBody>
      </p:sp>
      <p:sp>
        <p:nvSpPr>
          <p:cNvPr id="38" name="">
            <a:extLst xmlns:a="http://schemas.openxmlformats.org/drawingml/2006/main">
              <a:ext uri="{FF2B5EF4-FFF2-40B4-BE49-F238E27FC236}">
                <a16:creationId xmlns:a16="http://schemas.microsoft.com/office/drawing/2014/main" id="{3CE8864C-8A41-498B-8707-F5BEA613412C}"/>
              </a:ext>
            </a:extLst>
          </p:cNvPr>
          <p:cNvSpPr>
            <a:spLocks xmlns:a="http://schemas.openxmlformats.org/drawingml/2006/main" noGrp="1"/>
          </p:cNvSpPr>
          <p:nvPr/>
        </p:nvSpPr>
        <p:spPr>
          <a:xfrm xmlns:a="http://schemas.openxmlformats.org/drawingml/2006/main">
            <a:off x="4438650" y="5591175"/>
            <a:ext cx="331470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Post-route</a:t>
            </a:r>
          </a:p>
        </p:txBody>
      </p:sp>
      <p:sp>
        <p:nvSpPr>
          <p:cNvPr id="39" name="">
            <a:extLst xmlns:a="http://schemas.openxmlformats.org/drawingml/2006/main">
              <a:ext uri="{FF2B5EF4-FFF2-40B4-BE49-F238E27FC236}">
                <a16:creationId xmlns:a16="http://schemas.microsoft.com/office/drawing/2014/main" id="{957B6C1A-2D87-4158-AB86-0152B6543150}"/>
              </a:ext>
            </a:extLst>
          </p:cNvPr>
          <p:cNvSpPr>
            <a:spLocks xmlns:a="http://schemas.openxmlformats.org/drawingml/2006/main" noGrp="1"/>
          </p:cNvSpPr>
          <p:nvPr/>
        </p:nvSpPr>
        <p:spPr>
          <a:xfrm xmlns:a="http://schemas.openxmlformats.org/drawingml/2006/main">
            <a:off x="8153400" y="4705350"/>
            <a:ext cx="3581400" cy="1390650"/>
          </a:xfrm>
          <a:prstGeom xmlns:a="http://schemas.openxmlformats.org/drawingml/2006/main" prst="roundRect">
            <a:avLst>
              <a:gd name="adj" fmla="val 5479"/>
            </a:avLst>
          </a:prstGeom>
          <a:solidFill xmlns:a="http://schemas.openxmlformats.org/drawingml/2006/main">
            <a:srgbClr val="F8FAFC"/>
          </a:solidFill>
          <a:ln xmlns:a="http://schemas.openxmlformats.org/drawingml/2006/main" w="9525">
            <a:solidFill>
              <a:srgbClr val="E2E8F0"/>
            </a:solidFill>
            <a:prstDash val="solid"/>
          </a:ln>
        </p:spPr>
      </p:sp>
      <p:sp>
        <p:nvSpPr>
          <p:cNvPr id="40" name="">
            <a:extLst xmlns:a="http://schemas.openxmlformats.org/drawingml/2006/main">
              <a:ext uri="{FF2B5EF4-FFF2-40B4-BE49-F238E27FC236}">
                <a16:creationId xmlns:a16="http://schemas.microsoft.com/office/drawing/2014/main" id="{8D682E4F-7763-4208-AB92-3621FDFC0557}"/>
              </a:ext>
            </a:extLst>
          </p:cNvPr>
          <p:cNvSpPr>
            <a:spLocks xmlns:a="http://schemas.openxmlformats.org/drawingml/2006/main" noGrp="1"/>
          </p:cNvSpPr>
          <p:nvPr/>
        </p:nvSpPr>
        <p:spPr>
          <a:xfrm xmlns:a="http://schemas.openxmlformats.org/drawingml/2006/main">
            <a:off x="8267700" y="4857750"/>
            <a:ext cx="33528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400" b="1">
                <a:solidFill>
                  <a:srgbClr val="07686A"/>
                </a:solidFill>
                <a:latin typeface="Georgia"/>
                <a:ea typeface="Georgia"/>
                <a:cs typeface="Georgia"/>
              </a:defRPr>
            </a:pPr>
            <a:r>
              <a:t>3.4 × 4.5 mm</a:t>
            </a:r>
          </a:p>
        </p:txBody>
      </p:sp>
      <p:sp>
        <p:nvSpPr>
          <p:cNvPr id="41" name="">
            <a:extLst xmlns:a="http://schemas.openxmlformats.org/drawingml/2006/main">
              <a:ext uri="{FF2B5EF4-FFF2-40B4-BE49-F238E27FC236}">
                <a16:creationId xmlns:a16="http://schemas.microsoft.com/office/drawing/2014/main" id="{642A484E-3B8E-4E5D-9D56-50520E31983E}"/>
              </a:ext>
            </a:extLst>
          </p:cNvPr>
          <p:cNvSpPr>
            <a:spLocks xmlns:a="http://schemas.openxmlformats.org/drawingml/2006/main" noGrp="1"/>
          </p:cNvSpPr>
          <p:nvPr/>
        </p:nvSpPr>
        <p:spPr>
          <a:xfrm xmlns:a="http://schemas.openxmlformats.org/drawingml/2006/main">
            <a:off x="8267700" y="5314950"/>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DIE</a:t>
            </a:r>
          </a:p>
        </p:txBody>
      </p:sp>
      <p:sp>
        <p:nvSpPr>
          <p:cNvPr id="42" name="">
            <a:extLst xmlns:a="http://schemas.openxmlformats.org/drawingml/2006/main">
              <a:ext uri="{FF2B5EF4-FFF2-40B4-BE49-F238E27FC236}">
                <a16:creationId xmlns:a16="http://schemas.microsoft.com/office/drawing/2014/main" id="{BFB84E7B-9A6F-46EE-8B4C-30959D9B78AD}"/>
              </a:ext>
            </a:extLst>
          </p:cNvPr>
          <p:cNvSpPr>
            <a:spLocks xmlns:a="http://schemas.openxmlformats.org/drawingml/2006/main" noGrp="1"/>
          </p:cNvSpPr>
          <p:nvPr/>
        </p:nvSpPr>
        <p:spPr>
          <a:xfrm xmlns:a="http://schemas.openxmlformats.org/drawingml/2006/main">
            <a:off x="8286750" y="5562600"/>
            <a:ext cx="33147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Engine buffers beside the analog corner</a:t>
            </a:r>
          </a:p>
        </p:txBody>
      </p:sp>
      <p:sp>
        <p:nvSpPr>
          <p:cNvPr id="43" name="">
            <a:extLst xmlns:a="http://schemas.openxmlformats.org/drawingml/2006/main">
              <a:ext uri="{FF2B5EF4-FFF2-40B4-BE49-F238E27FC236}">
                <a16:creationId xmlns:a16="http://schemas.microsoft.com/office/drawing/2014/main" id="{BCF92672-4EAA-46C3-A6E9-94E48B130051}"/>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DG32-2DOM preliminary datasheet §1, §6.1, §10.</a:t>
            </a:r>
          </a:p>
        </p:txBody>
      </p:sp>
    </p:spTree>
    <p:extLst>
      <p:ext uri="{BB962C8B-B14F-4D97-AF65-F5344CB8AC3E}">
        <p14:creationId xmlns:p14="http://schemas.microsoft.com/office/powerpoint/2010/main" val="112154036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9A9F2E6B-5318-41CE-AE82-916913880F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D951F2A-7554-4A4F-9ABE-F5ECB6A20458}"/>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06 · PROGRAMMING THE ENGINE</a:t>
            </a:r>
          </a:p>
        </p:txBody>
      </p:sp>
      <p:sp>
        <p:nvSpPr>
          <p:cNvPr id="3" name="">
            <a:extLst xmlns:a="http://schemas.openxmlformats.org/drawingml/2006/main">
              <a:ext uri="{FF2B5EF4-FFF2-40B4-BE49-F238E27FC236}">
                <a16:creationId xmlns:a16="http://schemas.microsoft.com/office/drawing/2014/main" id="{0630999F-4383-45F5-A67B-E8852FF893C3}"/>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FFFFFF"/>
                </a:solidFill>
                <a:latin typeface="Georgia"/>
                <a:ea typeface="Georgia"/>
                <a:cs typeface="Georgia"/>
              </a:defRPr>
            </a:pPr>
            <a:r>
              <a:t>Firmware programs a kick in four steps</a:t>
            </a:r>
          </a:p>
        </p:txBody>
      </p:sp>
      <p:sp>
        <p:nvSpPr>
          <p:cNvPr id="4" name="">
            <a:extLst xmlns:a="http://schemas.openxmlformats.org/drawingml/2006/main">
              <a:ext uri="{FF2B5EF4-FFF2-40B4-BE49-F238E27FC236}">
                <a16:creationId xmlns:a16="http://schemas.microsoft.com/office/drawing/2014/main" id="{0D8A39BF-C94A-45E5-BD86-BA00130E36E6}"/>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Concept level: the datasheet’s register map is not reproduced here</a:t>
            </a:r>
          </a:p>
        </p:txBody>
      </p:sp>
      <p:sp>
        <p:nvSpPr>
          <p:cNvPr id="5" name="">
            <a:extLst xmlns:a="http://schemas.openxmlformats.org/drawingml/2006/main">
              <a:ext uri="{FF2B5EF4-FFF2-40B4-BE49-F238E27FC236}">
                <a16:creationId xmlns:a16="http://schemas.microsoft.com/office/drawing/2014/main" id="{00DD537F-C1D9-4B8C-BD9D-057A818B6FE5}"/>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E64F1BD-6381-4284-AFD1-584A924787B9}"/>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1586309-9CA3-4CEA-9EFB-9B7A2DF9F836}"/>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DG32-2DOM PRELIMINARY DATASHEET  ·  SEPTEMBER 2026  ·  PRE-SILICON</a:t>
            </a:r>
          </a:p>
        </p:txBody>
      </p:sp>
      <p:sp>
        <p:nvSpPr>
          <p:cNvPr id="8" name="">
            <a:extLst xmlns:a="http://schemas.openxmlformats.org/drawingml/2006/main">
              <a:ext uri="{FF2B5EF4-FFF2-40B4-BE49-F238E27FC236}">
                <a16:creationId xmlns:a16="http://schemas.microsoft.com/office/drawing/2014/main" id="{145B83F6-D1EE-48AA-B5BA-D065DE31410F}"/>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8FA2B7"/>
                </a:solidFill>
                <a:latin typeface="Arial"/>
                <a:ea typeface="Arial"/>
                <a:cs typeface="Arial"/>
              </a:defRPr>
            </a:pPr>
            <a:r>
              <a:t>06</a:t>
            </a:r>
          </a:p>
        </p:txBody>
      </p:sp>
      <p:sp>
        <p:nvSpPr>
          <p:cNvPr id="9" name="">
            <a:extLst xmlns:a="http://schemas.openxmlformats.org/drawingml/2006/main">
              <a:ext uri="{FF2B5EF4-FFF2-40B4-BE49-F238E27FC236}">
                <a16:creationId xmlns:a16="http://schemas.microsoft.com/office/drawing/2014/main" id="{408FC5FC-B1E6-4E80-B431-3385A251A55D}"/>
              </a:ext>
            </a:extLst>
          </p:cNvPr>
          <p:cNvSpPr>
            <a:spLocks xmlns:a="http://schemas.openxmlformats.org/drawingml/2006/main" noGrp="1"/>
          </p:cNvSpPr>
          <p:nvPr/>
        </p:nvSpPr>
        <p:spPr>
          <a:xfrm xmlns:a="http://schemas.openxmlformats.org/drawingml/2006/main">
            <a:off x="457200" y="171450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0" name="">
            <a:extLst xmlns:a="http://schemas.openxmlformats.org/drawingml/2006/main">
              <a:ext uri="{FF2B5EF4-FFF2-40B4-BE49-F238E27FC236}">
                <a16:creationId xmlns:a16="http://schemas.microsoft.com/office/drawing/2014/main" id="{902E1D36-96C6-4F9F-9C46-5E74E013FAC0}"/>
              </a:ext>
            </a:extLst>
          </p:cNvPr>
          <p:cNvSpPr>
            <a:spLocks xmlns:a="http://schemas.openxmlformats.org/drawingml/2006/main" noGrp="1"/>
          </p:cNvSpPr>
          <p:nvPr/>
        </p:nvSpPr>
        <p:spPr>
          <a:xfrm xmlns:a="http://schemas.openxmlformats.org/drawingml/2006/main">
            <a:off x="457200" y="1714500"/>
            <a:ext cx="24193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CF15077-D57C-44B9-937D-1F9FF4BE5250}"/>
              </a:ext>
            </a:extLst>
          </p:cNvPr>
          <p:cNvSpPr>
            <a:spLocks xmlns:a="http://schemas.openxmlformats.org/drawingml/2006/main" noGrp="1"/>
          </p:cNvSpPr>
          <p:nvPr/>
        </p:nvSpPr>
        <p:spPr>
          <a:xfrm xmlns:a="http://schemas.openxmlformats.org/drawingml/2006/main">
            <a:off x="590550" y="190500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Place buffers</a:t>
            </a:r>
          </a:p>
        </p:txBody>
      </p:sp>
      <p:sp>
        <p:nvSpPr>
          <p:cNvPr id="12" name="">
            <a:extLst xmlns:a="http://schemas.openxmlformats.org/drawingml/2006/main">
              <a:ext uri="{FF2B5EF4-FFF2-40B4-BE49-F238E27FC236}">
                <a16:creationId xmlns:a16="http://schemas.microsoft.com/office/drawing/2014/main" id="{91DE44D3-6CEC-423C-96E3-737FE8FD06E1}"/>
              </a:ext>
            </a:extLst>
          </p:cNvPr>
          <p:cNvSpPr>
            <a:spLocks xmlns:a="http://schemas.openxmlformats.org/drawingml/2006/main" noGrp="1"/>
          </p:cNvSpPr>
          <p:nvPr/>
        </p:nvSpPr>
        <p:spPr>
          <a:xfrm xmlns:a="http://schemas.openxmlformats.org/drawingml/2006/main">
            <a:off x="590550" y="219075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Query, key, value and output locations</a:t>
            </a:r>
          </a:p>
        </p:txBody>
      </p:sp>
      <p:sp>
        <p:nvSpPr>
          <p:cNvPr id="13" name="">
            <a:extLst xmlns:a="http://schemas.openxmlformats.org/drawingml/2006/main">
              <a:ext uri="{FF2B5EF4-FFF2-40B4-BE49-F238E27FC236}">
                <a16:creationId xmlns:a16="http://schemas.microsoft.com/office/drawing/2014/main" id="{481F2451-0AE5-4E93-998B-9B2B2C55B798}"/>
              </a:ext>
            </a:extLst>
          </p:cNvPr>
          <p:cNvSpPr>
            <a:spLocks xmlns:a="http://schemas.openxmlformats.org/drawingml/2006/main" noGrp="1"/>
          </p:cNvSpPr>
          <p:nvPr/>
        </p:nvSpPr>
        <p:spPr>
          <a:xfrm xmlns:a="http://schemas.openxmlformats.org/drawingml/2006/main">
            <a:off x="2981325" y="210502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59DEFA49-F5A1-4A87-BD8B-19F859029F0E}"/>
              </a:ext>
            </a:extLst>
          </p:cNvPr>
          <p:cNvSpPr>
            <a:spLocks xmlns:a="http://schemas.openxmlformats.org/drawingml/2006/main" noGrp="1"/>
          </p:cNvSpPr>
          <p:nvPr/>
        </p:nvSpPr>
        <p:spPr>
          <a:xfrm xmlns:a="http://schemas.openxmlformats.org/drawingml/2006/main">
            <a:off x="3409950" y="171450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5" name="">
            <a:extLst xmlns:a="http://schemas.openxmlformats.org/drawingml/2006/main">
              <a:ext uri="{FF2B5EF4-FFF2-40B4-BE49-F238E27FC236}">
                <a16:creationId xmlns:a16="http://schemas.microsoft.com/office/drawing/2014/main" id="{70538C4D-818D-494E-9E21-D896B2AAF471}"/>
              </a:ext>
            </a:extLst>
          </p:cNvPr>
          <p:cNvSpPr>
            <a:spLocks xmlns:a="http://schemas.openxmlformats.org/drawingml/2006/main" noGrp="1"/>
          </p:cNvSpPr>
          <p:nvPr/>
        </p:nvSpPr>
        <p:spPr>
          <a:xfrm xmlns:a="http://schemas.openxmlformats.org/drawingml/2006/main">
            <a:off x="3409950" y="1714500"/>
            <a:ext cx="24193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6EBE2D1-B038-4CB8-8BE5-DBA0A06D5C6D}"/>
              </a:ext>
            </a:extLst>
          </p:cNvPr>
          <p:cNvSpPr>
            <a:spLocks xmlns:a="http://schemas.openxmlformats.org/drawingml/2006/main" noGrp="1"/>
          </p:cNvSpPr>
          <p:nvPr/>
        </p:nvSpPr>
        <p:spPr>
          <a:xfrm xmlns:a="http://schemas.openxmlformats.org/drawingml/2006/main">
            <a:off x="3543300" y="190500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Set geometry</a:t>
            </a:r>
          </a:p>
        </p:txBody>
      </p:sp>
      <p:sp>
        <p:nvSpPr>
          <p:cNvPr id="17" name="">
            <a:extLst xmlns:a="http://schemas.openxmlformats.org/drawingml/2006/main">
              <a:ext uri="{FF2B5EF4-FFF2-40B4-BE49-F238E27FC236}">
                <a16:creationId xmlns:a16="http://schemas.microsoft.com/office/drawing/2014/main" id="{5AA72290-591B-40B5-A31A-0C008331937D}"/>
              </a:ext>
            </a:extLst>
          </p:cNvPr>
          <p:cNvSpPr>
            <a:spLocks xmlns:a="http://schemas.openxmlformats.org/drawingml/2006/main" noGrp="1"/>
          </p:cNvSpPr>
          <p:nvPr/>
        </p:nvSpPr>
        <p:spPr>
          <a:xfrm xmlns:a="http://schemas.openxmlformats.org/drawingml/2006/main">
            <a:off x="3543300" y="219075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Rows, keys, key and value sizes</a:t>
            </a:r>
          </a:p>
        </p:txBody>
      </p:sp>
      <p:sp>
        <p:nvSpPr>
          <p:cNvPr id="18" name="">
            <a:extLst xmlns:a="http://schemas.openxmlformats.org/drawingml/2006/main">
              <a:ext uri="{FF2B5EF4-FFF2-40B4-BE49-F238E27FC236}">
                <a16:creationId xmlns:a16="http://schemas.microsoft.com/office/drawing/2014/main" id="{61FF72A7-A0CA-488C-AEEA-EE5D097B64FC}"/>
              </a:ext>
            </a:extLst>
          </p:cNvPr>
          <p:cNvSpPr>
            <a:spLocks xmlns:a="http://schemas.openxmlformats.org/drawingml/2006/main" noGrp="1"/>
          </p:cNvSpPr>
          <p:nvPr/>
        </p:nvSpPr>
        <p:spPr>
          <a:xfrm xmlns:a="http://schemas.openxmlformats.org/drawingml/2006/main">
            <a:off x="5934075" y="210502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54B4A3AC-7CA4-4C13-9483-E77CE4210645}"/>
              </a:ext>
            </a:extLst>
          </p:cNvPr>
          <p:cNvSpPr>
            <a:spLocks xmlns:a="http://schemas.openxmlformats.org/drawingml/2006/main" noGrp="1"/>
          </p:cNvSpPr>
          <p:nvPr/>
        </p:nvSpPr>
        <p:spPr>
          <a:xfrm xmlns:a="http://schemas.openxmlformats.org/drawingml/2006/main">
            <a:off x="6362700" y="171450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20" name="">
            <a:extLst xmlns:a="http://schemas.openxmlformats.org/drawingml/2006/main">
              <a:ext uri="{FF2B5EF4-FFF2-40B4-BE49-F238E27FC236}">
                <a16:creationId xmlns:a16="http://schemas.microsoft.com/office/drawing/2014/main" id="{C33A1746-5FC2-4A52-89DC-877AD1A47CA3}"/>
              </a:ext>
            </a:extLst>
          </p:cNvPr>
          <p:cNvSpPr>
            <a:spLocks xmlns:a="http://schemas.openxmlformats.org/drawingml/2006/main" noGrp="1"/>
          </p:cNvSpPr>
          <p:nvPr/>
        </p:nvSpPr>
        <p:spPr>
          <a:xfrm xmlns:a="http://schemas.openxmlformats.org/drawingml/2006/main">
            <a:off x="6362700" y="1714500"/>
            <a:ext cx="24193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3424751-AFA2-4343-94E9-41DC112445D0}"/>
              </a:ext>
            </a:extLst>
          </p:cNvPr>
          <p:cNvSpPr>
            <a:spLocks xmlns:a="http://schemas.openxmlformats.org/drawingml/2006/main" noGrp="1"/>
          </p:cNvSpPr>
          <p:nvPr/>
        </p:nvSpPr>
        <p:spPr>
          <a:xfrm xmlns:a="http://schemas.openxmlformats.org/drawingml/2006/main">
            <a:off x="6496050" y="190500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Start</a:t>
            </a:r>
          </a:p>
        </p:txBody>
      </p:sp>
      <p:sp>
        <p:nvSpPr>
          <p:cNvPr id="22" name="">
            <a:extLst xmlns:a="http://schemas.openxmlformats.org/drawingml/2006/main">
              <a:ext uri="{FF2B5EF4-FFF2-40B4-BE49-F238E27FC236}">
                <a16:creationId xmlns:a16="http://schemas.microsoft.com/office/drawing/2014/main" id="{97E28E41-2F3B-40CA-BAAA-A50B4A02E02D}"/>
              </a:ext>
            </a:extLst>
          </p:cNvPr>
          <p:cNvSpPr>
            <a:spLocks xmlns:a="http://schemas.openxmlformats.org/drawingml/2006/main" noGrp="1"/>
          </p:cNvSpPr>
          <p:nvPr/>
        </p:nvSpPr>
        <p:spPr>
          <a:xfrm xmlns:a="http://schemas.openxmlformats.org/drawingml/2006/main">
            <a:off x="6496050" y="219075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Optionally reuse loaded buffers</a:t>
            </a:r>
          </a:p>
        </p:txBody>
      </p:sp>
      <p:sp>
        <p:nvSpPr>
          <p:cNvPr id="23" name="">
            <a:extLst xmlns:a="http://schemas.openxmlformats.org/drawingml/2006/main">
              <a:ext uri="{FF2B5EF4-FFF2-40B4-BE49-F238E27FC236}">
                <a16:creationId xmlns:a16="http://schemas.microsoft.com/office/drawing/2014/main" id="{C94C941E-8D17-42F9-8C4B-A9B301435BE6}"/>
              </a:ext>
            </a:extLst>
          </p:cNvPr>
          <p:cNvSpPr>
            <a:spLocks xmlns:a="http://schemas.openxmlformats.org/drawingml/2006/main" noGrp="1"/>
          </p:cNvSpPr>
          <p:nvPr/>
        </p:nvSpPr>
        <p:spPr>
          <a:xfrm xmlns:a="http://schemas.openxmlformats.org/drawingml/2006/main">
            <a:off x="8886825" y="210502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4" name="">
            <a:extLst xmlns:a="http://schemas.openxmlformats.org/drawingml/2006/main">
              <a:ext uri="{FF2B5EF4-FFF2-40B4-BE49-F238E27FC236}">
                <a16:creationId xmlns:a16="http://schemas.microsoft.com/office/drawing/2014/main" id="{BA28FA37-A9C5-4E3A-BAF0-11C2F937A4DC}"/>
              </a:ext>
            </a:extLst>
          </p:cNvPr>
          <p:cNvSpPr>
            <a:spLocks xmlns:a="http://schemas.openxmlformats.org/drawingml/2006/main" noGrp="1"/>
          </p:cNvSpPr>
          <p:nvPr/>
        </p:nvSpPr>
        <p:spPr>
          <a:xfrm xmlns:a="http://schemas.openxmlformats.org/drawingml/2006/main">
            <a:off x="9315450" y="171450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5" name="">
            <a:extLst xmlns:a="http://schemas.openxmlformats.org/drawingml/2006/main">
              <a:ext uri="{FF2B5EF4-FFF2-40B4-BE49-F238E27FC236}">
                <a16:creationId xmlns:a16="http://schemas.microsoft.com/office/drawing/2014/main" id="{2745BB0F-B331-4CED-BA89-8D973CE92F7D}"/>
              </a:ext>
            </a:extLst>
          </p:cNvPr>
          <p:cNvSpPr>
            <a:spLocks xmlns:a="http://schemas.openxmlformats.org/drawingml/2006/main" noGrp="1"/>
          </p:cNvSpPr>
          <p:nvPr/>
        </p:nvSpPr>
        <p:spPr>
          <a:xfrm xmlns:a="http://schemas.openxmlformats.org/drawingml/2006/main">
            <a:off x="9315450" y="171450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A197C63-5F6F-481E-BE8E-6ADBCEB76B05}"/>
              </a:ext>
            </a:extLst>
          </p:cNvPr>
          <p:cNvSpPr>
            <a:spLocks xmlns:a="http://schemas.openxmlformats.org/drawingml/2006/main" noGrp="1"/>
          </p:cNvSpPr>
          <p:nvPr/>
        </p:nvSpPr>
        <p:spPr>
          <a:xfrm xmlns:a="http://schemas.openxmlformats.org/drawingml/2006/main">
            <a:off x="9448800" y="190500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Wait for done</a:t>
            </a:r>
          </a:p>
        </p:txBody>
      </p:sp>
      <p:sp>
        <p:nvSpPr>
          <p:cNvPr id="27" name="">
            <a:extLst xmlns:a="http://schemas.openxmlformats.org/drawingml/2006/main">
              <a:ext uri="{FF2B5EF4-FFF2-40B4-BE49-F238E27FC236}">
                <a16:creationId xmlns:a16="http://schemas.microsoft.com/office/drawing/2014/main" id="{AF04210C-1B61-4C2D-96EB-EA195D71D686}"/>
              </a:ext>
            </a:extLst>
          </p:cNvPr>
          <p:cNvSpPr>
            <a:spLocks xmlns:a="http://schemas.openxmlformats.org/drawingml/2006/main" noGrp="1"/>
          </p:cNvSpPr>
          <p:nvPr/>
        </p:nvSpPr>
        <p:spPr>
          <a:xfrm xmlns:a="http://schemas.openxmlformats.org/drawingml/2006/main">
            <a:off x="9448800" y="219075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Poll, or take the engine interrupt</a:t>
            </a:r>
          </a:p>
        </p:txBody>
      </p:sp>
      <p:sp>
        <p:nvSpPr>
          <p:cNvPr id="28" name="">
            <a:extLst xmlns:a="http://schemas.openxmlformats.org/drawingml/2006/main">
              <a:ext uri="{FF2B5EF4-FFF2-40B4-BE49-F238E27FC236}">
                <a16:creationId xmlns:a16="http://schemas.microsoft.com/office/drawing/2014/main" id="{CC03D493-BFD7-4DCD-8A4A-6479F97DA52D}"/>
              </a:ext>
            </a:extLst>
          </p:cNvPr>
          <p:cNvSpPr>
            <a:spLocks xmlns:a="http://schemas.openxmlformats.org/drawingml/2006/main" noGrp="1"/>
          </p:cNvSpPr>
          <p:nvPr/>
        </p:nvSpPr>
        <p:spPr>
          <a:xfrm xmlns:a="http://schemas.openxmlformats.org/drawingml/2006/main">
            <a:off x="457200" y="3143250"/>
            <a:ext cx="358140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29" name="">
            <a:extLst xmlns:a="http://schemas.openxmlformats.org/drawingml/2006/main">
              <a:ext uri="{FF2B5EF4-FFF2-40B4-BE49-F238E27FC236}">
                <a16:creationId xmlns:a16="http://schemas.microsoft.com/office/drawing/2014/main" id="{CD79B029-C21D-4F40-AA64-83237EB669FA}"/>
              </a:ext>
            </a:extLst>
          </p:cNvPr>
          <p:cNvSpPr>
            <a:spLocks xmlns:a="http://schemas.openxmlformats.org/drawingml/2006/main" noGrp="1"/>
          </p:cNvSpPr>
          <p:nvPr/>
        </p:nvSpPr>
        <p:spPr>
          <a:xfrm xmlns:a="http://schemas.openxmlformats.org/drawingml/2006/main">
            <a:off x="457200" y="3143250"/>
            <a:ext cx="57150" cy="14954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534B65D-48B5-400B-B9E8-30B48281D5F7}"/>
              </a:ext>
            </a:extLst>
          </p:cNvPr>
          <p:cNvSpPr>
            <a:spLocks xmlns:a="http://schemas.openxmlformats.org/drawingml/2006/main" noGrp="1"/>
          </p:cNvSpPr>
          <p:nvPr/>
        </p:nvSpPr>
        <p:spPr>
          <a:xfrm xmlns:a="http://schemas.openxmlformats.org/drawingml/2006/main">
            <a:off x="6858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Reuse between kicks</a:t>
            </a:r>
          </a:p>
        </p:txBody>
      </p:sp>
      <p:sp>
        <p:nvSpPr>
          <p:cNvPr id="31" name="">
            <a:extLst xmlns:a="http://schemas.openxmlformats.org/drawingml/2006/main">
              <a:ext uri="{FF2B5EF4-FFF2-40B4-BE49-F238E27FC236}">
                <a16:creationId xmlns:a16="http://schemas.microsoft.com/office/drawing/2014/main" id="{E9ADE771-CA24-4804-956E-B09F1A2D731D}"/>
              </a:ext>
            </a:extLst>
          </p:cNvPr>
          <p:cNvSpPr>
            <a:spLocks xmlns:a="http://schemas.openxmlformats.org/drawingml/2006/main" noGrp="1"/>
          </p:cNvSpPr>
          <p:nvPr/>
        </p:nvSpPr>
        <p:spPr>
          <a:xfrm xmlns:a="http://schemas.openxmlformats.org/drawingml/2006/main">
            <a:off x="685800" y="3695700"/>
            <a:ext cx="312420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skip-load option reuses the weight table, keys and values from the previous kick.</a:t>
            </a:r>
          </a:p>
        </p:txBody>
      </p:sp>
      <p:sp>
        <p:nvSpPr>
          <p:cNvPr id="32" name="">
            <a:extLst xmlns:a="http://schemas.openxmlformats.org/drawingml/2006/main">
              <a:ext uri="{FF2B5EF4-FFF2-40B4-BE49-F238E27FC236}">
                <a16:creationId xmlns:a16="http://schemas.microsoft.com/office/drawing/2014/main" id="{1E329A0A-D44F-4898-9F74-2466EA86BA96}"/>
              </a:ext>
            </a:extLst>
          </p:cNvPr>
          <p:cNvSpPr>
            <a:spLocks xmlns:a="http://schemas.openxmlformats.org/drawingml/2006/main" noGrp="1"/>
          </p:cNvSpPr>
          <p:nvPr/>
        </p:nvSpPr>
        <p:spPr>
          <a:xfrm xmlns:a="http://schemas.openxmlformats.org/drawingml/2006/main">
            <a:off x="4305300" y="3143250"/>
            <a:ext cx="358140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33" name="">
            <a:extLst xmlns:a="http://schemas.openxmlformats.org/drawingml/2006/main">
              <a:ext uri="{FF2B5EF4-FFF2-40B4-BE49-F238E27FC236}">
                <a16:creationId xmlns:a16="http://schemas.microsoft.com/office/drawing/2014/main" id="{045A68FF-A94F-402F-A1A9-410B49F2B197}"/>
              </a:ext>
            </a:extLst>
          </p:cNvPr>
          <p:cNvSpPr>
            <a:spLocks xmlns:a="http://schemas.openxmlformats.org/drawingml/2006/main" noGrp="1"/>
          </p:cNvSpPr>
          <p:nvPr/>
        </p:nvSpPr>
        <p:spPr>
          <a:xfrm xmlns:a="http://schemas.openxmlformats.org/drawingml/2006/main">
            <a:off x="4305300" y="3143250"/>
            <a:ext cx="57150" cy="14954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E297F45-8492-4F77-8749-88E9BC6527A4}"/>
              </a:ext>
            </a:extLst>
          </p:cNvPr>
          <p:cNvSpPr>
            <a:spLocks xmlns:a="http://schemas.openxmlformats.org/drawingml/2006/main" noGrp="1"/>
          </p:cNvSpPr>
          <p:nvPr/>
        </p:nvSpPr>
        <p:spPr>
          <a:xfrm xmlns:a="http://schemas.openxmlformats.org/drawingml/2006/main">
            <a:off x="45339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What it reports</a:t>
            </a:r>
          </a:p>
        </p:txBody>
      </p:sp>
      <p:sp>
        <p:nvSpPr>
          <p:cNvPr id="35" name="">
            <a:extLst xmlns:a="http://schemas.openxmlformats.org/drawingml/2006/main">
              <a:ext uri="{FF2B5EF4-FFF2-40B4-BE49-F238E27FC236}">
                <a16:creationId xmlns:a16="http://schemas.microsoft.com/office/drawing/2014/main" id="{DD943F76-2362-4F0B-85FD-723C53D2DA9B}"/>
              </a:ext>
            </a:extLst>
          </p:cNvPr>
          <p:cNvSpPr>
            <a:spLocks xmlns:a="http://schemas.openxmlformats.org/drawingml/2006/main" noGrp="1"/>
          </p:cNvSpPr>
          <p:nvPr/>
        </p:nvSpPr>
        <p:spPr>
          <a:xfrm xmlns:a="http://schemas.openxmlformats.org/drawingml/2006/main">
            <a:off x="4533900" y="3695700"/>
            <a:ext cx="312420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Busy and done, plus a rejected geometry or an arithmetic overflow.</a:t>
            </a:r>
          </a:p>
        </p:txBody>
      </p:sp>
      <p:sp>
        <p:nvSpPr>
          <p:cNvPr id="36" name="">
            <a:extLst xmlns:a="http://schemas.openxmlformats.org/drawingml/2006/main">
              <a:ext uri="{FF2B5EF4-FFF2-40B4-BE49-F238E27FC236}">
                <a16:creationId xmlns:a16="http://schemas.microsoft.com/office/drawing/2014/main" id="{FEB5C41C-C845-4D71-9017-19BE8CE50724}"/>
              </a:ext>
            </a:extLst>
          </p:cNvPr>
          <p:cNvSpPr>
            <a:spLocks xmlns:a="http://schemas.openxmlformats.org/drawingml/2006/main" noGrp="1"/>
          </p:cNvSpPr>
          <p:nvPr/>
        </p:nvSpPr>
        <p:spPr>
          <a:xfrm xmlns:a="http://schemas.openxmlformats.org/drawingml/2006/main">
            <a:off x="8153400" y="31432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7" name="">
            <a:extLst xmlns:a="http://schemas.openxmlformats.org/drawingml/2006/main">
              <a:ext uri="{FF2B5EF4-FFF2-40B4-BE49-F238E27FC236}">
                <a16:creationId xmlns:a16="http://schemas.microsoft.com/office/drawing/2014/main" id="{7CAFC268-2CF8-45F7-AE99-15681B9D2013}"/>
              </a:ext>
            </a:extLst>
          </p:cNvPr>
          <p:cNvSpPr>
            <a:spLocks xmlns:a="http://schemas.openxmlformats.org/drawingml/2006/main" noGrp="1"/>
          </p:cNvSpPr>
          <p:nvPr/>
        </p:nvSpPr>
        <p:spPr>
          <a:xfrm xmlns:a="http://schemas.openxmlformats.org/drawingml/2006/main">
            <a:off x="8153400" y="31432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DC4ABD5-3254-47C0-A51A-20FA4FD2B828}"/>
              </a:ext>
            </a:extLst>
          </p:cNvPr>
          <p:cNvSpPr>
            <a:spLocks xmlns:a="http://schemas.openxmlformats.org/drawingml/2006/main" noGrp="1"/>
          </p:cNvSpPr>
          <p:nvPr/>
        </p:nvSpPr>
        <p:spPr>
          <a:xfrm xmlns:a="http://schemas.openxmlformats.org/drawingml/2006/main">
            <a:off x="83820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Memory-mapped</a:t>
            </a:r>
          </a:p>
        </p:txBody>
      </p:sp>
      <p:sp>
        <p:nvSpPr>
          <p:cNvPr id="39" name="">
            <a:extLst xmlns:a="http://schemas.openxmlformats.org/drawingml/2006/main">
              <a:ext uri="{FF2B5EF4-FFF2-40B4-BE49-F238E27FC236}">
                <a16:creationId xmlns:a16="http://schemas.microsoft.com/office/drawing/2014/main" id="{AB7BC452-3399-4BD4-BFF5-D2E721CBCB27}"/>
              </a:ext>
            </a:extLst>
          </p:cNvPr>
          <p:cNvSpPr>
            <a:spLocks xmlns:a="http://schemas.openxmlformats.org/drawingml/2006/main" noGrp="1"/>
          </p:cNvSpPr>
          <p:nvPr/>
        </p:nvSpPr>
        <p:spPr>
          <a:xfrm xmlns:a="http://schemas.openxmlformats.org/drawingml/2006/main">
            <a:off x="8382000" y="36957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engine sits on the CPU’s bus as one block and adds no pins.</a:t>
            </a:r>
          </a:p>
        </p:txBody>
      </p:sp>
      <p:sp>
        <p:nvSpPr>
          <p:cNvPr id="40" name="">
            <a:extLst xmlns:a="http://schemas.openxmlformats.org/drawingml/2006/main">
              <a:ext uri="{FF2B5EF4-FFF2-40B4-BE49-F238E27FC236}">
                <a16:creationId xmlns:a16="http://schemas.microsoft.com/office/drawing/2014/main" id="{67CF0CD4-3275-464D-8608-1E9CF8604FDD}"/>
              </a:ext>
            </a:extLst>
          </p:cNvPr>
          <p:cNvSpPr>
            <a:spLocks xmlns:a="http://schemas.openxmlformats.org/drawingml/2006/main" noGrp="1"/>
          </p:cNvSpPr>
          <p:nvPr/>
        </p:nvSpPr>
        <p:spPr>
          <a:xfrm xmlns:a="http://schemas.openxmlformats.org/drawingml/2006/main">
            <a:off x="457200" y="5334000"/>
            <a:ext cx="112776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The engine runs on the 114 MHz clock and reaches memory through the bridges, so the 50 MHz CPU keeps running.</a:t>
            </a:r>
          </a:p>
        </p:txBody>
      </p:sp>
      <p:sp>
        <p:nvSpPr>
          <p:cNvPr id="41" name="">
            <a:extLst xmlns:a="http://schemas.openxmlformats.org/drawingml/2006/main">
              <a:ext uri="{FF2B5EF4-FFF2-40B4-BE49-F238E27FC236}">
                <a16:creationId xmlns:a16="http://schemas.microsoft.com/office/drawing/2014/main" id="{59C90367-B774-4EE0-A704-2C17642B3B6B}"/>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A9BACD"/>
                </a:solidFill>
                <a:latin typeface="Arial"/>
                <a:ea typeface="Arial"/>
                <a:cs typeface="Arial"/>
              </a:defRPr>
            </a:pPr>
            <a:r>
              <a:t>Source: DG32-2DOM preliminary datasheet §8 engine notes and interrupt sources (concept only).</a:t>
            </a:r>
          </a:p>
        </p:txBody>
      </p:sp>
    </p:spTree>
    <p:extLst>
      <p:ext uri="{BB962C8B-B14F-4D97-AF65-F5344CB8AC3E}">
        <p14:creationId xmlns:p14="http://schemas.microsoft.com/office/powerpoint/2010/main" val="4173028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1411D0D1-8908-4228-AB7B-7F52FCDAC8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88865F8-CD88-47A7-BC2F-57B11EAD669D}"/>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07 · ENGINE LIMITS</a:t>
            </a:r>
          </a:p>
        </p:txBody>
      </p:sp>
      <p:sp>
        <p:nvSpPr>
          <p:cNvPr id="3" name="">
            <a:extLst xmlns:a="http://schemas.openxmlformats.org/drawingml/2006/main">
              <a:ext uri="{FF2B5EF4-FFF2-40B4-BE49-F238E27FC236}">
                <a16:creationId xmlns:a16="http://schemas.microsoft.com/office/drawing/2014/main" id="{95E3EA13-1961-4C92-859E-15C7DCDA6420}"/>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Every engine limit is fixed in silicon</a:t>
            </a:r>
          </a:p>
        </p:txBody>
      </p:sp>
      <p:sp>
        <p:nvSpPr>
          <p:cNvPr id="4" name="">
            <a:extLst xmlns:a="http://schemas.openxmlformats.org/drawingml/2006/main">
              <a:ext uri="{FF2B5EF4-FFF2-40B4-BE49-F238E27FC236}">
                <a16:creationId xmlns:a16="http://schemas.microsoft.com/office/drawing/2014/main" id="{293936ED-A6A2-405D-A014-81994A18AC01}"/>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geometry and arithmetic bounds firmware sizes a model against</a:t>
            </a:r>
          </a:p>
        </p:txBody>
      </p:sp>
      <p:sp>
        <p:nvSpPr>
          <p:cNvPr id="5" name="">
            <a:extLst xmlns:a="http://schemas.openxmlformats.org/drawingml/2006/main">
              <a:ext uri="{FF2B5EF4-FFF2-40B4-BE49-F238E27FC236}">
                <a16:creationId xmlns:a16="http://schemas.microsoft.com/office/drawing/2014/main" id="{F004EE54-D378-4EAB-9FD8-A5E85162463C}"/>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B8248F3-A008-4C2C-8E99-1563C38624C0}"/>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4EC602D-706B-4CF0-A35D-D80294FAAD7A}"/>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PRELIMINARY DATASHEET  ·  SEPTEMBER 2026  ·  PRE-SILICON</a:t>
            </a:r>
          </a:p>
        </p:txBody>
      </p:sp>
      <p:sp>
        <p:nvSpPr>
          <p:cNvPr id="8" name="">
            <a:extLst xmlns:a="http://schemas.openxmlformats.org/drawingml/2006/main">
              <a:ext uri="{FF2B5EF4-FFF2-40B4-BE49-F238E27FC236}">
                <a16:creationId xmlns:a16="http://schemas.microsoft.com/office/drawing/2014/main" id="{757741AF-1520-4E57-A0A4-3A69A730A9B1}"/>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07</a:t>
            </a:r>
          </a:p>
        </p:txBody>
      </p:sp>
      <p:sp>
        <p:nvSpPr>
          <p:cNvPr id="9" name="">
            <a:extLst xmlns:a="http://schemas.openxmlformats.org/drawingml/2006/main">
              <a:ext uri="{FF2B5EF4-FFF2-40B4-BE49-F238E27FC236}">
                <a16:creationId xmlns:a16="http://schemas.microsoft.com/office/drawing/2014/main" id="{4FCFC9A8-9AE2-4BC8-86D5-4137DF13ECD7}"/>
              </a:ext>
            </a:extLst>
          </p:cNvPr>
          <p:cNvSpPr>
            <a:spLocks xmlns:a="http://schemas.openxmlformats.org/drawingml/2006/main" noGrp="1"/>
          </p:cNvSpPr>
          <p:nvPr/>
        </p:nvSpPr>
        <p:spPr>
          <a:xfrm xmlns:a="http://schemas.openxmlformats.org/drawingml/2006/main">
            <a:off x="457200" y="1638300"/>
            <a:ext cx="11277600" cy="4000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C1E77C7-040A-4E77-A45D-FFA87694CC7D}"/>
              </a:ext>
            </a:extLst>
          </p:cNvPr>
          <p:cNvSpPr>
            <a:spLocks xmlns:a="http://schemas.openxmlformats.org/drawingml/2006/main" noGrp="1"/>
          </p:cNvSpPr>
          <p:nvPr/>
        </p:nvSpPr>
        <p:spPr>
          <a:xfrm xmlns:a="http://schemas.openxmlformats.org/drawingml/2006/main">
            <a:off x="590550" y="1752600"/>
            <a:ext cx="3048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PARAMETER</a:t>
            </a:r>
          </a:p>
        </p:txBody>
      </p:sp>
      <p:sp>
        <p:nvSpPr>
          <p:cNvPr id="11" name="">
            <a:extLst xmlns:a="http://schemas.openxmlformats.org/drawingml/2006/main">
              <a:ext uri="{FF2B5EF4-FFF2-40B4-BE49-F238E27FC236}">
                <a16:creationId xmlns:a16="http://schemas.microsoft.com/office/drawing/2014/main" id="{A7ACE9DA-5DB3-41D6-8698-79E74ABA0E5D}"/>
              </a:ext>
            </a:extLst>
          </p:cNvPr>
          <p:cNvSpPr>
            <a:spLocks xmlns:a="http://schemas.openxmlformats.org/drawingml/2006/main" noGrp="1"/>
          </p:cNvSpPr>
          <p:nvPr/>
        </p:nvSpPr>
        <p:spPr>
          <a:xfrm xmlns:a="http://schemas.openxmlformats.org/drawingml/2006/main">
            <a:off x="3829050" y="1752600"/>
            <a:ext cx="2667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RANGE</a:t>
            </a:r>
          </a:p>
        </p:txBody>
      </p:sp>
      <p:sp>
        <p:nvSpPr>
          <p:cNvPr id="12" name="">
            <a:extLst xmlns:a="http://schemas.openxmlformats.org/drawingml/2006/main">
              <a:ext uri="{FF2B5EF4-FFF2-40B4-BE49-F238E27FC236}">
                <a16:creationId xmlns:a16="http://schemas.microsoft.com/office/drawing/2014/main" id="{7501F40D-1A3D-402A-BFE7-48927960826F}"/>
              </a:ext>
            </a:extLst>
          </p:cNvPr>
          <p:cNvSpPr>
            <a:spLocks xmlns:a="http://schemas.openxmlformats.org/drawingml/2006/main" noGrp="1"/>
          </p:cNvSpPr>
          <p:nvPr/>
        </p:nvSpPr>
        <p:spPr>
          <a:xfrm xmlns:a="http://schemas.openxmlformats.org/drawingml/2006/main">
            <a:off x="6686550" y="1752600"/>
            <a:ext cx="49911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NOTE</a:t>
            </a:r>
          </a:p>
        </p:txBody>
      </p:sp>
      <p:sp>
        <p:nvSpPr>
          <p:cNvPr id="13" name="">
            <a:extLst xmlns:a="http://schemas.openxmlformats.org/drawingml/2006/main">
              <a:ext uri="{FF2B5EF4-FFF2-40B4-BE49-F238E27FC236}">
                <a16:creationId xmlns:a16="http://schemas.microsoft.com/office/drawing/2014/main" id="{E7E4B262-1449-460E-BFB6-CA87B1B18AED}"/>
              </a:ext>
            </a:extLst>
          </p:cNvPr>
          <p:cNvSpPr>
            <a:spLocks xmlns:a="http://schemas.openxmlformats.org/drawingml/2006/main" noGrp="1"/>
          </p:cNvSpPr>
          <p:nvPr/>
        </p:nvSpPr>
        <p:spPr>
          <a:xfrm xmlns:a="http://schemas.openxmlformats.org/drawingml/2006/main">
            <a:off x="457200" y="2038350"/>
            <a:ext cx="112776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95CDBCCE-C3A6-4E85-9932-6AF5CD70BD83}"/>
              </a:ext>
            </a:extLst>
          </p:cNvPr>
          <p:cNvSpPr>
            <a:spLocks xmlns:a="http://schemas.openxmlformats.org/drawingml/2006/main" noGrp="1"/>
          </p:cNvSpPr>
          <p:nvPr/>
        </p:nvSpPr>
        <p:spPr>
          <a:xfrm xmlns:a="http://schemas.openxmlformats.org/drawingml/2006/main">
            <a:off x="590550" y="2143125"/>
            <a:ext cx="30289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Query rows per kick</a:t>
            </a:r>
          </a:p>
        </p:txBody>
      </p:sp>
      <p:sp>
        <p:nvSpPr>
          <p:cNvPr id="15" name="">
            <a:extLst xmlns:a="http://schemas.openxmlformats.org/drawingml/2006/main">
              <a:ext uri="{FF2B5EF4-FFF2-40B4-BE49-F238E27FC236}">
                <a16:creationId xmlns:a16="http://schemas.microsoft.com/office/drawing/2014/main" id="{C1F36088-905E-4547-888C-54F01137A3D2}"/>
              </a:ext>
            </a:extLst>
          </p:cNvPr>
          <p:cNvSpPr>
            <a:spLocks xmlns:a="http://schemas.openxmlformats.org/drawingml/2006/main" noGrp="1"/>
          </p:cNvSpPr>
          <p:nvPr/>
        </p:nvSpPr>
        <p:spPr>
          <a:xfrm xmlns:a="http://schemas.openxmlformats.org/drawingml/2006/main">
            <a:off x="3829050" y="2143125"/>
            <a:ext cx="26479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 – 65,535</a:t>
            </a:r>
          </a:p>
        </p:txBody>
      </p:sp>
      <p:sp>
        <p:nvSpPr>
          <p:cNvPr id="16" name="">
            <a:extLst xmlns:a="http://schemas.openxmlformats.org/drawingml/2006/main">
              <a:ext uri="{FF2B5EF4-FFF2-40B4-BE49-F238E27FC236}">
                <a16:creationId xmlns:a16="http://schemas.microsoft.com/office/drawing/2014/main" id="{88FD6363-BAD5-4FB7-B446-E6D6453BBD7A}"/>
              </a:ext>
            </a:extLst>
          </p:cNvPr>
          <p:cNvSpPr>
            <a:spLocks xmlns:a="http://schemas.openxmlformats.org/drawingml/2006/main" noGrp="1"/>
          </p:cNvSpPr>
          <p:nvPr/>
        </p:nvSpPr>
        <p:spPr>
          <a:xfrm xmlns:a="http://schemas.openxmlformats.org/drawingml/2006/main">
            <a:off x="6686550" y="2143125"/>
            <a:ext cx="49720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 band of rows of one head</a:t>
            </a:r>
          </a:p>
        </p:txBody>
      </p:sp>
      <p:sp>
        <p:nvSpPr>
          <p:cNvPr id="17" name="">
            <a:extLst xmlns:a="http://schemas.openxmlformats.org/drawingml/2006/main">
              <a:ext uri="{FF2B5EF4-FFF2-40B4-BE49-F238E27FC236}">
                <a16:creationId xmlns:a16="http://schemas.microsoft.com/office/drawing/2014/main" id="{8F816D8F-1682-4161-BDBD-3A5A0AC3CC97}"/>
              </a:ext>
            </a:extLst>
          </p:cNvPr>
          <p:cNvSpPr>
            <a:spLocks xmlns:a="http://schemas.openxmlformats.org/drawingml/2006/main" noGrp="1"/>
          </p:cNvSpPr>
          <p:nvPr/>
        </p:nvSpPr>
        <p:spPr>
          <a:xfrm xmlns:a="http://schemas.openxmlformats.org/drawingml/2006/main">
            <a:off x="457200" y="2495550"/>
            <a:ext cx="11277600" cy="4572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DE809FCE-3D60-47B0-8A28-445FCA59E8D7}"/>
              </a:ext>
            </a:extLst>
          </p:cNvPr>
          <p:cNvSpPr>
            <a:spLocks xmlns:a="http://schemas.openxmlformats.org/drawingml/2006/main" noGrp="1"/>
          </p:cNvSpPr>
          <p:nvPr/>
        </p:nvSpPr>
        <p:spPr>
          <a:xfrm xmlns:a="http://schemas.openxmlformats.org/drawingml/2006/main">
            <a:off x="457200" y="2495550"/>
            <a:ext cx="47625" cy="4572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6392AC0-12F5-460C-80DE-D66B5D5ABBC0}"/>
              </a:ext>
            </a:extLst>
          </p:cNvPr>
          <p:cNvSpPr>
            <a:spLocks xmlns:a="http://schemas.openxmlformats.org/drawingml/2006/main" noGrp="1"/>
          </p:cNvSpPr>
          <p:nvPr/>
        </p:nvSpPr>
        <p:spPr>
          <a:xfrm xmlns:a="http://schemas.openxmlformats.org/drawingml/2006/main">
            <a:off x="590550" y="2600325"/>
            <a:ext cx="30289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Keys per head</a:t>
            </a:r>
          </a:p>
        </p:txBody>
      </p:sp>
      <p:sp>
        <p:nvSpPr>
          <p:cNvPr id="20" name="">
            <a:extLst xmlns:a="http://schemas.openxmlformats.org/drawingml/2006/main">
              <a:ext uri="{FF2B5EF4-FFF2-40B4-BE49-F238E27FC236}">
                <a16:creationId xmlns:a16="http://schemas.microsoft.com/office/drawing/2014/main" id="{051DECFB-A993-4912-8DAF-A3BD83D57336}"/>
              </a:ext>
            </a:extLst>
          </p:cNvPr>
          <p:cNvSpPr>
            <a:spLocks xmlns:a="http://schemas.openxmlformats.org/drawingml/2006/main" noGrp="1"/>
          </p:cNvSpPr>
          <p:nvPr/>
        </p:nvSpPr>
        <p:spPr>
          <a:xfrm xmlns:a="http://schemas.openxmlformats.org/drawingml/2006/main">
            <a:off x="3829050" y="2600325"/>
            <a:ext cx="26479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1 – 400</a:t>
            </a:r>
          </a:p>
        </p:txBody>
      </p:sp>
      <p:sp>
        <p:nvSpPr>
          <p:cNvPr id="21" name="">
            <a:extLst xmlns:a="http://schemas.openxmlformats.org/drawingml/2006/main">
              <a:ext uri="{FF2B5EF4-FFF2-40B4-BE49-F238E27FC236}">
                <a16:creationId xmlns:a16="http://schemas.microsoft.com/office/drawing/2014/main" id="{7C554DC4-1EB1-4A8F-9273-371601A7A449}"/>
              </a:ext>
            </a:extLst>
          </p:cNvPr>
          <p:cNvSpPr>
            <a:spLocks xmlns:a="http://schemas.openxmlformats.org/drawingml/2006/main" noGrp="1"/>
          </p:cNvSpPr>
          <p:nvPr/>
        </p:nvSpPr>
        <p:spPr>
          <a:xfrm xmlns:a="http://schemas.openxmlformats.org/drawingml/2006/main">
            <a:off x="6686550" y="2600325"/>
            <a:ext cx="49720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Maximum set when the die was built</a:t>
            </a:r>
          </a:p>
        </p:txBody>
      </p:sp>
      <p:sp>
        <p:nvSpPr>
          <p:cNvPr id="22" name="">
            <a:extLst xmlns:a="http://schemas.openxmlformats.org/drawingml/2006/main">
              <a:ext uri="{FF2B5EF4-FFF2-40B4-BE49-F238E27FC236}">
                <a16:creationId xmlns:a16="http://schemas.microsoft.com/office/drawing/2014/main" id="{2B94E088-5FAA-460C-9115-589AC8C43EEF}"/>
              </a:ext>
            </a:extLst>
          </p:cNvPr>
          <p:cNvSpPr>
            <a:spLocks xmlns:a="http://schemas.openxmlformats.org/drawingml/2006/main" noGrp="1"/>
          </p:cNvSpPr>
          <p:nvPr/>
        </p:nvSpPr>
        <p:spPr>
          <a:xfrm xmlns:a="http://schemas.openxmlformats.org/drawingml/2006/main">
            <a:off x="457200" y="2952750"/>
            <a:ext cx="112776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3" name="">
            <a:extLst xmlns:a="http://schemas.openxmlformats.org/drawingml/2006/main">
              <a:ext uri="{FF2B5EF4-FFF2-40B4-BE49-F238E27FC236}">
                <a16:creationId xmlns:a16="http://schemas.microsoft.com/office/drawing/2014/main" id="{B684300A-D596-46B8-AC35-A2F77561DBE7}"/>
              </a:ext>
            </a:extLst>
          </p:cNvPr>
          <p:cNvSpPr>
            <a:spLocks xmlns:a="http://schemas.openxmlformats.org/drawingml/2006/main" noGrp="1"/>
          </p:cNvSpPr>
          <p:nvPr/>
        </p:nvSpPr>
        <p:spPr>
          <a:xfrm xmlns:a="http://schemas.openxmlformats.org/drawingml/2006/main">
            <a:off x="590550" y="3057525"/>
            <a:ext cx="30289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Key dimension</a:t>
            </a:r>
          </a:p>
        </p:txBody>
      </p:sp>
      <p:sp>
        <p:nvSpPr>
          <p:cNvPr id="24" name="">
            <a:extLst xmlns:a="http://schemas.openxmlformats.org/drawingml/2006/main">
              <a:ext uri="{FF2B5EF4-FFF2-40B4-BE49-F238E27FC236}">
                <a16:creationId xmlns:a16="http://schemas.microsoft.com/office/drawing/2014/main" id="{B87155B1-D642-4EFC-903E-72DB852E9242}"/>
              </a:ext>
            </a:extLst>
          </p:cNvPr>
          <p:cNvSpPr>
            <a:spLocks xmlns:a="http://schemas.openxmlformats.org/drawingml/2006/main" noGrp="1"/>
          </p:cNvSpPr>
          <p:nvPr/>
        </p:nvSpPr>
        <p:spPr>
          <a:xfrm xmlns:a="http://schemas.openxmlformats.org/drawingml/2006/main">
            <a:off x="3829050" y="3057525"/>
            <a:ext cx="26479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Up to 32 bytes</a:t>
            </a:r>
          </a:p>
        </p:txBody>
      </p:sp>
      <p:sp>
        <p:nvSpPr>
          <p:cNvPr id="25" name="">
            <a:extLst xmlns:a="http://schemas.openxmlformats.org/drawingml/2006/main">
              <a:ext uri="{FF2B5EF4-FFF2-40B4-BE49-F238E27FC236}">
                <a16:creationId xmlns:a16="http://schemas.microsoft.com/office/drawing/2014/main" id="{53576767-0FED-449F-868F-66866A8CB455}"/>
              </a:ext>
            </a:extLst>
          </p:cNvPr>
          <p:cNvSpPr>
            <a:spLocks xmlns:a="http://schemas.openxmlformats.org/drawingml/2006/main" noGrp="1"/>
          </p:cNvSpPr>
          <p:nvPr/>
        </p:nvSpPr>
        <p:spPr>
          <a:xfrm xmlns:a="http://schemas.openxmlformats.org/drawingml/2006/main">
            <a:off x="6686550" y="3057525"/>
            <a:ext cx="49720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 multiple of the lane count and of 4</a:t>
            </a:r>
          </a:p>
        </p:txBody>
      </p:sp>
      <p:sp>
        <p:nvSpPr>
          <p:cNvPr id="26" name="">
            <a:extLst xmlns:a="http://schemas.openxmlformats.org/drawingml/2006/main">
              <a:ext uri="{FF2B5EF4-FFF2-40B4-BE49-F238E27FC236}">
                <a16:creationId xmlns:a16="http://schemas.microsoft.com/office/drawing/2014/main" id="{5842AC08-54AA-444C-AD2A-901DB8788F2B}"/>
              </a:ext>
            </a:extLst>
          </p:cNvPr>
          <p:cNvSpPr>
            <a:spLocks xmlns:a="http://schemas.openxmlformats.org/drawingml/2006/main" noGrp="1"/>
          </p:cNvSpPr>
          <p:nvPr/>
        </p:nvSpPr>
        <p:spPr>
          <a:xfrm xmlns:a="http://schemas.openxmlformats.org/drawingml/2006/main">
            <a:off x="457200" y="3409950"/>
            <a:ext cx="1127760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7" name="">
            <a:extLst xmlns:a="http://schemas.openxmlformats.org/drawingml/2006/main">
              <a:ext uri="{FF2B5EF4-FFF2-40B4-BE49-F238E27FC236}">
                <a16:creationId xmlns:a16="http://schemas.microsoft.com/office/drawing/2014/main" id="{A851B89F-44CA-4B51-AF6A-586A1FA9E29A}"/>
              </a:ext>
            </a:extLst>
          </p:cNvPr>
          <p:cNvSpPr>
            <a:spLocks xmlns:a="http://schemas.openxmlformats.org/drawingml/2006/main" noGrp="1"/>
          </p:cNvSpPr>
          <p:nvPr/>
        </p:nvSpPr>
        <p:spPr>
          <a:xfrm xmlns:a="http://schemas.openxmlformats.org/drawingml/2006/main">
            <a:off x="590550" y="3514725"/>
            <a:ext cx="30289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Value dimension</a:t>
            </a:r>
          </a:p>
        </p:txBody>
      </p:sp>
      <p:sp>
        <p:nvSpPr>
          <p:cNvPr id="28" name="">
            <a:extLst xmlns:a="http://schemas.openxmlformats.org/drawingml/2006/main">
              <a:ext uri="{FF2B5EF4-FFF2-40B4-BE49-F238E27FC236}">
                <a16:creationId xmlns:a16="http://schemas.microsoft.com/office/drawing/2014/main" id="{D2AE3C77-8851-4D03-98F5-6287BCF6D352}"/>
              </a:ext>
            </a:extLst>
          </p:cNvPr>
          <p:cNvSpPr>
            <a:spLocks xmlns:a="http://schemas.openxmlformats.org/drawingml/2006/main" noGrp="1"/>
          </p:cNvSpPr>
          <p:nvPr/>
        </p:nvSpPr>
        <p:spPr>
          <a:xfrm xmlns:a="http://schemas.openxmlformats.org/drawingml/2006/main">
            <a:off x="3829050" y="3514725"/>
            <a:ext cx="26479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Up to 64 bytes</a:t>
            </a:r>
          </a:p>
        </p:txBody>
      </p:sp>
      <p:sp>
        <p:nvSpPr>
          <p:cNvPr id="29" name="">
            <a:extLst xmlns:a="http://schemas.openxmlformats.org/drawingml/2006/main">
              <a:ext uri="{FF2B5EF4-FFF2-40B4-BE49-F238E27FC236}">
                <a16:creationId xmlns:a16="http://schemas.microsoft.com/office/drawing/2014/main" id="{2070662A-D178-49F1-9364-51260E8CB186}"/>
              </a:ext>
            </a:extLst>
          </p:cNvPr>
          <p:cNvSpPr>
            <a:spLocks xmlns:a="http://schemas.openxmlformats.org/drawingml/2006/main" noGrp="1"/>
          </p:cNvSpPr>
          <p:nvPr/>
        </p:nvSpPr>
        <p:spPr>
          <a:xfrm xmlns:a="http://schemas.openxmlformats.org/drawingml/2006/main">
            <a:off x="6686550" y="3514725"/>
            <a:ext cx="49720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 multiple of the lane count and of 4</a:t>
            </a:r>
          </a:p>
        </p:txBody>
      </p:sp>
      <p:sp>
        <p:nvSpPr>
          <p:cNvPr id="30" name="">
            <a:extLst xmlns:a="http://schemas.openxmlformats.org/drawingml/2006/main">
              <a:ext uri="{FF2B5EF4-FFF2-40B4-BE49-F238E27FC236}">
                <a16:creationId xmlns:a16="http://schemas.microsoft.com/office/drawing/2014/main" id="{7ABC3436-2A5F-4953-B08E-35099AFDBA9F}"/>
              </a:ext>
            </a:extLst>
          </p:cNvPr>
          <p:cNvSpPr>
            <a:spLocks xmlns:a="http://schemas.openxmlformats.org/drawingml/2006/main" noGrp="1"/>
          </p:cNvSpPr>
          <p:nvPr/>
        </p:nvSpPr>
        <p:spPr>
          <a:xfrm xmlns:a="http://schemas.openxmlformats.org/drawingml/2006/main">
            <a:off x="457200" y="3867150"/>
            <a:ext cx="112776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1" name="">
            <a:extLst xmlns:a="http://schemas.openxmlformats.org/drawingml/2006/main">
              <a:ext uri="{FF2B5EF4-FFF2-40B4-BE49-F238E27FC236}">
                <a16:creationId xmlns:a16="http://schemas.microsoft.com/office/drawing/2014/main" id="{6A9D9AAC-4FC2-4E97-9E3C-7562448322BF}"/>
              </a:ext>
            </a:extLst>
          </p:cNvPr>
          <p:cNvSpPr>
            <a:spLocks xmlns:a="http://schemas.openxmlformats.org/drawingml/2006/main" noGrp="1"/>
          </p:cNvSpPr>
          <p:nvPr/>
        </p:nvSpPr>
        <p:spPr>
          <a:xfrm xmlns:a="http://schemas.openxmlformats.org/drawingml/2006/main">
            <a:off x="590550" y="3971925"/>
            <a:ext cx="30289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Multiply lanes</a:t>
            </a:r>
          </a:p>
        </p:txBody>
      </p:sp>
      <p:sp>
        <p:nvSpPr>
          <p:cNvPr id="32" name="">
            <a:extLst xmlns:a="http://schemas.openxmlformats.org/drawingml/2006/main">
              <a:ext uri="{FF2B5EF4-FFF2-40B4-BE49-F238E27FC236}">
                <a16:creationId xmlns:a16="http://schemas.microsoft.com/office/drawing/2014/main" id="{890CB780-68CE-43E5-B641-8809DD93ED0F}"/>
              </a:ext>
            </a:extLst>
          </p:cNvPr>
          <p:cNvSpPr>
            <a:spLocks xmlns:a="http://schemas.openxmlformats.org/drawingml/2006/main" noGrp="1"/>
          </p:cNvSpPr>
          <p:nvPr/>
        </p:nvSpPr>
        <p:spPr>
          <a:xfrm xmlns:a="http://schemas.openxmlformats.org/drawingml/2006/main">
            <a:off x="3829050" y="3971925"/>
            <a:ext cx="26479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16</a:t>
            </a:r>
          </a:p>
        </p:txBody>
      </p:sp>
      <p:sp>
        <p:nvSpPr>
          <p:cNvPr id="33" name="">
            <a:extLst xmlns:a="http://schemas.openxmlformats.org/drawingml/2006/main">
              <a:ext uri="{FF2B5EF4-FFF2-40B4-BE49-F238E27FC236}">
                <a16:creationId xmlns:a16="http://schemas.microsoft.com/office/drawing/2014/main" id="{7A1A6278-EC91-4094-B489-25D99DCFEFB4}"/>
              </a:ext>
            </a:extLst>
          </p:cNvPr>
          <p:cNvSpPr>
            <a:spLocks xmlns:a="http://schemas.openxmlformats.org/drawingml/2006/main" noGrp="1"/>
          </p:cNvSpPr>
          <p:nvPr/>
        </p:nvSpPr>
        <p:spPr>
          <a:xfrm xmlns:a="http://schemas.openxmlformats.org/drawingml/2006/main">
            <a:off x="6686550" y="3971925"/>
            <a:ext cx="49720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Width of the shared multiply array</a:t>
            </a:r>
          </a:p>
        </p:txBody>
      </p:sp>
      <p:sp>
        <p:nvSpPr>
          <p:cNvPr id="34" name="">
            <a:extLst xmlns:a="http://schemas.openxmlformats.org/drawingml/2006/main">
              <a:ext uri="{FF2B5EF4-FFF2-40B4-BE49-F238E27FC236}">
                <a16:creationId xmlns:a16="http://schemas.microsoft.com/office/drawing/2014/main" id="{DED22A9D-52C9-4ED2-805C-3748D3CF8AEF}"/>
              </a:ext>
            </a:extLst>
          </p:cNvPr>
          <p:cNvSpPr>
            <a:spLocks xmlns:a="http://schemas.openxmlformats.org/drawingml/2006/main" noGrp="1"/>
          </p:cNvSpPr>
          <p:nvPr/>
        </p:nvSpPr>
        <p:spPr>
          <a:xfrm xmlns:a="http://schemas.openxmlformats.org/drawingml/2006/main">
            <a:off x="457200" y="4324350"/>
            <a:ext cx="1127760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35" name="">
            <a:extLst xmlns:a="http://schemas.openxmlformats.org/drawingml/2006/main">
              <a:ext uri="{FF2B5EF4-FFF2-40B4-BE49-F238E27FC236}">
                <a16:creationId xmlns:a16="http://schemas.microsoft.com/office/drawing/2014/main" id="{F8E00D71-D8B6-4AD1-B6EA-18D92A42BD58}"/>
              </a:ext>
            </a:extLst>
          </p:cNvPr>
          <p:cNvSpPr>
            <a:spLocks xmlns:a="http://schemas.openxmlformats.org/drawingml/2006/main" noGrp="1"/>
          </p:cNvSpPr>
          <p:nvPr/>
        </p:nvSpPr>
        <p:spPr>
          <a:xfrm xmlns:a="http://schemas.openxmlformats.org/drawingml/2006/main">
            <a:off x="590550" y="4429125"/>
            <a:ext cx="30289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Weight table</a:t>
            </a:r>
          </a:p>
        </p:txBody>
      </p:sp>
      <p:sp>
        <p:nvSpPr>
          <p:cNvPr id="36" name="">
            <a:extLst xmlns:a="http://schemas.openxmlformats.org/drawingml/2006/main">
              <a:ext uri="{FF2B5EF4-FFF2-40B4-BE49-F238E27FC236}">
                <a16:creationId xmlns:a16="http://schemas.microsoft.com/office/drawing/2014/main" id="{6620C07E-EEB6-4295-98FE-AEE2B9083D22}"/>
              </a:ext>
            </a:extLst>
          </p:cNvPr>
          <p:cNvSpPr>
            <a:spLocks xmlns:a="http://schemas.openxmlformats.org/drawingml/2006/main" noGrp="1"/>
          </p:cNvSpPr>
          <p:nvPr/>
        </p:nvSpPr>
        <p:spPr>
          <a:xfrm xmlns:a="http://schemas.openxmlformats.org/drawingml/2006/main">
            <a:off x="3829050" y="4429125"/>
            <a:ext cx="26479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256 entries, 15-bit</a:t>
            </a:r>
          </a:p>
        </p:txBody>
      </p:sp>
      <p:sp>
        <p:nvSpPr>
          <p:cNvPr id="37" name="">
            <a:extLst xmlns:a="http://schemas.openxmlformats.org/drawingml/2006/main">
              <a:ext uri="{FF2B5EF4-FFF2-40B4-BE49-F238E27FC236}">
                <a16:creationId xmlns:a16="http://schemas.microsoft.com/office/drawing/2014/main" id="{2151D8A1-226A-4A47-80C4-0FF7BCC5E6FA}"/>
              </a:ext>
            </a:extLst>
          </p:cNvPr>
          <p:cNvSpPr>
            <a:spLocks xmlns:a="http://schemas.openxmlformats.org/drawingml/2006/main" noGrp="1"/>
          </p:cNvSpPr>
          <p:nvPr/>
        </p:nvSpPr>
        <p:spPr>
          <a:xfrm xmlns:a="http://schemas.openxmlformats.org/drawingml/2006/main">
            <a:off x="6686550" y="4429125"/>
            <a:ext cx="49720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Softmax weights are never quantised</a:t>
            </a:r>
          </a:p>
        </p:txBody>
      </p:sp>
      <p:sp>
        <p:nvSpPr>
          <p:cNvPr id="38" name="">
            <a:extLst xmlns:a="http://schemas.openxmlformats.org/drawingml/2006/main">
              <a:ext uri="{FF2B5EF4-FFF2-40B4-BE49-F238E27FC236}">
                <a16:creationId xmlns:a16="http://schemas.microsoft.com/office/drawing/2014/main" id="{5CD668CA-6067-4BF2-BC55-5E2A49C653F9}"/>
              </a:ext>
            </a:extLst>
          </p:cNvPr>
          <p:cNvSpPr>
            <a:spLocks xmlns:a="http://schemas.openxmlformats.org/drawingml/2006/main" noGrp="1"/>
          </p:cNvSpPr>
          <p:nvPr/>
        </p:nvSpPr>
        <p:spPr>
          <a:xfrm xmlns:a="http://schemas.openxmlformats.org/drawingml/2006/main">
            <a:off x="457200" y="4781550"/>
            <a:ext cx="112776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9" name="">
            <a:extLst xmlns:a="http://schemas.openxmlformats.org/drawingml/2006/main">
              <a:ext uri="{FF2B5EF4-FFF2-40B4-BE49-F238E27FC236}">
                <a16:creationId xmlns:a16="http://schemas.microsoft.com/office/drawing/2014/main" id="{0BA32056-07FC-42B7-97E6-718C3D270B3D}"/>
              </a:ext>
            </a:extLst>
          </p:cNvPr>
          <p:cNvSpPr>
            <a:spLocks xmlns:a="http://schemas.openxmlformats.org/drawingml/2006/main" noGrp="1"/>
          </p:cNvSpPr>
          <p:nvPr/>
        </p:nvSpPr>
        <p:spPr>
          <a:xfrm xmlns:a="http://schemas.openxmlformats.org/drawingml/2006/main">
            <a:off x="590550" y="4886325"/>
            <a:ext cx="30289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Numerator</a:t>
            </a:r>
          </a:p>
        </p:txBody>
      </p:sp>
      <p:sp>
        <p:nvSpPr>
          <p:cNvPr id="40" name="">
            <a:extLst xmlns:a="http://schemas.openxmlformats.org/drawingml/2006/main">
              <a:ext uri="{FF2B5EF4-FFF2-40B4-BE49-F238E27FC236}">
                <a16:creationId xmlns:a16="http://schemas.microsoft.com/office/drawing/2014/main" id="{BCE25A52-2938-4374-BAE2-043274FC5C60}"/>
              </a:ext>
            </a:extLst>
          </p:cNvPr>
          <p:cNvSpPr>
            <a:spLocks xmlns:a="http://schemas.openxmlformats.org/drawingml/2006/main" noGrp="1"/>
          </p:cNvSpPr>
          <p:nvPr/>
        </p:nvSpPr>
        <p:spPr>
          <a:xfrm xmlns:a="http://schemas.openxmlformats.org/drawingml/2006/main">
            <a:off x="3829050" y="4886325"/>
            <a:ext cx="26479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40-bit</a:t>
            </a:r>
          </a:p>
        </p:txBody>
      </p:sp>
      <p:sp>
        <p:nvSpPr>
          <p:cNvPr id="41" name="">
            <a:extLst xmlns:a="http://schemas.openxmlformats.org/drawingml/2006/main">
              <a:ext uri="{FF2B5EF4-FFF2-40B4-BE49-F238E27FC236}">
                <a16:creationId xmlns:a16="http://schemas.microsoft.com/office/drawing/2014/main" id="{9016F1B6-0446-4273-98B6-512672B34020}"/>
              </a:ext>
            </a:extLst>
          </p:cNvPr>
          <p:cNvSpPr>
            <a:spLocks xmlns:a="http://schemas.openxmlformats.org/drawingml/2006/main" noGrp="1"/>
          </p:cNvSpPr>
          <p:nvPr/>
        </p:nvSpPr>
        <p:spPr>
          <a:xfrm xmlns:a="http://schemas.openxmlformats.org/drawingml/2006/main">
            <a:off x="6686550" y="4886325"/>
            <a:ext cx="49720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Exact to 131,072 keys</a:t>
            </a:r>
          </a:p>
        </p:txBody>
      </p:sp>
      <p:sp>
        <p:nvSpPr>
          <p:cNvPr id="42" name="">
            <a:extLst xmlns:a="http://schemas.openxmlformats.org/drawingml/2006/main">
              <a:ext uri="{FF2B5EF4-FFF2-40B4-BE49-F238E27FC236}">
                <a16:creationId xmlns:a16="http://schemas.microsoft.com/office/drawing/2014/main" id="{A7B10A53-0F5D-46F7-9C5B-48BDE9366CBB}"/>
              </a:ext>
            </a:extLst>
          </p:cNvPr>
          <p:cNvSpPr>
            <a:spLocks xmlns:a="http://schemas.openxmlformats.org/drawingml/2006/main" noGrp="1"/>
          </p:cNvSpPr>
          <p:nvPr/>
        </p:nvSpPr>
        <p:spPr>
          <a:xfrm xmlns:a="http://schemas.openxmlformats.org/drawingml/2006/main">
            <a:off x="457200" y="5238750"/>
            <a:ext cx="1127760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43" name="">
            <a:extLst xmlns:a="http://schemas.openxmlformats.org/drawingml/2006/main">
              <a:ext uri="{FF2B5EF4-FFF2-40B4-BE49-F238E27FC236}">
                <a16:creationId xmlns:a16="http://schemas.microsoft.com/office/drawing/2014/main" id="{A6A73650-E4B1-4A72-A1A5-30B29D352616}"/>
              </a:ext>
            </a:extLst>
          </p:cNvPr>
          <p:cNvSpPr>
            <a:spLocks xmlns:a="http://schemas.openxmlformats.org/drawingml/2006/main" noGrp="1"/>
          </p:cNvSpPr>
          <p:nvPr/>
        </p:nvSpPr>
        <p:spPr>
          <a:xfrm xmlns:a="http://schemas.openxmlformats.org/drawingml/2006/main">
            <a:off x="590550" y="5343525"/>
            <a:ext cx="30289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Cost per query row</a:t>
            </a:r>
          </a:p>
        </p:txBody>
      </p:sp>
      <p:sp>
        <p:nvSpPr>
          <p:cNvPr id="44" name="">
            <a:extLst xmlns:a="http://schemas.openxmlformats.org/drawingml/2006/main">
              <a:ext uri="{FF2B5EF4-FFF2-40B4-BE49-F238E27FC236}">
                <a16:creationId xmlns:a16="http://schemas.microsoft.com/office/drawing/2014/main" id="{E91BD514-9AF0-44D5-B4C0-97445DF10BF4}"/>
              </a:ext>
            </a:extLst>
          </p:cNvPr>
          <p:cNvSpPr>
            <a:spLocks xmlns:a="http://schemas.openxmlformats.org/drawingml/2006/main" noGrp="1"/>
          </p:cNvSpPr>
          <p:nvPr/>
        </p:nvSpPr>
        <p:spPr>
          <a:xfrm xmlns:a="http://schemas.openxmlformats.org/drawingml/2006/main">
            <a:off x="3829050" y="5343525"/>
            <a:ext cx="26479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~3,242 cycles</a:t>
            </a:r>
          </a:p>
        </p:txBody>
      </p:sp>
      <p:sp>
        <p:nvSpPr>
          <p:cNvPr id="45" name="">
            <a:extLst xmlns:a="http://schemas.openxmlformats.org/drawingml/2006/main">
              <a:ext uri="{FF2B5EF4-FFF2-40B4-BE49-F238E27FC236}">
                <a16:creationId xmlns:a16="http://schemas.microsoft.com/office/drawing/2014/main" id="{F96CCD5B-8540-49F0-91B5-80156AAB74F6}"/>
              </a:ext>
            </a:extLst>
          </p:cNvPr>
          <p:cNvSpPr>
            <a:spLocks xmlns:a="http://schemas.openxmlformats.org/drawingml/2006/main" noGrp="1"/>
          </p:cNvSpPr>
          <p:nvPr/>
        </p:nvSpPr>
        <p:spPr>
          <a:xfrm xmlns:a="http://schemas.openxmlformats.org/drawingml/2006/main">
            <a:off x="6686550" y="5343525"/>
            <a:ext cx="49720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Analytic, at 16 lanes, 400 keys, 32- and 64-byte vectors</a:t>
            </a:r>
          </a:p>
        </p:txBody>
      </p:sp>
      <p:sp>
        <p:nvSpPr>
          <p:cNvPr id="46" name="">
            <a:extLst xmlns:a="http://schemas.openxmlformats.org/drawingml/2006/main">
              <a:ext uri="{FF2B5EF4-FFF2-40B4-BE49-F238E27FC236}">
                <a16:creationId xmlns:a16="http://schemas.microsoft.com/office/drawing/2014/main" id="{2063C384-FA85-48D0-A57F-3555AF9A52C5}"/>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DG32-2DOM preliminary datasheet §1 and §8 engine parameters.</a:t>
            </a:r>
          </a:p>
        </p:txBody>
      </p:sp>
    </p:spTree>
    <p:extLst>
      <p:ext uri="{BB962C8B-B14F-4D97-AF65-F5344CB8AC3E}">
        <p14:creationId xmlns:p14="http://schemas.microsoft.com/office/powerpoint/2010/main" val="125840207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F47B074-2A97-4AAC-A71D-64F50416A08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73D8F77-8AE8-49E8-B8BD-88DDC586E154}"/>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08 · ON THE BOARD</a:t>
            </a:r>
          </a:p>
        </p:txBody>
      </p:sp>
      <p:sp>
        <p:nvSpPr>
          <p:cNvPr id="3" name="">
            <a:extLst xmlns:a="http://schemas.openxmlformats.org/drawingml/2006/main">
              <a:ext uri="{FF2B5EF4-FFF2-40B4-BE49-F238E27FC236}">
                <a16:creationId xmlns:a16="http://schemas.microsoft.com/office/drawing/2014/main" id="{8B5F2A44-4AC2-428F-B857-109A9C396A6B}"/>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A DG32-LITE board takes DG32-2DOM unchanged</a:t>
            </a:r>
          </a:p>
        </p:txBody>
      </p:sp>
      <p:sp>
        <p:nvSpPr>
          <p:cNvPr id="4" name="">
            <a:extLst xmlns:a="http://schemas.openxmlformats.org/drawingml/2006/main">
              <a:ext uri="{FF2B5EF4-FFF2-40B4-BE49-F238E27FC236}">
                <a16:creationId xmlns:a16="http://schemas.microsoft.com/office/drawing/2014/main" id="{76AC6B0F-3A1D-4938-BB4C-FDA3B28164F9}"/>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engine is internal, so the board sees the DG32-LITE footprint</a:t>
            </a:r>
          </a:p>
        </p:txBody>
      </p:sp>
      <p:sp>
        <p:nvSpPr>
          <p:cNvPr id="5" name="">
            <a:extLst xmlns:a="http://schemas.openxmlformats.org/drawingml/2006/main">
              <a:ext uri="{FF2B5EF4-FFF2-40B4-BE49-F238E27FC236}">
                <a16:creationId xmlns:a16="http://schemas.microsoft.com/office/drawing/2014/main" id="{924760A0-59E5-4DD9-8062-FC8F0F00506F}"/>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56E2975-8F8D-48D0-84C7-F31074151D88}"/>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03E5AB6-ED89-4520-9C26-58990F0A7F05}"/>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PRELIMINARY DATASHEET  ·  SEPTEMBER 2026  ·  PRE-SILICON</a:t>
            </a:r>
          </a:p>
        </p:txBody>
      </p:sp>
      <p:sp>
        <p:nvSpPr>
          <p:cNvPr id="8" name="">
            <a:extLst xmlns:a="http://schemas.openxmlformats.org/drawingml/2006/main">
              <a:ext uri="{FF2B5EF4-FFF2-40B4-BE49-F238E27FC236}">
                <a16:creationId xmlns:a16="http://schemas.microsoft.com/office/drawing/2014/main" id="{0A890346-A8F6-41D3-A3E3-44FE35DFEEFE}"/>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08</a:t>
            </a:r>
          </a:p>
        </p:txBody>
      </p:sp>
      <p:sp>
        <p:nvSpPr>
          <p:cNvPr id="9" name="">
            <a:extLst xmlns:a="http://schemas.openxmlformats.org/drawingml/2006/main">
              <a:ext uri="{FF2B5EF4-FFF2-40B4-BE49-F238E27FC236}">
                <a16:creationId xmlns:a16="http://schemas.microsoft.com/office/drawing/2014/main" id="{166E2486-F98D-41AE-AF0E-4D14829DE84F}"/>
              </a:ext>
            </a:extLst>
          </p:cNvPr>
          <p:cNvSpPr>
            <a:spLocks xmlns:a="http://schemas.openxmlformats.org/drawingml/2006/main" noGrp="1"/>
          </p:cNvSpPr>
          <p:nvPr/>
        </p:nvSpPr>
        <p:spPr>
          <a:xfrm xmlns:a="http://schemas.openxmlformats.org/drawingml/2006/main">
            <a:off x="457200" y="1638300"/>
            <a:ext cx="3581400" cy="3143250"/>
          </a:xfrm>
          <a:prstGeom xmlns:a="http://schemas.openxmlformats.org/drawingml/2006/main" prst="roundRect">
            <a:avLst>
              <a:gd name="adj" fmla="val 2424"/>
            </a:avLst>
          </a:prstGeom>
          <a:solidFill xmlns:a="http://schemas.openxmlformats.org/drawingml/2006/main">
            <a:srgbClr val="F8FAFC"/>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3C7EFB59-005C-459B-884F-FD596F868B87}"/>
              </a:ext>
            </a:extLst>
          </p:cNvPr>
          <p:cNvSpPr>
            <a:spLocks xmlns:a="http://schemas.openxmlformats.org/drawingml/2006/main" noGrp="1"/>
          </p:cNvSpPr>
          <p:nvPr/>
        </p:nvSpPr>
        <p:spPr>
          <a:xfrm xmlns:a="http://schemas.openxmlformats.org/drawingml/2006/main">
            <a:off x="571500" y="1790700"/>
            <a:ext cx="3352800" cy="895350"/>
          </a:xfrm>
          <a:prstGeom xmlns:a="http://schemas.openxmlformats.org/drawingml/2006/main" prst="rect">
            <a:avLst/>
          </a:prstGeom>
        </p:spPr>
        <p:txBody>
          <a:bodyPr xmlns:a="http://schemas.openxmlformats.org/drawingml/2006/main" lIns="0" tIns="0" rIns="0" bIns="0" anchor="t">
            <a:normAutofit fontScale="97917"/>
          </a:bodyPr>
          <a:lstStyle xmlns:a="http://schemas.openxmlformats.org/drawingml/2006/main"/>
          <a:p xmlns:a="http://schemas.openxmlformats.org/drawingml/2006/main">
            <a:pPr algn="ctr">
              <a:defRPr sz="6000" b="1">
                <a:solidFill>
                  <a:srgbClr val="0077A3"/>
                </a:solidFill>
                <a:latin typeface="Georgia"/>
                <a:ea typeface="Georgia"/>
                <a:cs typeface="Georgia"/>
              </a:defRPr>
            </a:pPr>
            <a:r>
              <a:t>0</a:t>
            </a:r>
          </a:p>
        </p:txBody>
      </p:sp>
      <p:sp>
        <p:nvSpPr>
          <p:cNvPr id="11" name="">
            <a:extLst xmlns:a="http://schemas.openxmlformats.org/drawingml/2006/main">
              <a:ext uri="{FF2B5EF4-FFF2-40B4-BE49-F238E27FC236}">
                <a16:creationId xmlns:a16="http://schemas.microsoft.com/office/drawing/2014/main" id="{AFA078DB-B7A8-47A5-9CC1-8458B2B4206D}"/>
              </a:ext>
            </a:extLst>
          </p:cNvPr>
          <p:cNvSpPr>
            <a:spLocks xmlns:a="http://schemas.openxmlformats.org/drawingml/2006/main" noGrp="1"/>
          </p:cNvSpPr>
          <p:nvPr/>
        </p:nvSpPr>
        <p:spPr>
          <a:xfrm xmlns:a="http://schemas.openxmlformats.org/drawingml/2006/main">
            <a:off x="571500" y="2705100"/>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BOARD SIGNALS ADDED</a:t>
            </a:r>
          </a:p>
        </p:txBody>
      </p:sp>
      <p:sp>
        <p:nvSpPr>
          <p:cNvPr id="12" name="">
            <a:extLst xmlns:a="http://schemas.openxmlformats.org/drawingml/2006/main">
              <a:ext uri="{FF2B5EF4-FFF2-40B4-BE49-F238E27FC236}">
                <a16:creationId xmlns:a16="http://schemas.microsoft.com/office/drawing/2014/main" id="{6B963C71-D489-48DF-AB8D-5D01909300BB}"/>
              </a:ext>
            </a:extLst>
          </p:cNvPr>
          <p:cNvSpPr>
            <a:spLocks xmlns:a="http://schemas.openxmlformats.org/drawingml/2006/main" noGrp="1"/>
          </p:cNvSpPr>
          <p:nvPr/>
        </p:nvSpPr>
        <p:spPr>
          <a:xfrm xmlns:a="http://schemas.openxmlformats.org/drawingml/2006/main">
            <a:off x="590550" y="2952750"/>
            <a:ext cx="3314700" cy="1771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The attention engine is internal to the die</a:t>
            </a:r>
          </a:p>
        </p:txBody>
      </p:sp>
      <p:sp>
        <p:nvSpPr>
          <p:cNvPr id="13" name="">
            <a:extLst xmlns:a="http://schemas.openxmlformats.org/drawingml/2006/main">
              <a:ext uri="{FF2B5EF4-FFF2-40B4-BE49-F238E27FC236}">
                <a16:creationId xmlns:a16="http://schemas.microsoft.com/office/drawing/2014/main" id="{32519392-D8F4-47E4-9838-4A3F3FD9717B}"/>
              </a:ext>
            </a:extLst>
          </p:cNvPr>
          <p:cNvSpPr>
            <a:spLocks xmlns:a="http://schemas.openxmlformats.org/drawingml/2006/main" noGrp="1"/>
          </p:cNvSpPr>
          <p:nvPr/>
        </p:nvSpPr>
        <p:spPr>
          <a:xfrm xmlns:a="http://schemas.openxmlformats.org/drawingml/2006/main">
            <a:off x="4305300" y="1638300"/>
            <a:ext cx="742950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52465FD4-FF99-46F7-8696-427BF65AAC54}"/>
              </a:ext>
            </a:extLst>
          </p:cNvPr>
          <p:cNvSpPr>
            <a:spLocks xmlns:a="http://schemas.openxmlformats.org/drawingml/2006/main" noGrp="1"/>
          </p:cNvSpPr>
          <p:nvPr/>
        </p:nvSpPr>
        <p:spPr>
          <a:xfrm xmlns:a="http://schemas.openxmlformats.org/drawingml/2006/main">
            <a:off x="4305300" y="1638300"/>
            <a:ext cx="57150" cy="10096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098E0EA-0029-49A5-A6CD-2724C9CBF33A}"/>
              </a:ext>
            </a:extLst>
          </p:cNvPr>
          <p:cNvSpPr>
            <a:spLocks xmlns:a="http://schemas.openxmlformats.org/drawingml/2006/main" noGrp="1"/>
          </p:cNvSpPr>
          <p:nvPr/>
        </p:nvSpPr>
        <p:spPr>
          <a:xfrm xmlns:a="http://schemas.openxmlformats.org/drawingml/2006/main">
            <a:off x="4533900" y="1828800"/>
            <a:ext cx="70104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Same footprint</a:t>
            </a:r>
          </a:p>
        </p:txBody>
      </p:sp>
      <p:sp>
        <p:nvSpPr>
          <p:cNvPr id="16" name="">
            <a:extLst xmlns:a="http://schemas.openxmlformats.org/drawingml/2006/main">
              <a:ext uri="{FF2B5EF4-FFF2-40B4-BE49-F238E27FC236}">
                <a16:creationId xmlns:a16="http://schemas.microsoft.com/office/drawing/2014/main" id="{BA731695-F1B6-4482-8D42-8AF600C580C9}"/>
              </a:ext>
            </a:extLst>
          </p:cNvPr>
          <p:cNvSpPr>
            <a:spLocks xmlns:a="http://schemas.openxmlformats.org/drawingml/2006/main" noGrp="1"/>
          </p:cNvSpPr>
          <p:nvPr/>
        </p:nvSpPr>
        <p:spPr>
          <a:xfrm xmlns:a="http://schemas.openxmlformats.org/drawingml/2006/main">
            <a:off x="4533900" y="2190750"/>
            <a:ext cx="69723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QFN-64, 9 × 9 mm, with an identical pin map.</a:t>
            </a:r>
          </a:p>
        </p:txBody>
      </p:sp>
      <p:sp>
        <p:nvSpPr>
          <p:cNvPr id="17" name="">
            <a:extLst xmlns:a="http://schemas.openxmlformats.org/drawingml/2006/main">
              <a:ext uri="{FF2B5EF4-FFF2-40B4-BE49-F238E27FC236}">
                <a16:creationId xmlns:a16="http://schemas.microsoft.com/office/drawing/2014/main" id="{B119B04F-97A3-400C-B380-B7114C97F703}"/>
              </a:ext>
            </a:extLst>
          </p:cNvPr>
          <p:cNvSpPr>
            <a:spLocks xmlns:a="http://schemas.openxmlformats.org/drawingml/2006/main" noGrp="1"/>
          </p:cNvSpPr>
          <p:nvPr/>
        </p:nvSpPr>
        <p:spPr>
          <a:xfrm xmlns:a="http://schemas.openxmlformats.org/drawingml/2006/main">
            <a:off x="4305300" y="2781300"/>
            <a:ext cx="742950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6ED0C709-E0A8-40C2-868B-883F49B66840}"/>
              </a:ext>
            </a:extLst>
          </p:cNvPr>
          <p:cNvSpPr>
            <a:spLocks xmlns:a="http://schemas.openxmlformats.org/drawingml/2006/main" noGrp="1"/>
          </p:cNvSpPr>
          <p:nvPr/>
        </p:nvSpPr>
        <p:spPr>
          <a:xfrm xmlns:a="http://schemas.openxmlformats.org/drawingml/2006/main">
            <a:off x="4305300" y="2781300"/>
            <a:ext cx="57150" cy="1009650"/>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441712B-67C0-4A48-9AEC-7A72073270B8}"/>
              </a:ext>
            </a:extLst>
          </p:cNvPr>
          <p:cNvSpPr>
            <a:spLocks xmlns:a="http://schemas.openxmlformats.org/drawingml/2006/main" noGrp="1"/>
          </p:cNvSpPr>
          <p:nvPr/>
        </p:nvSpPr>
        <p:spPr>
          <a:xfrm xmlns:a="http://schemas.openxmlformats.org/drawingml/2006/main">
            <a:off x="4533900" y="2971800"/>
            <a:ext cx="70104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Same supplies</a:t>
            </a:r>
          </a:p>
        </p:txBody>
      </p:sp>
      <p:sp>
        <p:nvSpPr>
          <p:cNvPr id="20" name="">
            <a:extLst xmlns:a="http://schemas.openxmlformats.org/drawingml/2006/main">
              <a:ext uri="{FF2B5EF4-FFF2-40B4-BE49-F238E27FC236}">
                <a16:creationId xmlns:a16="http://schemas.microsoft.com/office/drawing/2014/main" id="{2D9095F8-6989-4973-8501-C515F4ACD82A}"/>
              </a:ext>
            </a:extLst>
          </p:cNvPr>
          <p:cNvSpPr>
            <a:spLocks xmlns:a="http://schemas.openxmlformats.org/drawingml/2006/main" noGrp="1"/>
          </p:cNvSpPr>
          <p:nvPr/>
        </p:nvSpPr>
        <p:spPr>
          <a:xfrm xmlns:a="http://schemas.openxmlformats.org/drawingml/2006/main">
            <a:off x="4533900" y="3333750"/>
            <a:ext cx="69723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1.8 V core and a 3.3 V I/O ring, with the same sequencing.</a:t>
            </a:r>
          </a:p>
        </p:txBody>
      </p:sp>
      <p:sp>
        <p:nvSpPr>
          <p:cNvPr id="21" name="">
            <a:extLst xmlns:a="http://schemas.openxmlformats.org/drawingml/2006/main">
              <a:ext uri="{FF2B5EF4-FFF2-40B4-BE49-F238E27FC236}">
                <a16:creationId xmlns:a16="http://schemas.microsoft.com/office/drawing/2014/main" id="{7C9640C1-5593-482B-8C73-3609E68DB6C0}"/>
              </a:ext>
            </a:extLst>
          </p:cNvPr>
          <p:cNvSpPr>
            <a:spLocks xmlns:a="http://schemas.openxmlformats.org/drawingml/2006/main" noGrp="1"/>
          </p:cNvSpPr>
          <p:nvPr/>
        </p:nvSpPr>
        <p:spPr>
          <a:xfrm xmlns:a="http://schemas.openxmlformats.org/drawingml/2006/main">
            <a:off x="4305300" y="3924300"/>
            <a:ext cx="742950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EDC9E036-086F-46BC-964E-EDA79ED5698C}"/>
              </a:ext>
            </a:extLst>
          </p:cNvPr>
          <p:cNvSpPr>
            <a:spLocks xmlns:a="http://schemas.openxmlformats.org/drawingml/2006/main" noGrp="1"/>
          </p:cNvSpPr>
          <p:nvPr/>
        </p:nvSpPr>
        <p:spPr>
          <a:xfrm xmlns:a="http://schemas.openxmlformats.org/drawingml/2006/main">
            <a:off x="4305300" y="3924300"/>
            <a:ext cx="57150" cy="1009650"/>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00716B7-1425-4292-BC2E-D7D5576AEA60}"/>
              </a:ext>
            </a:extLst>
          </p:cNvPr>
          <p:cNvSpPr>
            <a:spLocks xmlns:a="http://schemas.openxmlformats.org/drawingml/2006/main" noGrp="1"/>
          </p:cNvSpPr>
          <p:nvPr/>
        </p:nvSpPr>
        <p:spPr>
          <a:xfrm xmlns:a="http://schemas.openxmlformats.org/drawingml/2006/main">
            <a:off x="4533900" y="4114800"/>
            <a:ext cx="70104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Same boot</a:t>
            </a:r>
          </a:p>
        </p:txBody>
      </p:sp>
      <p:sp>
        <p:nvSpPr>
          <p:cNvPr id="24" name="">
            <a:extLst xmlns:a="http://schemas.openxmlformats.org/drawingml/2006/main">
              <a:ext uri="{FF2B5EF4-FFF2-40B4-BE49-F238E27FC236}">
                <a16:creationId xmlns:a16="http://schemas.microsoft.com/office/drawing/2014/main" id="{617E2CAA-C4F0-4F34-B390-8D1D5A7C4188}"/>
              </a:ext>
            </a:extLst>
          </p:cNvPr>
          <p:cNvSpPr>
            <a:spLocks xmlns:a="http://schemas.openxmlformats.org/drawingml/2006/main" noGrp="1"/>
          </p:cNvSpPr>
          <p:nvPr/>
        </p:nvSpPr>
        <p:spPr>
          <a:xfrm xmlns:a="http://schemas.openxmlformats.org/drawingml/2006/main">
            <a:off x="4533900" y="4476750"/>
            <a:ext cx="69723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External QSPI flash and the console UART, as on DG32-LITE.</a:t>
            </a:r>
          </a:p>
        </p:txBody>
      </p:sp>
      <p:sp>
        <p:nvSpPr>
          <p:cNvPr id="25" name="">
            <a:extLst xmlns:a="http://schemas.openxmlformats.org/drawingml/2006/main">
              <a:ext uri="{FF2B5EF4-FFF2-40B4-BE49-F238E27FC236}">
                <a16:creationId xmlns:a16="http://schemas.microsoft.com/office/drawing/2014/main" id="{F8168A1E-5550-4931-BE1F-5A0834E79F16}"/>
              </a:ext>
            </a:extLst>
          </p:cNvPr>
          <p:cNvSpPr>
            <a:spLocks xmlns:a="http://schemas.openxmlformats.org/drawingml/2006/main" noGrp="1"/>
          </p:cNvSpPr>
          <p:nvPr/>
        </p:nvSpPr>
        <p:spPr>
          <a:xfrm xmlns:a="http://schemas.openxmlformats.org/drawingml/2006/main">
            <a:off x="457200" y="5143500"/>
            <a:ext cx="112776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Status: design complete, in physical trials.</a:t>
            </a:r>
          </a:p>
        </p:txBody>
      </p:sp>
      <p:sp>
        <p:nvSpPr>
          <p:cNvPr id="26" name="">
            <a:extLst xmlns:a="http://schemas.openxmlformats.org/drawingml/2006/main">
              <a:ext uri="{FF2B5EF4-FFF2-40B4-BE49-F238E27FC236}">
                <a16:creationId xmlns:a16="http://schemas.microsoft.com/office/drawing/2014/main" id="{48D36643-0D4F-4030-9497-460684D0D3EA}"/>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DG32-2DOM preliminary datasheet §2, §5, §6, §9; DG32-LITE investor block diagram (status).</a:t>
            </a:r>
          </a:p>
        </p:txBody>
      </p:sp>
    </p:spTree>
    <p:extLst>
      <p:ext uri="{BB962C8B-B14F-4D97-AF65-F5344CB8AC3E}">
        <p14:creationId xmlns:p14="http://schemas.microsoft.com/office/powerpoint/2010/main" val="160935018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11087FC-9E2F-4FE9-A67A-D104ED2233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6E34DEC-1480-4D13-960A-7479C209EFCE}"/>
              </a:ext>
            </a:extLst>
          </p:cNvPr>
          <p:cNvSpPr>
            <a:spLocks xmlns:a="http://schemas.openxmlformats.org/drawingml/2006/main" noGrp="1"/>
          </p:cNvSpPr>
          <p:nvPr/>
        </p:nvSpPr>
        <p:spPr>
          <a:xfrm xmlns:a="http://schemas.openxmlformats.org/drawingml/2006/main">
            <a:off x="0" y="0"/>
            <a:ext cx="48768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D44372A-1832-4829-865F-6B2C6F3A7319}"/>
              </a:ext>
            </a:extLst>
          </p:cNvPr>
          <p:cNvSpPr>
            <a:spLocks xmlns:a="http://schemas.openxmlformats.org/drawingml/2006/main" noGrp="1"/>
          </p:cNvSpPr>
          <p:nvPr/>
        </p:nvSpPr>
        <p:spPr>
          <a:xfrm xmlns:a="http://schemas.openxmlformats.org/drawingml/2006/main">
            <a:off x="457200" y="609600"/>
            <a:ext cx="381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09 · CLOSE</a:t>
            </a:r>
          </a:p>
        </p:txBody>
      </p:sp>
      <p:sp>
        <p:nvSpPr>
          <p:cNvPr id="4" name="">
            <a:extLst xmlns:a="http://schemas.openxmlformats.org/drawingml/2006/main">
              <a:ext uri="{FF2B5EF4-FFF2-40B4-BE49-F238E27FC236}">
                <a16:creationId xmlns:a16="http://schemas.microsoft.com/office/drawing/2014/main" id="{965BF1AA-8DD2-4673-A887-CD257CF5A347}"/>
              </a:ext>
            </a:extLst>
          </p:cNvPr>
          <p:cNvSpPr>
            <a:spLocks xmlns:a="http://schemas.openxmlformats.org/drawingml/2006/main" noGrp="1"/>
          </p:cNvSpPr>
          <p:nvPr/>
        </p:nvSpPr>
        <p:spPr>
          <a:xfrm xmlns:a="http://schemas.openxmlformats.org/drawingml/2006/main">
            <a:off x="457200" y="990600"/>
            <a:ext cx="4000500" cy="1905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75" b="1">
                <a:solidFill>
                  <a:srgbClr val="FFFFFF"/>
                </a:solidFill>
                <a:latin typeface="Georgia"/>
                <a:ea typeface="Georgia"/>
                <a:cs typeface="Georgia"/>
              </a:defRPr>
            </a:pPr>
            <a:r>
              <a:t>One footprint. Two chips.</a:t>
            </a:r>
          </a:p>
        </p:txBody>
      </p:sp>
      <p:sp>
        <p:nvSpPr>
          <p:cNvPr id="5" name="">
            <a:extLst xmlns:a="http://schemas.openxmlformats.org/drawingml/2006/main">
              <a:ext uri="{FF2B5EF4-FFF2-40B4-BE49-F238E27FC236}">
                <a16:creationId xmlns:a16="http://schemas.microsoft.com/office/drawing/2014/main" id="{4F6788B9-54DB-4069-9FAD-162DA329F188}"/>
              </a:ext>
            </a:extLst>
          </p:cNvPr>
          <p:cNvSpPr>
            <a:spLocks xmlns:a="http://schemas.openxmlformats.org/drawingml/2006/main" noGrp="1"/>
          </p:cNvSpPr>
          <p:nvPr/>
        </p:nvSpPr>
        <p:spPr>
          <a:xfrm xmlns:a="http://schemas.openxmlformats.org/drawingml/2006/main">
            <a:off x="457200" y="3028950"/>
            <a:ext cx="1143000" cy="38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4995601-4622-4A32-8C6E-BCF9612053A7}"/>
              </a:ext>
            </a:extLst>
          </p:cNvPr>
          <p:cNvSpPr>
            <a:spLocks xmlns:a="http://schemas.openxmlformats.org/drawingml/2006/main" noGrp="1"/>
          </p:cNvSpPr>
          <p:nvPr/>
        </p:nvSpPr>
        <p:spPr>
          <a:xfrm xmlns:a="http://schemas.openxmlformats.org/drawingml/2006/main">
            <a:off x="457200" y="3276600"/>
            <a:ext cx="4000500"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Register offsets, the memory map and board-level rules live in the engineering datasheet, not in this overview.</a:t>
            </a:r>
          </a:p>
        </p:txBody>
      </p:sp>
      <p:sp>
        <p:nvSpPr>
          <p:cNvPr id="7" name="">
            <a:extLst xmlns:a="http://schemas.openxmlformats.org/drawingml/2006/main">
              <a:ext uri="{FF2B5EF4-FFF2-40B4-BE49-F238E27FC236}">
                <a16:creationId xmlns:a16="http://schemas.microsoft.com/office/drawing/2014/main" id="{6F6AD328-2D59-4EC0-8E63-D43C590C3606}"/>
              </a:ext>
            </a:extLst>
          </p:cNvPr>
          <p:cNvSpPr>
            <a:spLocks xmlns:a="http://schemas.openxmlformats.org/drawingml/2006/main" noGrp="1"/>
          </p:cNvSpPr>
          <p:nvPr/>
        </p:nvSpPr>
        <p:spPr>
          <a:xfrm xmlns:a="http://schemas.openxmlformats.org/drawingml/2006/main">
            <a:off x="5334000" y="609600"/>
            <a:ext cx="6400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THREE THINGS TO REMEMBER</a:t>
            </a:r>
          </a:p>
        </p:txBody>
      </p:sp>
      <p:sp>
        <p:nvSpPr>
          <p:cNvPr id="8" name="">
            <a:extLst xmlns:a="http://schemas.openxmlformats.org/drawingml/2006/main">
              <a:ext uri="{FF2B5EF4-FFF2-40B4-BE49-F238E27FC236}">
                <a16:creationId xmlns:a16="http://schemas.microsoft.com/office/drawing/2014/main" id="{AC1A0E1D-9E24-49FB-B941-92F9DAB183A4}"/>
              </a:ext>
            </a:extLst>
          </p:cNvPr>
          <p:cNvSpPr>
            <a:spLocks xmlns:a="http://schemas.openxmlformats.org/drawingml/2006/main" noGrp="1"/>
          </p:cNvSpPr>
          <p:nvPr/>
        </p:nvSpPr>
        <p:spPr>
          <a:xfrm xmlns:a="http://schemas.openxmlformats.org/drawingml/2006/main">
            <a:off x="5334000" y="1028700"/>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88BB2112-99F8-412E-96B9-85619FBAFB0A}"/>
              </a:ext>
            </a:extLst>
          </p:cNvPr>
          <p:cNvSpPr>
            <a:spLocks xmlns:a="http://schemas.openxmlformats.org/drawingml/2006/main" noGrp="1"/>
          </p:cNvSpPr>
          <p:nvPr/>
        </p:nvSpPr>
        <p:spPr>
          <a:xfrm xmlns:a="http://schemas.openxmlformats.org/drawingml/2006/main">
            <a:off x="5334000" y="102870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8C24E56-A334-4DCD-832D-3A6B7FFDC8ED}"/>
              </a:ext>
            </a:extLst>
          </p:cNvPr>
          <p:cNvSpPr>
            <a:spLocks xmlns:a="http://schemas.openxmlformats.org/drawingml/2006/main" noGrp="1"/>
          </p:cNvSpPr>
          <p:nvPr/>
        </p:nvSpPr>
        <p:spPr>
          <a:xfrm xmlns:a="http://schemas.openxmlformats.org/drawingml/2006/main">
            <a:off x="5562600" y="1219200"/>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1 · The board is a DG32-LITE board</a:t>
            </a:r>
          </a:p>
        </p:txBody>
      </p:sp>
      <p:sp>
        <p:nvSpPr>
          <p:cNvPr id="11" name="">
            <a:extLst xmlns:a="http://schemas.openxmlformats.org/drawingml/2006/main">
              <a:ext uri="{FF2B5EF4-FFF2-40B4-BE49-F238E27FC236}">
                <a16:creationId xmlns:a16="http://schemas.microsoft.com/office/drawing/2014/main" id="{3BD7D7D8-9787-4156-8E6D-3004E4C21837}"/>
              </a:ext>
            </a:extLst>
          </p:cNvPr>
          <p:cNvSpPr>
            <a:spLocks xmlns:a="http://schemas.openxmlformats.org/drawingml/2006/main" noGrp="1"/>
          </p:cNvSpPr>
          <p:nvPr/>
        </p:nvSpPr>
        <p:spPr>
          <a:xfrm xmlns:a="http://schemas.openxmlformats.org/drawingml/2006/main">
            <a:off x="5562600" y="1581150"/>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Same package, pins, rails and boot flash; the engine adds no board signals.</a:t>
            </a:r>
          </a:p>
        </p:txBody>
      </p:sp>
      <p:sp>
        <p:nvSpPr>
          <p:cNvPr id="12" name="">
            <a:extLst xmlns:a="http://schemas.openxmlformats.org/drawingml/2006/main">
              <a:ext uri="{FF2B5EF4-FFF2-40B4-BE49-F238E27FC236}">
                <a16:creationId xmlns:a16="http://schemas.microsoft.com/office/drawing/2014/main" id="{FC7D3E17-529A-4795-8990-177907FF02F7}"/>
              </a:ext>
            </a:extLst>
          </p:cNvPr>
          <p:cNvSpPr>
            <a:spLocks xmlns:a="http://schemas.openxmlformats.org/drawingml/2006/main" noGrp="1"/>
          </p:cNvSpPr>
          <p:nvPr/>
        </p:nvSpPr>
        <p:spPr>
          <a:xfrm xmlns:a="http://schemas.openxmlformats.org/drawingml/2006/main">
            <a:off x="5334000" y="2428875"/>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A6FDB476-14BF-43AD-AB5D-27C65971A351}"/>
              </a:ext>
            </a:extLst>
          </p:cNvPr>
          <p:cNvSpPr>
            <a:spLocks xmlns:a="http://schemas.openxmlformats.org/drawingml/2006/main" noGrp="1"/>
          </p:cNvSpPr>
          <p:nvPr/>
        </p:nvSpPr>
        <p:spPr>
          <a:xfrm xmlns:a="http://schemas.openxmlformats.org/drawingml/2006/main">
            <a:off x="5334000" y="2428875"/>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235AB8E-0D30-4A4B-B6B8-B4C888DA9C61}"/>
              </a:ext>
            </a:extLst>
          </p:cNvPr>
          <p:cNvSpPr>
            <a:spLocks xmlns:a="http://schemas.openxmlformats.org/drawingml/2006/main" noGrp="1"/>
          </p:cNvSpPr>
          <p:nvPr/>
        </p:nvSpPr>
        <p:spPr>
          <a:xfrm xmlns:a="http://schemas.openxmlformats.org/drawingml/2006/main">
            <a:off x="5562600" y="2619375"/>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2 · One engine on its own clock</a:t>
            </a:r>
          </a:p>
        </p:txBody>
      </p:sp>
      <p:sp>
        <p:nvSpPr>
          <p:cNvPr id="15" name="">
            <a:extLst xmlns:a="http://schemas.openxmlformats.org/drawingml/2006/main">
              <a:ext uri="{FF2B5EF4-FFF2-40B4-BE49-F238E27FC236}">
                <a16:creationId xmlns:a16="http://schemas.microsoft.com/office/drawing/2014/main" id="{2861B87A-3E2F-43DB-B8AB-A604FA7D4503}"/>
              </a:ext>
            </a:extLst>
          </p:cNvPr>
          <p:cNvSpPr>
            <a:spLocks xmlns:a="http://schemas.openxmlformats.org/drawingml/2006/main" noGrp="1"/>
          </p:cNvSpPr>
          <p:nvPr/>
        </p:nvSpPr>
        <p:spPr>
          <a:xfrm xmlns:a="http://schemas.openxmlformats.org/drawingml/2006/main">
            <a:off x="5562600" y="2981325"/>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memory-mapped INT8 attention block at 114 MHz that cannot stall control.</a:t>
            </a:r>
          </a:p>
        </p:txBody>
      </p:sp>
      <p:sp>
        <p:nvSpPr>
          <p:cNvPr id="16" name="">
            <a:extLst xmlns:a="http://schemas.openxmlformats.org/drawingml/2006/main">
              <a:ext uri="{FF2B5EF4-FFF2-40B4-BE49-F238E27FC236}">
                <a16:creationId xmlns:a16="http://schemas.microsoft.com/office/drawing/2014/main" id="{356CDDE7-6470-4BBD-805F-06F1C80BFA81}"/>
              </a:ext>
            </a:extLst>
          </p:cNvPr>
          <p:cNvSpPr>
            <a:spLocks xmlns:a="http://schemas.openxmlformats.org/drawingml/2006/main" noGrp="1"/>
          </p:cNvSpPr>
          <p:nvPr/>
        </p:nvSpPr>
        <p:spPr>
          <a:xfrm xmlns:a="http://schemas.openxmlformats.org/drawingml/2006/main">
            <a:off x="5334000" y="3829050"/>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AEDECFA3-A7A0-430E-BD24-7086F07B3193}"/>
              </a:ext>
            </a:extLst>
          </p:cNvPr>
          <p:cNvSpPr>
            <a:spLocks xmlns:a="http://schemas.openxmlformats.org/drawingml/2006/main" noGrp="1"/>
          </p:cNvSpPr>
          <p:nvPr/>
        </p:nvSpPr>
        <p:spPr>
          <a:xfrm xmlns:a="http://schemas.openxmlformats.org/drawingml/2006/main">
            <a:off x="5334000" y="38290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F5BFF75-08C8-40AF-88E4-63C1E4300D84}"/>
              </a:ext>
            </a:extLst>
          </p:cNvPr>
          <p:cNvSpPr>
            <a:spLocks xmlns:a="http://schemas.openxmlformats.org/drawingml/2006/main" noGrp="1"/>
          </p:cNvSpPr>
          <p:nvPr/>
        </p:nvSpPr>
        <p:spPr>
          <a:xfrm xmlns:a="http://schemas.openxmlformats.org/drawingml/2006/main">
            <a:off x="5562600" y="4019550"/>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3 · Limits already fixed</a:t>
            </a:r>
          </a:p>
        </p:txBody>
      </p:sp>
      <p:sp>
        <p:nvSpPr>
          <p:cNvPr id="19" name="">
            <a:extLst xmlns:a="http://schemas.openxmlformats.org/drawingml/2006/main">
              <a:ext uri="{FF2B5EF4-FFF2-40B4-BE49-F238E27FC236}">
                <a16:creationId xmlns:a16="http://schemas.microsoft.com/office/drawing/2014/main" id="{AA34BB88-B6C6-44B2-9893-42702652878A}"/>
              </a:ext>
            </a:extLst>
          </p:cNvPr>
          <p:cNvSpPr>
            <a:spLocks xmlns:a="http://schemas.openxmlformats.org/drawingml/2006/main" noGrp="1"/>
          </p:cNvSpPr>
          <p:nvPr/>
        </p:nvSpPr>
        <p:spPr>
          <a:xfrm xmlns:a="http://schemas.openxmlformats.org/drawingml/2006/main">
            <a:off x="5562600" y="4381500"/>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400 keys, 64-byte values and about 3,242 cycles per query row, by analysis.</a:t>
            </a:r>
          </a:p>
        </p:txBody>
      </p:sp>
      <p:sp>
        <p:nvSpPr>
          <p:cNvPr id="20" name="">
            <a:extLst xmlns:a="http://schemas.openxmlformats.org/drawingml/2006/main">
              <a:ext uri="{FF2B5EF4-FFF2-40B4-BE49-F238E27FC236}">
                <a16:creationId xmlns:a16="http://schemas.microsoft.com/office/drawing/2014/main" id="{9E1235BC-6E83-40DC-BE05-6EE7A3AE1C85}"/>
              </a:ext>
            </a:extLst>
          </p:cNvPr>
          <p:cNvSpPr>
            <a:spLocks xmlns:a="http://schemas.openxmlformats.org/drawingml/2006/main" noGrp="1"/>
          </p:cNvSpPr>
          <p:nvPr/>
        </p:nvSpPr>
        <p:spPr>
          <a:xfrm xmlns:a="http://schemas.openxmlformats.org/drawingml/2006/main">
            <a:off x="457200" y="6486525"/>
            <a:ext cx="40005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10F4031-71BB-41C6-8B7D-FA525C7E8BB0}"/>
              </a:ext>
            </a:extLst>
          </p:cNvPr>
          <p:cNvSpPr>
            <a:spLocks xmlns:a="http://schemas.openxmlformats.org/drawingml/2006/main" noGrp="1"/>
          </p:cNvSpPr>
          <p:nvPr/>
        </p:nvSpPr>
        <p:spPr>
          <a:xfrm xmlns:a="http://schemas.openxmlformats.org/drawingml/2006/main">
            <a:off x="5334000" y="6486525"/>
            <a:ext cx="64008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6D0558B-D838-4483-A868-4A0157E74F6A}"/>
              </a:ext>
            </a:extLst>
          </p:cNvPr>
          <p:cNvSpPr>
            <a:spLocks xmlns:a="http://schemas.openxmlformats.org/drawingml/2006/main" noGrp="1"/>
          </p:cNvSpPr>
          <p:nvPr/>
        </p:nvSpPr>
        <p:spPr>
          <a:xfrm xmlns:a="http://schemas.openxmlformats.org/drawingml/2006/main">
            <a:off x="457200" y="6572250"/>
            <a:ext cx="4191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DG32-2DOM PRELIMINARY DATASHEET</a:t>
            </a:r>
          </a:p>
        </p:txBody>
      </p:sp>
      <p:sp>
        <p:nvSpPr>
          <p:cNvPr id="23" name="">
            <a:extLst xmlns:a="http://schemas.openxmlformats.org/drawingml/2006/main">
              <a:ext uri="{FF2B5EF4-FFF2-40B4-BE49-F238E27FC236}">
                <a16:creationId xmlns:a16="http://schemas.microsoft.com/office/drawing/2014/main" id="{0ED3AB22-1231-4DA3-9325-F672924EBDE0}"/>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09</a:t>
            </a:r>
          </a:p>
        </p:txBody>
      </p:sp>
    </p:spTree>
    <p:extLst>
      <p:ext uri="{BB962C8B-B14F-4D97-AF65-F5344CB8AC3E}">
        <p14:creationId xmlns:p14="http://schemas.microsoft.com/office/powerpoint/2010/main" val="19556863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2026-09-13T13:33:09.6090000Z</dcterms:created>
  <dcterms:modified xsi:type="dcterms:W3CDTF">2026-09-13T13:33:09.6090000Z</dcterms:modified>
</coreProperties>
</file>