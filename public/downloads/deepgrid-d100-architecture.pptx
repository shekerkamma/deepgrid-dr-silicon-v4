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6B6D4"/>
                </a:solidFill>
              </a:defRPr>
            </a:pPr>
            <a:r>
              <a:t>DEEPGRID SEMI · ARCHITECTURAL SPECIFICATION &amp; DEFENCE DOSSIER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D100 Tactical UAV Drone SoC</a:t>
            </a:r>
            <a:br/>
            <a:r>
              <a:t>Multi-Die System-in-Package (SiP)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Sovereign Flight Control, 30 Hz Optical EKF VIO, and Hardware Failsafe Recovery for Contested Airspaces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PROCESS NODE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130nm CMOS + BCD 180nm</a:t>
            </a:r>
            <a:br/>
            <a:r>
              <a:t>+ 28nm Compute Flip-Chip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47872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PACKAGING FORMAT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15x15 mm 4-Layer Organic BGA</a:t>
            </a:r>
            <a:br/>
            <a:r>
              <a:t>Deliberately NOT UCIe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SOVEREIGN STANDARDS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MIL-STD-810H / DAP-2020</a:t>
            </a:r>
            <a:br/>
            <a:r>
              <a:t>DGCA Type Certification 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14816" y="4754880"/>
            <a:ext cx="2450592" cy="118872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92040"/>
            <a:ext cx="21762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FOUNDRY SUPPLY CHAIN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SkyWater 130nm -&gt; IHP SiGe</a:t>
            </a:r>
            <a:br/>
            <a:r>
              <a:t>-&gt; SCL Mohali 180nm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SOVEREIGN CONTEXT &amp; THREAT VECTOR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Foreign Silicon In Indian Tactical UAVs Represents A Single-Point Kill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95%+ of Indian defence drone flight controllers rely on commercial STM32/TI microcontrollers vulnerable to GPS jamming and supply embargoes.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Electronic Warfare Vulnerability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Contested borders (LoC / LAC) experience aggressive GPS spoofing and multi-band RF denial.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Commercial flight controllers experience catastrophic navigational drift within 60 seconds of GPS denial.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Firmware-level failsafes often lock up during intense RF jamming or bus overload.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Airframe recovery fails when flight software threads deadlock in RTOS.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The $9B Import Reality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India imports $23.4B in electronics annually, with $9B concentrated in mature nodes (130nm–180nm).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Drone avionics, ESC drivers, and power regulators are entirely sourced from Western or Chinese vendors.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DAP-2020 Buy (Indian-IDDM) mandates 50%+ Indigenous Content (IC), impossible with imported chips.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ideaForge, BEL, and Indian military integrators urgently require drop-in sovereign silicon.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The DeepGrid D100 Mandate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100% sovereign RTL, GDSII, and packaging layout fully owned and auditable in India.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Hardware-isolated Failsafe Island completely decouples recovery logic from the main CPU.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Geometric 30 Hz EKF VIO provides autonomous zero-GPS navigation with &lt;1% drift/km.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Drop-in 15x15 mm BGA replacement that consolidates 4 discrete PCBs into 1 sovereign package.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SYSTEM-IN-PACKAGE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Heterogeneous Multi-Die SiP Combines 6 Mature Dies With 1 Compute Die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DeepGrid deliberately rejects expensive UCIe and silicon interposers in favor of 4-layer organic BGA packaging.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12064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6 Mature Dies Wire-Bonded (130nm / 180nm)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SKU-3 Hi-Rel PMIC: Direct 5V–120V battery rail down-conversion to 1.2V/1.8V/3.3V.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SKU-6 Supervisor: Chopper-stabilized voltage monitoring with 8 µs deglitch protection.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SKU-5 Tactical Transceiver: CAN-FD (5 Mbps) &amp; RS-485 with ±15 kV HBM ESD protection.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Analog Front-End (AFE): High-precision sensor digitization for avionics.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512064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901952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 High-Speed Compute Die Flip-Chip Attached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Fabricated in high-density digital node (28nm CMOS flip-chip attached via copper pillars).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Contains Dual DGridRiscV cores, Hardware 30 Hz EKF VIO, and optional 10-TOPS NPU.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128-bit AXI4 crossbar interconnect running at 200 MHz non-blocking throughput.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Tightly coupled to 512 KB zero-wait-state ECC SRAM.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6984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114800"/>
            <a:ext cx="106984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279392"/>
            <a:ext cx="1024128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Why 'Deliberately Not UCIe': The Mature-Node Cost Advantage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UCIe &amp; TSMC CoWoS require sub-micron silicon interposers, micro-bumps, and offshore foundries (Taiwan/USA).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Organic 4-layer laminate substrate (FR4/BT core) slashes packaging NRE from &gt;$1.5M down to &lt;$35,000.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Substrate-level trace routing (high-speed SPI, differential UART, GPIO power trees) achieves &gt;99% assembly yield.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Enables rapid assembly across domestic Indian ATMP facilities without foreign export licenses or ITAR restrictions.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DETERMINISTIC FLIGHT COMPUTER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Dual DGridRiscV Cores Deliver Zero-Jitter Real-Time Flight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Cacheless Harvard microarchitecture eliminates branch prediction vulnerabilities and non-deterministic cache miss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Cacheless Execution Determinism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RV32IM_Safety ISA (Integer arithmetic + hardware multiply/divide).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2-stage fetch, 6-stage execute strictly deterministic pipeline.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 instruction or data cache: code runs directly from 512 KB ECC SRAM.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Eliminates worst-case execution time (WCET) jitter in PX4 attitude control loops.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Dual-Core Lockstep Safety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Two identical DGridRiscV cores execute simultaneously with 2-cycle temporal skew.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Temporal skew prevents common-mode EMI and power rail transient corruptions.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Hardware comparator inspects output buses on every cycle.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Latches FAULTn output within ≤2 clock cycles upon divergence.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Avionics Interface Engine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Dedicated hardware timer blocks generating up to 8x DShot600 / PWM ESC signals.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High-speed SPI buses polling dual IMUs, magnetometer, and barometer at 1 kHz.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Zero-copy DMA transfers flight telemetry into SRAM without CPU intervention.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Direct interrupt vectoring with sub-50ns interrupt service latency.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ELECTRONIC WARFARE RESILIENT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30 Hz Hardware EKF VIO Maintains &lt;1% Drift/km In Total GPS Blackouts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Fuses MIPI CSI-2 optical feature tracking with high-rate IMU telemetry completely in dedicated digital RTL.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Hardware ISP &amp; Feature Pipeline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Direct 2-lane MIPI CSI-2 receiver handling 1080p60 downward/forward optical streams.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Hardware debayering, tone-mapping, and high-frequency edge enhancement.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FAST corner detector engine extracts up to 500 optical keypoints per frame.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KLT optical flow hardware engine tracks feature vectors across frames in real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6-DoF Extended Kalman Filter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Dedicated matrix math accelerator computing state propagation and covariance updates.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Tight-coupling with 1 kHz IMU gyro and accelerometer measurements.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Delivers 30 Hz full 6-DoF vehicle pose vector (position, velocity, attitude).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Bounded error drift: &lt;0.8% of total distance traversed without satellite 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Operational Advantage at the Border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Immune to Russian/Chinese GPS spoofing pods deployed along active borders.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Eliminates dependency on magnetic compasses that fail near heavy metal bridges or power lines.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Guarantees autonomous return-to-launch (RTL) navigation under zero-RF conditions.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 cloud or pre-loaded satellite map dependency: purely local geometric odometry.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THE HARDWARE FAILSAFE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Dedicated Hardware Island Guarantees Airframe Recovery During System Lockup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Completely bypasses main processors, VIO, and AI to directly control motor ESCs during critical command link loss.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100% Isolated Hardware Island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Fabricated with dedicated internal LDO regulator and independent on-chip ring oscillator.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 firmware or software execution: implemented strictly as pure combinational/synchronous RTL.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Independent watchdog counter resets automatically on verified telemetry heartbeat.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Survives full main processor lockup, memory fault, or firmware panic.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Multi-Threat Link Loss Detection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Continuously samples RF telemetry signal quality, SBUS/CRSF links, and GNSS integrity.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Detects RF desensitization and electronic jamming within 200 ms.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Monitors core rail voltages through SKU-6 supervisor for brownout precursors.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Triggers automated emergency mode if control commands cease for &gt;500 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Hardwired Actuator Multiplexer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Physical silicon MUX located directly adjacent to the output pad ring.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Instantly severs main flight controller outputs upon fault confirmation.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Drives pre-programmed safe rotor RPM profile directly to motor ESCs.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Executes steady-state hover and controlled descent to prevent catastrophic airframe crash.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TACTICAL EDGE AI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Optional 10-TOPS NPU Accelerates Real-Time Object Tracking &amp;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128-bit AXI4 crossbar connects high-throughput sensor streams without starving flight control cycles.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10-TOPS INT8/INT4 NPU Core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Massive 2D systolic MAC array optimized for convolution and matrix multiplication.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2 MB on-chip ultra-low-power SRAM eliminates high-frequency external DRAM access.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Runs YOLOv8-Nano at &gt;60 FPS for target detection, perimeter defense, and convoy tracking.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Energy efficiency: &gt;2.5 TOPS/Watt within an ultra-low 4W thermal envelope.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128-bit Non-Blocking AXI4 Crossbar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High-speed crossbar matrix clocked at 200 MHz providing &gt;25 GB/s aggregate bandwidth.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Strict quality-of-service (AXI-QoS) prioritizes flight control traffic over AI data.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Zero-copy DMA channels stream camera frames directly from ISP to NPU SRAM.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LPDDR4 memory controller interface supports up to 2 GB external DRAM.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Multi-Sensor Tactical Ingestion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SKU-7 mmWave Radar fusion via high-speed SPI for micro-Doppler moving object detection.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Thermal FLIR camera ingestion over secondary MIPI CSI-2 channel.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Secure Enclave provides hardware Root-of-Trust (RoT) for encrypted video transmission.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Automated terminal homing and GPS-independent precision landing marker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PHYSICAL &amp; ELECTRICAL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Engineered For Harsh Aerospace Environments: -55°C to +125°C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Consolidates discrete power supplies, supervisor ICs, and compute into a ruggedized 15x15 mm package.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PACKAGE DIMENSIONS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15 x 15 mm BGA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0.8 mm ball pitch, 324-ball grid array, 4-layer organic laminate substrate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4708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INPUT POWER RAIL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5V to 120V Raw Battery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Direct connection to drone LiPo packs via SKU-3 BCD PMIC without bulky external buck converters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461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5584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INTERNAL POWER TREE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1.2V / 1.8V / 3.3V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Low-noise rails for core digital logic, high-speed MIPI, and rugged 3.3V tactical I/O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355848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THERMAL DISSIPATION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4.8W Nominal / 7.2W Peak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Integrated top copper slug allows direct thermal conduction to drone carbon-fiber chassis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54879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864607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OPERATING RANGE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-55°C to +125°C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Full military temperature range compliance; tested under extreme desert heat (+55°C ambient)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754879"/>
            <a:ext cx="52578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864607"/>
            <a:ext cx="4892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E7490"/>
                </a:solidFill>
              </a:defRPr>
            </a:pPr>
            <a:r>
              <a:t>ESD &amp; TRANSIENT MOAT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±15 kV HBM ESD</a:t>
            </a:r>
          </a:p>
          <a:p>
            <a:pPr>
              <a:defRPr sz="900">
                <a:solidFill>
                  <a:srgbClr val="475569"/>
                </a:solidFill>
              </a:defRPr>
            </a:pPr>
            <a:r>
              <a:t>Thick-oxide LDMOS I/O buffers protect against tactical lightning and high-altitude static discharge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QUALIFICATION &amp; SOVEREIGN FAB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Three-Factory Sovereignty Roadmap Ensures Zero Foreign Supply Disruption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</a:defRPr>
            </a:pPr>
            <a:r>
              <a:t>Initial fabrication on commercial open-source shuttles transitions directly to SCL Mohali domestic foundry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38328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Phase 1: SkyWater 130nm &amp; IHP</a:t>
            </a:r>
          </a:p>
          <a:p>
            <a:pPr>
              <a:spcAft>
                <a:spcPts val="600"/>
              </a:spcAft>
              <a:defRPr sz="900" b="1">
                <a:solidFill>
                  <a:srgbClr val="0E7490"/>
                </a:solidFill>
              </a:defRPr>
            </a:pPr>
            <a:r>
              <a:t>STATUS: PROVEN TRACTION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OpenLane / Yosys / OpenROAD automated physical design flow eliminates $1M EDA license fees.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Prototyping on SkyWater 130nm (MPW shuttles at $14,300 per run).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77 GHz mmWave front-end validated on IHP SG13G2 BiCMOS (Germany).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Pre-ASIC FPGA validation complete on Xilinx Artix-7 at 81.25 MHz.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737360"/>
            <a:ext cx="3383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Phase 2: SCL Mohali 180nm Transfer</a:t>
            </a:r>
          </a:p>
          <a:p>
            <a:pPr>
              <a:spcAft>
                <a:spcPts val="600"/>
              </a:spcAft>
              <a:defRPr sz="900" b="1">
                <a:solidFill>
                  <a:srgbClr val="D97706"/>
                </a:solidFill>
              </a:defRPr>
            </a:pPr>
            <a:r>
              <a:t>STATUS: MIGRATION PATH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Direct retargeting of DGridRiscV and BCD power IP to Semi-Conductor Laboratory (SCL) Mohali.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Secures 100% sovereign domestic fabrication immune to US ITAR or European export restrictions.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Meets DAP-2020 Make-II and Buy (Indian-IDDM) domestic procurement rules.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Dedicated ₹1.2 Cr automated test equipment (ATE) production line established in Hyderabad.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737360"/>
            <a:ext cx="338328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01952"/>
            <a:ext cx="2926080" cy="4251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Phase 3: Military Qualification</a:t>
            </a:r>
          </a:p>
          <a:p>
            <a:pPr>
              <a:spcAft>
                <a:spcPts val="600"/>
              </a:spcAft>
              <a:defRPr sz="900" b="1">
                <a:solidFill>
                  <a:srgbClr val="16A34A"/>
                </a:solidFill>
              </a:defRPr>
            </a:pPr>
            <a:r>
              <a:t>STATUS: DEFENCE READY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MIL-STD-810H environmental testing (altitude, shock, propeller vibration profile).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MIL-STD-461G compliance for electromagnetic compatibility and EW resistance.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DGCA Type Certification path for commercial and dual-use aerospace deployment.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</a:defRPr>
            </a:pPr>
            <a:r>
              <a:t>• Approved Vendor List (AVL) inclusion with DRDO, BEL, and Indian Army MCEME.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FINANCIAL MODEL &amp; COMMERCIAL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Transforming A $1.2B Indian Drone Market Into A ₹1,000 Cr Silicon Business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₹10 Cr use of funds buys complete silicon qualification, ATE lines, and commercial scale to FY31.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25146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6B6D4"/>
                </a:solidFill>
              </a:defRPr>
            </a:pPr>
            <a:r>
              <a:t>CONTRACTED TRACTION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₹2.88 Cr Pre-ASIC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Live contracted revenue with Indian Army MCEME (₹1.01 Cr order).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Infinis and Axitech commercial validation partners.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Replaces multi-board STM32/TI imports in active tactical drones.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737360"/>
            <a:ext cx="25146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97706"/>
                </a:solidFill>
              </a:defRPr>
            </a:pPr>
            <a:r>
              <a:t>MARKET EXPANSION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$1.2B -&gt; $3.2B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Indian UAV hardware market expanding at 22%+ CAGR toward 2032.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SoC ASP band ranges from $100 (basic UAV) to $800 (tactical autonomous drone).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ideaForge alone guides 340–450 units/quarter in target classes.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251460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6A34A"/>
                </a:solidFill>
              </a:defRPr>
            </a:pPr>
            <a:r>
              <a:t>USE OF ₹10 CR FUNDS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10x Capital Moat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₹3.6 Cr: Foundry fabrication and MPW shuttles.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₹2.4 Cr: Core engineering and physical design team.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₹1.8 Cr: MIL-883 / DGCA testing and certification.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₹1.2 Cr: Dedicated high-throughput ATE screening 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737360"/>
            <a:ext cx="2514600" cy="4572000"/>
          </a:xfrm>
          <a:prstGeom prst="roundRect">
            <a:avLst/>
          </a:prstGeom>
          <a:solidFill>
            <a:srgbClr val="0F1E38"/>
          </a:solidFill>
          <a:ln>
            <a:solidFill>
              <a:srgbClr val="1E3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23960" y="1737360"/>
            <a:ext cx="2514600" cy="7315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88552" y="1920240"/>
            <a:ext cx="21854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7490"/>
                </a:solidFill>
              </a:defRPr>
            </a:pPr>
            <a:r>
              <a:t>FY31 REVENUE TARGET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₹1,000 Cr Scale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Scale-up driven by 50 mature-node building blocks across 10 SKUs.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Gross margins &gt;68% enabled by open-source EDA and mature fab nodes.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High switching costs once integrated into sovereign defence programs.</a:t>
            </a:r>
          </a:p>
          <a:p>
            <a:pPr>
              <a:spcAft>
                <a:spcPts val="600"/>
              </a:spcAft>
              <a:defRPr sz="950">
                <a:solidFill>
                  <a:srgbClr val="CBD5E1"/>
                </a:solidFill>
              </a:defRPr>
            </a:pPr>
            <a:r>
              <a:t>• Protected by DAP-2020 Make-II and Positive Indigenisation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